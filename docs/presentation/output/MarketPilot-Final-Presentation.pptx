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t>זמן מומלץ: 00:00–00:30</a:t>
            </a:r>
          </a:p>
          <a:p>
            <a:endParaRPr/>
          </a:p>
          <a:p>
            <a:pPr algn="r" rtl="1"/>
            <a:r>
              <a:t>פתח כאדם שמציג בעיה שהוא באמת רצה לפתור: כשאני מסתכל על מניה, המחיר לבדו לא מספיק לי. אני רוצה לדעת אם הנתון טרי, מה השתנה בחברה, מה הסיכון והאם הרעיון עמד במבחן היסטורי. לכן בניתי סביבת מחקר שמרכזת את התמונה ומאפשרת לעקוב עד מקור הנתון. המערכת אינה שולחת פקודות מסחר ואינה מבטיחה תשואה.</a:t>
            </a:r>
          </a:p>
          <a:p>
            <a:endParaRPr/>
          </a:p>
          <a:p>
            <a:pPr algn="r" rtl="1"/>
            <a:r>
              <a:t>מקור ואימות: docs/project-context.md; docs/architecture/architecture.md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t>זמן מומלץ: 00:30–01:15</a:t>
            </a:r>
          </a:p>
          <a:p>
            <a:endParaRPr/>
          </a:p>
          <a:p>
            <a:pPr algn="r" rtl="1"/>
            <a:r>
              <a:t>ספר את הבעיה מנקודת המבט שלך כמשתמש: כדי לבחון מניה צריך לעבור בין גרף, חדשות, דיווחי חברה וכלי ניתוח, ועדיין לא תמיד ברור מה טרי ומה אמין. ארבע השאלות בתחתית הפכו לדרישות המוצר: להבין מה קורה, לבדוק את איכות הנתון, להוסיף הקשר עסקי ולבחון את הרעיון על העבר.</a:t>
            </a:r>
          </a:p>
          <a:p>
            <a:endParaRPr/>
          </a:p>
          <a:p>
            <a:pPr algn="r" rtl="1"/>
            <a:r>
              <a:t>מקור ואימות: docs/project-context.md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t>זמן מומלץ: 01:15–02:00</a:t>
            </a:r>
          </a:p>
          <a:p>
            <a:endParaRPr/>
          </a:p>
          <a:p>
            <a:pPr algn="r" rtl="1"/>
            <a:r>
              <a:t>הסבר את הערך בשפה עסקית: במקום לעבור בין כמה מקורות ולנסות לחבר הכול לבד, המשתמש מקבל סביבת מחקר אחת. המערכת מרכזת נתוני שוק ומידע רשמי, בודקת איכות, מוסיפה הקשר ומציגה תרחיש עם טווח כניסה, נקודת ביטול ויחס סיכון־סיכוי. היא מקצרת את זמן המחקר ומעלה את רמת השקיפות, אבל ההחלטה והביצוע נשארים בידי המשתמש.</a:t>
            </a:r>
          </a:p>
          <a:p>
            <a:endParaRPr/>
          </a:p>
          <a:p>
            <a:pPr algn="r" rtl="1"/>
            <a:r>
              <a:t>מקור ואימות: docs/project-context.md; docs/decisions/ADR-008-decision-intelligence.md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t>זמן מומלץ: 02:00–03:15</a:t>
            </a:r>
          </a:p>
          <a:p>
            <a:endParaRPr/>
          </a:p>
          <a:p>
            <a:pPr algn="r" rtl="1"/>
            <a:r>
              <a:t>פתח במשפט: כל מסלול עונה על צורך אחר. עקוב אחר השורה העליונה מימין לשמאל: Alpaca הוא מקור השוק, Python מאחד את הנתונים לחוזה, Kafka מפריד בין היצרן לצרכנים, Spark מעבד, ו-MariaDB Gold מגיש את התוצאה ל-API ול-Web. במקביל Kafka נשמר ב-Bronze, Spark Batch מנקה ל-Silver, ורק אחרי בדיקות מפרסם Gold מאושר. SEC ו-Corporate Actions נכנסים בעבודות תחומות ומוסיפים הקשר פונדמנטלי. מעל Gold יושבים כללי v1 ושכבת v2 המוגנת. Airflow מתזמן עבודות תחומות בלבד; הדפדפן מתקשר רק עם ה-API.</a:t>
            </a:r>
          </a:p>
          <a:p>
            <a:endParaRPr/>
          </a:p>
          <a:p>
            <a:pPr algn="r" rtl="1"/>
            <a:r>
              <a:t>מקור ואימות: docs/architecture/architecture.md; docs/decisions/ADR-001-storage-strategy.md; ADR-002-airflow-boundary.md; ADR-003-streaming-lifecycle.md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t>זמן מומלץ: 03:15–04:15</a:t>
            </a:r>
          </a:p>
          <a:p>
            <a:endParaRPr/>
          </a:p>
          <a:p>
            <a:pPr algn="r" rtl="1"/>
            <a:r>
              <a:t>הסבר את ההבדל כהבטחה למשתמש. Provisional אומר מה ידוע עכשיו. Certified אומר שהיום נבנה מחדש מן המקור ועבר בדיקות. Docker Compose מנהל שירותים ארוכי חיים; Airflow מתזמן ומנטר עבודות תחומות. אל תגיד ש-Airflow מפעיל את ה-Streaming.</a:t>
            </a:r>
          </a:p>
          <a:p>
            <a:endParaRPr/>
          </a:p>
          <a:p>
            <a:pPr algn="r" rtl="1"/>
            <a:r>
              <a:t>מקור ואימות: docs/decisions/ADR-002-airflow-boundary.md; docs/decisions/ADR-004-provisional-certified-publication.md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t>זמן מומלץ: 04:15–05:05</a:t>
            </a:r>
          </a:p>
          <a:p>
            <a:endParaRPr/>
          </a:p>
          <a:p>
            <a:pPr algn="r" rtl="1"/>
            <a:r>
              <a:t>פתח בכנות: בחרתי לעבוד עם הכלים שלמדנו ונחשפנו אליהם בקורס, אבל לא חיברתי אותם רק כדי לסמן וי. לכל כלי נתתי אחריות שמתאימה לחוזקות שלו. Kafka עדיף כאן על חיבור ישיר כי הוא מפריד בין המקור לצרכנים ומאפשר Replay. Spark חוסך שני מנועי עיבוד שונים למסלול החי ולאצווה. Airflow נותן תלויות, ניסיונות חוזרים ולוגים במקום אוסף משימות Cron. MinIO שומר מידע גולמי ו-Parquet בצורה שדומה ל-S3, במקום לערבב ארכיון עם מסד ההגשה. MariaDB מתאים לשאילתות SQL מהירות של האפליקציה, ו-Docker Compose נותן סביבה מקומית שחוזרת על עצמה בלי המורכבות של Kubernetes. אל תקריא את כל הטבלה; בחר שתיים או שלוש דוגמאות והסבר את שיקול הדעת.</a:t>
            </a:r>
          </a:p>
          <a:p>
            <a:endParaRPr/>
          </a:p>
          <a:p>
            <a:pPr algn="r" rtl="1"/>
            <a:r>
              <a:t>מקור ואימות: docs/architecture/architecture.md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t>זמן מומלץ: 05:05–05:45</a:t>
            </a:r>
          </a:p>
          <a:p>
            <a:endParaRPr/>
          </a:p>
          <a:p>
            <a:pPr algn="r" rtl="1"/>
            <a:r>
              <a:t>הצג את צילום המסך כראיה, לא כקישוט. המשתמש מקבל תמונת מחקר אחת: מחיר, נפח, אינדיקטורים, דיווחי חברה וטריות. מאחורי כל ערך יש API, סטטוס פרסום ו-Lineage. המסך מפשט את המורכבות, אך אינו מסתיר אותה. אם שואלים על המספרים, ציין שהם Snapshot מתוארך ולא נתון שיווקי קבוע.</a:t>
            </a:r>
          </a:p>
          <a:p>
            <a:endParaRPr/>
          </a:p>
          <a:p>
            <a:pPr algn="r" rtl="1"/>
            <a:r>
              <a:t>מקור ואימות: docs/presentation/assets/dashboard.png; docs/final-presentation-verification.md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t>זמן מומלץ: 05:45–06:35</a:t>
            </a:r>
          </a:p>
          <a:p>
            <a:endParaRPr/>
          </a:p>
          <a:p>
            <a:pPr algn="r" rtl="1"/>
            <a:r>
              <a:t>פתח כך: המלצה בלי נקודת ביטול ובלי גודל פוזיציה היא רק דעה. המסך מפריד בין Rule Score, שמסכם ראיות לפי כללים שקופים; Data Confidence, שמודד איכות וטריות; ו-Model Probability, שתופיע רק לאחר אימון וכיול. כרגע v1 מחשב Buy Zone, Stop, Targets ו-Risk/Reward. Shadow Mode עומד על 2/20 ו-v2 נמצא ב-FALLBACK, ולכן המערכת אינה מציגה הסתברות לא מוכחת. זהו מנגנון בטיחות, לא חוסר שמסתירים.</a:t>
            </a:r>
          </a:p>
          <a:p>
            <a:endParaRPr/>
          </a:p>
          <a:p>
            <a:pPr algn="r" rtl="1"/>
            <a:r>
              <a:t>מקור ואימות: docs/decisions/ADR-008-decision-intelligence.md; docs/decisions/ADR-009-hybrid-decision-intelligence.md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t>זמן מומלץ: 06:35–07:25</a:t>
            </a:r>
          </a:p>
          <a:p>
            <a:endParaRPr/>
          </a:p>
          <a:p>
            <a:pPr algn="r" rtl="1"/>
            <a:r>
              <a:t>הדגש שהמטרה אינה לייצר גרף יפה אלא ניסוי שאפשר לבקר. הקלט כולל רק Certified Gold. אות שנוצר בנר מסוים יכול להשפיע רק מהנר הבא, כדי למנוע Look-ahead. עלויות ו-Slippage מפחיתים את התוצאה במקום להיעלם מהמודל. כך גם תוצאה חלשה היא מידע שימושי. ביצועי עבר אינם הבטחת תשואה.</a:t>
            </a:r>
          </a:p>
          <a:p>
            <a:endParaRPr/>
          </a:p>
          <a:p>
            <a:pPr algn="r" rtl="1"/>
            <a:r>
              <a:t>מקור ואימות: docs/architecture/architecture.md; docs/decisions/ADR-005-historical-backtesting.md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t>זמן מומלץ: 07:25–08:15</a:t>
            </a:r>
          </a:p>
          <a:p>
            <a:endParaRPr/>
          </a:p>
          <a:p>
            <a:pPr algn="r" rtl="1"/>
            <a:r>
              <a:t>בחר שני אתגרים והצג את דרך החשיבה. הראשון: רציתי נתון מהיר, אבל לא רציתי לכנות יום פתוח 'מאושר'. לכן הפרדתי Provisional מ-Certified. השני: במערכת מבוזרת Retry הוא חלק מהחיים, ולכן לא ניסיתי למנוע כל ניסיון חוזר. תכננתי Business Keys, Checkpoint ו-Upsert כך שהניסיון החוזר יהיה בטוח. אם נשאר זמן, הסבר מדוע ה-Backfill עובר דרך Bronze ולא כותב ישירות למסד.</a:t>
            </a:r>
          </a:p>
          <a:p>
            <a:endParaRPr/>
          </a:p>
          <a:p>
            <a:pPr algn="r" rtl="1"/>
            <a:r>
              <a:t>מקור ואימות: docs/decisions/ADR-003-streaming-lifecycle.md; ADR-004-provisional-certified-publication.md; ADR-007-certified-historical-acquisition.md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t>זמן מומלץ: 08:15–08:55</a:t>
            </a:r>
          </a:p>
          <a:p>
            <a:endParaRPr/>
          </a:p>
          <a:p>
            <a:pPr algn="r" rtl="1"/>
            <a:r>
              <a:t>הפרד בבירור בין קיים לעתידי. היום יש פלטפורמה מקומית מלאה, 53 ימי היסטוריה מאושרים, v1 Rules ו-Shadow Mode של 2/20. תשתית v2 קיימת אך נמצאת ב-FALLBACK כי אין עדיין 24 חודשי נתונים ומדגם של 300 כניסות. לאחר אימון נדרש Walk-Forward, כיול, 20 ימי Shadow חדשים ואישור אנושי. רק אחר כך יש מקום ל-SIP, S3 ואבטחת Production.</a:t>
            </a:r>
          </a:p>
          <a:p>
            <a:endParaRPr/>
          </a:p>
          <a:p>
            <a:pPr algn="r" rtl="1"/>
            <a:r>
              <a:t>מקור ואימות: docs/implementation-plan.md; docs/decisions/ADR-009-hybrid-decision-intelligence.md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t>זמן מומלץ: 08:55–09:10</a:t>
            </a:r>
          </a:p>
          <a:p>
            <a:endParaRPr/>
          </a:p>
          <a:p>
            <a:pPr algn="r" rtl="1"/>
            <a:r>
              <a:t>עצור לשנייה ועבור לדמו במשפט נקי: עד עכשיו הסברתי את ההיגיון. עכשיו אראה את אותה שרשרת במערכת עצמה. נעבור מהמסך העסקי לאירוע ב-Kafka, לראיית המקור ב-MinIO, לריצה המאושרת ב-Airflow, ולבסוף לתרחיש ההחלטה ולבדיקה ההיסטורית. פתח את סקריפט הדמו והתחל את הטיימר.</a:t>
            </a:r>
          </a:p>
          <a:p>
            <a:endParaRPr/>
          </a:p>
          <a:p>
            <a:pPr algn="r" rtl="1"/>
            <a:r>
              <a:t>מקור ואימות: docs/presentation/demo-day-step-by-step-he.md; scripts/demo-preflight.ps1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827"/>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DB055C5A-FF5B-4D5A-9423-36EB8B37F392}"/>
              </a:ext>
            </a:extLst>
          </p:cNvPr>
          <p:cNvSpPr>
            <a:spLocks noGrp="1"/>
          </p:cNvSpPr>
          <p:nvPr/>
        </p:nvSpPr>
        <p:spPr>
          <a:xfrm>
            <a:off x="0" y="0"/>
            <a:ext cx="171450" cy="6858000"/>
          </a:xfrm>
          <a:prstGeom prst="rect">
            <a:avLst/>
          </a:prstGeom>
          <a:solidFill>
            <a:srgbClr val="35D4B5"/>
          </a:solidFill>
          <a:ln w="0">
            <a:noFill/>
          </a:ln>
        </p:spPr>
      </p:sp>
      <p:sp>
        <p:nvSpPr>
          <p:cNvPr id="2" name="Rectangle 1">
            <a:extLst>
              <a:ext uri="{FF2B5EF4-FFF2-40B4-BE49-F238E27FC236}">
                <a16:creationId xmlns:a16="http://schemas.microsoft.com/office/drawing/2014/main" id="{01197D7E-A5CE-453C-831A-D769F06AEC99}"/>
              </a:ext>
            </a:extLst>
          </p:cNvPr>
          <p:cNvSpPr>
            <a:spLocks noGrp="1"/>
          </p:cNvSpPr>
          <p:nvPr/>
        </p:nvSpPr>
        <p:spPr>
          <a:xfrm>
            <a:off x="647700" y="552450"/>
            <a:ext cx="4095750" cy="209550"/>
          </a:xfrm>
          <a:prstGeom prst="rect">
            <a:avLst/>
          </a:prstGeom>
          <a:noFill/>
          <a:ln w="0">
            <a:noFill/>
          </a:ln>
        </p:spPr>
        <p:txBody>
          <a:bodyPr wrap="square" lIns="0" tIns="0" rIns="0" bIns="0" anchor="ctr">
            <a:normAutofit/>
          </a:bodyPr>
          <a:lstStyle/>
          <a:p>
            <a:pPr algn="l">
              <a:lnSpc>
                <a:spcPct val="100000"/>
              </a:lnSpc>
              <a:buNone/>
              <a:defRPr sz="975" b="1">
                <a:solidFill>
                  <a:srgbClr val="35D4B5"/>
                </a:solidFill>
                <a:latin typeface="Cascadia Mono"/>
                <a:ea typeface="Cascadia Mono"/>
                <a:cs typeface="Cascadia Mono"/>
              </a:defRPr>
            </a:pPr>
            <a:r>
              <a:rPr sz="975" b="1">
                <a:solidFill>
                  <a:srgbClr val="35D4B5"/>
                </a:solidFill>
                <a:latin typeface="Cascadia Mono"/>
                <a:ea typeface="Cascadia Mono"/>
                <a:cs typeface="Cascadia Mono"/>
              </a:rPr>
              <a:t>MARKETPILOT · FINAL PROJECT</a:t>
            </a:r>
          </a:p>
        </p:txBody>
      </p:sp>
      <p:sp>
        <p:nvSpPr>
          <p:cNvPr id="3" name="Rectangle 2">
            <a:extLst>
              <a:ext uri="{FF2B5EF4-FFF2-40B4-BE49-F238E27FC236}">
                <a16:creationId xmlns:a16="http://schemas.microsoft.com/office/drawing/2014/main" id="{4A8F7B66-34A1-4BF0-BBD3-BF3148887476}"/>
              </a:ext>
            </a:extLst>
          </p:cNvPr>
          <p:cNvSpPr>
            <a:spLocks noGrp="1"/>
          </p:cNvSpPr>
          <p:nvPr/>
        </p:nvSpPr>
        <p:spPr>
          <a:xfrm>
            <a:off x="5143500" y="1257300"/>
            <a:ext cx="6381750" cy="2343150"/>
          </a:xfrm>
          <a:prstGeom prst="rect">
            <a:avLst/>
          </a:prstGeom>
          <a:noFill/>
          <a:ln w="0">
            <a:noFill/>
          </a:ln>
        </p:spPr>
        <p:txBody>
          <a:bodyPr wrap="square" lIns="0" tIns="0" rIns="0" bIns="0" anchor="t">
            <a:normAutofit/>
          </a:bodyPr>
          <a:lstStyle/>
          <a:p>
            <a:pPr algn="r">
              <a:lnSpc>
                <a:spcPct val="90000"/>
              </a:lnSpc>
              <a:buNone/>
              <a:defRPr sz="4350" b="1">
                <a:solidFill>
                  <a:srgbClr val="F8FBFF"/>
                </a:solidFill>
                <a:latin typeface="Arial"/>
                <a:ea typeface="Arial"/>
                <a:cs typeface="Arial"/>
              </a:defRPr>
            </a:pPr>
            <a:r>
              <a:rPr sz="4350" b="1">
                <a:solidFill>
                  <a:srgbClr val="F8FBFF"/>
                </a:solidFill>
                <a:latin typeface="Arial"/>
                <a:ea typeface="Arial"/>
                <a:cs typeface="Arial"/>
              </a:rPr>
              <a:t>MarketPilot</a:t>
            </a:r>
          </a:p>
          <a:p>
            <a:pPr algn="r" rtl="1">
              <a:lnSpc>
                <a:spcPct val="90000"/>
              </a:lnSpc>
              <a:buNone/>
              <a:defRPr lang="he-IL" sz="4350" b="1">
                <a:solidFill>
                  <a:srgbClr val="F8FBFF"/>
                </a:solidFill>
                <a:latin typeface="Arial"/>
                <a:ea typeface="Arial"/>
                <a:cs typeface="Arial"/>
              </a:defRPr>
            </a:pPr>
            <a:r>
              <a:rPr lang="he-IL" sz="4350" b="1">
                <a:solidFill>
                  <a:srgbClr val="F8FBFF"/>
                </a:solidFill>
                <a:latin typeface="Arial"/>
                <a:ea typeface="Arial"/>
                <a:cs typeface="Arial"/>
              </a:rPr>
              <a:t>מהמידע הגולמי</a:t>
            </a:r>
          </a:p>
          <a:p>
            <a:pPr algn="r" rtl="1">
              <a:lnSpc>
                <a:spcPct val="90000"/>
              </a:lnSpc>
              <a:buNone/>
              <a:defRPr lang="he-IL" sz="4350" b="1">
                <a:solidFill>
                  <a:srgbClr val="F8FBFF"/>
                </a:solidFill>
                <a:latin typeface="Arial"/>
                <a:ea typeface="Arial"/>
                <a:cs typeface="Arial"/>
              </a:defRPr>
            </a:pPr>
            <a:r>
              <a:rPr lang="he-IL" sz="4350" b="1">
                <a:solidFill>
                  <a:srgbClr val="F8FBFF"/>
                </a:solidFill>
                <a:latin typeface="Arial"/>
                <a:ea typeface="Arial"/>
                <a:cs typeface="Arial"/>
              </a:rPr>
              <a:t>לתרחיש החלטה</a:t>
            </a:r>
          </a:p>
        </p:txBody>
      </p:sp>
      <p:sp>
        <p:nvSpPr>
          <p:cNvPr id="4" name="Rectangle 3">
            <a:extLst>
              <a:ext uri="{FF2B5EF4-FFF2-40B4-BE49-F238E27FC236}">
                <a16:creationId xmlns:a16="http://schemas.microsoft.com/office/drawing/2014/main" id="{2C5E4415-0CC0-45A4-8E34-D122A23DE2AB}"/>
              </a:ext>
            </a:extLst>
          </p:cNvPr>
          <p:cNvSpPr>
            <a:spLocks noGrp="1"/>
          </p:cNvSpPr>
          <p:nvPr/>
        </p:nvSpPr>
        <p:spPr>
          <a:xfrm>
            <a:off x="6000750" y="3733800"/>
            <a:ext cx="5524500" cy="723900"/>
          </a:xfrm>
          <a:prstGeom prst="rect">
            <a:avLst/>
          </a:prstGeom>
          <a:noFill/>
          <a:ln w="0">
            <a:noFill/>
          </a:ln>
        </p:spPr>
        <p:txBody>
          <a:bodyPr wrap="square" lIns="0" tIns="0" rIns="0" bIns="0" anchor="t">
            <a:normAutofit fontScale="83774"/>
          </a:bodyPr>
          <a:lstStyle/>
          <a:p>
            <a:pPr algn="r" rtl="1">
              <a:lnSpc>
                <a:spcPct val="105000"/>
              </a:lnSpc>
              <a:buNone/>
              <a:defRPr lang="he-IL" sz="1800" b="0">
                <a:solidFill>
                  <a:srgbClr val="9AB1C5"/>
                </a:solidFill>
                <a:latin typeface="Arial"/>
                <a:ea typeface="Arial"/>
                <a:cs typeface="Arial"/>
              </a:defRPr>
            </a:pPr>
            <a:r>
              <a:rPr lang="he-IL" sz="1800" b="0">
                <a:solidFill>
                  <a:srgbClr val="9AB1C5"/>
                </a:solidFill>
                <a:latin typeface="Arial"/>
                <a:ea typeface="Arial"/>
                <a:cs typeface="Arial"/>
              </a:rPr>
              <a:t>סביבת מחקר אחת לסוחר</a:t>
            </a:r>
          </a:p>
          <a:p>
            <a:pPr algn="r" rtl="1">
              <a:lnSpc>
                <a:spcPct val="105000"/>
              </a:lnSpc>
              <a:buNone/>
              <a:defRPr lang="he-IL" sz="1800" b="0">
                <a:solidFill>
                  <a:srgbClr val="9AB1C5"/>
                </a:solidFill>
                <a:latin typeface="Arial"/>
                <a:ea typeface="Arial"/>
                <a:cs typeface="Arial"/>
              </a:defRPr>
            </a:pPr>
            <a:r>
              <a:rPr lang="he-IL" sz="1800" b="0">
                <a:solidFill>
                  <a:srgbClr val="9AB1C5"/>
                </a:solidFill>
                <a:latin typeface="Arial"/>
                <a:ea typeface="Arial"/>
                <a:cs typeface="Arial"/>
              </a:rPr>
              <a:t>מחברת נתונים, סיכון והסבר</a:t>
            </a:r>
          </a:p>
          <a:p>
            <a:pPr algn="r" rtl="1">
              <a:lnSpc>
                <a:spcPct val="105000"/>
              </a:lnSpc>
              <a:buNone/>
              <a:defRPr lang="he-IL" sz="1800" b="0">
                <a:solidFill>
                  <a:srgbClr val="9AB1C5"/>
                </a:solidFill>
                <a:latin typeface="Arial"/>
                <a:ea typeface="Arial"/>
                <a:cs typeface="Arial"/>
              </a:defRPr>
            </a:pPr>
            <a:r>
              <a:rPr lang="he-IL" sz="1800" b="0">
                <a:solidFill>
                  <a:srgbClr val="9AB1C5"/>
                </a:solidFill>
                <a:latin typeface="Arial"/>
                <a:ea typeface="Arial"/>
                <a:cs typeface="Arial"/>
              </a:rPr>
              <a:t>לתמונה שאפשר לסמוך עליה</a:t>
            </a:r>
          </a:p>
        </p:txBody>
      </p:sp>
      <p:sp>
        <p:nvSpPr>
          <p:cNvPr id="5" name="Rectangle 4">
            <a:extLst>
              <a:ext uri="{FF2B5EF4-FFF2-40B4-BE49-F238E27FC236}">
                <a16:creationId xmlns:a16="http://schemas.microsoft.com/office/drawing/2014/main" id="{7D18F918-5EB2-47BE-AC80-E37626533D6B}"/>
              </a:ext>
            </a:extLst>
          </p:cNvPr>
          <p:cNvSpPr>
            <a:spLocks noGrp="1"/>
          </p:cNvSpPr>
          <p:nvPr/>
        </p:nvSpPr>
        <p:spPr>
          <a:xfrm>
            <a:off x="742950" y="1981200"/>
            <a:ext cx="361950" cy="228600"/>
          </a:xfrm>
          <a:prstGeom prst="rect">
            <a:avLst/>
          </a:prstGeom>
          <a:noFill/>
          <a:ln w="0">
            <a:noFill/>
          </a:ln>
        </p:spPr>
        <p:txBody>
          <a:bodyPr wrap="square" lIns="0" tIns="0" rIns="0" bIns="0" anchor="t">
            <a:normAutofit/>
          </a:bodyPr>
          <a:lstStyle/>
          <a:p>
            <a:pPr algn="l">
              <a:lnSpc>
                <a:spcPct val="100000"/>
              </a:lnSpc>
              <a:buNone/>
              <a:defRPr sz="900" b="0">
                <a:solidFill>
                  <a:srgbClr val="35D4B5"/>
                </a:solidFill>
                <a:latin typeface="Cascadia Mono"/>
                <a:ea typeface="Cascadia Mono"/>
                <a:cs typeface="Cascadia Mono"/>
              </a:defRPr>
            </a:pPr>
            <a:r>
              <a:rPr sz="900" b="0">
                <a:solidFill>
                  <a:srgbClr val="35D4B5"/>
                </a:solidFill>
                <a:latin typeface="Cascadia Mono"/>
                <a:ea typeface="Cascadia Mono"/>
                <a:cs typeface="Cascadia Mono"/>
              </a:rPr>
              <a:t>01</a:t>
            </a:r>
          </a:p>
        </p:txBody>
      </p:sp>
      <p:sp>
        <p:nvSpPr>
          <p:cNvPr id="6" name="Rectangle 5">
            <a:extLst>
              <a:ext uri="{FF2B5EF4-FFF2-40B4-BE49-F238E27FC236}">
                <a16:creationId xmlns:a16="http://schemas.microsoft.com/office/drawing/2014/main" id="{6BCFBD24-23FB-4376-84E9-E7CFFC8A0825}"/>
              </a:ext>
            </a:extLst>
          </p:cNvPr>
          <p:cNvSpPr>
            <a:spLocks noGrp="1"/>
          </p:cNvSpPr>
          <p:nvPr/>
        </p:nvSpPr>
        <p:spPr>
          <a:xfrm>
            <a:off x="1200150" y="1914525"/>
            <a:ext cx="2857500" cy="342900"/>
          </a:xfrm>
          <a:prstGeom prst="rect">
            <a:avLst/>
          </a:prstGeom>
          <a:noFill/>
          <a:ln w="0">
            <a:noFill/>
          </a:ln>
        </p:spPr>
        <p:txBody>
          <a:bodyPr wrap="square" lIns="0" tIns="0" rIns="0" bIns="0" anchor="t">
            <a:normAutofit/>
          </a:bodyPr>
          <a:lstStyle/>
          <a:p>
            <a:pPr algn="l">
              <a:lnSpc>
                <a:spcPct val="100000"/>
              </a:lnSpc>
              <a:buNone/>
              <a:defRPr sz="1800" b="1">
                <a:solidFill>
                  <a:srgbClr val="F8FBFF"/>
                </a:solidFill>
                <a:latin typeface="Cascadia Mono"/>
                <a:ea typeface="Cascadia Mono"/>
                <a:cs typeface="Cascadia Mono"/>
              </a:defRPr>
            </a:pPr>
            <a:r>
              <a:rPr sz="1800" b="1">
                <a:solidFill>
                  <a:srgbClr val="F8FBFF"/>
                </a:solidFill>
                <a:latin typeface="Cascadia Mono"/>
                <a:ea typeface="Cascadia Mono"/>
                <a:cs typeface="Cascadia Mono"/>
              </a:rPr>
              <a:t>LIVE</a:t>
            </a:r>
          </a:p>
        </p:txBody>
      </p:sp>
      <p:sp>
        <p:nvSpPr>
          <p:cNvPr id="7" name="Rectangle 6">
            <a:extLst>
              <a:ext uri="{FF2B5EF4-FFF2-40B4-BE49-F238E27FC236}">
                <a16:creationId xmlns:a16="http://schemas.microsoft.com/office/drawing/2014/main" id="{FDE02050-0C3B-47A7-BCC7-4F5B938CA2AB}"/>
              </a:ext>
            </a:extLst>
          </p:cNvPr>
          <p:cNvSpPr>
            <a:spLocks noGrp="1"/>
          </p:cNvSpPr>
          <p:nvPr/>
        </p:nvSpPr>
        <p:spPr>
          <a:xfrm>
            <a:off x="1200150" y="2286000"/>
            <a:ext cx="2857500" cy="266700"/>
          </a:xfrm>
          <a:prstGeom prst="rect">
            <a:avLst/>
          </a:prstGeom>
          <a:noFill/>
          <a:ln w="0">
            <a:noFill/>
          </a:ln>
        </p:spPr>
        <p:txBody>
          <a:bodyPr wrap="square" lIns="0" tIns="0" rIns="0" bIns="0" anchor="t">
            <a:normAutofit/>
          </a:bodyPr>
          <a:lstStyle/>
          <a:p>
            <a:pPr algn="r" rtl="1">
              <a:lnSpc>
                <a:spcPct val="100000"/>
              </a:lnSpc>
              <a:buNone/>
              <a:defRPr lang="he-IL" sz="1275" b="0">
                <a:solidFill>
                  <a:srgbClr val="9AB1C5"/>
                </a:solidFill>
                <a:latin typeface="Arial"/>
                <a:ea typeface="Arial"/>
                <a:cs typeface="Arial"/>
              </a:defRPr>
            </a:pPr>
            <a:r>
              <a:rPr lang="he-IL" sz="1275" b="0">
                <a:solidFill>
                  <a:srgbClr val="9AB1C5"/>
                </a:solidFill>
                <a:latin typeface="Arial"/>
                <a:ea typeface="Arial"/>
                <a:cs typeface="Arial"/>
              </a:rPr>
              <a:t>מה קורה עכשיו</a:t>
            </a:r>
          </a:p>
        </p:txBody>
      </p:sp>
      <p:sp>
        <p:nvSpPr>
          <p:cNvPr id="8" name="Straight Connector 7">
            <a:extLst>
              <a:ext uri="{FF2B5EF4-FFF2-40B4-BE49-F238E27FC236}">
                <a16:creationId xmlns:a16="http://schemas.microsoft.com/office/drawing/2014/main" id="{66254A54-ACA6-4E2B-84E9-D07B519A0600}"/>
              </a:ext>
            </a:extLst>
          </p:cNvPr>
          <p:cNvSpPr>
            <a:spLocks noGrp="1"/>
          </p:cNvSpPr>
          <p:nvPr/>
        </p:nvSpPr>
        <p:spPr>
          <a:xfrm>
            <a:off x="742950" y="2724150"/>
            <a:ext cx="3143250" cy="0"/>
          </a:xfrm>
          <a:prstGeom prst="line">
            <a:avLst/>
          </a:prstGeom>
          <a:noFill/>
          <a:ln w="9525">
            <a:solidFill>
              <a:srgbClr val="294157"/>
            </a:solidFill>
            <a:prstDash val="solid"/>
          </a:ln>
        </p:spPr>
      </p:sp>
      <p:sp>
        <p:nvSpPr>
          <p:cNvPr id="9" name="Rectangle 8">
            <a:extLst>
              <a:ext uri="{FF2B5EF4-FFF2-40B4-BE49-F238E27FC236}">
                <a16:creationId xmlns:a16="http://schemas.microsoft.com/office/drawing/2014/main" id="{06B20F59-1D0A-4BB5-ABCF-5AC4ED500E9F}"/>
              </a:ext>
            </a:extLst>
          </p:cNvPr>
          <p:cNvSpPr>
            <a:spLocks noGrp="1"/>
          </p:cNvSpPr>
          <p:nvPr/>
        </p:nvSpPr>
        <p:spPr>
          <a:xfrm>
            <a:off x="742950" y="3009900"/>
            <a:ext cx="361950" cy="228600"/>
          </a:xfrm>
          <a:prstGeom prst="rect">
            <a:avLst/>
          </a:prstGeom>
          <a:noFill/>
          <a:ln w="0">
            <a:noFill/>
          </a:ln>
        </p:spPr>
        <p:txBody>
          <a:bodyPr wrap="square" lIns="0" tIns="0" rIns="0" bIns="0" anchor="t">
            <a:normAutofit/>
          </a:bodyPr>
          <a:lstStyle/>
          <a:p>
            <a:pPr algn="l">
              <a:lnSpc>
                <a:spcPct val="100000"/>
              </a:lnSpc>
              <a:buNone/>
              <a:defRPr sz="900" b="0">
                <a:solidFill>
                  <a:srgbClr val="35D4B5"/>
                </a:solidFill>
                <a:latin typeface="Cascadia Mono"/>
                <a:ea typeface="Cascadia Mono"/>
                <a:cs typeface="Cascadia Mono"/>
              </a:defRPr>
            </a:pPr>
            <a:r>
              <a:rPr sz="900" b="0">
                <a:solidFill>
                  <a:srgbClr val="35D4B5"/>
                </a:solidFill>
                <a:latin typeface="Cascadia Mono"/>
                <a:ea typeface="Cascadia Mono"/>
                <a:cs typeface="Cascadia Mono"/>
              </a:rPr>
              <a:t>02</a:t>
            </a:r>
          </a:p>
        </p:txBody>
      </p:sp>
      <p:sp>
        <p:nvSpPr>
          <p:cNvPr id="10" name="Rectangle 9">
            <a:extLst>
              <a:ext uri="{FF2B5EF4-FFF2-40B4-BE49-F238E27FC236}">
                <a16:creationId xmlns:a16="http://schemas.microsoft.com/office/drawing/2014/main" id="{8F5C1467-1DC2-43AC-98E4-C093E6D99601}"/>
              </a:ext>
            </a:extLst>
          </p:cNvPr>
          <p:cNvSpPr>
            <a:spLocks noGrp="1"/>
          </p:cNvSpPr>
          <p:nvPr/>
        </p:nvSpPr>
        <p:spPr>
          <a:xfrm>
            <a:off x="1200150" y="2943225"/>
            <a:ext cx="2857500" cy="342900"/>
          </a:xfrm>
          <a:prstGeom prst="rect">
            <a:avLst/>
          </a:prstGeom>
          <a:noFill/>
          <a:ln w="0">
            <a:noFill/>
          </a:ln>
        </p:spPr>
        <p:txBody>
          <a:bodyPr wrap="square" lIns="0" tIns="0" rIns="0" bIns="0" anchor="t">
            <a:normAutofit/>
          </a:bodyPr>
          <a:lstStyle/>
          <a:p>
            <a:pPr algn="l">
              <a:lnSpc>
                <a:spcPct val="100000"/>
              </a:lnSpc>
              <a:buNone/>
              <a:defRPr sz="1800" b="1">
                <a:solidFill>
                  <a:srgbClr val="F8FBFF"/>
                </a:solidFill>
                <a:latin typeface="Cascadia Mono"/>
                <a:ea typeface="Cascadia Mono"/>
                <a:cs typeface="Cascadia Mono"/>
              </a:defRPr>
            </a:pPr>
            <a:r>
              <a:rPr sz="1800" b="1">
                <a:solidFill>
                  <a:srgbClr val="F8FBFF"/>
                </a:solidFill>
                <a:latin typeface="Cascadia Mono"/>
                <a:ea typeface="Cascadia Mono"/>
                <a:cs typeface="Cascadia Mono"/>
              </a:rPr>
              <a:t>CERTIFIED</a:t>
            </a:r>
          </a:p>
        </p:txBody>
      </p:sp>
      <p:sp>
        <p:nvSpPr>
          <p:cNvPr id="11" name="Rectangle 10">
            <a:extLst>
              <a:ext uri="{FF2B5EF4-FFF2-40B4-BE49-F238E27FC236}">
                <a16:creationId xmlns:a16="http://schemas.microsoft.com/office/drawing/2014/main" id="{0C52351E-6728-421F-930B-79E98B086A45}"/>
              </a:ext>
            </a:extLst>
          </p:cNvPr>
          <p:cNvSpPr>
            <a:spLocks noGrp="1"/>
          </p:cNvSpPr>
          <p:nvPr/>
        </p:nvSpPr>
        <p:spPr>
          <a:xfrm>
            <a:off x="1200150" y="3314700"/>
            <a:ext cx="2857500" cy="266700"/>
          </a:xfrm>
          <a:prstGeom prst="rect">
            <a:avLst/>
          </a:prstGeom>
          <a:noFill/>
          <a:ln w="0">
            <a:noFill/>
          </a:ln>
        </p:spPr>
        <p:txBody>
          <a:bodyPr wrap="square" lIns="0" tIns="0" rIns="0" bIns="0" anchor="t">
            <a:normAutofit/>
          </a:bodyPr>
          <a:lstStyle/>
          <a:p>
            <a:pPr algn="r" rtl="1">
              <a:lnSpc>
                <a:spcPct val="100000"/>
              </a:lnSpc>
              <a:buNone/>
              <a:defRPr lang="he-IL" sz="1275" b="0">
                <a:solidFill>
                  <a:srgbClr val="9AB1C5"/>
                </a:solidFill>
                <a:latin typeface="Arial"/>
                <a:ea typeface="Arial"/>
                <a:cs typeface="Arial"/>
              </a:defRPr>
            </a:pPr>
            <a:r>
              <a:rPr lang="he-IL" sz="1275" b="0">
                <a:solidFill>
                  <a:srgbClr val="9AB1C5"/>
                </a:solidFill>
                <a:latin typeface="Arial"/>
                <a:ea typeface="Arial"/>
                <a:cs typeface="Arial"/>
              </a:rPr>
              <a:t>מה עבר בדיקה</a:t>
            </a:r>
          </a:p>
        </p:txBody>
      </p:sp>
      <p:sp>
        <p:nvSpPr>
          <p:cNvPr id="12" name="Straight Connector 11">
            <a:extLst>
              <a:ext uri="{FF2B5EF4-FFF2-40B4-BE49-F238E27FC236}">
                <a16:creationId xmlns:a16="http://schemas.microsoft.com/office/drawing/2014/main" id="{4889C63A-231F-48E8-9C66-DF51E0158265}"/>
              </a:ext>
            </a:extLst>
          </p:cNvPr>
          <p:cNvSpPr>
            <a:spLocks noGrp="1"/>
          </p:cNvSpPr>
          <p:nvPr/>
        </p:nvSpPr>
        <p:spPr>
          <a:xfrm>
            <a:off x="742950" y="3752850"/>
            <a:ext cx="3143250" cy="0"/>
          </a:xfrm>
          <a:prstGeom prst="line">
            <a:avLst/>
          </a:prstGeom>
          <a:noFill/>
          <a:ln w="9525">
            <a:solidFill>
              <a:srgbClr val="294157"/>
            </a:solidFill>
            <a:prstDash val="solid"/>
          </a:ln>
        </p:spPr>
      </p:sp>
      <p:sp>
        <p:nvSpPr>
          <p:cNvPr id="13" name="Rectangle 12">
            <a:extLst>
              <a:ext uri="{FF2B5EF4-FFF2-40B4-BE49-F238E27FC236}">
                <a16:creationId xmlns:a16="http://schemas.microsoft.com/office/drawing/2014/main" id="{64B1EF7C-223F-43D1-B51D-B313AB856391}"/>
              </a:ext>
            </a:extLst>
          </p:cNvPr>
          <p:cNvSpPr>
            <a:spLocks noGrp="1"/>
          </p:cNvSpPr>
          <p:nvPr/>
        </p:nvSpPr>
        <p:spPr>
          <a:xfrm>
            <a:off x="742950" y="4038600"/>
            <a:ext cx="361950" cy="228600"/>
          </a:xfrm>
          <a:prstGeom prst="rect">
            <a:avLst/>
          </a:prstGeom>
          <a:noFill/>
          <a:ln w="0">
            <a:noFill/>
          </a:ln>
        </p:spPr>
        <p:txBody>
          <a:bodyPr wrap="square" lIns="0" tIns="0" rIns="0" bIns="0" anchor="t">
            <a:normAutofit/>
          </a:bodyPr>
          <a:lstStyle/>
          <a:p>
            <a:pPr algn="l">
              <a:lnSpc>
                <a:spcPct val="100000"/>
              </a:lnSpc>
              <a:buNone/>
              <a:defRPr sz="900" b="0">
                <a:solidFill>
                  <a:srgbClr val="35D4B5"/>
                </a:solidFill>
                <a:latin typeface="Cascadia Mono"/>
                <a:ea typeface="Cascadia Mono"/>
                <a:cs typeface="Cascadia Mono"/>
              </a:defRPr>
            </a:pPr>
            <a:r>
              <a:rPr sz="900" b="0">
                <a:solidFill>
                  <a:srgbClr val="35D4B5"/>
                </a:solidFill>
                <a:latin typeface="Cascadia Mono"/>
                <a:ea typeface="Cascadia Mono"/>
                <a:cs typeface="Cascadia Mono"/>
              </a:rPr>
              <a:t>03</a:t>
            </a:r>
          </a:p>
        </p:txBody>
      </p:sp>
      <p:sp>
        <p:nvSpPr>
          <p:cNvPr id="14" name="Rectangle 13">
            <a:extLst>
              <a:ext uri="{FF2B5EF4-FFF2-40B4-BE49-F238E27FC236}">
                <a16:creationId xmlns:a16="http://schemas.microsoft.com/office/drawing/2014/main" id="{AA134EEA-3F1F-48CA-AF00-675BE9314462}"/>
              </a:ext>
            </a:extLst>
          </p:cNvPr>
          <p:cNvSpPr>
            <a:spLocks noGrp="1"/>
          </p:cNvSpPr>
          <p:nvPr/>
        </p:nvSpPr>
        <p:spPr>
          <a:xfrm>
            <a:off x="1200150" y="3971925"/>
            <a:ext cx="2857500" cy="342900"/>
          </a:xfrm>
          <a:prstGeom prst="rect">
            <a:avLst/>
          </a:prstGeom>
          <a:noFill/>
          <a:ln w="0">
            <a:noFill/>
          </a:ln>
        </p:spPr>
        <p:txBody>
          <a:bodyPr wrap="square" lIns="0" tIns="0" rIns="0" bIns="0" anchor="t">
            <a:normAutofit/>
          </a:bodyPr>
          <a:lstStyle/>
          <a:p>
            <a:pPr algn="l">
              <a:lnSpc>
                <a:spcPct val="100000"/>
              </a:lnSpc>
              <a:buNone/>
              <a:defRPr sz="1800" b="1">
                <a:solidFill>
                  <a:srgbClr val="F8FBFF"/>
                </a:solidFill>
                <a:latin typeface="Cascadia Mono"/>
                <a:ea typeface="Cascadia Mono"/>
                <a:cs typeface="Cascadia Mono"/>
              </a:defRPr>
            </a:pPr>
            <a:r>
              <a:rPr sz="1800" b="1">
                <a:solidFill>
                  <a:srgbClr val="F8FBFF"/>
                </a:solidFill>
                <a:latin typeface="Cascadia Mono"/>
                <a:ea typeface="Cascadia Mono"/>
                <a:cs typeface="Cascadia Mono"/>
              </a:rPr>
              <a:t>EXPLAINED</a:t>
            </a:r>
          </a:p>
        </p:txBody>
      </p:sp>
      <p:sp>
        <p:nvSpPr>
          <p:cNvPr id="15" name="Rectangle 14">
            <a:extLst>
              <a:ext uri="{FF2B5EF4-FFF2-40B4-BE49-F238E27FC236}">
                <a16:creationId xmlns:a16="http://schemas.microsoft.com/office/drawing/2014/main" id="{E4152517-98BB-4794-B56B-948C91221054}"/>
              </a:ext>
            </a:extLst>
          </p:cNvPr>
          <p:cNvSpPr>
            <a:spLocks noGrp="1"/>
          </p:cNvSpPr>
          <p:nvPr/>
        </p:nvSpPr>
        <p:spPr>
          <a:xfrm>
            <a:off x="1200150" y="4343400"/>
            <a:ext cx="2857500" cy="266700"/>
          </a:xfrm>
          <a:prstGeom prst="rect">
            <a:avLst/>
          </a:prstGeom>
          <a:noFill/>
          <a:ln w="0">
            <a:noFill/>
          </a:ln>
        </p:spPr>
        <p:txBody>
          <a:bodyPr wrap="square" lIns="0" tIns="0" rIns="0" bIns="0" anchor="t">
            <a:normAutofit/>
          </a:bodyPr>
          <a:lstStyle/>
          <a:p>
            <a:pPr algn="r" rtl="1">
              <a:lnSpc>
                <a:spcPct val="100000"/>
              </a:lnSpc>
              <a:buNone/>
              <a:defRPr lang="he-IL" sz="1275" b="0">
                <a:solidFill>
                  <a:srgbClr val="9AB1C5"/>
                </a:solidFill>
                <a:latin typeface="Arial"/>
                <a:ea typeface="Arial"/>
                <a:cs typeface="Arial"/>
              </a:defRPr>
            </a:pPr>
            <a:r>
              <a:rPr lang="he-IL" sz="1275" b="0" dirty="0">
                <a:solidFill>
                  <a:srgbClr val="9AB1C5"/>
                </a:solidFill>
                <a:latin typeface="Arial"/>
                <a:ea typeface="Arial"/>
                <a:cs typeface="Arial"/>
              </a:rPr>
              <a:t>למה התקבלה התוצאה</a:t>
            </a:r>
          </a:p>
        </p:txBody>
      </p:sp>
    </p:spTree>
    <p:extLst>
      <p:ext uri="{BB962C8B-B14F-4D97-AF65-F5344CB8AC3E}">
        <p14:creationId xmlns:p14="http://schemas.microsoft.com/office/powerpoint/2010/main" val="10686828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91827"/>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2A7E0155-B18B-407E-968F-A2E7049C432F}"/>
              </a:ext>
            </a:extLst>
          </p:cNvPr>
          <p:cNvSpPr>
            <a:spLocks noGrp="1"/>
          </p:cNvSpPr>
          <p:nvPr/>
        </p:nvSpPr>
        <p:spPr>
          <a:xfrm>
            <a:off x="0" y="0"/>
            <a:ext cx="171450" cy="6858000"/>
          </a:xfrm>
          <a:prstGeom prst="rect">
            <a:avLst/>
          </a:prstGeom>
          <a:solidFill>
            <a:srgbClr val="35D4B5"/>
          </a:solidFill>
          <a:ln w="0">
            <a:noFill/>
          </a:ln>
        </p:spPr>
      </p:sp>
      <p:sp>
        <p:nvSpPr>
          <p:cNvPr id="2" name="Rectangle 1">
            <a:extLst>
              <a:ext uri="{FF2B5EF4-FFF2-40B4-BE49-F238E27FC236}">
                <a16:creationId xmlns:a16="http://schemas.microsoft.com/office/drawing/2014/main" id="{2BD25ECC-BBE9-458C-9E48-232C14E89990}"/>
              </a:ext>
            </a:extLst>
          </p:cNvPr>
          <p:cNvSpPr>
            <a:spLocks noGrp="1"/>
          </p:cNvSpPr>
          <p:nvPr/>
        </p:nvSpPr>
        <p:spPr>
          <a:xfrm>
            <a:off x="609600" y="400050"/>
            <a:ext cx="2476500" cy="209550"/>
          </a:xfrm>
          <a:prstGeom prst="rect">
            <a:avLst/>
          </a:prstGeom>
          <a:noFill/>
          <a:ln w="0">
            <a:noFill/>
          </a:ln>
        </p:spPr>
        <p:txBody>
          <a:bodyPr wrap="square" lIns="0" tIns="0" rIns="0" bIns="0" anchor="ctr">
            <a:normAutofit/>
          </a:bodyPr>
          <a:lstStyle/>
          <a:p>
            <a:pPr algn="l">
              <a:lnSpc>
                <a:spcPct val="100000"/>
              </a:lnSpc>
              <a:buNone/>
              <a:defRPr sz="975" b="1">
                <a:solidFill>
                  <a:srgbClr val="35D4B5"/>
                </a:solidFill>
                <a:latin typeface="Cascadia Mono"/>
                <a:ea typeface="Cascadia Mono"/>
                <a:cs typeface="Cascadia Mono"/>
              </a:defRPr>
            </a:pPr>
            <a:r>
              <a:rPr sz="975" b="1">
                <a:solidFill>
                  <a:srgbClr val="35D4B5"/>
                </a:solidFill>
                <a:latin typeface="Cascadia Mono"/>
                <a:ea typeface="Cascadia Mono"/>
                <a:cs typeface="Cascadia Mono"/>
              </a:rPr>
              <a:t>THE PROBLEM</a:t>
            </a:r>
          </a:p>
        </p:txBody>
      </p:sp>
      <p:sp>
        <p:nvSpPr>
          <p:cNvPr id="3" name="Rectangle 2">
            <a:extLst>
              <a:ext uri="{FF2B5EF4-FFF2-40B4-BE49-F238E27FC236}">
                <a16:creationId xmlns:a16="http://schemas.microsoft.com/office/drawing/2014/main" id="{B89CF861-2EEE-428C-ABBD-C562212A61FF}"/>
              </a:ext>
            </a:extLst>
          </p:cNvPr>
          <p:cNvSpPr>
            <a:spLocks noGrp="1"/>
          </p:cNvSpPr>
          <p:nvPr/>
        </p:nvSpPr>
        <p:spPr>
          <a:xfrm>
            <a:off x="4000500" y="781050"/>
            <a:ext cx="7524750" cy="685800"/>
          </a:xfrm>
          <a:prstGeom prst="rect">
            <a:avLst/>
          </a:prstGeom>
          <a:noFill/>
          <a:ln w="0">
            <a:noFill/>
          </a:ln>
        </p:spPr>
        <p:txBody>
          <a:bodyPr wrap="square" lIns="0" tIns="0" rIns="0" bIns="0" anchor="t">
            <a:normAutofit/>
          </a:bodyPr>
          <a:lstStyle/>
          <a:p>
            <a:pPr algn="r" rtl="1">
              <a:lnSpc>
                <a:spcPct val="100000"/>
              </a:lnSpc>
              <a:buNone/>
              <a:defRPr lang="he-IL" sz="3300" b="1">
                <a:solidFill>
                  <a:srgbClr val="F8FBFF"/>
                </a:solidFill>
                <a:latin typeface="Arial"/>
                <a:ea typeface="Arial"/>
                <a:cs typeface="Arial"/>
              </a:defRPr>
            </a:pPr>
            <a:r>
              <a:rPr lang="he-IL" sz="3300" b="1">
                <a:solidFill>
                  <a:srgbClr val="F8FBFF"/>
                </a:solidFill>
                <a:latin typeface="Arial"/>
                <a:ea typeface="Arial"/>
                <a:cs typeface="Arial"/>
              </a:rPr>
              <a:t>המחיר הוא רק תחילת השאלה</a:t>
            </a:r>
          </a:p>
        </p:txBody>
      </p:sp>
      <p:sp>
        <p:nvSpPr>
          <p:cNvPr id="4" name="Rectangle 3">
            <a:extLst>
              <a:ext uri="{FF2B5EF4-FFF2-40B4-BE49-F238E27FC236}">
                <a16:creationId xmlns:a16="http://schemas.microsoft.com/office/drawing/2014/main" id="{9C54001B-7962-437D-90CA-FD091561E4AE}"/>
              </a:ext>
            </a:extLst>
          </p:cNvPr>
          <p:cNvSpPr>
            <a:spLocks noGrp="1"/>
          </p:cNvSpPr>
          <p:nvPr/>
        </p:nvSpPr>
        <p:spPr>
          <a:xfrm>
            <a:off x="5048250" y="1676400"/>
            <a:ext cx="6477000" cy="704850"/>
          </a:xfrm>
          <a:prstGeom prst="rect">
            <a:avLst/>
          </a:prstGeom>
          <a:noFill/>
          <a:ln w="0">
            <a:noFill/>
          </a:ln>
        </p:spPr>
        <p:txBody>
          <a:bodyPr wrap="square" lIns="0" tIns="0" rIns="0" bIns="0" anchor="t">
            <a:normAutofit fontScale="85648"/>
          </a:bodyPr>
          <a:lstStyle/>
          <a:p>
            <a:pPr algn="r" rtl="1">
              <a:lnSpc>
                <a:spcPct val="100000"/>
              </a:lnSpc>
              <a:buNone/>
              <a:defRPr lang="he-IL" sz="1800" b="0">
                <a:solidFill>
                  <a:srgbClr val="9AB1C5"/>
                </a:solidFill>
                <a:latin typeface="Arial"/>
                <a:ea typeface="Arial"/>
                <a:cs typeface="Arial"/>
              </a:defRPr>
            </a:pPr>
            <a:r>
              <a:rPr lang="he-IL" sz="1800" b="0">
                <a:solidFill>
                  <a:srgbClr val="9AB1C5"/>
                </a:solidFill>
                <a:latin typeface="Arial"/>
                <a:ea typeface="Arial"/>
                <a:cs typeface="Arial"/>
              </a:rPr>
              <a:t>האתגר אינו מחסור במידע.</a:t>
            </a:r>
          </a:p>
          <a:p>
            <a:pPr algn="r" rtl="1">
              <a:lnSpc>
                <a:spcPct val="100000"/>
              </a:lnSpc>
              <a:buNone/>
              <a:defRPr lang="he-IL" sz="1800" b="0">
                <a:solidFill>
                  <a:srgbClr val="9AB1C5"/>
                </a:solidFill>
                <a:latin typeface="Arial"/>
                <a:ea typeface="Arial"/>
                <a:cs typeface="Arial"/>
              </a:defRPr>
            </a:pPr>
            <a:r>
              <a:rPr lang="he-IL" sz="1800" b="0">
                <a:solidFill>
                  <a:srgbClr val="9AB1C5"/>
                </a:solidFill>
                <a:latin typeface="Arial"/>
                <a:ea typeface="Arial"/>
                <a:cs typeface="Arial"/>
              </a:rPr>
              <a:t>האתגר הוא לחבר מחיר, איכות, מצב החברה וסיכון</a:t>
            </a:r>
          </a:p>
          <a:p>
            <a:pPr algn="r" rtl="1">
              <a:lnSpc>
                <a:spcPct val="100000"/>
              </a:lnSpc>
              <a:buNone/>
              <a:defRPr lang="he-IL" sz="1800" b="0">
                <a:solidFill>
                  <a:srgbClr val="9AB1C5"/>
                </a:solidFill>
                <a:latin typeface="Arial"/>
                <a:ea typeface="Arial"/>
                <a:cs typeface="Arial"/>
              </a:defRPr>
            </a:pPr>
            <a:r>
              <a:rPr lang="he-IL" sz="1800" b="0">
                <a:solidFill>
                  <a:srgbClr val="9AB1C5"/>
                </a:solidFill>
                <a:latin typeface="Arial"/>
                <a:ea typeface="Arial"/>
                <a:cs typeface="Arial"/>
              </a:rPr>
              <a:t>לתמונה אחת שאפשר להסביר.</a:t>
            </a:r>
          </a:p>
        </p:txBody>
      </p:sp>
      <p:sp>
        <p:nvSpPr>
          <p:cNvPr id="5" name="Rectangle 4">
            <a:extLst>
              <a:ext uri="{FF2B5EF4-FFF2-40B4-BE49-F238E27FC236}">
                <a16:creationId xmlns:a16="http://schemas.microsoft.com/office/drawing/2014/main" id="{88F6D627-73D3-448D-98BA-E648FB719C7F}"/>
              </a:ext>
            </a:extLst>
          </p:cNvPr>
          <p:cNvSpPr>
            <a:spLocks noGrp="1"/>
          </p:cNvSpPr>
          <p:nvPr/>
        </p:nvSpPr>
        <p:spPr>
          <a:xfrm>
            <a:off x="9010650" y="3943350"/>
            <a:ext cx="9525" cy="1447800"/>
          </a:xfrm>
          <a:prstGeom prst="rect">
            <a:avLst/>
          </a:prstGeom>
          <a:solidFill>
            <a:srgbClr val="294157"/>
          </a:solidFill>
          <a:ln w="0">
            <a:noFill/>
          </a:ln>
        </p:spPr>
      </p:sp>
      <p:sp>
        <p:nvSpPr>
          <p:cNvPr id="6" name="Rectangle 5">
            <a:extLst>
              <a:ext uri="{FF2B5EF4-FFF2-40B4-BE49-F238E27FC236}">
                <a16:creationId xmlns:a16="http://schemas.microsoft.com/office/drawing/2014/main" id="{5E11C455-94A0-46CE-95FF-B448F3BFACAB}"/>
              </a:ext>
            </a:extLst>
          </p:cNvPr>
          <p:cNvSpPr>
            <a:spLocks noGrp="1"/>
          </p:cNvSpPr>
          <p:nvPr/>
        </p:nvSpPr>
        <p:spPr>
          <a:xfrm>
            <a:off x="9182100" y="3790950"/>
            <a:ext cx="323850" cy="209550"/>
          </a:xfrm>
          <a:prstGeom prst="rect">
            <a:avLst/>
          </a:prstGeom>
          <a:noFill/>
          <a:ln w="0">
            <a:noFill/>
          </a:ln>
        </p:spPr>
        <p:txBody>
          <a:bodyPr wrap="square" lIns="0" tIns="0" rIns="0" bIns="0" anchor="t">
            <a:normAutofit/>
          </a:bodyPr>
          <a:lstStyle/>
          <a:p>
            <a:pPr algn="l">
              <a:lnSpc>
                <a:spcPct val="100000"/>
              </a:lnSpc>
              <a:buNone/>
              <a:defRPr sz="900" b="0">
                <a:solidFill>
                  <a:srgbClr val="35D4B5"/>
                </a:solidFill>
                <a:latin typeface="Cascadia Mono"/>
                <a:ea typeface="Cascadia Mono"/>
                <a:cs typeface="Cascadia Mono"/>
              </a:defRPr>
            </a:pPr>
            <a:r>
              <a:rPr sz="900" b="0">
                <a:solidFill>
                  <a:srgbClr val="35D4B5"/>
                </a:solidFill>
                <a:latin typeface="Cascadia Mono"/>
                <a:ea typeface="Cascadia Mono"/>
                <a:cs typeface="Cascadia Mono"/>
              </a:rPr>
              <a:t>01</a:t>
            </a:r>
          </a:p>
        </p:txBody>
      </p:sp>
      <p:sp>
        <p:nvSpPr>
          <p:cNvPr id="7" name="Rectangle 6">
            <a:extLst>
              <a:ext uri="{FF2B5EF4-FFF2-40B4-BE49-F238E27FC236}">
                <a16:creationId xmlns:a16="http://schemas.microsoft.com/office/drawing/2014/main" id="{C4D9AE2D-37F0-4373-BD3D-66716B60F5FE}"/>
              </a:ext>
            </a:extLst>
          </p:cNvPr>
          <p:cNvSpPr>
            <a:spLocks noGrp="1"/>
          </p:cNvSpPr>
          <p:nvPr/>
        </p:nvSpPr>
        <p:spPr>
          <a:xfrm>
            <a:off x="9182100" y="4152900"/>
            <a:ext cx="2400300" cy="457200"/>
          </a:xfrm>
          <a:prstGeom prst="rect">
            <a:avLst/>
          </a:prstGeom>
          <a:noFill/>
          <a:ln w="0">
            <a:noFill/>
          </a:ln>
        </p:spPr>
        <p:txBody>
          <a:bodyPr wrap="square" lIns="0" tIns="0" rIns="0" bIns="0" anchor="t">
            <a:normAutofit/>
          </a:bodyPr>
          <a:lstStyle/>
          <a:p>
            <a:pPr algn="r" rtl="1">
              <a:lnSpc>
                <a:spcPct val="100000"/>
              </a:lnSpc>
              <a:buNone/>
              <a:defRPr lang="he-IL" sz="1875" b="1">
                <a:solidFill>
                  <a:srgbClr val="F8FBFF"/>
                </a:solidFill>
                <a:latin typeface="Arial"/>
                <a:ea typeface="Arial"/>
                <a:cs typeface="Arial"/>
              </a:defRPr>
            </a:pPr>
            <a:r>
              <a:rPr lang="he-IL" sz="1875" b="1">
                <a:solidFill>
                  <a:srgbClr val="F8FBFF"/>
                </a:solidFill>
                <a:latin typeface="Arial"/>
                <a:ea typeface="Arial"/>
                <a:cs typeface="Arial"/>
              </a:rPr>
              <a:t>מה קורה עכשיו?</a:t>
            </a:r>
          </a:p>
        </p:txBody>
      </p:sp>
      <p:sp>
        <p:nvSpPr>
          <p:cNvPr id="8" name="Rectangle 7">
            <a:extLst>
              <a:ext uri="{FF2B5EF4-FFF2-40B4-BE49-F238E27FC236}">
                <a16:creationId xmlns:a16="http://schemas.microsoft.com/office/drawing/2014/main" id="{A6C70DDA-1BB0-4124-85F1-C6454B6F9BE8}"/>
              </a:ext>
            </a:extLst>
          </p:cNvPr>
          <p:cNvSpPr>
            <a:spLocks noGrp="1"/>
          </p:cNvSpPr>
          <p:nvPr/>
        </p:nvSpPr>
        <p:spPr>
          <a:xfrm>
            <a:off x="9182100" y="4810125"/>
            <a:ext cx="2400300" cy="381000"/>
          </a:xfrm>
          <a:prstGeom prst="rect">
            <a:avLst/>
          </a:prstGeom>
          <a:noFill/>
          <a:ln w="0">
            <a:noFill/>
          </a:ln>
        </p:spPr>
        <p:txBody>
          <a:bodyPr wrap="square" lIns="0" tIns="0" rIns="0" bIns="0" anchor="t">
            <a:normAutofit/>
          </a:bodyPr>
          <a:lstStyle/>
          <a:p>
            <a:pPr algn="r" rtl="1">
              <a:lnSpc>
                <a:spcPct val="100000"/>
              </a:lnSpc>
              <a:buNone/>
              <a:defRPr lang="he-IL" sz="1500" b="0">
                <a:solidFill>
                  <a:srgbClr val="9AB1C5"/>
                </a:solidFill>
                <a:latin typeface="Arial"/>
                <a:ea typeface="Arial"/>
                <a:cs typeface="Arial"/>
              </a:defRPr>
            </a:pPr>
            <a:r>
              <a:rPr lang="he-IL" sz="1500" b="0">
                <a:solidFill>
                  <a:srgbClr val="9AB1C5"/>
                </a:solidFill>
                <a:latin typeface="Arial"/>
                <a:ea typeface="Arial"/>
                <a:cs typeface="Arial"/>
              </a:rPr>
              <a:t>מחיר, נפח ומגמה</a:t>
            </a:r>
          </a:p>
        </p:txBody>
      </p:sp>
      <p:sp>
        <p:nvSpPr>
          <p:cNvPr id="9" name="Rectangle 8">
            <a:extLst>
              <a:ext uri="{FF2B5EF4-FFF2-40B4-BE49-F238E27FC236}">
                <a16:creationId xmlns:a16="http://schemas.microsoft.com/office/drawing/2014/main" id="{70E42688-5C15-4E56-8D92-F3418CFA0600}"/>
              </a:ext>
            </a:extLst>
          </p:cNvPr>
          <p:cNvSpPr>
            <a:spLocks noGrp="1"/>
          </p:cNvSpPr>
          <p:nvPr/>
        </p:nvSpPr>
        <p:spPr>
          <a:xfrm>
            <a:off x="6134100" y="3943350"/>
            <a:ext cx="9525" cy="1447800"/>
          </a:xfrm>
          <a:prstGeom prst="rect">
            <a:avLst/>
          </a:prstGeom>
          <a:solidFill>
            <a:srgbClr val="294157"/>
          </a:solidFill>
          <a:ln w="0">
            <a:noFill/>
          </a:ln>
        </p:spPr>
      </p:sp>
      <p:sp>
        <p:nvSpPr>
          <p:cNvPr id="10" name="Rectangle 9">
            <a:extLst>
              <a:ext uri="{FF2B5EF4-FFF2-40B4-BE49-F238E27FC236}">
                <a16:creationId xmlns:a16="http://schemas.microsoft.com/office/drawing/2014/main" id="{4BD0FFF0-87F8-44A0-BB44-41AC672E77FD}"/>
              </a:ext>
            </a:extLst>
          </p:cNvPr>
          <p:cNvSpPr>
            <a:spLocks noGrp="1"/>
          </p:cNvSpPr>
          <p:nvPr/>
        </p:nvSpPr>
        <p:spPr>
          <a:xfrm>
            <a:off x="6305550" y="3790950"/>
            <a:ext cx="323850" cy="209550"/>
          </a:xfrm>
          <a:prstGeom prst="rect">
            <a:avLst/>
          </a:prstGeom>
          <a:noFill/>
          <a:ln w="0">
            <a:noFill/>
          </a:ln>
        </p:spPr>
        <p:txBody>
          <a:bodyPr wrap="square" lIns="0" tIns="0" rIns="0" bIns="0" anchor="t">
            <a:normAutofit/>
          </a:bodyPr>
          <a:lstStyle/>
          <a:p>
            <a:pPr algn="l">
              <a:lnSpc>
                <a:spcPct val="100000"/>
              </a:lnSpc>
              <a:buNone/>
              <a:defRPr sz="900" b="0">
                <a:solidFill>
                  <a:srgbClr val="35D4B5"/>
                </a:solidFill>
                <a:latin typeface="Cascadia Mono"/>
                <a:ea typeface="Cascadia Mono"/>
                <a:cs typeface="Cascadia Mono"/>
              </a:defRPr>
            </a:pPr>
            <a:r>
              <a:rPr sz="900" b="0">
                <a:solidFill>
                  <a:srgbClr val="35D4B5"/>
                </a:solidFill>
                <a:latin typeface="Cascadia Mono"/>
                <a:ea typeface="Cascadia Mono"/>
                <a:cs typeface="Cascadia Mono"/>
              </a:rPr>
              <a:t>02</a:t>
            </a:r>
          </a:p>
        </p:txBody>
      </p:sp>
      <p:sp>
        <p:nvSpPr>
          <p:cNvPr id="11" name="Rectangle 10">
            <a:extLst>
              <a:ext uri="{FF2B5EF4-FFF2-40B4-BE49-F238E27FC236}">
                <a16:creationId xmlns:a16="http://schemas.microsoft.com/office/drawing/2014/main" id="{2C1DBED1-F96E-45A6-9069-4FB371BC0A79}"/>
              </a:ext>
            </a:extLst>
          </p:cNvPr>
          <p:cNvSpPr>
            <a:spLocks noGrp="1"/>
          </p:cNvSpPr>
          <p:nvPr/>
        </p:nvSpPr>
        <p:spPr>
          <a:xfrm>
            <a:off x="6305550" y="4152900"/>
            <a:ext cx="2400300" cy="457200"/>
          </a:xfrm>
          <a:prstGeom prst="rect">
            <a:avLst/>
          </a:prstGeom>
          <a:noFill/>
          <a:ln w="0">
            <a:noFill/>
          </a:ln>
        </p:spPr>
        <p:txBody>
          <a:bodyPr wrap="square" lIns="0" tIns="0" rIns="0" bIns="0" anchor="t">
            <a:normAutofit/>
          </a:bodyPr>
          <a:lstStyle/>
          <a:p>
            <a:pPr algn="r" rtl="1">
              <a:lnSpc>
                <a:spcPct val="100000"/>
              </a:lnSpc>
              <a:buNone/>
              <a:defRPr lang="he-IL" sz="1875" b="1">
                <a:solidFill>
                  <a:srgbClr val="F8FBFF"/>
                </a:solidFill>
                <a:latin typeface="Arial"/>
                <a:ea typeface="Arial"/>
                <a:cs typeface="Arial"/>
              </a:defRPr>
            </a:pPr>
            <a:r>
              <a:rPr lang="he-IL" sz="1875" b="1">
                <a:solidFill>
                  <a:srgbClr val="F8FBFF"/>
                </a:solidFill>
                <a:latin typeface="Arial"/>
                <a:ea typeface="Arial"/>
                <a:cs typeface="Arial"/>
              </a:rPr>
              <a:t>האם הנתון אמין?</a:t>
            </a:r>
          </a:p>
        </p:txBody>
      </p:sp>
      <p:sp>
        <p:nvSpPr>
          <p:cNvPr id="12" name="Rectangle 11">
            <a:extLst>
              <a:ext uri="{FF2B5EF4-FFF2-40B4-BE49-F238E27FC236}">
                <a16:creationId xmlns:a16="http://schemas.microsoft.com/office/drawing/2014/main" id="{55851126-791E-48D9-B303-E2BDB3C5A4C9}"/>
              </a:ext>
            </a:extLst>
          </p:cNvPr>
          <p:cNvSpPr>
            <a:spLocks noGrp="1"/>
          </p:cNvSpPr>
          <p:nvPr/>
        </p:nvSpPr>
        <p:spPr>
          <a:xfrm>
            <a:off x="6305550" y="4810125"/>
            <a:ext cx="2400300" cy="381000"/>
          </a:xfrm>
          <a:prstGeom prst="rect">
            <a:avLst/>
          </a:prstGeom>
          <a:noFill/>
          <a:ln w="0">
            <a:noFill/>
          </a:ln>
        </p:spPr>
        <p:txBody>
          <a:bodyPr wrap="square" lIns="0" tIns="0" rIns="0" bIns="0" anchor="t">
            <a:normAutofit/>
          </a:bodyPr>
          <a:lstStyle/>
          <a:p>
            <a:pPr algn="r" rtl="1">
              <a:lnSpc>
                <a:spcPct val="100000"/>
              </a:lnSpc>
              <a:buNone/>
              <a:defRPr lang="he-IL" sz="1500" b="0">
                <a:solidFill>
                  <a:srgbClr val="9AB1C5"/>
                </a:solidFill>
                <a:latin typeface="Arial"/>
                <a:ea typeface="Arial"/>
                <a:cs typeface="Arial"/>
              </a:defRPr>
            </a:pPr>
            <a:r>
              <a:rPr lang="he-IL" sz="1500" b="0">
                <a:solidFill>
                  <a:srgbClr val="9AB1C5"/>
                </a:solidFill>
                <a:latin typeface="Arial"/>
                <a:ea typeface="Arial"/>
                <a:cs typeface="Arial"/>
              </a:rPr>
              <a:t>טריות, איכות ומקור</a:t>
            </a:r>
          </a:p>
        </p:txBody>
      </p:sp>
      <p:sp>
        <p:nvSpPr>
          <p:cNvPr id="13" name="Rectangle 12">
            <a:extLst>
              <a:ext uri="{FF2B5EF4-FFF2-40B4-BE49-F238E27FC236}">
                <a16:creationId xmlns:a16="http://schemas.microsoft.com/office/drawing/2014/main" id="{EF95438C-A737-4673-B816-7008E5F8B34A}"/>
              </a:ext>
            </a:extLst>
          </p:cNvPr>
          <p:cNvSpPr>
            <a:spLocks noGrp="1"/>
          </p:cNvSpPr>
          <p:nvPr/>
        </p:nvSpPr>
        <p:spPr>
          <a:xfrm>
            <a:off x="3257550" y="3943350"/>
            <a:ext cx="9525" cy="1447800"/>
          </a:xfrm>
          <a:prstGeom prst="rect">
            <a:avLst/>
          </a:prstGeom>
          <a:solidFill>
            <a:srgbClr val="294157"/>
          </a:solidFill>
          <a:ln w="0">
            <a:noFill/>
          </a:ln>
        </p:spPr>
      </p:sp>
      <p:sp>
        <p:nvSpPr>
          <p:cNvPr id="14" name="Rectangle 13">
            <a:extLst>
              <a:ext uri="{FF2B5EF4-FFF2-40B4-BE49-F238E27FC236}">
                <a16:creationId xmlns:a16="http://schemas.microsoft.com/office/drawing/2014/main" id="{B3EFCA48-F92B-4DBD-A023-08A6DBD6B174}"/>
              </a:ext>
            </a:extLst>
          </p:cNvPr>
          <p:cNvSpPr>
            <a:spLocks noGrp="1"/>
          </p:cNvSpPr>
          <p:nvPr/>
        </p:nvSpPr>
        <p:spPr>
          <a:xfrm>
            <a:off x="3429000" y="3790950"/>
            <a:ext cx="323850" cy="209550"/>
          </a:xfrm>
          <a:prstGeom prst="rect">
            <a:avLst/>
          </a:prstGeom>
          <a:noFill/>
          <a:ln w="0">
            <a:noFill/>
          </a:ln>
        </p:spPr>
        <p:txBody>
          <a:bodyPr wrap="square" lIns="0" tIns="0" rIns="0" bIns="0" anchor="t">
            <a:normAutofit/>
          </a:bodyPr>
          <a:lstStyle/>
          <a:p>
            <a:pPr algn="l">
              <a:lnSpc>
                <a:spcPct val="100000"/>
              </a:lnSpc>
              <a:buNone/>
              <a:defRPr sz="900" b="0">
                <a:solidFill>
                  <a:srgbClr val="35D4B5"/>
                </a:solidFill>
                <a:latin typeface="Cascadia Mono"/>
                <a:ea typeface="Cascadia Mono"/>
                <a:cs typeface="Cascadia Mono"/>
              </a:defRPr>
            </a:pPr>
            <a:r>
              <a:rPr sz="900" b="0">
                <a:solidFill>
                  <a:srgbClr val="35D4B5"/>
                </a:solidFill>
                <a:latin typeface="Cascadia Mono"/>
                <a:ea typeface="Cascadia Mono"/>
                <a:cs typeface="Cascadia Mono"/>
              </a:rPr>
              <a:t>03</a:t>
            </a:r>
          </a:p>
        </p:txBody>
      </p:sp>
      <p:sp>
        <p:nvSpPr>
          <p:cNvPr id="15" name="Rectangle 14">
            <a:extLst>
              <a:ext uri="{FF2B5EF4-FFF2-40B4-BE49-F238E27FC236}">
                <a16:creationId xmlns:a16="http://schemas.microsoft.com/office/drawing/2014/main" id="{9CA6D2C8-43E7-4892-83EB-754CA5628939}"/>
              </a:ext>
            </a:extLst>
          </p:cNvPr>
          <p:cNvSpPr>
            <a:spLocks noGrp="1"/>
          </p:cNvSpPr>
          <p:nvPr/>
        </p:nvSpPr>
        <p:spPr>
          <a:xfrm>
            <a:off x="3429000" y="4152900"/>
            <a:ext cx="2400300" cy="457200"/>
          </a:xfrm>
          <a:prstGeom prst="rect">
            <a:avLst/>
          </a:prstGeom>
          <a:noFill/>
          <a:ln w="0">
            <a:noFill/>
          </a:ln>
        </p:spPr>
        <p:txBody>
          <a:bodyPr wrap="square" lIns="0" tIns="0" rIns="0" bIns="0" anchor="t">
            <a:normAutofit/>
          </a:bodyPr>
          <a:lstStyle/>
          <a:p>
            <a:pPr algn="r" rtl="1">
              <a:lnSpc>
                <a:spcPct val="100000"/>
              </a:lnSpc>
              <a:buNone/>
              <a:defRPr lang="he-IL" sz="1875" b="1">
                <a:solidFill>
                  <a:srgbClr val="F8FBFF"/>
                </a:solidFill>
                <a:latin typeface="Arial"/>
                <a:ea typeface="Arial"/>
                <a:cs typeface="Arial"/>
              </a:defRPr>
            </a:pPr>
            <a:r>
              <a:rPr lang="he-IL" sz="1875" b="1">
                <a:solidFill>
                  <a:srgbClr val="F8FBFF"/>
                </a:solidFill>
                <a:latin typeface="Arial"/>
                <a:ea typeface="Arial"/>
                <a:cs typeface="Arial"/>
              </a:rPr>
              <a:t>מה השתנה בחברה?</a:t>
            </a:r>
          </a:p>
        </p:txBody>
      </p:sp>
      <p:sp>
        <p:nvSpPr>
          <p:cNvPr id="16" name="Rectangle 15">
            <a:extLst>
              <a:ext uri="{FF2B5EF4-FFF2-40B4-BE49-F238E27FC236}">
                <a16:creationId xmlns:a16="http://schemas.microsoft.com/office/drawing/2014/main" id="{ABE97E76-F755-4516-8FE2-3F265742A75C}"/>
              </a:ext>
            </a:extLst>
          </p:cNvPr>
          <p:cNvSpPr>
            <a:spLocks noGrp="1"/>
          </p:cNvSpPr>
          <p:nvPr/>
        </p:nvSpPr>
        <p:spPr>
          <a:xfrm>
            <a:off x="3429000" y="4810125"/>
            <a:ext cx="2400300" cy="381000"/>
          </a:xfrm>
          <a:prstGeom prst="rect">
            <a:avLst/>
          </a:prstGeom>
          <a:noFill/>
          <a:ln w="0">
            <a:noFill/>
          </a:ln>
        </p:spPr>
        <p:txBody>
          <a:bodyPr wrap="square" lIns="0" tIns="0" rIns="0" bIns="0" anchor="t">
            <a:normAutofit/>
          </a:bodyPr>
          <a:lstStyle/>
          <a:p>
            <a:pPr algn="r" rtl="1">
              <a:lnSpc>
                <a:spcPct val="100000"/>
              </a:lnSpc>
              <a:buNone/>
              <a:defRPr lang="he-IL" sz="1500" b="0">
                <a:solidFill>
                  <a:srgbClr val="9AB1C5"/>
                </a:solidFill>
                <a:latin typeface="Arial"/>
                <a:ea typeface="Arial"/>
                <a:cs typeface="Arial"/>
              </a:defRPr>
            </a:pPr>
            <a:r>
              <a:rPr lang="he-IL" sz="1500" b="0">
                <a:solidFill>
                  <a:srgbClr val="9AB1C5"/>
                </a:solidFill>
                <a:latin typeface="Arial"/>
                <a:ea typeface="Arial"/>
                <a:cs typeface="Arial"/>
              </a:rPr>
              <a:t>דיווחים רשמיים של החברה</a:t>
            </a:r>
          </a:p>
        </p:txBody>
      </p:sp>
      <p:sp>
        <p:nvSpPr>
          <p:cNvPr id="17" name="Rectangle 16">
            <a:extLst>
              <a:ext uri="{FF2B5EF4-FFF2-40B4-BE49-F238E27FC236}">
                <a16:creationId xmlns:a16="http://schemas.microsoft.com/office/drawing/2014/main" id="{3C2171E5-8E88-47A2-AA56-E4BD6915F714}"/>
              </a:ext>
            </a:extLst>
          </p:cNvPr>
          <p:cNvSpPr>
            <a:spLocks noGrp="1"/>
          </p:cNvSpPr>
          <p:nvPr/>
        </p:nvSpPr>
        <p:spPr>
          <a:xfrm>
            <a:off x="552450" y="3790950"/>
            <a:ext cx="323850" cy="209550"/>
          </a:xfrm>
          <a:prstGeom prst="rect">
            <a:avLst/>
          </a:prstGeom>
          <a:noFill/>
          <a:ln w="0">
            <a:noFill/>
          </a:ln>
        </p:spPr>
        <p:txBody>
          <a:bodyPr wrap="square" lIns="0" tIns="0" rIns="0" bIns="0" anchor="t">
            <a:normAutofit/>
          </a:bodyPr>
          <a:lstStyle/>
          <a:p>
            <a:pPr algn="l">
              <a:lnSpc>
                <a:spcPct val="100000"/>
              </a:lnSpc>
              <a:buNone/>
              <a:defRPr sz="900" b="0">
                <a:solidFill>
                  <a:srgbClr val="35D4B5"/>
                </a:solidFill>
                <a:latin typeface="Cascadia Mono"/>
                <a:ea typeface="Cascadia Mono"/>
                <a:cs typeface="Cascadia Mono"/>
              </a:defRPr>
            </a:pPr>
            <a:r>
              <a:rPr sz="900" b="0">
                <a:solidFill>
                  <a:srgbClr val="35D4B5"/>
                </a:solidFill>
                <a:latin typeface="Cascadia Mono"/>
                <a:ea typeface="Cascadia Mono"/>
                <a:cs typeface="Cascadia Mono"/>
              </a:rPr>
              <a:t>04</a:t>
            </a:r>
          </a:p>
        </p:txBody>
      </p:sp>
      <p:sp>
        <p:nvSpPr>
          <p:cNvPr id="18" name="Rectangle 17">
            <a:extLst>
              <a:ext uri="{FF2B5EF4-FFF2-40B4-BE49-F238E27FC236}">
                <a16:creationId xmlns:a16="http://schemas.microsoft.com/office/drawing/2014/main" id="{34131537-61CF-45A2-B407-12A3F2AC78B7}"/>
              </a:ext>
            </a:extLst>
          </p:cNvPr>
          <p:cNvSpPr>
            <a:spLocks noGrp="1"/>
          </p:cNvSpPr>
          <p:nvPr/>
        </p:nvSpPr>
        <p:spPr>
          <a:xfrm>
            <a:off x="552450" y="4152900"/>
            <a:ext cx="2400300" cy="457200"/>
          </a:xfrm>
          <a:prstGeom prst="rect">
            <a:avLst/>
          </a:prstGeom>
          <a:noFill/>
          <a:ln w="0">
            <a:noFill/>
          </a:ln>
        </p:spPr>
        <p:txBody>
          <a:bodyPr wrap="square" lIns="0" tIns="0" rIns="0" bIns="0" anchor="t">
            <a:normAutofit/>
          </a:bodyPr>
          <a:lstStyle/>
          <a:p>
            <a:pPr algn="r" rtl="1">
              <a:lnSpc>
                <a:spcPct val="100000"/>
              </a:lnSpc>
              <a:buNone/>
              <a:defRPr lang="he-IL" sz="1875" b="1">
                <a:solidFill>
                  <a:srgbClr val="F8FBFF"/>
                </a:solidFill>
                <a:latin typeface="Arial"/>
                <a:ea typeface="Arial"/>
                <a:cs typeface="Arial"/>
              </a:defRPr>
            </a:pPr>
            <a:r>
              <a:rPr lang="he-IL" sz="1875" b="1">
                <a:solidFill>
                  <a:srgbClr val="F8FBFF"/>
                </a:solidFill>
                <a:latin typeface="Arial"/>
                <a:ea typeface="Arial"/>
                <a:cs typeface="Arial"/>
              </a:rPr>
              <a:t>האם הרעיון עבד בעבר?</a:t>
            </a:r>
          </a:p>
        </p:txBody>
      </p:sp>
      <p:sp>
        <p:nvSpPr>
          <p:cNvPr id="19" name="Rectangle 18">
            <a:extLst>
              <a:ext uri="{FF2B5EF4-FFF2-40B4-BE49-F238E27FC236}">
                <a16:creationId xmlns:a16="http://schemas.microsoft.com/office/drawing/2014/main" id="{A78959AB-8CC8-47F1-9D25-CE8383D9AD6D}"/>
              </a:ext>
            </a:extLst>
          </p:cNvPr>
          <p:cNvSpPr>
            <a:spLocks noGrp="1"/>
          </p:cNvSpPr>
          <p:nvPr/>
        </p:nvSpPr>
        <p:spPr>
          <a:xfrm>
            <a:off x="552450" y="4810125"/>
            <a:ext cx="2400300" cy="381000"/>
          </a:xfrm>
          <a:prstGeom prst="rect">
            <a:avLst/>
          </a:prstGeom>
          <a:noFill/>
          <a:ln w="0">
            <a:noFill/>
          </a:ln>
        </p:spPr>
        <p:txBody>
          <a:bodyPr wrap="square" lIns="0" tIns="0" rIns="0" bIns="0" anchor="t">
            <a:normAutofit/>
          </a:bodyPr>
          <a:lstStyle/>
          <a:p>
            <a:pPr algn="r" rtl="1">
              <a:lnSpc>
                <a:spcPct val="100000"/>
              </a:lnSpc>
              <a:buNone/>
              <a:defRPr lang="he-IL" sz="1500" b="0">
                <a:solidFill>
                  <a:srgbClr val="9AB1C5"/>
                </a:solidFill>
                <a:latin typeface="Arial"/>
                <a:ea typeface="Arial"/>
                <a:cs typeface="Arial"/>
              </a:defRPr>
            </a:pPr>
            <a:r>
              <a:rPr lang="he-IL" sz="1500" b="0">
                <a:solidFill>
                  <a:srgbClr val="9AB1C5"/>
                </a:solidFill>
                <a:latin typeface="Arial"/>
                <a:ea typeface="Arial"/>
                <a:cs typeface="Arial"/>
              </a:rPr>
              <a:t>השוואה למדד השוק ועלויות</a:t>
            </a:r>
          </a:p>
        </p:txBody>
      </p:sp>
      <p:sp>
        <p:nvSpPr>
          <p:cNvPr id="20" name="Rectangle 19">
            <a:extLst>
              <a:ext uri="{FF2B5EF4-FFF2-40B4-BE49-F238E27FC236}">
                <a16:creationId xmlns:a16="http://schemas.microsoft.com/office/drawing/2014/main" id="{6614E49B-B69F-4D0A-8D24-727A2FD4683A}"/>
              </a:ext>
            </a:extLst>
          </p:cNvPr>
          <p:cNvSpPr>
            <a:spLocks noGrp="1"/>
          </p:cNvSpPr>
          <p:nvPr/>
        </p:nvSpPr>
        <p:spPr>
          <a:xfrm>
            <a:off x="495300" y="6438900"/>
            <a:ext cx="342900" cy="171450"/>
          </a:xfrm>
          <a:prstGeom prst="rect">
            <a:avLst/>
          </a:prstGeom>
          <a:noFill/>
          <a:ln w="0">
            <a:noFill/>
          </a:ln>
        </p:spPr>
        <p:txBody>
          <a:bodyPr wrap="square" lIns="0" tIns="0" rIns="0" bIns="0" anchor="t">
            <a:normAutofit/>
          </a:bodyPr>
          <a:lstStyle/>
          <a:p>
            <a:pPr algn="l">
              <a:lnSpc>
                <a:spcPct val="100000"/>
              </a:lnSpc>
              <a:buNone/>
              <a:defRPr sz="825" b="1">
                <a:solidFill>
                  <a:srgbClr val="9AB1C5"/>
                </a:solidFill>
                <a:latin typeface="Cascadia Mono"/>
                <a:ea typeface="Cascadia Mono"/>
                <a:cs typeface="Cascadia Mono"/>
              </a:defRPr>
            </a:pPr>
            <a:r>
              <a:rPr sz="825" b="1">
                <a:solidFill>
                  <a:srgbClr val="9AB1C5"/>
                </a:solidFill>
                <a:latin typeface="Cascadia Mono"/>
                <a:ea typeface="Cascadia Mono"/>
                <a:cs typeface="Cascadia Mono"/>
              </a:rPr>
              <a:t>02</a:t>
            </a:r>
          </a:p>
        </p:txBody>
      </p:sp>
      <p:sp>
        <p:nvSpPr>
          <p:cNvPr id="21" name="Straight Connector 20">
            <a:extLst>
              <a:ext uri="{FF2B5EF4-FFF2-40B4-BE49-F238E27FC236}">
                <a16:creationId xmlns:a16="http://schemas.microsoft.com/office/drawing/2014/main" id="{3D0C16E1-77E5-4BC9-BFE9-A66CC9EE6EE5}"/>
              </a:ext>
            </a:extLst>
          </p:cNvPr>
          <p:cNvSpPr>
            <a:spLocks noGrp="1"/>
          </p:cNvSpPr>
          <p:nvPr/>
        </p:nvSpPr>
        <p:spPr>
          <a:xfrm>
            <a:off x="914400" y="6534150"/>
            <a:ext cx="10744200" cy="0"/>
          </a:xfrm>
          <a:prstGeom prst="line">
            <a:avLst/>
          </a:prstGeom>
          <a:noFill/>
          <a:ln w="9525">
            <a:solidFill>
              <a:srgbClr val="294157"/>
            </a:solidFill>
            <a:prstDash val="solid"/>
          </a:ln>
        </p:spPr>
      </p:sp>
    </p:spTree>
    <p:extLst>
      <p:ext uri="{BB962C8B-B14F-4D97-AF65-F5344CB8AC3E}">
        <p14:creationId xmlns:p14="http://schemas.microsoft.com/office/powerpoint/2010/main" val="6959037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91827"/>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1DB20077-640E-47D8-B132-421F572DEB63}"/>
              </a:ext>
            </a:extLst>
          </p:cNvPr>
          <p:cNvSpPr>
            <a:spLocks noGrp="1"/>
          </p:cNvSpPr>
          <p:nvPr/>
        </p:nvSpPr>
        <p:spPr>
          <a:xfrm>
            <a:off x="0" y="0"/>
            <a:ext cx="171450" cy="6858000"/>
          </a:xfrm>
          <a:prstGeom prst="rect">
            <a:avLst/>
          </a:prstGeom>
          <a:solidFill>
            <a:srgbClr val="35D4B5"/>
          </a:solidFill>
          <a:ln w="0">
            <a:noFill/>
          </a:ln>
        </p:spPr>
      </p:sp>
      <p:sp>
        <p:nvSpPr>
          <p:cNvPr id="2" name="Rectangle 1">
            <a:extLst>
              <a:ext uri="{FF2B5EF4-FFF2-40B4-BE49-F238E27FC236}">
                <a16:creationId xmlns:a16="http://schemas.microsoft.com/office/drawing/2014/main" id="{99E3EB69-DC52-408B-B456-4D4860A34C56}"/>
              </a:ext>
            </a:extLst>
          </p:cNvPr>
          <p:cNvSpPr>
            <a:spLocks noGrp="1"/>
          </p:cNvSpPr>
          <p:nvPr/>
        </p:nvSpPr>
        <p:spPr>
          <a:xfrm>
            <a:off x="609600" y="361950"/>
            <a:ext cx="4000500" cy="209550"/>
          </a:xfrm>
          <a:prstGeom prst="rect">
            <a:avLst/>
          </a:prstGeom>
          <a:noFill/>
          <a:ln w="0">
            <a:noFill/>
          </a:ln>
        </p:spPr>
        <p:txBody>
          <a:bodyPr wrap="square" lIns="0" tIns="0" rIns="0" bIns="0" anchor="ctr">
            <a:normAutofit/>
          </a:bodyPr>
          <a:lstStyle/>
          <a:p>
            <a:pPr algn="l">
              <a:lnSpc>
                <a:spcPct val="100000"/>
              </a:lnSpc>
              <a:buNone/>
              <a:defRPr sz="975" b="1">
                <a:solidFill>
                  <a:srgbClr val="35D4B5"/>
                </a:solidFill>
                <a:latin typeface="Cascadia Mono"/>
                <a:ea typeface="Cascadia Mono"/>
                <a:cs typeface="Cascadia Mono"/>
              </a:defRPr>
            </a:pPr>
            <a:r>
              <a:rPr sz="975" b="1">
                <a:solidFill>
                  <a:srgbClr val="35D4B5"/>
                </a:solidFill>
                <a:latin typeface="Cascadia Mono"/>
                <a:ea typeface="Cascadia Mono"/>
                <a:cs typeface="Cascadia Mono"/>
              </a:rPr>
              <a:t>PRODUCT VALUE</a:t>
            </a:r>
          </a:p>
        </p:txBody>
      </p:sp>
      <p:sp>
        <p:nvSpPr>
          <p:cNvPr id="3" name="Rectangle 2">
            <a:extLst>
              <a:ext uri="{FF2B5EF4-FFF2-40B4-BE49-F238E27FC236}">
                <a16:creationId xmlns:a16="http://schemas.microsoft.com/office/drawing/2014/main" id="{42F3ABB2-A707-4B83-A80A-09250C3C4E63}"/>
              </a:ext>
            </a:extLst>
          </p:cNvPr>
          <p:cNvSpPr>
            <a:spLocks noGrp="1"/>
          </p:cNvSpPr>
          <p:nvPr/>
        </p:nvSpPr>
        <p:spPr>
          <a:xfrm>
            <a:off x="4191000" y="533400"/>
            <a:ext cx="7391400" cy="552450"/>
          </a:xfrm>
          <a:prstGeom prst="rect">
            <a:avLst/>
          </a:prstGeom>
          <a:noFill/>
          <a:ln w="0">
            <a:noFill/>
          </a:ln>
        </p:spPr>
        <p:txBody>
          <a:bodyPr wrap="square" lIns="0" tIns="0" rIns="0" bIns="0" anchor="t">
            <a:normAutofit/>
          </a:bodyPr>
          <a:lstStyle/>
          <a:p>
            <a:pPr algn="r" rtl="1">
              <a:lnSpc>
                <a:spcPct val="100000"/>
              </a:lnSpc>
              <a:buNone/>
              <a:defRPr lang="he-IL" sz="2400" b="1">
                <a:solidFill>
                  <a:srgbClr val="F8FBFF"/>
                </a:solidFill>
                <a:latin typeface="Arial"/>
                <a:ea typeface="Arial"/>
                <a:cs typeface="Arial"/>
              </a:defRPr>
            </a:pPr>
            <a:r>
              <a:rPr lang="he-IL" sz="2400" b="1">
                <a:solidFill>
                  <a:srgbClr val="F8FBFF"/>
                </a:solidFill>
                <a:latin typeface="Arial"/>
                <a:ea typeface="Arial"/>
                <a:cs typeface="Arial"/>
              </a:rPr>
              <a:t>ממערכת נתונים לכלי מחקר לסוחר</a:t>
            </a:r>
          </a:p>
        </p:txBody>
      </p:sp>
      <p:sp>
        <p:nvSpPr>
          <p:cNvPr id="4" name="Rectangle 3">
            <a:extLst>
              <a:ext uri="{FF2B5EF4-FFF2-40B4-BE49-F238E27FC236}">
                <a16:creationId xmlns:a16="http://schemas.microsoft.com/office/drawing/2014/main" id="{E0F13781-997E-4DBE-AF97-DD638802C9D5}"/>
              </a:ext>
            </a:extLst>
          </p:cNvPr>
          <p:cNvSpPr>
            <a:spLocks noGrp="1"/>
          </p:cNvSpPr>
          <p:nvPr/>
        </p:nvSpPr>
        <p:spPr>
          <a:xfrm>
            <a:off x="495300" y="6438900"/>
            <a:ext cx="342900" cy="171450"/>
          </a:xfrm>
          <a:prstGeom prst="rect">
            <a:avLst/>
          </a:prstGeom>
          <a:noFill/>
          <a:ln w="0">
            <a:noFill/>
          </a:ln>
        </p:spPr>
        <p:txBody>
          <a:bodyPr wrap="square" lIns="0" tIns="0" rIns="0" bIns="0" anchor="t">
            <a:normAutofit/>
          </a:bodyPr>
          <a:lstStyle/>
          <a:p>
            <a:pPr algn="l">
              <a:lnSpc>
                <a:spcPct val="100000"/>
              </a:lnSpc>
              <a:buNone/>
              <a:defRPr sz="825" b="1">
                <a:solidFill>
                  <a:srgbClr val="9AB1C5"/>
                </a:solidFill>
                <a:latin typeface="Cascadia Mono"/>
                <a:ea typeface="Cascadia Mono"/>
                <a:cs typeface="Cascadia Mono"/>
              </a:defRPr>
            </a:pPr>
            <a:r>
              <a:rPr sz="825" b="1">
                <a:solidFill>
                  <a:srgbClr val="9AB1C5"/>
                </a:solidFill>
                <a:latin typeface="Cascadia Mono"/>
                <a:ea typeface="Cascadia Mono"/>
                <a:cs typeface="Cascadia Mono"/>
              </a:rPr>
              <a:t>03</a:t>
            </a:r>
          </a:p>
        </p:txBody>
      </p:sp>
      <p:sp>
        <p:nvSpPr>
          <p:cNvPr id="5" name="Straight Connector 4">
            <a:extLst>
              <a:ext uri="{FF2B5EF4-FFF2-40B4-BE49-F238E27FC236}">
                <a16:creationId xmlns:a16="http://schemas.microsoft.com/office/drawing/2014/main" id="{19ED5FE9-2E9E-42ED-89B7-F235A279F9AE}"/>
              </a:ext>
            </a:extLst>
          </p:cNvPr>
          <p:cNvSpPr>
            <a:spLocks noGrp="1"/>
          </p:cNvSpPr>
          <p:nvPr/>
        </p:nvSpPr>
        <p:spPr>
          <a:xfrm>
            <a:off x="914400" y="6534150"/>
            <a:ext cx="10744200" cy="0"/>
          </a:xfrm>
          <a:prstGeom prst="line">
            <a:avLst/>
          </a:prstGeom>
          <a:noFill/>
          <a:ln w="9525">
            <a:solidFill>
              <a:srgbClr val="294157"/>
            </a:solidFill>
            <a:prstDash val="solid"/>
          </a:ln>
        </p:spPr>
      </p:sp>
      <p:sp>
        <p:nvSpPr>
          <p:cNvPr id="6" name="Rectangle 5">
            <a:extLst>
              <a:ext uri="{FF2B5EF4-FFF2-40B4-BE49-F238E27FC236}">
                <a16:creationId xmlns:a16="http://schemas.microsoft.com/office/drawing/2014/main" id="{CD30DE93-4D67-4C34-AD2A-539C7B2B77E0}"/>
              </a:ext>
            </a:extLst>
          </p:cNvPr>
          <p:cNvSpPr>
            <a:spLocks noGrp="1"/>
          </p:cNvSpPr>
          <p:nvPr/>
        </p:nvSpPr>
        <p:spPr>
          <a:xfrm>
            <a:off x="647700" y="1676400"/>
            <a:ext cx="457200" cy="228600"/>
          </a:xfrm>
          <a:prstGeom prst="rect">
            <a:avLst/>
          </a:prstGeom>
          <a:noFill/>
          <a:ln w="0">
            <a:noFill/>
          </a:ln>
        </p:spPr>
        <p:txBody>
          <a:bodyPr wrap="square" lIns="0" tIns="0" rIns="0" bIns="0" anchor="t">
            <a:normAutofit/>
          </a:bodyPr>
          <a:lstStyle/>
          <a:p>
            <a:pPr algn="l">
              <a:lnSpc>
                <a:spcPct val="100000"/>
              </a:lnSpc>
              <a:buNone/>
              <a:defRPr sz="900" b="1">
                <a:solidFill>
                  <a:srgbClr val="F4B94F"/>
                </a:solidFill>
                <a:latin typeface="Cascadia Mono"/>
                <a:ea typeface="Cascadia Mono"/>
                <a:cs typeface="Cascadia Mono"/>
              </a:defRPr>
            </a:pPr>
            <a:r>
              <a:rPr sz="900" b="1">
                <a:solidFill>
                  <a:srgbClr val="F4B94F"/>
                </a:solidFill>
                <a:latin typeface="Cascadia Mono"/>
                <a:ea typeface="Cascadia Mono"/>
                <a:cs typeface="Cascadia Mono"/>
              </a:rPr>
              <a:t>04</a:t>
            </a:r>
          </a:p>
        </p:txBody>
      </p:sp>
      <p:sp>
        <p:nvSpPr>
          <p:cNvPr id="7" name="Rectangle 6">
            <a:extLst>
              <a:ext uri="{FF2B5EF4-FFF2-40B4-BE49-F238E27FC236}">
                <a16:creationId xmlns:a16="http://schemas.microsoft.com/office/drawing/2014/main" id="{4CE305BA-B575-472D-B2D1-FC4651966522}"/>
              </a:ext>
            </a:extLst>
          </p:cNvPr>
          <p:cNvSpPr>
            <a:spLocks noGrp="1"/>
          </p:cNvSpPr>
          <p:nvPr/>
        </p:nvSpPr>
        <p:spPr>
          <a:xfrm>
            <a:off x="647700" y="2019300"/>
            <a:ext cx="2381250" cy="514350"/>
          </a:xfrm>
          <a:prstGeom prst="rect">
            <a:avLst/>
          </a:prstGeom>
          <a:noFill/>
          <a:ln w="0">
            <a:noFill/>
          </a:ln>
        </p:spPr>
        <p:txBody>
          <a:bodyPr wrap="square" lIns="0" tIns="0" rIns="0" bIns="0" anchor="t">
            <a:normAutofit/>
          </a:bodyPr>
          <a:lstStyle/>
          <a:p>
            <a:pPr algn="r" rtl="1">
              <a:lnSpc>
                <a:spcPct val="100000"/>
              </a:lnSpc>
              <a:buNone/>
              <a:defRPr lang="he-IL" sz="2850" b="1">
                <a:solidFill>
                  <a:srgbClr val="F8FBFF"/>
                </a:solidFill>
                <a:latin typeface="Arial"/>
                <a:ea typeface="Arial"/>
                <a:cs typeface="Arial"/>
              </a:defRPr>
            </a:pPr>
            <a:r>
              <a:rPr lang="he-IL" sz="2850" b="1">
                <a:solidFill>
                  <a:srgbClr val="F8FBFF"/>
                </a:solidFill>
                <a:latin typeface="Arial"/>
                <a:ea typeface="Arial"/>
                <a:cs typeface="Arial"/>
              </a:rPr>
              <a:t>מסבירה</a:t>
            </a:r>
          </a:p>
        </p:txBody>
      </p:sp>
      <p:sp>
        <p:nvSpPr>
          <p:cNvPr id="8" name="Rectangle 7">
            <a:extLst>
              <a:ext uri="{FF2B5EF4-FFF2-40B4-BE49-F238E27FC236}">
                <a16:creationId xmlns:a16="http://schemas.microsoft.com/office/drawing/2014/main" id="{FA7A8E99-A253-4D7E-B31F-8B8750EE8661}"/>
              </a:ext>
            </a:extLst>
          </p:cNvPr>
          <p:cNvSpPr>
            <a:spLocks noGrp="1"/>
          </p:cNvSpPr>
          <p:nvPr/>
        </p:nvSpPr>
        <p:spPr>
          <a:xfrm>
            <a:off x="647700" y="2695575"/>
            <a:ext cx="2381250" cy="590550"/>
          </a:xfrm>
          <a:prstGeom prst="rect">
            <a:avLst/>
          </a:prstGeom>
          <a:noFill/>
          <a:ln w="0">
            <a:noFill/>
          </a:ln>
        </p:spPr>
        <p:txBody>
          <a:bodyPr wrap="square" lIns="0" tIns="0" rIns="0" bIns="0" anchor="t">
            <a:normAutofit/>
          </a:bodyPr>
          <a:lstStyle/>
          <a:p>
            <a:pPr algn="r" rtl="1">
              <a:lnSpc>
                <a:spcPct val="100000"/>
              </a:lnSpc>
              <a:buNone/>
              <a:defRPr lang="he-IL" sz="1725" b="0">
                <a:solidFill>
                  <a:srgbClr val="9AB1C5"/>
                </a:solidFill>
                <a:latin typeface="Arial"/>
                <a:ea typeface="Arial"/>
                <a:cs typeface="Arial"/>
              </a:defRPr>
            </a:pPr>
            <a:r>
              <a:rPr lang="he-IL" sz="1725" b="0">
                <a:solidFill>
                  <a:srgbClr val="9AB1C5"/>
                </a:solidFill>
                <a:latin typeface="Arial"/>
                <a:ea typeface="Arial"/>
                <a:cs typeface="Arial"/>
              </a:rPr>
              <a:t>תרחיש החלטה</a:t>
            </a:r>
          </a:p>
          <a:p>
            <a:pPr algn="r" rtl="1">
              <a:lnSpc>
                <a:spcPct val="100000"/>
              </a:lnSpc>
              <a:buNone/>
              <a:defRPr lang="he-IL" sz="1725" b="0">
                <a:solidFill>
                  <a:srgbClr val="9AB1C5"/>
                </a:solidFill>
                <a:latin typeface="Arial"/>
                <a:ea typeface="Arial"/>
                <a:cs typeface="Arial"/>
              </a:defRPr>
            </a:pPr>
            <a:r>
              <a:rPr lang="he-IL" sz="1725" b="0">
                <a:solidFill>
                  <a:srgbClr val="9AB1C5"/>
                </a:solidFill>
                <a:latin typeface="Arial"/>
                <a:ea typeface="Arial"/>
                <a:cs typeface="Arial"/>
              </a:rPr>
              <a:t>עם סיכון והקשר</a:t>
            </a:r>
          </a:p>
        </p:txBody>
      </p:sp>
      <p:sp>
        <p:nvSpPr>
          <p:cNvPr id="9" name="Rectangle: Rounded Corners 8">
            <a:extLst>
              <a:ext uri="{FF2B5EF4-FFF2-40B4-BE49-F238E27FC236}">
                <a16:creationId xmlns:a16="http://schemas.microsoft.com/office/drawing/2014/main" id="{3BA1C8A9-A952-4C97-8559-829A41FEEC9D}"/>
              </a:ext>
            </a:extLst>
          </p:cNvPr>
          <p:cNvSpPr>
            <a:spLocks noGrp="1"/>
          </p:cNvSpPr>
          <p:nvPr/>
        </p:nvSpPr>
        <p:spPr>
          <a:xfrm>
            <a:off x="647700" y="3581400"/>
            <a:ext cx="171450" cy="171450"/>
          </a:xfrm>
          <a:prstGeom prst="roundRect">
            <a:avLst>
              <a:gd name="adj" fmla="val 50000"/>
            </a:avLst>
          </a:prstGeom>
          <a:solidFill>
            <a:srgbClr val="F4B94F"/>
          </a:solidFill>
          <a:ln w="0">
            <a:noFill/>
          </a:ln>
        </p:spPr>
      </p:sp>
      <p:sp>
        <p:nvSpPr>
          <p:cNvPr id="10" name="Straight Connector 9">
            <a:extLst>
              <a:ext uri="{FF2B5EF4-FFF2-40B4-BE49-F238E27FC236}">
                <a16:creationId xmlns:a16="http://schemas.microsoft.com/office/drawing/2014/main" id="{E8857F9D-488C-48C5-978D-B9A8FC1B0672}"/>
              </a:ext>
            </a:extLst>
          </p:cNvPr>
          <p:cNvSpPr>
            <a:spLocks noGrp="1"/>
          </p:cNvSpPr>
          <p:nvPr/>
        </p:nvSpPr>
        <p:spPr>
          <a:xfrm>
            <a:off x="819150" y="3667125"/>
            <a:ext cx="2638425" cy="0"/>
          </a:xfrm>
          <a:prstGeom prst="line">
            <a:avLst/>
          </a:prstGeom>
          <a:noFill/>
          <a:ln w="19050">
            <a:solidFill>
              <a:srgbClr val="294157"/>
            </a:solidFill>
            <a:prstDash val="solid"/>
          </a:ln>
        </p:spPr>
      </p:sp>
      <p:sp>
        <p:nvSpPr>
          <p:cNvPr id="11" name="Rectangle 10">
            <a:extLst>
              <a:ext uri="{FF2B5EF4-FFF2-40B4-BE49-F238E27FC236}">
                <a16:creationId xmlns:a16="http://schemas.microsoft.com/office/drawing/2014/main" id="{94A8B976-1925-414A-8F3F-C58EF6E31127}"/>
              </a:ext>
            </a:extLst>
          </p:cNvPr>
          <p:cNvSpPr>
            <a:spLocks noGrp="1"/>
          </p:cNvSpPr>
          <p:nvPr/>
        </p:nvSpPr>
        <p:spPr>
          <a:xfrm>
            <a:off x="3457575" y="1676400"/>
            <a:ext cx="457200" cy="228600"/>
          </a:xfrm>
          <a:prstGeom prst="rect">
            <a:avLst/>
          </a:prstGeom>
          <a:noFill/>
          <a:ln w="0">
            <a:noFill/>
          </a:ln>
        </p:spPr>
        <p:txBody>
          <a:bodyPr wrap="square" lIns="0" tIns="0" rIns="0" bIns="0" anchor="t">
            <a:normAutofit/>
          </a:bodyPr>
          <a:lstStyle/>
          <a:p>
            <a:pPr algn="l">
              <a:lnSpc>
                <a:spcPct val="100000"/>
              </a:lnSpc>
              <a:buNone/>
              <a:defRPr sz="900" b="1">
                <a:solidFill>
                  <a:srgbClr val="5B91FF"/>
                </a:solidFill>
                <a:latin typeface="Cascadia Mono"/>
                <a:ea typeface="Cascadia Mono"/>
                <a:cs typeface="Cascadia Mono"/>
              </a:defRPr>
            </a:pPr>
            <a:r>
              <a:rPr sz="900" b="1">
                <a:solidFill>
                  <a:srgbClr val="5B91FF"/>
                </a:solidFill>
                <a:latin typeface="Cascadia Mono"/>
                <a:ea typeface="Cascadia Mono"/>
                <a:cs typeface="Cascadia Mono"/>
              </a:rPr>
              <a:t>03</a:t>
            </a:r>
          </a:p>
        </p:txBody>
      </p:sp>
      <p:sp>
        <p:nvSpPr>
          <p:cNvPr id="12" name="Rectangle 11">
            <a:extLst>
              <a:ext uri="{FF2B5EF4-FFF2-40B4-BE49-F238E27FC236}">
                <a16:creationId xmlns:a16="http://schemas.microsoft.com/office/drawing/2014/main" id="{3BBBC687-78E7-43B8-A85D-65DCB4EC70F8}"/>
              </a:ext>
            </a:extLst>
          </p:cNvPr>
          <p:cNvSpPr>
            <a:spLocks noGrp="1"/>
          </p:cNvSpPr>
          <p:nvPr/>
        </p:nvSpPr>
        <p:spPr>
          <a:xfrm>
            <a:off x="3457575" y="2019300"/>
            <a:ext cx="2381250" cy="514350"/>
          </a:xfrm>
          <a:prstGeom prst="rect">
            <a:avLst/>
          </a:prstGeom>
          <a:noFill/>
          <a:ln w="0">
            <a:noFill/>
          </a:ln>
        </p:spPr>
        <p:txBody>
          <a:bodyPr wrap="square" lIns="0" tIns="0" rIns="0" bIns="0" anchor="t">
            <a:normAutofit/>
          </a:bodyPr>
          <a:lstStyle/>
          <a:p>
            <a:pPr algn="r" rtl="1">
              <a:lnSpc>
                <a:spcPct val="100000"/>
              </a:lnSpc>
              <a:buNone/>
              <a:defRPr lang="he-IL" sz="2850" b="1">
                <a:solidFill>
                  <a:srgbClr val="F8FBFF"/>
                </a:solidFill>
                <a:latin typeface="Arial"/>
                <a:ea typeface="Arial"/>
                <a:cs typeface="Arial"/>
              </a:defRPr>
            </a:pPr>
            <a:r>
              <a:rPr lang="he-IL" sz="2850" b="1">
                <a:solidFill>
                  <a:srgbClr val="F8FBFF"/>
                </a:solidFill>
                <a:latin typeface="Arial"/>
                <a:ea typeface="Arial"/>
                <a:cs typeface="Arial"/>
              </a:rPr>
              <a:t>בודקת</a:t>
            </a:r>
          </a:p>
        </p:txBody>
      </p:sp>
      <p:sp>
        <p:nvSpPr>
          <p:cNvPr id="13" name="Rectangle 12">
            <a:extLst>
              <a:ext uri="{FF2B5EF4-FFF2-40B4-BE49-F238E27FC236}">
                <a16:creationId xmlns:a16="http://schemas.microsoft.com/office/drawing/2014/main" id="{A43103FC-25FB-4356-9EB7-F189FFFE5818}"/>
              </a:ext>
            </a:extLst>
          </p:cNvPr>
          <p:cNvSpPr>
            <a:spLocks noGrp="1"/>
          </p:cNvSpPr>
          <p:nvPr/>
        </p:nvSpPr>
        <p:spPr>
          <a:xfrm>
            <a:off x="3457575" y="2695575"/>
            <a:ext cx="2381250" cy="590550"/>
          </a:xfrm>
          <a:prstGeom prst="rect">
            <a:avLst/>
          </a:prstGeom>
          <a:noFill/>
          <a:ln w="0">
            <a:noFill/>
          </a:ln>
        </p:spPr>
        <p:txBody>
          <a:bodyPr wrap="square" lIns="0" tIns="0" rIns="0" bIns="0" anchor="t">
            <a:normAutofit/>
          </a:bodyPr>
          <a:lstStyle/>
          <a:p>
            <a:pPr algn="r" rtl="1">
              <a:lnSpc>
                <a:spcPct val="100000"/>
              </a:lnSpc>
              <a:buNone/>
              <a:defRPr lang="he-IL" sz="1725" b="0">
                <a:solidFill>
                  <a:srgbClr val="9AB1C5"/>
                </a:solidFill>
                <a:latin typeface="Arial"/>
                <a:ea typeface="Arial"/>
                <a:cs typeface="Arial"/>
              </a:defRPr>
            </a:pPr>
            <a:r>
              <a:rPr lang="he-IL" sz="1725" b="0">
                <a:solidFill>
                  <a:srgbClr val="9AB1C5"/>
                </a:solidFill>
                <a:latin typeface="Arial"/>
                <a:ea typeface="Arial"/>
                <a:cs typeface="Arial"/>
              </a:rPr>
              <a:t>איכות נתונים</a:t>
            </a:r>
          </a:p>
          <a:p>
            <a:pPr algn="r" rtl="1">
              <a:lnSpc>
                <a:spcPct val="100000"/>
              </a:lnSpc>
              <a:buNone/>
              <a:defRPr lang="he-IL" sz="1725" b="0">
                <a:solidFill>
                  <a:srgbClr val="9AB1C5"/>
                </a:solidFill>
                <a:latin typeface="Arial"/>
                <a:ea typeface="Arial"/>
                <a:cs typeface="Arial"/>
              </a:defRPr>
            </a:pPr>
            <a:r>
              <a:rPr lang="he-IL" sz="1725" b="0">
                <a:solidFill>
                  <a:srgbClr val="9AB1C5"/>
                </a:solidFill>
                <a:latin typeface="Arial"/>
                <a:ea typeface="Arial"/>
                <a:cs typeface="Arial"/>
              </a:rPr>
              <a:t>והיסטוריה</a:t>
            </a:r>
          </a:p>
        </p:txBody>
      </p:sp>
      <p:sp>
        <p:nvSpPr>
          <p:cNvPr id="14" name="Rectangle: Rounded Corners 13">
            <a:extLst>
              <a:ext uri="{FF2B5EF4-FFF2-40B4-BE49-F238E27FC236}">
                <a16:creationId xmlns:a16="http://schemas.microsoft.com/office/drawing/2014/main" id="{1040F55D-7716-4EB0-A578-E311EC938F4E}"/>
              </a:ext>
            </a:extLst>
          </p:cNvPr>
          <p:cNvSpPr>
            <a:spLocks noGrp="1"/>
          </p:cNvSpPr>
          <p:nvPr/>
        </p:nvSpPr>
        <p:spPr>
          <a:xfrm>
            <a:off x="3457575" y="3581400"/>
            <a:ext cx="171450" cy="171450"/>
          </a:xfrm>
          <a:prstGeom prst="roundRect">
            <a:avLst>
              <a:gd name="adj" fmla="val 50000"/>
            </a:avLst>
          </a:prstGeom>
          <a:solidFill>
            <a:srgbClr val="5B91FF"/>
          </a:solidFill>
          <a:ln w="0">
            <a:noFill/>
          </a:ln>
        </p:spPr>
      </p:sp>
      <p:sp>
        <p:nvSpPr>
          <p:cNvPr id="15" name="Straight Connector 14">
            <a:extLst>
              <a:ext uri="{FF2B5EF4-FFF2-40B4-BE49-F238E27FC236}">
                <a16:creationId xmlns:a16="http://schemas.microsoft.com/office/drawing/2014/main" id="{CCF48745-BAD4-49FA-9993-D2AD612FEAF5}"/>
              </a:ext>
            </a:extLst>
          </p:cNvPr>
          <p:cNvSpPr>
            <a:spLocks noGrp="1"/>
          </p:cNvSpPr>
          <p:nvPr/>
        </p:nvSpPr>
        <p:spPr>
          <a:xfrm>
            <a:off x="3629025" y="3667125"/>
            <a:ext cx="2638425" cy="0"/>
          </a:xfrm>
          <a:prstGeom prst="line">
            <a:avLst/>
          </a:prstGeom>
          <a:noFill/>
          <a:ln w="19050">
            <a:solidFill>
              <a:srgbClr val="294157"/>
            </a:solidFill>
            <a:prstDash val="solid"/>
          </a:ln>
        </p:spPr>
      </p:sp>
      <p:sp>
        <p:nvSpPr>
          <p:cNvPr id="16" name="Rectangle 15">
            <a:extLst>
              <a:ext uri="{FF2B5EF4-FFF2-40B4-BE49-F238E27FC236}">
                <a16:creationId xmlns:a16="http://schemas.microsoft.com/office/drawing/2014/main" id="{FED67B19-C1D9-426C-83C4-AB1A7BFBE029}"/>
              </a:ext>
            </a:extLst>
          </p:cNvPr>
          <p:cNvSpPr>
            <a:spLocks noGrp="1"/>
          </p:cNvSpPr>
          <p:nvPr/>
        </p:nvSpPr>
        <p:spPr>
          <a:xfrm>
            <a:off x="6267450" y="1676400"/>
            <a:ext cx="457200" cy="228600"/>
          </a:xfrm>
          <a:prstGeom prst="rect">
            <a:avLst/>
          </a:prstGeom>
          <a:noFill/>
          <a:ln w="0">
            <a:noFill/>
          </a:ln>
        </p:spPr>
        <p:txBody>
          <a:bodyPr wrap="square" lIns="0" tIns="0" rIns="0" bIns="0" anchor="t">
            <a:normAutofit/>
          </a:bodyPr>
          <a:lstStyle/>
          <a:p>
            <a:pPr algn="l">
              <a:lnSpc>
                <a:spcPct val="100000"/>
              </a:lnSpc>
              <a:buNone/>
              <a:defRPr sz="900" b="1">
                <a:solidFill>
                  <a:srgbClr val="35D4B5"/>
                </a:solidFill>
                <a:latin typeface="Cascadia Mono"/>
                <a:ea typeface="Cascadia Mono"/>
                <a:cs typeface="Cascadia Mono"/>
              </a:defRPr>
            </a:pPr>
            <a:r>
              <a:rPr sz="900" b="1">
                <a:solidFill>
                  <a:srgbClr val="35D4B5"/>
                </a:solidFill>
                <a:latin typeface="Cascadia Mono"/>
                <a:ea typeface="Cascadia Mono"/>
                <a:cs typeface="Cascadia Mono"/>
              </a:rPr>
              <a:t>02</a:t>
            </a:r>
          </a:p>
        </p:txBody>
      </p:sp>
      <p:sp>
        <p:nvSpPr>
          <p:cNvPr id="17" name="Rectangle 16">
            <a:extLst>
              <a:ext uri="{FF2B5EF4-FFF2-40B4-BE49-F238E27FC236}">
                <a16:creationId xmlns:a16="http://schemas.microsoft.com/office/drawing/2014/main" id="{C8A6F82C-E69B-4CB8-AB4F-02070883E002}"/>
              </a:ext>
            </a:extLst>
          </p:cNvPr>
          <p:cNvSpPr>
            <a:spLocks noGrp="1"/>
          </p:cNvSpPr>
          <p:nvPr/>
        </p:nvSpPr>
        <p:spPr>
          <a:xfrm>
            <a:off x="6267450" y="2019300"/>
            <a:ext cx="2381250" cy="514350"/>
          </a:xfrm>
          <a:prstGeom prst="rect">
            <a:avLst/>
          </a:prstGeom>
          <a:noFill/>
          <a:ln w="0">
            <a:noFill/>
          </a:ln>
        </p:spPr>
        <p:txBody>
          <a:bodyPr wrap="square" lIns="0" tIns="0" rIns="0" bIns="0" anchor="t">
            <a:normAutofit/>
          </a:bodyPr>
          <a:lstStyle/>
          <a:p>
            <a:pPr algn="r" rtl="1">
              <a:lnSpc>
                <a:spcPct val="100000"/>
              </a:lnSpc>
              <a:buNone/>
              <a:defRPr lang="he-IL" sz="2850" b="1">
                <a:solidFill>
                  <a:srgbClr val="F8FBFF"/>
                </a:solidFill>
                <a:latin typeface="Arial"/>
                <a:ea typeface="Arial"/>
                <a:cs typeface="Arial"/>
              </a:defRPr>
            </a:pPr>
            <a:r>
              <a:rPr lang="he-IL" sz="2850" b="1">
                <a:solidFill>
                  <a:srgbClr val="F8FBFF"/>
                </a:solidFill>
                <a:latin typeface="Arial"/>
                <a:ea typeface="Arial"/>
                <a:cs typeface="Arial"/>
              </a:rPr>
              <a:t>מבינה</a:t>
            </a:r>
          </a:p>
        </p:txBody>
      </p:sp>
      <p:sp>
        <p:nvSpPr>
          <p:cNvPr id="18" name="Rectangle 17">
            <a:extLst>
              <a:ext uri="{FF2B5EF4-FFF2-40B4-BE49-F238E27FC236}">
                <a16:creationId xmlns:a16="http://schemas.microsoft.com/office/drawing/2014/main" id="{6589774C-344A-49E2-A8E3-67727A7E5402}"/>
              </a:ext>
            </a:extLst>
          </p:cNvPr>
          <p:cNvSpPr>
            <a:spLocks noGrp="1"/>
          </p:cNvSpPr>
          <p:nvPr/>
        </p:nvSpPr>
        <p:spPr>
          <a:xfrm>
            <a:off x="6267450" y="2695575"/>
            <a:ext cx="2381250" cy="590550"/>
          </a:xfrm>
          <a:prstGeom prst="rect">
            <a:avLst/>
          </a:prstGeom>
          <a:noFill/>
          <a:ln w="0">
            <a:noFill/>
          </a:ln>
        </p:spPr>
        <p:txBody>
          <a:bodyPr wrap="square" lIns="0" tIns="0" rIns="0" bIns="0" anchor="t">
            <a:normAutofit/>
          </a:bodyPr>
          <a:lstStyle/>
          <a:p>
            <a:pPr algn="r" rtl="1">
              <a:lnSpc>
                <a:spcPct val="100000"/>
              </a:lnSpc>
              <a:buNone/>
              <a:defRPr lang="he-IL" sz="1725" b="0">
                <a:solidFill>
                  <a:srgbClr val="9AB1C5"/>
                </a:solidFill>
                <a:latin typeface="Arial"/>
                <a:ea typeface="Arial"/>
                <a:cs typeface="Arial"/>
              </a:defRPr>
            </a:pPr>
            <a:r>
              <a:rPr lang="he-IL" sz="1725" b="0">
                <a:solidFill>
                  <a:srgbClr val="9AB1C5"/>
                </a:solidFill>
                <a:latin typeface="Arial"/>
                <a:ea typeface="Arial"/>
                <a:cs typeface="Arial"/>
              </a:rPr>
              <a:t>מגמה, תנודתיות</a:t>
            </a:r>
          </a:p>
          <a:p>
            <a:pPr algn="r" rtl="1">
              <a:lnSpc>
                <a:spcPct val="100000"/>
              </a:lnSpc>
              <a:buNone/>
              <a:defRPr lang="he-IL" sz="1725" b="0">
                <a:solidFill>
                  <a:srgbClr val="9AB1C5"/>
                </a:solidFill>
                <a:latin typeface="Arial"/>
                <a:ea typeface="Arial"/>
                <a:cs typeface="Arial"/>
              </a:defRPr>
            </a:pPr>
            <a:r>
              <a:rPr lang="he-IL" sz="1725" b="0">
                <a:solidFill>
                  <a:srgbClr val="9AB1C5"/>
                </a:solidFill>
                <a:latin typeface="Arial"/>
                <a:ea typeface="Arial"/>
                <a:cs typeface="Arial"/>
              </a:rPr>
              <a:t>ודיווחי חברה</a:t>
            </a:r>
          </a:p>
        </p:txBody>
      </p:sp>
      <p:sp>
        <p:nvSpPr>
          <p:cNvPr id="19" name="Rectangle: Rounded Corners 18">
            <a:extLst>
              <a:ext uri="{FF2B5EF4-FFF2-40B4-BE49-F238E27FC236}">
                <a16:creationId xmlns:a16="http://schemas.microsoft.com/office/drawing/2014/main" id="{209027AB-5323-44D5-BAE3-57C0A934F206}"/>
              </a:ext>
            </a:extLst>
          </p:cNvPr>
          <p:cNvSpPr>
            <a:spLocks noGrp="1"/>
          </p:cNvSpPr>
          <p:nvPr/>
        </p:nvSpPr>
        <p:spPr>
          <a:xfrm>
            <a:off x="6267450" y="3581400"/>
            <a:ext cx="171450" cy="171450"/>
          </a:xfrm>
          <a:prstGeom prst="roundRect">
            <a:avLst>
              <a:gd name="adj" fmla="val 50000"/>
            </a:avLst>
          </a:prstGeom>
          <a:solidFill>
            <a:srgbClr val="35D4B5"/>
          </a:solidFill>
          <a:ln w="0">
            <a:noFill/>
          </a:ln>
        </p:spPr>
      </p:sp>
      <p:sp>
        <p:nvSpPr>
          <p:cNvPr id="20" name="Straight Connector 19">
            <a:extLst>
              <a:ext uri="{FF2B5EF4-FFF2-40B4-BE49-F238E27FC236}">
                <a16:creationId xmlns:a16="http://schemas.microsoft.com/office/drawing/2014/main" id="{1D9AFBB0-566B-4CF9-BEE9-3EC3803F3F63}"/>
              </a:ext>
            </a:extLst>
          </p:cNvPr>
          <p:cNvSpPr>
            <a:spLocks noGrp="1"/>
          </p:cNvSpPr>
          <p:nvPr/>
        </p:nvSpPr>
        <p:spPr>
          <a:xfrm>
            <a:off x="6438900" y="3667125"/>
            <a:ext cx="2638425" cy="0"/>
          </a:xfrm>
          <a:prstGeom prst="line">
            <a:avLst/>
          </a:prstGeom>
          <a:noFill/>
          <a:ln w="19050">
            <a:solidFill>
              <a:srgbClr val="294157"/>
            </a:solidFill>
            <a:prstDash val="solid"/>
          </a:ln>
        </p:spPr>
      </p:sp>
      <p:sp>
        <p:nvSpPr>
          <p:cNvPr id="21" name="Rectangle 20">
            <a:extLst>
              <a:ext uri="{FF2B5EF4-FFF2-40B4-BE49-F238E27FC236}">
                <a16:creationId xmlns:a16="http://schemas.microsoft.com/office/drawing/2014/main" id="{3C29B6F0-52FE-43F3-925B-15B83D55DF18}"/>
              </a:ext>
            </a:extLst>
          </p:cNvPr>
          <p:cNvSpPr>
            <a:spLocks noGrp="1"/>
          </p:cNvSpPr>
          <p:nvPr/>
        </p:nvSpPr>
        <p:spPr>
          <a:xfrm>
            <a:off x="9077325" y="1676400"/>
            <a:ext cx="457200" cy="228600"/>
          </a:xfrm>
          <a:prstGeom prst="rect">
            <a:avLst/>
          </a:prstGeom>
          <a:noFill/>
          <a:ln w="0">
            <a:noFill/>
          </a:ln>
        </p:spPr>
        <p:txBody>
          <a:bodyPr wrap="square" lIns="0" tIns="0" rIns="0" bIns="0" anchor="t">
            <a:normAutofit/>
          </a:bodyPr>
          <a:lstStyle/>
          <a:p>
            <a:pPr algn="l">
              <a:lnSpc>
                <a:spcPct val="100000"/>
              </a:lnSpc>
              <a:buNone/>
              <a:defRPr sz="900" b="1">
                <a:solidFill>
                  <a:srgbClr val="35D4B5"/>
                </a:solidFill>
                <a:latin typeface="Cascadia Mono"/>
                <a:ea typeface="Cascadia Mono"/>
                <a:cs typeface="Cascadia Mono"/>
              </a:defRPr>
            </a:pPr>
            <a:r>
              <a:rPr sz="900" b="1">
                <a:solidFill>
                  <a:srgbClr val="35D4B5"/>
                </a:solidFill>
                <a:latin typeface="Cascadia Mono"/>
                <a:ea typeface="Cascadia Mono"/>
                <a:cs typeface="Cascadia Mono"/>
              </a:rPr>
              <a:t>01</a:t>
            </a:r>
          </a:p>
        </p:txBody>
      </p:sp>
      <p:sp>
        <p:nvSpPr>
          <p:cNvPr id="22" name="Rectangle 21">
            <a:extLst>
              <a:ext uri="{FF2B5EF4-FFF2-40B4-BE49-F238E27FC236}">
                <a16:creationId xmlns:a16="http://schemas.microsoft.com/office/drawing/2014/main" id="{01025CB3-542D-49AF-94EF-7E7FA68E8563}"/>
              </a:ext>
            </a:extLst>
          </p:cNvPr>
          <p:cNvSpPr>
            <a:spLocks noGrp="1"/>
          </p:cNvSpPr>
          <p:nvPr/>
        </p:nvSpPr>
        <p:spPr>
          <a:xfrm>
            <a:off x="9077325" y="2019300"/>
            <a:ext cx="2381250" cy="514350"/>
          </a:xfrm>
          <a:prstGeom prst="rect">
            <a:avLst/>
          </a:prstGeom>
          <a:noFill/>
          <a:ln w="0">
            <a:noFill/>
          </a:ln>
        </p:spPr>
        <p:txBody>
          <a:bodyPr wrap="square" lIns="0" tIns="0" rIns="0" bIns="0" anchor="t">
            <a:normAutofit/>
          </a:bodyPr>
          <a:lstStyle/>
          <a:p>
            <a:pPr algn="r" rtl="1">
              <a:lnSpc>
                <a:spcPct val="100000"/>
              </a:lnSpc>
              <a:buNone/>
              <a:defRPr lang="he-IL" sz="2850" b="1">
                <a:solidFill>
                  <a:srgbClr val="F8FBFF"/>
                </a:solidFill>
                <a:latin typeface="Arial"/>
                <a:ea typeface="Arial"/>
                <a:cs typeface="Arial"/>
              </a:defRPr>
            </a:pPr>
            <a:r>
              <a:rPr lang="he-IL" sz="2850" b="1">
                <a:solidFill>
                  <a:srgbClr val="F8FBFF"/>
                </a:solidFill>
                <a:latin typeface="Arial"/>
                <a:ea typeface="Arial"/>
                <a:cs typeface="Arial"/>
              </a:rPr>
              <a:t>אוספת</a:t>
            </a:r>
          </a:p>
        </p:txBody>
      </p:sp>
      <p:sp>
        <p:nvSpPr>
          <p:cNvPr id="23" name="Rectangle 22">
            <a:extLst>
              <a:ext uri="{FF2B5EF4-FFF2-40B4-BE49-F238E27FC236}">
                <a16:creationId xmlns:a16="http://schemas.microsoft.com/office/drawing/2014/main" id="{8D4F5FD8-B505-4D31-AD31-B481DBBBA7C5}"/>
              </a:ext>
            </a:extLst>
          </p:cNvPr>
          <p:cNvSpPr>
            <a:spLocks noGrp="1"/>
          </p:cNvSpPr>
          <p:nvPr/>
        </p:nvSpPr>
        <p:spPr>
          <a:xfrm>
            <a:off x="9077325" y="2695575"/>
            <a:ext cx="2381250" cy="590550"/>
          </a:xfrm>
          <a:prstGeom prst="rect">
            <a:avLst/>
          </a:prstGeom>
          <a:noFill/>
          <a:ln w="0">
            <a:noFill/>
          </a:ln>
        </p:spPr>
        <p:txBody>
          <a:bodyPr wrap="square" lIns="0" tIns="0" rIns="0" bIns="0" anchor="t">
            <a:normAutofit/>
          </a:bodyPr>
          <a:lstStyle/>
          <a:p>
            <a:pPr algn="r" rtl="1">
              <a:lnSpc>
                <a:spcPct val="100000"/>
              </a:lnSpc>
              <a:buNone/>
              <a:defRPr lang="he-IL" sz="1725" b="0">
                <a:solidFill>
                  <a:srgbClr val="9AB1C5"/>
                </a:solidFill>
                <a:latin typeface="Arial"/>
                <a:ea typeface="Arial"/>
                <a:cs typeface="Arial"/>
              </a:defRPr>
            </a:pPr>
            <a:r>
              <a:rPr lang="he-IL" sz="1725" b="0">
                <a:solidFill>
                  <a:srgbClr val="9AB1C5"/>
                </a:solidFill>
                <a:latin typeface="Arial"/>
                <a:ea typeface="Arial"/>
                <a:cs typeface="Arial"/>
              </a:rPr>
              <a:t>שוק חי ומידע</a:t>
            </a:r>
          </a:p>
          <a:p>
            <a:pPr algn="r" rtl="1">
              <a:lnSpc>
                <a:spcPct val="100000"/>
              </a:lnSpc>
              <a:buNone/>
              <a:defRPr lang="he-IL" sz="1725" b="0">
                <a:solidFill>
                  <a:srgbClr val="9AB1C5"/>
                </a:solidFill>
                <a:latin typeface="Arial"/>
                <a:ea typeface="Arial"/>
                <a:cs typeface="Arial"/>
              </a:defRPr>
            </a:pPr>
            <a:r>
              <a:rPr lang="he-IL" sz="1725" b="0">
                <a:solidFill>
                  <a:srgbClr val="9AB1C5"/>
                </a:solidFill>
                <a:latin typeface="Arial"/>
                <a:ea typeface="Arial"/>
                <a:cs typeface="Arial"/>
              </a:rPr>
              <a:t>רשמי</a:t>
            </a:r>
          </a:p>
        </p:txBody>
      </p:sp>
      <p:sp>
        <p:nvSpPr>
          <p:cNvPr id="24" name="Rectangle: Rounded Corners 23">
            <a:extLst>
              <a:ext uri="{FF2B5EF4-FFF2-40B4-BE49-F238E27FC236}">
                <a16:creationId xmlns:a16="http://schemas.microsoft.com/office/drawing/2014/main" id="{477CAE97-929D-4659-937F-51B8FC7F3780}"/>
              </a:ext>
            </a:extLst>
          </p:cNvPr>
          <p:cNvSpPr>
            <a:spLocks noGrp="1"/>
          </p:cNvSpPr>
          <p:nvPr/>
        </p:nvSpPr>
        <p:spPr>
          <a:xfrm>
            <a:off x="9077325" y="3581400"/>
            <a:ext cx="171450" cy="171450"/>
          </a:xfrm>
          <a:prstGeom prst="roundRect">
            <a:avLst>
              <a:gd name="adj" fmla="val 50000"/>
            </a:avLst>
          </a:prstGeom>
          <a:solidFill>
            <a:srgbClr val="35D4B5"/>
          </a:solidFill>
          <a:ln w="0">
            <a:noFill/>
          </a:ln>
        </p:spPr>
      </p:sp>
      <p:sp>
        <p:nvSpPr>
          <p:cNvPr id="25" name="Rectangle 24">
            <a:extLst>
              <a:ext uri="{FF2B5EF4-FFF2-40B4-BE49-F238E27FC236}">
                <a16:creationId xmlns:a16="http://schemas.microsoft.com/office/drawing/2014/main" id="{32BFB40F-CF78-40F4-9E5D-51146DEBA2B6}"/>
              </a:ext>
            </a:extLst>
          </p:cNvPr>
          <p:cNvSpPr>
            <a:spLocks noGrp="1"/>
          </p:cNvSpPr>
          <p:nvPr/>
        </p:nvSpPr>
        <p:spPr>
          <a:xfrm>
            <a:off x="2266950" y="4381500"/>
            <a:ext cx="9315450" cy="876300"/>
          </a:xfrm>
          <a:prstGeom prst="rect">
            <a:avLst/>
          </a:prstGeom>
          <a:noFill/>
          <a:ln w="0">
            <a:noFill/>
          </a:ln>
        </p:spPr>
        <p:txBody>
          <a:bodyPr wrap="square" lIns="0" tIns="0" rIns="0" bIns="0" anchor="t">
            <a:normAutofit/>
          </a:bodyPr>
          <a:lstStyle/>
          <a:p>
            <a:pPr algn="r" rtl="1">
              <a:lnSpc>
                <a:spcPct val="95000"/>
              </a:lnSpc>
              <a:buNone/>
              <a:defRPr lang="he-IL" sz="2550" b="1">
                <a:solidFill>
                  <a:srgbClr val="F8FBFF"/>
                </a:solidFill>
                <a:latin typeface="Arial"/>
                <a:ea typeface="Arial"/>
                <a:cs typeface="Arial"/>
              </a:defRPr>
            </a:pPr>
            <a:r>
              <a:rPr lang="he-IL" sz="2550" b="1">
                <a:solidFill>
                  <a:srgbClr val="F8FBFF"/>
                </a:solidFill>
                <a:latin typeface="Arial"/>
                <a:ea typeface="Arial"/>
                <a:cs typeface="Arial"/>
              </a:rPr>
              <a:t>התוצאה: פחות זמן בחיפוש ובהצלבת מסכים, ויותר זמן בהבנת ההזדמנות, הסיכון והסיבה להחלטה.</a:t>
            </a:r>
          </a:p>
        </p:txBody>
      </p:sp>
      <p:sp>
        <p:nvSpPr>
          <p:cNvPr id="26" name="Rectangle 25">
            <a:extLst>
              <a:ext uri="{FF2B5EF4-FFF2-40B4-BE49-F238E27FC236}">
                <a16:creationId xmlns:a16="http://schemas.microsoft.com/office/drawing/2014/main" id="{A097C915-444C-40B1-9054-0137527C5081}"/>
              </a:ext>
            </a:extLst>
          </p:cNvPr>
          <p:cNvSpPr>
            <a:spLocks noGrp="1"/>
          </p:cNvSpPr>
          <p:nvPr/>
        </p:nvSpPr>
        <p:spPr>
          <a:xfrm>
            <a:off x="4953000" y="5486400"/>
            <a:ext cx="6629400" cy="323850"/>
          </a:xfrm>
          <a:prstGeom prst="rect">
            <a:avLst/>
          </a:prstGeom>
          <a:noFill/>
          <a:ln w="0">
            <a:noFill/>
          </a:ln>
        </p:spPr>
        <p:txBody>
          <a:bodyPr wrap="square" lIns="0" tIns="0" rIns="0" bIns="0" anchor="t">
            <a:normAutofit/>
          </a:bodyPr>
          <a:lstStyle/>
          <a:p>
            <a:pPr algn="r" rtl="1">
              <a:lnSpc>
                <a:spcPct val="100000"/>
              </a:lnSpc>
              <a:buNone/>
              <a:defRPr lang="he-IL" sz="1500" b="0">
                <a:solidFill>
                  <a:srgbClr val="EF7484"/>
                </a:solidFill>
                <a:latin typeface="Arial"/>
                <a:ea typeface="Arial"/>
                <a:cs typeface="Arial"/>
              </a:defRPr>
            </a:pPr>
            <a:r>
              <a:rPr lang="he-IL" sz="1500" b="0">
                <a:solidFill>
                  <a:srgbClr val="EF7484"/>
                </a:solidFill>
                <a:latin typeface="Arial"/>
                <a:ea typeface="Arial"/>
                <a:cs typeface="Arial"/>
              </a:rPr>
              <a:t>המערכת תומכת בהחלטה בלבד. ההחלטה והביצוע נשארים בידי המשתמש.</a:t>
            </a:r>
          </a:p>
        </p:txBody>
      </p:sp>
    </p:spTree>
    <p:extLst>
      <p:ext uri="{BB962C8B-B14F-4D97-AF65-F5344CB8AC3E}">
        <p14:creationId xmlns:p14="http://schemas.microsoft.com/office/powerpoint/2010/main" val="18780641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827"/>
        </a:solidFill>
        <a:effectLst/>
      </p:bgPr>
    </p:bg>
    <p:spTree>
      <p:nvGrpSpPr>
        <p:cNvPr id="1" name=""/>
        <p:cNvGrpSpPr/>
        <p:nvPr/>
      </p:nvGrpSpPr>
      <p:grpSpPr>
        <a:xfrm>
          <a:off x="0" y="0"/>
          <a:ext cx="0" cy="0"/>
          <a:chOff x="0" y="0"/>
          <a:chExt cx="0" cy="0"/>
        </a:xfrm>
      </p:grpSpPr>
      <p:sp>
        <p:nvSpPr>
          <p:cNvPr id="49" name="Rectangle 48">
            <a:extLst>
              <a:ext uri="{FF2B5EF4-FFF2-40B4-BE49-F238E27FC236}">
                <a16:creationId xmlns:a16="http://schemas.microsoft.com/office/drawing/2014/main" id="{7B722D90-0EAC-4408-81B9-D441DDBDE421}"/>
              </a:ext>
            </a:extLst>
          </p:cNvPr>
          <p:cNvSpPr>
            <a:spLocks noGrp="1"/>
          </p:cNvSpPr>
          <p:nvPr/>
        </p:nvSpPr>
        <p:spPr>
          <a:xfrm>
            <a:off x="0" y="0"/>
            <a:ext cx="171450" cy="6858000"/>
          </a:xfrm>
          <a:prstGeom prst="rect">
            <a:avLst/>
          </a:prstGeom>
          <a:solidFill>
            <a:srgbClr val="35D4B5"/>
          </a:solidFill>
          <a:ln w="0">
            <a:noFill/>
          </a:ln>
        </p:spPr>
      </p:sp>
      <p:sp>
        <p:nvSpPr>
          <p:cNvPr id="2" name="Rectangle 1">
            <a:extLst>
              <a:ext uri="{FF2B5EF4-FFF2-40B4-BE49-F238E27FC236}">
                <a16:creationId xmlns:a16="http://schemas.microsoft.com/office/drawing/2014/main" id="{7AB8317F-5B1B-4346-9EDF-A5AE49552B1E}"/>
              </a:ext>
            </a:extLst>
          </p:cNvPr>
          <p:cNvSpPr>
            <a:spLocks noGrp="1"/>
          </p:cNvSpPr>
          <p:nvPr/>
        </p:nvSpPr>
        <p:spPr>
          <a:xfrm>
            <a:off x="609600" y="361950"/>
            <a:ext cx="4000500" cy="209550"/>
          </a:xfrm>
          <a:prstGeom prst="rect">
            <a:avLst/>
          </a:prstGeom>
          <a:noFill/>
          <a:ln w="0">
            <a:noFill/>
          </a:ln>
        </p:spPr>
        <p:txBody>
          <a:bodyPr wrap="square" lIns="0" tIns="0" rIns="0" bIns="0" anchor="ctr">
            <a:normAutofit/>
          </a:bodyPr>
          <a:lstStyle/>
          <a:p>
            <a:pPr algn="l">
              <a:lnSpc>
                <a:spcPct val="100000"/>
              </a:lnSpc>
              <a:buNone/>
              <a:defRPr sz="975" b="1">
                <a:solidFill>
                  <a:srgbClr val="35D4B5"/>
                </a:solidFill>
                <a:latin typeface="Cascadia Mono"/>
                <a:ea typeface="Cascadia Mono"/>
                <a:cs typeface="Cascadia Mono"/>
              </a:defRPr>
            </a:pPr>
            <a:r>
              <a:rPr sz="975" b="1">
                <a:solidFill>
                  <a:srgbClr val="35D4B5"/>
                </a:solidFill>
                <a:latin typeface="Cascadia Mono"/>
                <a:ea typeface="Cascadia Mono"/>
                <a:cs typeface="Cascadia Mono"/>
              </a:rPr>
              <a:t>SYSTEM ARCHITECTURE</a:t>
            </a:r>
          </a:p>
        </p:txBody>
      </p:sp>
      <p:sp>
        <p:nvSpPr>
          <p:cNvPr id="3" name="Rectangle 2">
            <a:extLst>
              <a:ext uri="{FF2B5EF4-FFF2-40B4-BE49-F238E27FC236}">
                <a16:creationId xmlns:a16="http://schemas.microsoft.com/office/drawing/2014/main" id="{8814B686-32AB-4AE2-9F2C-28A197F9C36B}"/>
              </a:ext>
            </a:extLst>
          </p:cNvPr>
          <p:cNvSpPr>
            <a:spLocks noGrp="1"/>
          </p:cNvSpPr>
          <p:nvPr/>
        </p:nvSpPr>
        <p:spPr>
          <a:xfrm>
            <a:off x="4191000" y="533400"/>
            <a:ext cx="7391400" cy="552450"/>
          </a:xfrm>
          <a:prstGeom prst="rect">
            <a:avLst/>
          </a:prstGeom>
          <a:noFill/>
          <a:ln w="0">
            <a:noFill/>
          </a:ln>
        </p:spPr>
        <p:txBody>
          <a:bodyPr wrap="square" lIns="0" tIns="0" rIns="0" bIns="0" anchor="t">
            <a:normAutofit/>
          </a:bodyPr>
          <a:lstStyle/>
          <a:p>
            <a:pPr algn="r" rtl="1">
              <a:lnSpc>
                <a:spcPct val="100000"/>
              </a:lnSpc>
              <a:buNone/>
              <a:defRPr lang="he-IL" sz="2400" b="1">
                <a:solidFill>
                  <a:srgbClr val="F8FBFF"/>
                </a:solidFill>
                <a:latin typeface="Arial"/>
                <a:ea typeface="Arial"/>
                <a:cs typeface="Arial"/>
              </a:defRPr>
            </a:pPr>
            <a:r>
              <a:rPr lang="he-IL" sz="2400" b="1">
                <a:solidFill>
                  <a:srgbClr val="F8FBFF"/>
                </a:solidFill>
                <a:latin typeface="Arial"/>
                <a:ea typeface="Arial"/>
                <a:cs typeface="Arial"/>
              </a:rPr>
              <a:t>איך הנתון עובר מהמקור למסך</a:t>
            </a:r>
          </a:p>
        </p:txBody>
      </p:sp>
      <p:sp>
        <p:nvSpPr>
          <p:cNvPr id="4" name="Rectangle 3">
            <a:extLst>
              <a:ext uri="{FF2B5EF4-FFF2-40B4-BE49-F238E27FC236}">
                <a16:creationId xmlns:a16="http://schemas.microsoft.com/office/drawing/2014/main" id="{CE4A0715-08CE-4680-8888-13B62578BCD7}"/>
              </a:ext>
            </a:extLst>
          </p:cNvPr>
          <p:cNvSpPr>
            <a:spLocks noGrp="1"/>
          </p:cNvSpPr>
          <p:nvPr/>
        </p:nvSpPr>
        <p:spPr>
          <a:xfrm>
            <a:off x="495300" y="6438900"/>
            <a:ext cx="342900" cy="171450"/>
          </a:xfrm>
          <a:prstGeom prst="rect">
            <a:avLst/>
          </a:prstGeom>
          <a:noFill/>
          <a:ln w="0">
            <a:noFill/>
          </a:ln>
        </p:spPr>
        <p:txBody>
          <a:bodyPr wrap="square" lIns="0" tIns="0" rIns="0" bIns="0" anchor="t">
            <a:normAutofit/>
          </a:bodyPr>
          <a:lstStyle/>
          <a:p>
            <a:pPr algn="l">
              <a:lnSpc>
                <a:spcPct val="100000"/>
              </a:lnSpc>
              <a:buNone/>
              <a:defRPr sz="825" b="1">
                <a:solidFill>
                  <a:srgbClr val="9AB1C5"/>
                </a:solidFill>
                <a:latin typeface="Cascadia Mono"/>
                <a:ea typeface="Cascadia Mono"/>
                <a:cs typeface="Cascadia Mono"/>
              </a:defRPr>
            </a:pPr>
            <a:r>
              <a:rPr sz="825" b="1">
                <a:solidFill>
                  <a:srgbClr val="9AB1C5"/>
                </a:solidFill>
                <a:latin typeface="Cascadia Mono"/>
                <a:ea typeface="Cascadia Mono"/>
                <a:cs typeface="Cascadia Mono"/>
              </a:rPr>
              <a:t>04</a:t>
            </a:r>
          </a:p>
        </p:txBody>
      </p:sp>
      <p:sp>
        <p:nvSpPr>
          <p:cNvPr id="5" name="Straight Connector 4">
            <a:extLst>
              <a:ext uri="{FF2B5EF4-FFF2-40B4-BE49-F238E27FC236}">
                <a16:creationId xmlns:a16="http://schemas.microsoft.com/office/drawing/2014/main" id="{10808284-0F65-4A0C-BD22-40CF4AA1DFE6}"/>
              </a:ext>
            </a:extLst>
          </p:cNvPr>
          <p:cNvSpPr>
            <a:spLocks noGrp="1"/>
          </p:cNvSpPr>
          <p:nvPr/>
        </p:nvSpPr>
        <p:spPr>
          <a:xfrm>
            <a:off x="914400" y="6534150"/>
            <a:ext cx="10744200" cy="0"/>
          </a:xfrm>
          <a:prstGeom prst="line">
            <a:avLst/>
          </a:prstGeom>
          <a:noFill/>
          <a:ln w="9525">
            <a:solidFill>
              <a:srgbClr val="294157"/>
            </a:solidFill>
            <a:prstDash val="solid"/>
          </a:ln>
        </p:spPr>
      </p:sp>
      <p:sp>
        <p:nvSpPr>
          <p:cNvPr id="6" name="Rectangle 5">
            <a:extLst>
              <a:ext uri="{FF2B5EF4-FFF2-40B4-BE49-F238E27FC236}">
                <a16:creationId xmlns:a16="http://schemas.microsoft.com/office/drawing/2014/main" id="{674052CA-179D-48D9-B51D-C5D4CF314C9B}"/>
              </a:ext>
            </a:extLst>
          </p:cNvPr>
          <p:cNvSpPr>
            <a:spLocks noGrp="1"/>
          </p:cNvSpPr>
          <p:nvPr/>
        </p:nvSpPr>
        <p:spPr>
          <a:xfrm>
            <a:off x="5429250" y="1066800"/>
            <a:ext cx="6153150" cy="323850"/>
          </a:xfrm>
          <a:prstGeom prst="rect">
            <a:avLst/>
          </a:prstGeom>
          <a:noFill/>
          <a:ln w="0">
            <a:noFill/>
          </a:ln>
        </p:spPr>
        <p:txBody>
          <a:bodyPr wrap="square" lIns="0" tIns="0" rIns="0" bIns="0" anchor="t">
            <a:normAutofit/>
          </a:bodyPr>
          <a:lstStyle/>
          <a:p>
            <a:pPr algn="r" rtl="1">
              <a:lnSpc>
                <a:spcPct val="100000"/>
              </a:lnSpc>
              <a:buNone/>
              <a:defRPr lang="he-IL" sz="1500" b="0">
                <a:solidFill>
                  <a:srgbClr val="9AB1C5"/>
                </a:solidFill>
                <a:latin typeface="Arial"/>
                <a:ea typeface="Arial"/>
                <a:cs typeface="Arial"/>
              </a:defRPr>
            </a:pPr>
            <a:r>
              <a:rPr lang="he-IL" sz="1500" b="0">
                <a:solidFill>
                  <a:srgbClr val="9AB1C5"/>
                </a:solidFill>
                <a:latin typeface="Arial"/>
                <a:ea typeface="Arial"/>
                <a:cs typeface="Arial"/>
              </a:rPr>
              <a:t>מסלולים נפרדים למהירות, ראיה גולמית ואישור — ושכבת החלטה מעליהם</a:t>
            </a:r>
          </a:p>
        </p:txBody>
      </p:sp>
      <p:sp>
        <p:nvSpPr>
          <p:cNvPr id="7" name="Rectangle 6">
            <a:extLst>
              <a:ext uri="{FF2B5EF4-FFF2-40B4-BE49-F238E27FC236}">
                <a16:creationId xmlns:a16="http://schemas.microsoft.com/office/drawing/2014/main" id="{2A234097-E3DC-4C7E-9F4B-360B07F90D1D}"/>
              </a:ext>
            </a:extLst>
          </p:cNvPr>
          <p:cNvSpPr>
            <a:spLocks noGrp="1"/>
          </p:cNvSpPr>
          <p:nvPr/>
        </p:nvSpPr>
        <p:spPr>
          <a:xfrm>
            <a:off x="10344150" y="1657350"/>
            <a:ext cx="1143000" cy="209550"/>
          </a:xfrm>
          <a:prstGeom prst="rect">
            <a:avLst/>
          </a:prstGeom>
          <a:noFill/>
          <a:ln w="0">
            <a:noFill/>
          </a:ln>
        </p:spPr>
        <p:txBody>
          <a:bodyPr wrap="square" lIns="0" tIns="0" rIns="0" bIns="0" anchor="ctr">
            <a:normAutofit/>
          </a:bodyPr>
          <a:lstStyle/>
          <a:p>
            <a:pPr algn="r">
              <a:lnSpc>
                <a:spcPct val="100000"/>
              </a:lnSpc>
              <a:buNone/>
              <a:defRPr sz="975" b="1">
                <a:solidFill>
                  <a:srgbClr val="35D4B5"/>
                </a:solidFill>
                <a:latin typeface="Cascadia Mono"/>
                <a:ea typeface="Cascadia Mono"/>
                <a:cs typeface="Cascadia Mono"/>
              </a:defRPr>
            </a:pPr>
            <a:r>
              <a:rPr sz="975" b="1">
                <a:solidFill>
                  <a:srgbClr val="35D4B5"/>
                </a:solidFill>
                <a:latin typeface="Cascadia Mono"/>
                <a:ea typeface="Cascadia Mono"/>
                <a:cs typeface="Cascadia Mono"/>
              </a:rPr>
              <a:t>LIVE PATH</a:t>
            </a:r>
          </a:p>
        </p:txBody>
      </p:sp>
      <p:sp>
        <p:nvSpPr>
          <p:cNvPr id="8" name="Rectangle: Rounded Corners 7">
            <a:extLst>
              <a:ext uri="{FF2B5EF4-FFF2-40B4-BE49-F238E27FC236}">
                <a16:creationId xmlns:a16="http://schemas.microsoft.com/office/drawing/2014/main" id="{723B9F9B-780E-42C7-9562-CC1A39CCAD04}"/>
              </a:ext>
            </a:extLst>
          </p:cNvPr>
          <p:cNvSpPr>
            <a:spLocks noGrp="1"/>
          </p:cNvSpPr>
          <p:nvPr/>
        </p:nvSpPr>
        <p:spPr>
          <a:xfrm>
            <a:off x="9925050" y="2038350"/>
            <a:ext cx="1562100" cy="838200"/>
          </a:xfrm>
          <a:prstGeom prst="roundRect">
            <a:avLst>
              <a:gd name="adj" fmla="val 13636"/>
            </a:avLst>
          </a:prstGeom>
          <a:solidFill>
            <a:srgbClr val="10283C"/>
          </a:solidFill>
          <a:ln w="14288">
            <a:solidFill>
              <a:srgbClr val="35D4B5"/>
            </a:solidFill>
            <a:prstDash val="solid"/>
          </a:ln>
        </p:spPr>
      </p:sp>
      <p:sp>
        <p:nvSpPr>
          <p:cNvPr id="9" name="Rectangle 8">
            <a:extLst>
              <a:ext uri="{FF2B5EF4-FFF2-40B4-BE49-F238E27FC236}">
                <a16:creationId xmlns:a16="http://schemas.microsoft.com/office/drawing/2014/main" id="{D5235689-98BB-4F39-B970-852702A94D2B}"/>
              </a:ext>
            </a:extLst>
          </p:cNvPr>
          <p:cNvSpPr>
            <a:spLocks noGrp="1"/>
          </p:cNvSpPr>
          <p:nvPr/>
        </p:nvSpPr>
        <p:spPr>
          <a:xfrm>
            <a:off x="10020300" y="2200275"/>
            <a:ext cx="1371600" cy="266700"/>
          </a:xfrm>
          <a:prstGeom prst="rect">
            <a:avLst/>
          </a:prstGeom>
          <a:noFill/>
          <a:ln w="0">
            <a:noFill/>
          </a:ln>
        </p:spPr>
        <p:txBody>
          <a:bodyPr wrap="square" lIns="0" tIns="0" rIns="0" bIns="0" anchor="ctr">
            <a:normAutofit/>
          </a:bodyPr>
          <a:lstStyle/>
          <a:p>
            <a:pPr algn="ctr">
              <a:lnSpc>
                <a:spcPct val="100000"/>
              </a:lnSpc>
              <a:buNone/>
              <a:defRPr sz="1425" b="1">
                <a:solidFill>
                  <a:srgbClr val="F8FBFF"/>
                </a:solidFill>
                <a:latin typeface="Cascadia Mono"/>
                <a:ea typeface="Cascadia Mono"/>
                <a:cs typeface="Cascadia Mono"/>
              </a:defRPr>
            </a:pPr>
            <a:r>
              <a:rPr sz="1425" b="1">
                <a:solidFill>
                  <a:srgbClr val="F8FBFF"/>
                </a:solidFill>
                <a:latin typeface="Cascadia Mono"/>
                <a:ea typeface="Cascadia Mono"/>
                <a:cs typeface="Cascadia Mono"/>
              </a:rPr>
              <a:t>Alpaca</a:t>
            </a:r>
          </a:p>
        </p:txBody>
      </p:sp>
      <p:sp>
        <p:nvSpPr>
          <p:cNvPr id="10" name="Rectangle 9">
            <a:extLst>
              <a:ext uri="{FF2B5EF4-FFF2-40B4-BE49-F238E27FC236}">
                <a16:creationId xmlns:a16="http://schemas.microsoft.com/office/drawing/2014/main" id="{D49290A3-E204-47C0-8A16-6A56E98F8311}"/>
              </a:ext>
            </a:extLst>
          </p:cNvPr>
          <p:cNvSpPr>
            <a:spLocks noGrp="1"/>
          </p:cNvSpPr>
          <p:nvPr/>
        </p:nvSpPr>
        <p:spPr>
          <a:xfrm>
            <a:off x="10001250" y="2514600"/>
            <a:ext cx="1409700" cy="190500"/>
          </a:xfrm>
          <a:prstGeom prst="rect">
            <a:avLst/>
          </a:prstGeom>
          <a:noFill/>
          <a:ln w="0">
            <a:noFill/>
          </a:ln>
        </p:spPr>
        <p:txBody>
          <a:bodyPr wrap="square" lIns="0" tIns="0" rIns="0" bIns="0" anchor="t">
            <a:normAutofit/>
          </a:bodyPr>
          <a:lstStyle/>
          <a:p>
            <a:pPr algn="r" rtl="1">
              <a:lnSpc>
                <a:spcPct val="100000"/>
              </a:lnSpc>
              <a:buNone/>
              <a:defRPr lang="he-IL" sz="1125" b="0">
                <a:solidFill>
                  <a:srgbClr val="9AB1C5"/>
                </a:solidFill>
                <a:latin typeface="Arial"/>
                <a:ea typeface="Arial"/>
                <a:cs typeface="Arial"/>
              </a:defRPr>
            </a:pPr>
            <a:r>
              <a:rPr lang="he-IL" sz="1125" b="0">
                <a:solidFill>
                  <a:srgbClr val="9AB1C5"/>
                </a:solidFill>
                <a:latin typeface="Arial"/>
                <a:ea typeface="Arial"/>
                <a:cs typeface="Arial"/>
              </a:rPr>
              <a:t>נתוני שוק</a:t>
            </a:r>
          </a:p>
        </p:txBody>
      </p:sp>
      <p:sp>
        <p:nvSpPr>
          <p:cNvPr id="11" name="Rectangle: Rounded Corners 10">
            <a:extLst>
              <a:ext uri="{FF2B5EF4-FFF2-40B4-BE49-F238E27FC236}">
                <a16:creationId xmlns:a16="http://schemas.microsoft.com/office/drawing/2014/main" id="{49330905-83DA-4F11-A099-B028FDA03998}"/>
              </a:ext>
            </a:extLst>
          </p:cNvPr>
          <p:cNvSpPr>
            <a:spLocks noGrp="1"/>
          </p:cNvSpPr>
          <p:nvPr/>
        </p:nvSpPr>
        <p:spPr>
          <a:xfrm>
            <a:off x="8048625" y="2038350"/>
            <a:ext cx="1504950" cy="838200"/>
          </a:xfrm>
          <a:prstGeom prst="roundRect">
            <a:avLst>
              <a:gd name="adj" fmla="val 13636"/>
            </a:avLst>
          </a:prstGeom>
          <a:solidFill>
            <a:srgbClr val="10283C"/>
          </a:solidFill>
          <a:ln w="14288">
            <a:solidFill>
              <a:srgbClr val="35D4B5"/>
            </a:solidFill>
            <a:prstDash val="solid"/>
          </a:ln>
        </p:spPr>
      </p:sp>
      <p:sp>
        <p:nvSpPr>
          <p:cNvPr id="12" name="Rectangle 11">
            <a:extLst>
              <a:ext uri="{FF2B5EF4-FFF2-40B4-BE49-F238E27FC236}">
                <a16:creationId xmlns:a16="http://schemas.microsoft.com/office/drawing/2014/main" id="{A7F03EA3-0C89-4BE0-81BC-CEF713F42388}"/>
              </a:ext>
            </a:extLst>
          </p:cNvPr>
          <p:cNvSpPr>
            <a:spLocks noGrp="1"/>
          </p:cNvSpPr>
          <p:nvPr/>
        </p:nvSpPr>
        <p:spPr>
          <a:xfrm>
            <a:off x="8143875" y="2200275"/>
            <a:ext cx="1314450" cy="266700"/>
          </a:xfrm>
          <a:prstGeom prst="rect">
            <a:avLst/>
          </a:prstGeom>
          <a:noFill/>
          <a:ln w="0">
            <a:noFill/>
          </a:ln>
        </p:spPr>
        <p:txBody>
          <a:bodyPr wrap="square" lIns="0" tIns="0" rIns="0" bIns="0" anchor="ctr">
            <a:normAutofit/>
          </a:bodyPr>
          <a:lstStyle/>
          <a:p>
            <a:pPr algn="ctr">
              <a:lnSpc>
                <a:spcPct val="100000"/>
              </a:lnSpc>
              <a:buNone/>
              <a:defRPr sz="1425" b="1">
                <a:solidFill>
                  <a:srgbClr val="F8FBFF"/>
                </a:solidFill>
                <a:latin typeface="Cascadia Mono"/>
                <a:ea typeface="Cascadia Mono"/>
                <a:cs typeface="Cascadia Mono"/>
              </a:defRPr>
            </a:pPr>
            <a:r>
              <a:rPr sz="1425" b="1">
                <a:solidFill>
                  <a:srgbClr val="F8FBFF"/>
                </a:solidFill>
                <a:latin typeface="Cascadia Mono"/>
                <a:ea typeface="Cascadia Mono"/>
                <a:cs typeface="Cascadia Mono"/>
              </a:rPr>
              <a:t>Python</a:t>
            </a:r>
          </a:p>
        </p:txBody>
      </p:sp>
      <p:sp>
        <p:nvSpPr>
          <p:cNvPr id="13" name="Rectangle 12">
            <a:extLst>
              <a:ext uri="{FF2B5EF4-FFF2-40B4-BE49-F238E27FC236}">
                <a16:creationId xmlns:a16="http://schemas.microsoft.com/office/drawing/2014/main" id="{41CDE7F4-450C-465C-9E45-D62655F48D60}"/>
              </a:ext>
            </a:extLst>
          </p:cNvPr>
          <p:cNvSpPr>
            <a:spLocks noGrp="1"/>
          </p:cNvSpPr>
          <p:nvPr/>
        </p:nvSpPr>
        <p:spPr>
          <a:xfrm>
            <a:off x="8124825" y="2514600"/>
            <a:ext cx="1352550" cy="190500"/>
          </a:xfrm>
          <a:prstGeom prst="rect">
            <a:avLst/>
          </a:prstGeom>
          <a:noFill/>
          <a:ln w="0">
            <a:noFill/>
          </a:ln>
        </p:spPr>
        <p:txBody>
          <a:bodyPr wrap="square" lIns="0" tIns="0" rIns="0" bIns="0" anchor="t">
            <a:normAutofit/>
          </a:bodyPr>
          <a:lstStyle/>
          <a:p>
            <a:pPr algn="r" rtl="1">
              <a:lnSpc>
                <a:spcPct val="100000"/>
              </a:lnSpc>
              <a:buNone/>
              <a:defRPr lang="he-IL" sz="1125" b="0">
                <a:solidFill>
                  <a:srgbClr val="9AB1C5"/>
                </a:solidFill>
                <a:latin typeface="Arial"/>
                <a:ea typeface="Arial"/>
                <a:cs typeface="Arial"/>
              </a:defRPr>
            </a:pPr>
            <a:r>
              <a:rPr lang="he-IL" sz="1125" b="0">
                <a:solidFill>
                  <a:srgbClr val="9AB1C5"/>
                </a:solidFill>
                <a:latin typeface="Arial"/>
                <a:ea typeface="Arial"/>
                <a:cs typeface="Arial"/>
              </a:rPr>
              <a:t>קליטה וחוזי מידע</a:t>
            </a:r>
          </a:p>
        </p:txBody>
      </p:sp>
      <p:sp>
        <p:nvSpPr>
          <p:cNvPr id="14" name="Rectangle: Rounded Corners 13">
            <a:extLst>
              <a:ext uri="{FF2B5EF4-FFF2-40B4-BE49-F238E27FC236}">
                <a16:creationId xmlns:a16="http://schemas.microsoft.com/office/drawing/2014/main" id="{C854425E-8C07-4FB5-99ED-D423783C669F}"/>
              </a:ext>
            </a:extLst>
          </p:cNvPr>
          <p:cNvSpPr>
            <a:spLocks noGrp="1"/>
          </p:cNvSpPr>
          <p:nvPr/>
        </p:nvSpPr>
        <p:spPr>
          <a:xfrm>
            <a:off x="6172200" y="2038350"/>
            <a:ext cx="1504950" cy="838200"/>
          </a:xfrm>
          <a:prstGeom prst="roundRect">
            <a:avLst>
              <a:gd name="adj" fmla="val 13636"/>
            </a:avLst>
          </a:prstGeom>
          <a:solidFill>
            <a:srgbClr val="10283C"/>
          </a:solidFill>
          <a:ln w="14288">
            <a:solidFill>
              <a:srgbClr val="5B91FF"/>
            </a:solidFill>
            <a:prstDash val="solid"/>
          </a:ln>
        </p:spPr>
      </p:sp>
      <p:sp>
        <p:nvSpPr>
          <p:cNvPr id="15" name="Rectangle 14">
            <a:extLst>
              <a:ext uri="{FF2B5EF4-FFF2-40B4-BE49-F238E27FC236}">
                <a16:creationId xmlns:a16="http://schemas.microsoft.com/office/drawing/2014/main" id="{584EFBC1-8886-45ED-9724-2C962E870711}"/>
              </a:ext>
            </a:extLst>
          </p:cNvPr>
          <p:cNvSpPr>
            <a:spLocks noGrp="1"/>
          </p:cNvSpPr>
          <p:nvPr/>
        </p:nvSpPr>
        <p:spPr>
          <a:xfrm>
            <a:off x="6267450" y="2200275"/>
            <a:ext cx="1314450" cy="266700"/>
          </a:xfrm>
          <a:prstGeom prst="rect">
            <a:avLst/>
          </a:prstGeom>
          <a:noFill/>
          <a:ln w="0">
            <a:noFill/>
          </a:ln>
        </p:spPr>
        <p:txBody>
          <a:bodyPr wrap="square" lIns="0" tIns="0" rIns="0" bIns="0" anchor="ctr">
            <a:normAutofit/>
          </a:bodyPr>
          <a:lstStyle/>
          <a:p>
            <a:pPr algn="ctr">
              <a:lnSpc>
                <a:spcPct val="100000"/>
              </a:lnSpc>
              <a:buNone/>
              <a:defRPr sz="1425" b="1">
                <a:solidFill>
                  <a:srgbClr val="F8FBFF"/>
                </a:solidFill>
                <a:latin typeface="Cascadia Mono"/>
                <a:ea typeface="Cascadia Mono"/>
                <a:cs typeface="Cascadia Mono"/>
              </a:defRPr>
            </a:pPr>
            <a:r>
              <a:rPr sz="1425" b="1">
                <a:solidFill>
                  <a:srgbClr val="F8FBFF"/>
                </a:solidFill>
                <a:latin typeface="Cascadia Mono"/>
                <a:ea typeface="Cascadia Mono"/>
                <a:cs typeface="Cascadia Mono"/>
              </a:rPr>
              <a:t>Kafka</a:t>
            </a:r>
          </a:p>
        </p:txBody>
      </p:sp>
      <p:sp>
        <p:nvSpPr>
          <p:cNvPr id="16" name="Rectangle 15">
            <a:extLst>
              <a:ext uri="{FF2B5EF4-FFF2-40B4-BE49-F238E27FC236}">
                <a16:creationId xmlns:a16="http://schemas.microsoft.com/office/drawing/2014/main" id="{255101E2-84B9-4B6A-B592-F1D8FBE434BB}"/>
              </a:ext>
            </a:extLst>
          </p:cNvPr>
          <p:cNvSpPr>
            <a:spLocks noGrp="1"/>
          </p:cNvSpPr>
          <p:nvPr/>
        </p:nvSpPr>
        <p:spPr>
          <a:xfrm>
            <a:off x="6248400" y="2514600"/>
            <a:ext cx="1352550" cy="190500"/>
          </a:xfrm>
          <a:prstGeom prst="rect">
            <a:avLst/>
          </a:prstGeom>
          <a:noFill/>
          <a:ln w="0">
            <a:noFill/>
          </a:ln>
        </p:spPr>
        <p:txBody>
          <a:bodyPr wrap="square" lIns="0" tIns="0" rIns="0" bIns="0" anchor="t">
            <a:normAutofit/>
          </a:bodyPr>
          <a:lstStyle/>
          <a:p>
            <a:pPr algn="r" rtl="1">
              <a:lnSpc>
                <a:spcPct val="100000"/>
              </a:lnSpc>
              <a:buNone/>
              <a:defRPr lang="he-IL" sz="1125" b="0">
                <a:solidFill>
                  <a:srgbClr val="9AB1C5"/>
                </a:solidFill>
                <a:latin typeface="Arial"/>
                <a:ea typeface="Arial"/>
                <a:cs typeface="Arial"/>
              </a:defRPr>
            </a:pPr>
            <a:r>
              <a:rPr lang="he-IL" sz="1125" b="0">
                <a:solidFill>
                  <a:srgbClr val="9AB1C5"/>
                </a:solidFill>
                <a:latin typeface="Arial"/>
                <a:ea typeface="Arial"/>
                <a:cs typeface="Arial"/>
              </a:rPr>
              <a:t>תעבורה ו־Replay</a:t>
            </a:r>
          </a:p>
        </p:txBody>
      </p:sp>
      <p:sp>
        <p:nvSpPr>
          <p:cNvPr id="17" name="Rectangle: Rounded Corners 16">
            <a:extLst>
              <a:ext uri="{FF2B5EF4-FFF2-40B4-BE49-F238E27FC236}">
                <a16:creationId xmlns:a16="http://schemas.microsoft.com/office/drawing/2014/main" id="{5457C834-8814-4C8F-96A6-07DB5D9CC6BE}"/>
              </a:ext>
            </a:extLst>
          </p:cNvPr>
          <p:cNvSpPr>
            <a:spLocks noGrp="1"/>
          </p:cNvSpPr>
          <p:nvPr/>
        </p:nvSpPr>
        <p:spPr>
          <a:xfrm>
            <a:off x="4295775" y="2038350"/>
            <a:ext cx="1504950" cy="838200"/>
          </a:xfrm>
          <a:prstGeom prst="roundRect">
            <a:avLst>
              <a:gd name="adj" fmla="val 13636"/>
            </a:avLst>
          </a:prstGeom>
          <a:solidFill>
            <a:srgbClr val="10283C"/>
          </a:solidFill>
          <a:ln w="14288">
            <a:solidFill>
              <a:srgbClr val="5B91FF"/>
            </a:solidFill>
            <a:prstDash val="solid"/>
          </a:ln>
        </p:spPr>
      </p:sp>
      <p:sp>
        <p:nvSpPr>
          <p:cNvPr id="18" name="Rectangle 17">
            <a:extLst>
              <a:ext uri="{FF2B5EF4-FFF2-40B4-BE49-F238E27FC236}">
                <a16:creationId xmlns:a16="http://schemas.microsoft.com/office/drawing/2014/main" id="{511F9D5E-F25D-4340-A285-55BADFDC0CD3}"/>
              </a:ext>
            </a:extLst>
          </p:cNvPr>
          <p:cNvSpPr>
            <a:spLocks noGrp="1"/>
          </p:cNvSpPr>
          <p:nvPr/>
        </p:nvSpPr>
        <p:spPr>
          <a:xfrm>
            <a:off x="4391025" y="2200275"/>
            <a:ext cx="1314450" cy="266700"/>
          </a:xfrm>
          <a:prstGeom prst="rect">
            <a:avLst/>
          </a:prstGeom>
          <a:noFill/>
          <a:ln w="0">
            <a:noFill/>
          </a:ln>
        </p:spPr>
        <p:txBody>
          <a:bodyPr wrap="square" lIns="0" tIns="0" rIns="0" bIns="0" anchor="ctr">
            <a:normAutofit/>
          </a:bodyPr>
          <a:lstStyle/>
          <a:p>
            <a:pPr algn="ctr">
              <a:lnSpc>
                <a:spcPct val="100000"/>
              </a:lnSpc>
              <a:buNone/>
              <a:defRPr sz="1425" b="1">
                <a:solidFill>
                  <a:srgbClr val="F8FBFF"/>
                </a:solidFill>
                <a:latin typeface="Cascadia Mono"/>
                <a:ea typeface="Cascadia Mono"/>
                <a:cs typeface="Cascadia Mono"/>
              </a:defRPr>
            </a:pPr>
            <a:r>
              <a:rPr sz="1425" b="1">
                <a:solidFill>
                  <a:srgbClr val="F8FBFF"/>
                </a:solidFill>
                <a:latin typeface="Cascadia Mono"/>
                <a:ea typeface="Cascadia Mono"/>
                <a:cs typeface="Cascadia Mono"/>
              </a:rPr>
              <a:t>Spark</a:t>
            </a:r>
          </a:p>
        </p:txBody>
      </p:sp>
      <p:sp>
        <p:nvSpPr>
          <p:cNvPr id="19" name="Rectangle 18">
            <a:extLst>
              <a:ext uri="{FF2B5EF4-FFF2-40B4-BE49-F238E27FC236}">
                <a16:creationId xmlns:a16="http://schemas.microsoft.com/office/drawing/2014/main" id="{4E0F5F27-5D4E-4065-9205-B547DF102BBD}"/>
              </a:ext>
            </a:extLst>
          </p:cNvPr>
          <p:cNvSpPr>
            <a:spLocks noGrp="1"/>
          </p:cNvSpPr>
          <p:nvPr/>
        </p:nvSpPr>
        <p:spPr>
          <a:xfrm>
            <a:off x="4371975" y="2514600"/>
            <a:ext cx="1352550" cy="190500"/>
          </a:xfrm>
          <a:prstGeom prst="rect">
            <a:avLst/>
          </a:prstGeom>
          <a:noFill/>
          <a:ln w="0">
            <a:noFill/>
          </a:ln>
        </p:spPr>
        <p:txBody>
          <a:bodyPr wrap="square" lIns="0" tIns="0" rIns="0" bIns="0" anchor="t">
            <a:normAutofit/>
          </a:bodyPr>
          <a:lstStyle/>
          <a:p>
            <a:pPr algn="ctr">
              <a:lnSpc>
                <a:spcPct val="100000"/>
              </a:lnSpc>
              <a:buNone/>
              <a:defRPr sz="1125" b="0">
                <a:solidFill>
                  <a:srgbClr val="9AB1C5"/>
                </a:solidFill>
                <a:latin typeface="Arial"/>
                <a:ea typeface="Arial"/>
                <a:cs typeface="Arial"/>
              </a:defRPr>
            </a:pPr>
            <a:r>
              <a:rPr sz="1125" b="0">
                <a:solidFill>
                  <a:srgbClr val="9AB1C5"/>
                </a:solidFill>
                <a:latin typeface="Arial"/>
                <a:ea typeface="Arial"/>
                <a:cs typeface="Arial"/>
              </a:rPr>
              <a:t>Streaming + Batch</a:t>
            </a:r>
          </a:p>
        </p:txBody>
      </p:sp>
      <p:sp>
        <p:nvSpPr>
          <p:cNvPr id="20" name="Rectangle: Rounded Corners 19">
            <a:extLst>
              <a:ext uri="{FF2B5EF4-FFF2-40B4-BE49-F238E27FC236}">
                <a16:creationId xmlns:a16="http://schemas.microsoft.com/office/drawing/2014/main" id="{625311D5-016E-4E2C-8F56-2989D7BA6663}"/>
              </a:ext>
            </a:extLst>
          </p:cNvPr>
          <p:cNvSpPr>
            <a:spLocks noGrp="1"/>
          </p:cNvSpPr>
          <p:nvPr/>
        </p:nvSpPr>
        <p:spPr>
          <a:xfrm>
            <a:off x="2324100" y="2038350"/>
            <a:ext cx="1600200" cy="838200"/>
          </a:xfrm>
          <a:prstGeom prst="roundRect">
            <a:avLst>
              <a:gd name="adj" fmla="val 13636"/>
            </a:avLst>
          </a:prstGeom>
          <a:solidFill>
            <a:srgbClr val="10283C"/>
          </a:solidFill>
          <a:ln w="14288">
            <a:solidFill>
              <a:srgbClr val="F4B94F"/>
            </a:solidFill>
            <a:prstDash val="solid"/>
          </a:ln>
        </p:spPr>
      </p:sp>
      <p:sp>
        <p:nvSpPr>
          <p:cNvPr id="21" name="Rectangle 20">
            <a:extLst>
              <a:ext uri="{FF2B5EF4-FFF2-40B4-BE49-F238E27FC236}">
                <a16:creationId xmlns:a16="http://schemas.microsoft.com/office/drawing/2014/main" id="{DF8BCCC5-CD52-4AB5-82BA-57BCE3189ACE}"/>
              </a:ext>
            </a:extLst>
          </p:cNvPr>
          <p:cNvSpPr>
            <a:spLocks noGrp="1"/>
          </p:cNvSpPr>
          <p:nvPr/>
        </p:nvSpPr>
        <p:spPr>
          <a:xfrm>
            <a:off x="2419350" y="2200275"/>
            <a:ext cx="1409700" cy="266700"/>
          </a:xfrm>
          <a:prstGeom prst="rect">
            <a:avLst/>
          </a:prstGeom>
          <a:noFill/>
          <a:ln w="0">
            <a:noFill/>
          </a:ln>
        </p:spPr>
        <p:txBody>
          <a:bodyPr wrap="square" lIns="0" tIns="0" rIns="0" bIns="0" anchor="ctr">
            <a:normAutofit/>
          </a:bodyPr>
          <a:lstStyle/>
          <a:p>
            <a:pPr algn="ctr">
              <a:lnSpc>
                <a:spcPct val="100000"/>
              </a:lnSpc>
              <a:buNone/>
              <a:defRPr sz="1425" b="1">
                <a:solidFill>
                  <a:srgbClr val="F8FBFF"/>
                </a:solidFill>
                <a:latin typeface="Cascadia Mono"/>
                <a:ea typeface="Cascadia Mono"/>
                <a:cs typeface="Cascadia Mono"/>
              </a:defRPr>
            </a:pPr>
            <a:r>
              <a:rPr sz="1425" b="1">
                <a:solidFill>
                  <a:srgbClr val="F8FBFF"/>
                </a:solidFill>
                <a:latin typeface="Cascadia Mono"/>
                <a:ea typeface="Cascadia Mono"/>
                <a:cs typeface="Cascadia Mono"/>
              </a:rPr>
              <a:t>MariaDB Gold</a:t>
            </a:r>
          </a:p>
        </p:txBody>
      </p:sp>
      <p:sp>
        <p:nvSpPr>
          <p:cNvPr id="22" name="Rectangle 21">
            <a:extLst>
              <a:ext uri="{FF2B5EF4-FFF2-40B4-BE49-F238E27FC236}">
                <a16:creationId xmlns:a16="http://schemas.microsoft.com/office/drawing/2014/main" id="{0E77B536-A299-431A-8B36-F30CCD424E96}"/>
              </a:ext>
            </a:extLst>
          </p:cNvPr>
          <p:cNvSpPr>
            <a:spLocks noGrp="1"/>
          </p:cNvSpPr>
          <p:nvPr/>
        </p:nvSpPr>
        <p:spPr>
          <a:xfrm>
            <a:off x="2400300" y="2514600"/>
            <a:ext cx="1447800" cy="190500"/>
          </a:xfrm>
          <a:prstGeom prst="rect">
            <a:avLst/>
          </a:prstGeom>
          <a:noFill/>
          <a:ln w="0">
            <a:noFill/>
          </a:ln>
        </p:spPr>
        <p:txBody>
          <a:bodyPr wrap="square" lIns="0" tIns="0" rIns="0" bIns="0" anchor="t">
            <a:normAutofit/>
          </a:bodyPr>
          <a:lstStyle/>
          <a:p>
            <a:pPr algn="r" rtl="1">
              <a:lnSpc>
                <a:spcPct val="100000"/>
              </a:lnSpc>
              <a:buNone/>
              <a:defRPr lang="he-IL" sz="1125" b="0">
                <a:solidFill>
                  <a:srgbClr val="9AB1C5"/>
                </a:solidFill>
                <a:latin typeface="Arial"/>
                <a:ea typeface="Arial"/>
                <a:cs typeface="Arial"/>
              </a:defRPr>
            </a:pPr>
            <a:r>
              <a:rPr lang="he-IL" sz="1125" b="0">
                <a:solidFill>
                  <a:srgbClr val="9AB1C5"/>
                </a:solidFill>
                <a:latin typeface="Arial"/>
                <a:ea typeface="Arial"/>
                <a:cs typeface="Arial"/>
              </a:rPr>
              <a:t>מידע מוכן למוצר</a:t>
            </a:r>
          </a:p>
        </p:txBody>
      </p:sp>
      <p:sp>
        <p:nvSpPr>
          <p:cNvPr id="23" name="Rectangle: Rounded Corners 22">
            <a:extLst>
              <a:ext uri="{FF2B5EF4-FFF2-40B4-BE49-F238E27FC236}">
                <a16:creationId xmlns:a16="http://schemas.microsoft.com/office/drawing/2014/main" id="{1CBF602D-5FD7-4880-81F4-2F68B61E9630}"/>
              </a:ext>
            </a:extLst>
          </p:cNvPr>
          <p:cNvSpPr>
            <a:spLocks noGrp="1"/>
          </p:cNvSpPr>
          <p:nvPr/>
        </p:nvSpPr>
        <p:spPr>
          <a:xfrm>
            <a:off x="457200" y="2038350"/>
            <a:ext cx="1504950" cy="838200"/>
          </a:xfrm>
          <a:prstGeom prst="roundRect">
            <a:avLst>
              <a:gd name="adj" fmla="val 13636"/>
            </a:avLst>
          </a:prstGeom>
          <a:solidFill>
            <a:srgbClr val="10283C"/>
          </a:solidFill>
          <a:ln w="14288">
            <a:solidFill>
              <a:srgbClr val="35D4B5"/>
            </a:solidFill>
            <a:prstDash val="solid"/>
          </a:ln>
        </p:spPr>
      </p:sp>
      <p:sp>
        <p:nvSpPr>
          <p:cNvPr id="24" name="Rectangle 23">
            <a:extLst>
              <a:ext uri="{FF2B5EF4-FFF2-40B4-BE49-F238E27FC236}">
                <a16:creationId xmlns:a16="http://schemas.microsoft.com/office/drawing/2014/main" id="{A7E0D2E1-A54F-4283-A6B9-3F1C90E2DEBE}"/>
              </a:ext>
            </a:extLst>
          </p:cNvPr>
          <p:cNvSpPr>
            <a:spLocks noGrp="1"/>
          </p:cNvSpPr>
          <p:nvPr/>
        </p:nvSpPr>
        <p:spPr>
          <a:xfrm>
            <a:off x="552450" y="2200275"/>
            <a:ext cx="1314450" cy="266700"/>
          </a:xfrm>
          <a:prstGeom prst="rect">
            <a:avLst/>
          </a:prstGeom>
          <a:noFill/>
          <a:ln w="0">
            <a:noFill/>
          </a:ln>
        </p:spPr>
        <p:txBody>
          <a:bodyPr wrap="square" lIns="0" tIns="0" rIns="0" bIns="0" anchor="ctr">
            <a:normAutofit/>
          </a:bodyPr>
          <a:lstStyle/>
          <a:p>
            <a:pPr algn="ctr">
              <a:lnSpc>
                <a:spcPct val="100000"/>
              </a:lnSpc>
              <a:buNone/>
              <a:defRPr sz="1425" b="1">
                <a:solidFill>
                  <a:srgbClr val="F8FBFF"/>
                </a:solidFill>
                <a:latin typeface="Cascadia Mono"/>
                <a:ea typeface="Cascadia Mono"/>
                <a:cs typeface="Cascadia Mono"/>
              </a:defRPr>
            </a:pPr>
            <a:r>
              <a:rPr sz="1425" b="1">
                <a:solidFill>
                  <a:srgbClr val="F8FBFF"/>
                </a:solidFill>
                <a:latin typeface="Cascadia Mono"/>
                <a:ea typeface="Cascadia Mono"/>
                <a:cs typeface="Cascadia Mono"/>
              </a:rPr>
              <a:t>API + Web</a:t>
            </a:r>
          </a:p>
        </p:txBody>
      </p:sp>
      <p:sp>
        <p:nvSpPr>
          <p:cNvPr id="25" name="Rectangle 24">
            <a:extLst>
              <a:ext uri="{FF2B5EF4-FFF2-40B4-BE49-F238E27FC236}">
                <a16:creationId xmlns:a16="http://schemas.microsoft.com/office/drawing/2014/main" id="{40B5D9C6-3DC6-47E7-813B-F8692C750985}"/>
              </a:ext>
            </a:extLst>
          </p:cNvPr>
          <p:cNvSpPr>
            <a:spLocks noGrp="1"/>
          </p:cNvSpPr>
          <p:nvPr/>
        </p:nvSpPr>
        <p:spPr>
          <a:xfrm>
            <a:off x="533400" y="2514600"/>
            <a:ext cx="1352550" cy="190500"/>
          </a:xfrm>
          <a:prstGeom prst="rect">
            <a:avLst/>
          </a:prstGeom>
          <a:noFill/>
          <a:ln w="0">
            <a:noFill/>
          </a:ln>
        </p:spPr>
        <p:txBody>
          <a:bodyPr wrap="square" lIns="0" tIns="0" rIns="0" bIns="0" anchor="t">
            <a:normAutofit/>
          </a:bodyPr>
          <a:lstStyle/>
          <a:p>
            <a:pPr algn="r" rtl="1">
              <a:lnSpc>
                <a:spcPct val="100000"/>
              </a:lnSpc>
              <a:buNone/>
              <a:defRPr lang="he-IL" sz="1125" b="0">
                <a:solidFill>
                  <a:srgbClr val="9AB1C5"/>
                </a:solidFill>
                <a:latin typeface="Arial"/>
                <a:ea typeface="Arial"/>
                <a:cs typeface="Arial"/>
              </a:defRPr>
            </a:pPr>
            <a:r>
              <a:rPr lang="he-IL" sz="1125" b="0">
                <a:solidFill>
                  <a:srgbClr val="9AB1C5"/>
                </a:solidFill>
                <a:latin typeface="Arial"/>
                <a:ea typeface="Arial"/>
                <a:cs typeface="Arial"/>
              </a:rPr>
              <a:t>החוויה למשתמש</a:t>
            </a:r>
          </a:p>
        </p:txBody>
      </p:sp>
      <p:cxnSp>
        <p:nvCxnSpPr>
          <p:cNvPr id="74" name="Straight Arrow Connector 73"/>
          <p:cNvCxnSpPr>
            <a:stCxn id="8" idx="1"/>
            <a:endCxn id="11" idx="3"/>
          </p:cNvCxnSpPr>
          <p:nvPr/>
        </p:nvCxnSpPr>
        <p:spPr>
          <a:xfrm flipH="1">
            <a:off x="9553575" y="2457450"/>
            <a:ext cx="371475" cy="0"/>
          </a:xfrm>
          <a:prstGeom prst="straightConnector1">
            <a:avLst/>
          </a:prstGeom>
          <a:ln w="19050">
            <a:solidFill>
              <a:srgbClr val="35D4B5"/>
            </a:solidFill>
            <a:prstDash val="solid"/>
            <a:tailEnd type="triangle" w="sm" len="sm"/>
          </a:ln>
        </p:spPr>
      </p:cxnSp>
      <p:cxnSp>
        <p:nvCxnSpPr>
          <p:cNvPr id="75" name="Straight Arrow Connector 74"/>
          <p:cNvCxnSpPr>
            <a:stCxn id="11" idx="1"/>
            <a:endCxn id="14" idx="3"/>
          </p:cNvCxnSpPr>
          <p:nvPr/>
        </p:nvCxnSpPr>
        <p:spPr>
          <a:xfrm flipH="1">
            <a:off x="7677150" y="2457450"/>
            <a:ext cx="371475" cy="0"/>
          </a:xfrm>
          <a:prstGeom prst="straightConnector1">
            <a:avLst/>
          </a:prstGeom>
          <a:ln w="19050">
            <a:solidFill>
              <a:srgbClr val="35D4B5"/>
            </a:solidFill>
            <a:prstDash val="solid"/>
            <a:tailEnd type="triangle" w="sm" len="sm"/>
          </a:ln>
        </p:spPr>
      </p:cxnSp>
      <p:cxnSp>
        <p:nvCxnSpPr>
          <p:cNvPr id="76" name="Straight Arrow Connector 75"/>
          <p:cNvCxnSpPr>
            <a:stCxn id="14" idx="1"/>
            <a:endCxn id="17" idx="3"/>
          </p:cNvCxnSpPr>
          <p:nvPr/>
        </p:nvCxnSpPr>
        <p:spPr>
          <a:xfrm flipH="1">
            <a:off x="5800725" y="2457450"/>
            <a:ext cx="371475" cy="0"/>
          </a:xfrm>
          <a:prstGeom prst="straightConnector1">
            <a:avLst/>
          </a:prstGeom>
          <a:ln w="19050">
            <a:solidFill>
              <a:srgbClr val="5B91FF"/>
            </a:solidFill>
            <a:prstDash val="solid"/>
            <a:tailEnd type="triangle" w="sm" len="sm"/>
          </a:ln>
        </p:spPr>
      </p:cxnSp>
      <p:cxnSp>
        <p:nvCxnSpPr>
          <p:cNvPr id="77" name="Straight Arrow Connector 76"/>
          <p:cNvCxnSpPr>
            <a:stCxn id="17" idx="1"/>
            <a:endCxn id="20" idx="3"/>
          </p:cNvCxnSpPr>
          <p:nvPr/>
        </p:nvCxnSpPr>
        <p:spPr>
          <a:xfrm flipH="1">
            <a:off x="3924300" y="2457450"/>
            <a:ext cx="371475" cy="0"/>
          </a:xfrm>
          <a:prstGeom prst="straightConnector1">
            <a:avLst/>
          </a:prstGeom>
          <a:ln w="19050">
            <a:solidFill>
              <a:srgbClr val="F4B94F"/>
            </a:solidFill>
            <a:prstDash val="solid"/>
            <a:tailEnd type="triangle" w="sm" len="sm"/>
          </a:ln>
        </p:spPr>
      </p:cxnSp>
      <p:cxnSp>
        <p:nvCxnSpPr>
          <p:cNvPr id="78" name="Straight Arrow Connector 77"/>
          <p:cNvCxnSpPr>
            <a:stCxn id="20" idx="1"/>
            <a:endCxn id="23" idx="3"/>
          </p:cNvCxnSpPr>
          <p:nvPr/>
        </p:nvCxnSpPr>
        <p:spPr>
          <a:xfrm flipH="1">
            <a:off x="1962150" y="2457450"/>
            <a:ext cx="361950" cy="0"/>
          </a:xfrm>
          <a:prstGeom prst="straightConnector1">
            <a:avLst/>
          </a:prstGeom>
          <a:ln w="19050">
            <a:solidFill>
              <a:srgbClr val="35D4B5"/>
            </a:solidFill>
            <a:prstDash val="solid"/>
            <a:tailEnd type="triangle" w="sm" len="sm"/>
          </a:ln>
        </p:spPr>
      </p:cxnSp>
      <p:sp>
        <p:nvSpPr>
          <p:cNvPr id="31" name="Rectangle 30">
            <a:extLst>
              <a:ext uri="{FF2B5EF4-FFF2-40B4-BE49-F238E27FC236}">
                <a16:creationId xmlns:a16="http://schemas.microsoft.com/office/drawing/2014/main" id="{6202982F-C6B7-49C2-8E7E-878DE103A8C0}"/>
              </a:ext>
            </a:extLst>
          </p:cNvPr>
          <p:cNvSpPr>
            <a:spLocks noGrp="1"/>
          </p:cNvSpPr>
          <p:nvPr/>
        </p:nvSpPr>
        <p:spPr>
          <a:xfrm>
            <a:off x="9810750" y="3714750"/>
            <a:ext cx="1676400" cy="209550"/>
          </a:xfrm>
          <a:prstGeom prst="rect">
            <a:avLst/>
          </a:prstGeom>
          <a:noFill/>
          <a:ln w="0">
            <a:noFill/>
          </a:ln>
        </p:spPr>
        <p:txBody>
          <a:bodyPr wrap="square" lIns="0" tIns="0" rIns="0" bIns="0" anchor="ctr">
            <a:normAutofit/>
          </a:bodyPr>
          <a:lstStyle/>
          <a:p>
            <a:pPr algn="r">
              <a:lnSpc>
                <a:spcPct val="100000"/>
              </a:lnSpc>
              <a:buNone/>
              <a:defRPr sz="975" b="1">
                <a:solidFill>
                  <a:srgbClr val="5B91FF"/>
                </a:solidFill>
                <a:latin typeface="Cascadia Mono"/>
                <a:ea typeface="Cascadia Mono"/>
                <a:cs typeface="Cascadia Mono"/>
              </a:defRPr>
            </a:pPr>
            <a:r>
              <a:rPr sz="975" b="1">
                <a:solidFill>
                  <a:srgbClr val="5B91FF"/>
                </a:solidFill>
                <a:latin typeface="Cascadia Mono"/>
                <a:ea typeface="Cascadia Mono"/>
                <a:cs typeface="Cascadia Mono"/>
              </a:rPr>
              <a:t>CERTIFIED PATH</a:t>
            </a:r>
          </a:p>
        </p:txBody>
      </p:sp>
      <p:sp>
        <p:nvSpPr>
          <p:cNvPr id="32" name="Rectangle: Rounded Corners 31">
            <a:extLst>
              <a:ext uri="{FF2B5EF4-FFF2-40B4-BE49-F238E27FC236}">
                <a16:creationId xmlns:a16="http://schemas.microsoft.com/office/drawing/2014/main" id="{BBF898C3-B6B5-4F6C-94B7-94D451CC1C6B}"/>
              </a:ext>
            </a:extLst>
          </p:cNvPr>
          <p:cNvSpPr>
            <a:spLocks noGrp="1"/>
          </p:cNvSpPr>
          <p:nvPr/>
        </p:nvSpPr>
        <p:spPr>
          <a:xfrm>
            <a:off x="6686550" y="4019550"/>
            <a:ext cx="2000250" cy="838200"/>
          </a:xfrm>
          <a:prstGeom prst="roundRect">
            <a:avLst>
              <a:gd name="adj" fmla="val 13636"/>
            </a:avLst>
          </a:prstGeom>
          <a:solidFill>
            <a:srgbClr val="10283C"/>
          </a:solidFill>
          <a:ln w="14288">
            <a:solidFill>
              <a:srgbClr val="35D4B5"/>
            </a:solidFill>
            <a:prstDash val="solid"/>
          </a:ln>
        </p:spPr>
      </p:sp>
      <p:sp>
        <p:nvSpPr>
          <p:cNvPr id="33" name="Rectangle 32">
            <a:extLst>
              <a:ext uri="{FF2B5EF4-FFF2-40B4-BE49-F238E27FC236}">
                <a16:creationId xmlns:a16="http://schemas.microsoft.com/office/drawing/2014/main" id="{21B99974-3307-47DD-AFE3-00D58AA5BBBE}"/>
              </a:ext>
            </a:extLst>
          </p:cNvPr>
          <p:cNvSpPr>
            <a:spLocks noGrp="1"/>
          </p:cNvSpPr>
          <p:nvPr/>
        </p:nvSpPr>
        <p:spPr>
          <a:xfrm>
            <a:off x="6781800" y="4181475"/>
            <a:ext cx="1809750" cy="266700"/>
          </a:xfrm>
          <a:prstGeom prst="rect">
            <a:avLst/>
          </a:prstGeom>
          <a:noFill/>
          <a:ln w="0">
            <a:noFill/>
          </a:ln>
        </p:spPr>
        <p:txBody>
          <a:bodyPr wrap="square" lIns="0" tIns="0" rIns="0" bIns="0" anchor="ctr">
            <a:normAutofit/>
          </a:bodyPr>
          <a:lstStyle/>
          <a:p>
            <a:pPr algn="ctr">
              <a:lnSpc>
                <a:spcPct val="100000"/>
              </a:lnSpc>
              <a:buNone/>
              <a:defRPr sz="1425" b="1">
                <a:solidFill>
                  <a:srgbClr val="F8FBFF"/>
                </a:solidFill>
                <a:latin typeface="Cascadia Mono"/>
                <a:ea typeface="Cascadia Mono"/>
                <a:cs typeface="Cascadia Mono"/>
              </a:defRPr>
            </a:pPr>
            <a:r>
              <a:rPr sz="1425" b="1">
                <a:solidFill>
                  <a:srgbClr val="F8FBFF"/>
                </a:solidFill>
                <a:latin typeface="Cascadia Mono"/>
                <a:ea typeface="Cascadia Mono"/>
                <a:cs typeface="Cascadia Mono"/>
              </a:rPr>
              <a:t>MinIO Bronze</a:t>
            </a:r>
          </a:p>
        </p:txBody>
      </p:sp>
      <p:sp>
        <p:nvSpPr>
          <p:cNvPr id="34" name="Rectangle 33">
            <a:extLst>
              <a:ext uri="{FF2B5EF4-FFF2-40B4-BE49-F238E27FC236}">
                <a16:creationId xmlns:a16="http://schemas.microsoft.com/office/drawing/2014/main" id="{8FCD4FB5-C0EC-40C3-B333-9233BF78069E}"/>
              </a:ext>
            </a:extLst>
          </p:cNvPr>
          <p:cNvSpPr>
            <a:spLocks noGrp="1"/>
          </p:cNvSpPr>
          <p:nvPr/>
        </p:nvSpPr>
        <p:spPr>
          <a:xfrm>
            <a:off x="6762750" y="4495800"/>
            <a:ext cx="1847850" cy="190500"/>
          </a:xfrm>
          <a:prstGeom prst="rect">
            <a:avLst/>
          </a:prstGeom>
          <a:noFill/>
          <a:ln w="0">
            <a:noFill/>
          </a:ln>
        </p:spPr>
        <p:txBody>
          <a:bodyPr wrap="square" lIns="0" tIns="0" rIns="0" bIns="0" anchor="t">
            <a:normAutofit/>
          </a:bodyPr>
          <a:lstStyle/>
          <a:p>
            <a:pPr algn="r" rtl="1">
              <a:lnSpc>
                <a:spcPct val="100000"/>
              </a:lnSpc>
              <a:buNone/>
              <a:defRPr lang="he-IL" sz="1125" b="0">
                <a:solidFill>
                  <a:srgbClr val="9AB1C5"/>
                </a:solidFill>
                <a:latin typeface="Arial"/>
                <a:ea typeface="Arial"/>
                <a:cs typeface="Arial"/>
              </a:defRPr>
            </a:pPr>
            <a:r>
              <a:rPr lang="he-IL" sz="1125" b="0">
                <a:solidFill>
                  <a:srgbClr val="9AB1C5"/>
                </a:solidFill>
                <a:latin typeface="Arial"/>
                <a:ea typeface="Arial"/>
                <a:cs typeface="Arial"/>
              </a:rPr>
              <a:t>מקור גולמי ובלתי משתנה</a:t>
            </a:r>
          </a:p>
        </p:txBody>
      </p:sp>
      <p:sp>
        <p:nvSpPr>
          <p:cNvPr id="35" name="Rectangle: Rounded Corners 34">
            <a:extLst>
              <a:ext uri="{FF2B5EF4-FFF2-40B4-BE49-F238E27FC236}">
                <a16:creationId xmlns:a16="http://schemas.microsoft.com/office/drawing/2014/main" id="{2F5EACF6-3203-48BA-A6F8-AA4727A48237}"/>
              </a:ext>
            </a:extLst>
          </p:cNvPr>
          <p:cNvSpPr>
            <a:spLocks noGrp="1"/>
          </p:cNvSpPr>
          <p:nvPr/>
        </p:nvSpPr>
        <p:spPr>
          <a:xfrm>
            <a:off x="4286250" y="4019550"/>
            <a:ext cx="2000250" cy="838200"/>
          </a:xfrm>
          <a:prstGeom prst="roundRect">
            <a:avLst>
              <a:gd name="adj" fmla="val 13636"/>
            </a:avLst>
          </a:prstGeom>
          <a:solidFill>
            <a:srgbClr val="10283C"/>
          </a:solidFill>
          <a:ln w="14288">
            <a:solidFill>
              <a:srgbClr val="5B91FF"/>
            </a:solidFill>
            <a:prstDash val="solid"/>
          </a:ln>
        </p:spPr>
      </p:sp>
      <p:sp>
        <p:nvSpPr>
          <p:cNvPr id="36" name="Rectangle 35">
            <a:extLst>
              <a:ext uri="{FF2B5EF4-FFF2-40B4-BE49-F238E27FC236}">
                <a16:creationId xmlns:a16="http://schemas.microsoft.com/office/drawing/2014/main" id="{9FCB886E-DA06-4A72-859C-E807B25A7067}"/>
              </a:ext>
            </a:extLst>
          </p:cNvPr>
          <p:cNvSpPr>
            <a:spLocks noGrp="1"/>
          </p:cNvSpPr>
          <p:nvPr/>
        </p:nvSpPr>
        <p:spPr>
          <a:xfrm>
            <a:off x="4381500" y="4181475"/>
            <a:ext cx="1809750" cy="266700"/>
          </a:xfrm>
          <a:prstGeom prst="rect">
            <a:avLst/>
          </a:prstGeom>
          <a:noFill/>
          <a:ln w="0">
            <a:noFill/>
          </a:ln>
        </p:spPr>
        <p:txBody>
          <a:bodyPr wrap="square" lIns="0" tIns="0" rIns="0" bIns="0" anchor="ctr">
            <a:normAutofit/>
          </a:bodyPr>
          <a:lstStyle/>
          <a:p>
            <a:pPr algn="ctr">
              <a:lnSpc>
                <a:spcPct val="100000"/>
              </a:lnSpc>
              <a:buNone/>
              <a:defRPr sz="1425" b="1">
                <a:solidFill>
                  <a:srgbClr val="F8FBFF"/>
                </a:solidFill>
                <a:latin typeface="Cascadia Mono"/>
                <a:ea typeface="Cascadia Mono"/>
                <a:cs typeface="Cascadia Mono"/>
              </a:defRPr>
            </a:pPr>
            <a:r>
              <a:rPr sz="1425" b="1">
                <a:solidFill>
                  <a:srgbClr val="F8FBFF"/>
                </a:solidFill>
                <a:latin typeface="Cascadia Mono"/>
                <a:ea typeface="Cascadia Mono"/>
                <a:cs typeface="Cascadia Mono"/>
              </a:rPr>
              <a:t>MinIO Silver</a:t>
            </a:r>
          </a:p>
        </p:txBody>
      </p:sp>
      <p:sp>
        <p:nvSpPr>
          <p:cNvPr id="37" name="Rectangle 36">
            <a:extLst>
              <a:ext uri="{FF2B5EF4-FFF2-40B4-BE49-F238E27FC236}">
                <a16:creationId xmlns:a16="http://schemas.microsoft.com/office/drawing/2014/main" id="{5FA9BBD1-A05E-44FC-9254-906D80D0E1DB}"/>
              </a:ext>
            </a:extLst>
          </p:cNvPr>
          <p:cNvSpPr>
            <a:spLocks noGrp="1"/>
          </p:cNvSpPr>
          <p:nvPr/>
        </p:nvSpPr>
        <p:spPr>
          <a:xfrm>
            <a:off x="4362450" y="4495800"/>
            <a:ext cx="1847850" cy="190500"/>
          </a:xfrm>
          <a:prstGeom prst="rect">
            <a:avLst/>
          </a:prstGeom>
          <a:noFill/>
          <a:ln w="0">
            <a:noFill/>
          </a:ln>
        </p:spPr>
        <p:txBody>
          <a:bodyPr wrap="square" lIns="0" tIns="0" rIns="0" bIns="0" anchor="t">
            <a:normAutofit/>
          </a:bodyPr>
          <a:lstStyle/>
          <a:p>
            <a:pPr algn="r" rtl="1">
              <a:lnSpc>
                <a:spcPct val="100000"/>
              </a:lnSpc>
              <a:buNone/>
              <a:defRPr lang="he-IL" sz="1125" b="0">
                <a:solidFill>
                  <a:srgbClr val="9AB1C5"/>
                </a:solidFill>
                <a:latin typeface="Arial"/>
                <a:ea typeface="Arial"/>
                <a:cs typeface="Arial"/>
              </a:defRPr>
            </a:pPr>
            <a:r>
              <a:rPr lang="he-IL" sz="1125" b="0">
                <a:solidFill>
                  <a:srgbClr val="9AB1C5"/>
                </a:solidFill>
                <a:latin typeface="Arial"/>
                <a:ea typeface="Arial"/>
                <a:cs typeface="Arial"/>
              </a:rPr>
              <a:t>Parquet נקי וקנוני</a:t>
            </a:r>
          </a:p>
        </p:txBody>
      </p:sp>
      <p:sp>
        <p:nvSpPr>
          <p:cNvPr id="38" name="Rectangle: Rounded Corners 37">
            <a:extLst>
              <a:ext uri="{FF2B5EF4-FFF2-40B4-BE49-F238E27FC236}">
                <a16:creationId xmlns:a16="http://schemas.microsoft.com/office/drawing/2014/main" id="{809BD5D7-ECC8-430B-8EF0-99DD8DC7842E}"/>
              </a:ext>
            </a:extLst>
          </p:cNvPr>
          <p:cNvSpPr>
            <a:spLocks noGrp="1"/>
          </p:cNvSpPr>
          <p:nvPr/>
        </p:nvSpPr>
        <p:spPr>
          <a:xfrm>
            <a:off x="457200" y="4019550"/>
            <a:ext cx="2000250" cy="838200"/>
          </a:xfrm>
          <a:prstGeom prst="roundRect">
            <a:avLst>
              <a:gd name="adj" fmla="val 13636"/>
            </a:avLst>
          </a:prstGeom>
          <a:solidFill>
            <a:srgbClr val="10283C"/>
          </a:solidFill>
          <a:ln w="14288">
            <a:solidFill>
              <a:srgbClr val="F4B94F"/>
            </a:solidFill>
            <a:prstDash val="solid"/>
          </a:ln>
        </p:spPr>
      </p:sp>
      <p:sp>
        <p:nvSpPr>
          <p:cNvPr id="39" name="Rectangle 38">
            <a:extLst>
              <a:ext uri="{FF2B5EF4-FFF2-40B4-BE49-F238E27FC236}">
                <a16:creationId xmlns:a16="http://schemas.microsoft.com/office/drawing/2014/main" id="{D9988921-D916-4BAA-A727-D5B8E7397F34}"/>
              </a:ext>
            </a:extLst>
          </p:cNvPr>
          <p:cNvSpPr>
            <a:spLocks noGrp="1"/>
          </p:cNvSpPr>
          <p:nvPr/>
        </p:nvSpPr>
        <p:spPr>
          <a:xfrm>
            <a:off x="552450" y="4181475"/>
            <a:ext cx="1809750" cy="266700"/>
          </a:xfrm>
          <a:prstGeom prst="rect">
            <a:avLst/>
          </a:prstGeom>
          <a:noFill/>
          <a:ln w="0">
            <a:noFill/>
          </a:ln>
        </p:spPr>
        <p:txBody>
          <a:bodyPr wrap="square" lIns="0" tIns="0" rIns="0" bIns="0" anchor="ctr">
            <a:normAutofit/>
          </a:bodyPr>
          <a:lstStyle/>
          <a:p>
            <a:pPr algn="ctr">
              <a:lnSpc>
                <a:spcPct val="100000"/>
              </a:lnSpc>
              <a:buNone/>
              <a:defRPr sz="1425" b="1">
                <a:solidFill>
                  <a:srgbClr val="F8FBFF"/>
                </a:solidFill>
                <a:latin typeface="Cascadia Mono"/>
                <a:ea typeface="Cascadia Mono"/>
                <a:cs typeface="Cascadia Mono"/>
              </a:defRPr>
            </a:pPr>
            <a:r>
              <a:rPr sz="1425" b="1">
                <a:solidFill>
                  <a:srgbClr val="F8FBFF"/>
                </a:solidFill>
                <a:latin typeface="Cascadia Mono"/>
                <a:ea typeface="Cascadia Mono"/>
                <a:cs typeface="Cascadia Mono"/>
              </a:rPr>
              <a:t>Airflow</a:t>
            </a:r>
          </a:p>
        </p:txBody>
      </p:sp>
      <p:sp>
        <p:nvSpPr>
          <p:cNvPr id="40" name="Rectangle 39">
            <a:extLst>
              <a:ext uri="{FF2B5EF4-FFF2-40B4-BE49-F238E27FC236}">
                <a16:creationId xmlns:a16="http://schemas.microsoft.com/office/drawing/2014/main" id="{D0130A7F-4EBD-458A-99F8-8A1A03BFEAC5}"/>
              </a:ext>
            </a:extLst>
          </p:cNvPr>
          <p:cNvSpPr>
            <a:spLocks noGrp="1"/>
          </p:cNvSpPr>
          <p:nvPr/>
        </p:nvSpPr>
        <p:spPr>
          <a:xfrm>
            <a:off x="533400" y="4495800"/>
            <a:ext cx="1847850" cy="190500"/>
          </a:xfrm>
          <a:prstGeom prst="rect">
            <a:avLst/>
          </a:prstGeom>
          <a:noFill/>
          <a:ln w="0">
            <a:noFill/>
          </a:ln>
        </p:spPr>
        <p:txBody>
          <a:bodyPr wrap="square" lIns="0" tIns="0" rIns="0" bIns="0" anchor="t">
            <a:normAutofit/>
          </a:bodyPr>
          <a:lstStyle/>
          <a:p>
            <a:pPr algn="r" rtl="1">
              <a:lnSpc>
                <a:spcPct val="100000"/>
              </a:lnSpc>
              <a:buNone/>
              <a:defRPr lang="he-IL" sz="1125" b="0">
                <a:solidFill>
                  <a:srgbClr val="9AB1C5"/>
                </a:solidFill>
                <a:latin typeface="Arial"/>
                <a:ea typeface="Arial"/>
                <a:cs typeface="Arial"/>
              </a:defRPr>
            </a:pPr>
            <a:r>
              <a:rPr lang="he-IL" sz="1125" b="0">
                <a:solidFill>
                  <a:srgbClr val="9AB1C5"/>
                </a:solidFill>
                <a:latin typeface="Arial"/>
                <a:ea typeface="Arial"/>
                <a:cs typeface="Arial"/>
              </a:rPr>
              <a:t>תזמון ובקרה בלבד</a:t>
            </a:r>
          </a:p>
        </p:txBody>
      </p:sp>
      <p:cxnSp>
        <p:nvCxnSpPr>
          <p:cNvPr id="89" name="Connector: Elbow 88"/>
          <p:cNvCxnSpPr>
            <a:stCxn id="14" idx="2"/>
            <a:endCxn id="32" idx="0"/>
          </p:cNvCxnSpPr>
          <p:nvPr/>
        </p:nvCxnSpPr>
        <p:spPr>
          <a:xfrm>
            <a:off x="6924675" y="2876550"/>
            <a:ext cx="762000" cy="1143000"/>
          </a:xfrm>
          <a:prstGeom prst="bentConnector4">
            <a:avLst>
              <a:gd name="adj1" fmla="val 0"/>
              <a:gd name="adj2" fmla="val 50000"/>
            </a:avLst>
          </a:prstGeom>
          <a:ln w="19050">
            <a:solidFill>
              <a:srgbClr val="35D4B5"/>
            </a:solidFill>
            <a:prstDash val="dash"/>
            <a:tailEnd type="triangle" w="sm" len="sm"/>
          </a:ln>
        </p:spPr>
      </p:cxnSp>
      <p:cxnSp>
        <p:nvCxnSpPr>
          <p:cNvPr id="90" name="Straight Arrow Connector 89"/>
          <p:cNvCxnSpPr>
            <a:stCxn id="32" idx="1"/>
            <a:endCxn id="35" idx="3"/>
          </p:cNvCxnSpPr>
          <p:nvPr/>
        </p:nvCxnSpPr>
        <p:spPr>
          <a:xfrm flipH="1">
            <a:off x="6286500" y="4438650"/>
            <a:ext cx="400050" cy="0"/>
          </a:xfrm>
          <a:prstGeom prst="straightConnector1">
            <a:avLst/>
          </a:prstGeom>
          <a:ln w="19050">
            <a:solidFill>
              <a:srgbClr val="5B91FF"/>
            </a:solidFill>
            <a:prstDash val="solid"/>
            <a:tailEnd type="triangle" w="sm" len="sm"/>
          </a:ln>
        </p:spPr>
      </p:cxnSp>
      <p:cxnSp>
        <p:nvCxnSpPr>
          <p:cNvPr id="91" name="Connector: Elbow 90"/>
          <p:cNvCxnSpPr>
            <a:stCxn id="35" idx="0"/>
            <a:endCxn id="20" idx="2"/>
          </p:cNvCxnSpPr>
          <p:nvPr/>
        </p:nvCxnSpPr>
        <p:spPr>
          <a:xfrm flipH="1" flipV="1">
            <a:off x="3124200" y="2876550"/>
            <a:ext cx="2162175" cy="1143000"/>
          </a:xfrm>
          <a:prstGeom prst="bentConnector4">
            <a:avLst>
              <a:gd name="adj1" fmla="val 0"/>
              <a:gd name="adj2" fmla="val 50000"/>
            </a:avLst>
          </a:prstGeom>
          <a:ln w="19050">
            <a:solidFill>
              <a:srgbClr val="F4B94F"/>
            </a:solidFill>
            <a:prstDash val="dash"/>
            <a:tailEnd type="triangle" w="sm" len="sm"/>
          </a:ln>
        </p:spPr>
      </p:cxnSp>
      <p:cxnSp>
        <p:nvCxnSpPr>
          <p:cNvPr id="92" name="Straight Arrow Connector 91"/>
          <p:cNvCxnSpPr>
            <a:stCxn id="38" idx="3"/>
            <a:endCxn id="35" idx="1"/>
          </p:cNvCxnSpPr>
          <p:nvPr/>
        </p:nvCxnSpPr>
        <p:spPr>
          <a:xfrm>
            <a:off x="2457450" y="4438650"/>
            <a:ext cx="1828800" cy="0"/>
          </a:xfrm>
          <a:prstGeom prst="straightConnector1">
            <a:avLst/>
          </a:prstGeom>
          <a:ln w="19050">
            <a:solidFill>
              <a:srgbClr val="F4B94F"/>
            </a:solidFill>
            <a:prstDash val="dash"/>
            <a:tailEnd type="triangle" w="sm" len="sm"/>
          </a:ln>
        </p:spPr>
      </p:cxnSp>
      <p:sp>
        <p:nvSpPr>
          <p:cNvPr id="45" name="Rectangle 44">
            <a:extLst>
              <a:ext uri="{FF2B5EF4-FFF2-40B4-BE49-F238E27FC236}">
                <a16:creationId xmlns:a16="http://schemas.microsoft.com/office/drawing/2014/main" id="{39E154C0-7DDA-4DF2-B333-53B3C0873C0D}"/>
              </a:ext>
            </a:extLst>
          </p:cNvPr>
          <p:cNvSpPr>
            <a:spLocks noGrp="1"/>
          </p:cNvSpPr>
          <p:nvPr/>
        </p:nvSpPr>
        <p:spPr>
          <a:xfrm>
            <a:off x="457200" y="3143250"/>
            <a:ext cx="2000250" cy="209550"/>
          </a:xfrm>
          <a:prstGeom prst="rect">
            <a:avLst/>
          </a:prstGeom>
          <a:noFill/>
          <a:ln w="0">
            <a:noFill/>
          </a:ln>
        </p:spPr>
        <p:txBody>
          <a:bodyPr wrap="square" lIns="0" tIns="0" rIns="0" bIns="0" anchor="ctr">
            <a:normAutofit/>
          </a:bodyPr>
          <a:lstStyle/>
          <a:p>
            <a:pPr algn="l">
              <a:lnSpc>
                <a:spcPct val="100000"/>
              </a:lnSpc>
              <a:buNone/>
              <a:defRPr sz="975" b="1">
                <a:solidFill>
                  <a:srgbClr val="35D4B5"/>
                </a:solidFill>
                <a:latin typeface="Cascadia Mono"/>
                <a:ea typeface="Cascadia Mono"/>
                <a:cs typeface="Cascadia Mono"/>
              </a:defRPr>
            </a:pPr>
            <a:r>
              <a:rPr sz="975" b="1">
                <a:solidFill>
                  <a:srgbClr val="35D4B5"/>
                </a:solidFill>
                <a:latin typeface="Cascadia Mono"/>
                <a:ea typeface="Cascadia Mono"/>
                <a:cs typeface="Cascadia Mono"/>
              </a:rPr>
              <a:t>BROWSER BOUNDARY</a:t>
            </a:r>
          </a:p>
        </p:txBody>
      </p:sp>
      <p:sp>
        <p:nvSpPr>
          <p:cNvPr id="46" name="Rectangle 45">
            <a:extLst>
              <a:ext uri="{FF2B5EF4-FFF2-40B4-BE49-F238E27FC236}">
                <a16:creationId xmlns:a16="http://schemas.microsoft.com/office/drawing/2014/main" id="{2F265310-474E-4356-B736-D05C298AFFD6}"/>
              </a:ext>
            </a:extLst>
          </p:cNvPr>
          <p:cNvSpPr>
            <a:spLocks noGrp="1"/>
          </p:cNvSpPr>
          <p:nvPr/>
        </p:nvSpPr>
        <p:spPr>
          <a:xfrm>
            <a:off x="457200" y="3371850"/>
            <a:ext cx="2857500" cy="285750"/>
          </a:xfrm>
          <a:prstGeom prst="rect">
            <a:avLst/>
          </a:prstGeom>
          <a:noFill/>
          <a:ln w="0">
            <a:noFill/>
          </a:ln>
        </p:spPr>
        <p:txBody>
          <a:bodyPr wrap="square" lIns="0" tIns="0" rIns="0" bIns="0" anchor="t">
            <a:normAutofit/>
          </a:bodyPr>
          <a:lstStyle/>
          <a:p>
            <a:pPr algn="r" rtl="1">
              <a:lnSpc>
                <a:spcPct val="100000"/>
              </a:lnSpc>
              <a:buNone/>
              <a:defRPr lang="he-IL" sz="1350" b="0">
                <a:solidFill>
                  <a:srgbClr val="9AB1C5"/>
                </a:solidFill>
                <a:latin typeface="Arial"/>
                <a:ea typeface="Arial"/>
                <a:cs typeface="Arial"/>
              </a:defRPr>
            </a:pPr>
            <a:r>
              <a:rPr lang="he-IL" sz="1350" b="0">
                <a:solidFill>
                  <a:srgbClr val="9AB1C5"/>
                </a:solidFill>
                <a:latin typeface="Arial"/>
                <a:ea typeface="Arial"/>
                <a:cs typeface="Arial"/>
              </a:rPr>
              <a:t>הדפדפן מתקשר רק עם שכבת ה־API</a:t>
            </a:r>
          </a:p>
        </p:txBody>
      </p:sp>
      <p:sp>
        <p:nvSpPr>
          <p:cNvPr id="47" name="Rectangle 46">
            <a:extLst>
              <a:ext uri="{FF2B5EF4-FFF2-40B4-BE49-F238E27FC236}">
                <a16:creationId xmlns:a16="http://schemas.microsoft.com/office/drawing/2014/main" id="{6DAAAB4B-44FF-4699-BE70-92CE486CD245}"/>
              </a:ext>
            </a:extLst>
          </p:cNvPr>
          <p:cNvSpPr>
            <a:spLocks noGrp="1"/>
          </p:cNvSpPr>
          <p:nvPr/>
        </p:nvSpPr>
        <p:spPr>
          <a:xfrm>
            <a:off x="457200" y="5105400"/>
            <a:ext cx="5829300" cy="552450"/>
          </a:xfrm>
          <a:prstGeom prst="rect">
            <a:avLst/>
          </a:prstGeom>
          <a:noFill/>
          <a:ln w="0">
            <a:noFill/>
          </a:ln>
        </p:spPr>
        <p:txBody>
          <a:bodyPr wrap="square" lIns="0" tIns="0" rIns="0" bIns="0" anchor="t">
            <a:normAutofit/>
          </a:bodyPr>
          <a:lstStyle/>
          <a:p>
            <a:pPr algn="r" rtl="1">
              <a:lnSpc>
                <a:spcPct val="100000"/>
              </a:lnSpc>
              <a:buNone/>
              <a:defRPr lang="he-IL" sz="1350" b="0">
                <a:solidFill>
                  <a:srgbClr val="9AB1C5"/>
                </a:solidFill>
                <a:latin typeface="Arial"/>
                <a:ea typeface="Arial"/>
                <a:cs typeface="Arial"/>
              </a:defRPr>
            </a:pPr>
            <a:r>
              <a:rPr lang="he-IL" sz="1350" b="0">
                <a:solidFill>
                  <a:srgbClr val="9AB1C5"/>
                </a:solidFill>
                <a:latin typeface="Arial"/>
                <a:ea typeface="Arial"/>
                <a:cs typeface="Arial"/>
              </a:rPr>
              <a:t>התזמור אינו מפעיל עיבוד רציף. הוא מנהל רק עבודות תחומות, לרבות דיווחי חברות ונתוני עבר.</a:t>
            </a:r>
          </a:p>
        </p:txBody>
      </p:sp>
      <p:sp>
        <p:nvSpPr>
          <p:cNvPr id="48" name="Rectangle 47">
            <a:extLst>
              <a:ext uri="{FF2B5EF4-FFF2-40B4-BE49-F238E27FC236}">
                <a16:creationId xmlns:a16="http://schemas.microsoft.com/office/drawing/2014/main" id="{82F139EE-599A-47B3-8438-A31CED37D236}"/>
              </a:ext>
            </a:extLst>
          </p:cNvPr>
          <p:cNvSpPr>
            <a:spLocks noGrp="1"/>
          </p:cNvSpPr>
          <p:nvPr/>
        </p:nvSpPr>
        <p:spPr>
          <a:xfrm>
            <a:off x="6686550" y="5105400"/>
            <a:ext cx="4800600" cy="552450"/>
          </a:xfrm>
          <a:prstGeom prst="rect">
            <a:avLst/>
          </a:prstGeom>
          <a:noFill/>
          <a:ln w="0">
            <a:noFill/>
          </a:ln>
        </p:spPr>
        <p:txBody>
          <a:bodyPr wrap="square" lIns="0" tIns="0" rIns="0" bIns="0" anchor="t">
            <a:normAutofit/>
          </a:bodyPr>
          <a:lstStyle/>
          <a:p>
            <a:pPr algn="r" rtl="1">
              <a:lnSpc>
                <a:spcPct val="100000"/>
              </a:lnSpc>
              <a:buNone/>
              <a:defRPr lang="he-IL" sz="1350" b="0">
                <a:solidFill>
                  <a:srgbClr val="9AB1C5"/>
                </a:solidFill>
                <a:latin typeface="Arial"/>
                <a:ea typeface="Arial"/>
                <a:cs typeface="Arial"/>
              </a:defRPr>
            </a:pPr>
            <a:r>
              <a:rPr lang="he-IL" sz="1350" b="0">
                <a:solidFill>
                  <a:srgbClr val="9AB1C5"/>
                </a:solidFill>
                <a:latin typeface="Arial"/>
                <a:ea typeface="Arial"/>
                <a:cs typeface="Arial"/>
              </a:rPr>
              <a:t>השכבה הגולמית שומרת ראיה; השכבה הנקייה מנרמלת; שכבת ההגשה מזינה כללים ומודל.</a:t>
            </a:r>
          </a:p>
        </p:txBody>
      </p:sp>
    </p:spTree>
    <p:extLst>
      <p:ext uri="{BB962C8B-B14F-4D97-AF65-F5344CB8AC3E}">
        <p14:creationId xmlns:p14="http://schemas.microsoft.com/office/powerpoint/2010/main" val="1625394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91827"/>
        </a:solidFill>
        <a:effectLst/>
      </p:bgPr>
    </p:bg>
    <p:spTree>
      <p:nvGrpSpPr>
        <p:cNvPr id="1" name=""/>
        <p:cNvGrpSpPr/>
        <p:nvPr/>
      </p:nvGrpSpPr>
      <p:grpSpPr>
        <a:xfrm>
          <a:off x="0" y="0"/>
          <a:ext cx="0" cy="0"/>
          <a:chOff x="0" y="0"/>
          <a:chExt cx="0" cy="0"/>
        </a:xfrm>
      </p:grpSpPr>
      <p:sp>
        <p:nvSpPr>
          <p:cNvPr id="47" name="Rectangle 46">
            <a:extLst>
              <a:ext uri="{FF2B5EF4-FFF2-40B4-BE49-F238E27FC236}">
                <a16:creationId xmlns:a16="http://schemas.microsoft.com/office/drawing/2014/main" id="{D67B86DD-6833-4170-BE6C-725A92746E89}"/>
              </a:ext>
            </a:extLst>
          </p:cNvPr>
          <p:cNvSpPr>
            <a:spLocks noGrp="1"/>
          </p:cNvSpPr>
          <p:nvPr/>
        </p:nvSpPr>
        <p:spPr>
          <a:xfrm>
            <a:off x="0" y="0"/>
            <a:ext cx="171450" cy="6858000"/>
          </a:xfrm>
          <a:prstGeom prst="rect">
            <a:avLst/>
          </a:prstGeom>
          <a:solidFill>
            <a:srgbClr val="35D4B5"/>
          </a:solidFill>
          <a:ln w="0">
            <a:noFill/>
          </a:ln>
        </p:spPr>
      </p:sp>
      <p:sp>
        <p:nvSpPr>
          <p:cNvPr id="2" name="Rectangle 1">
            <a:extLst>
              <a:ext uri="{FF2B5EF4-FFF2-40B4-BE49-F238E27FC236}">
                <a16:creationId xmlns:a16="http://schemas.microsoft.com/office/drawing/2014/main" id="{E5CB359D-A504-40AA-BC63-E156E7C0DCBB}"/>
              </a:ext>
            </a:extLst>
          </p:cNvPr>
          <p:cNvSpPr>
            <a:spLocks noGrp="1"/>
          </p:cNvSpPr>
          <p:nvPr/>
        </p:nvSpPr>
        <p:spPr>
          <a:xfrm>
            <a:off x="609600" y="361950"/>
            <a:ext cx="4000500" cy="209550"/>
          </a:xfrm>
          <a:prstGeom prst="rect">
            <a:avLst/>
          </a:prstGeom>
          <a:noFill/>
          <a:ln w="0">
            <a:noFill/>
          </a:ln>
        </p:spPr>
        <p:txBody>
          <a:bodyPr wrap="square" lIns="0" tIns="0" rIns="0" bIns="0" anchor="ctr">
            <a:normAutofit/>
          </a:bodyPr>
          <a:lstStyle/>
          <a:p>
            <a:pPr algn="l">
              <a:lnSpc>
                <a:spcPct val="100000"/>
              </a:lnSpc>
              <a:buNone/>
              <a:defRPr sz="975" b="1">
                <a:solidFill>
                  <a:srgbClr val="35D4B5"/>
                </a:solidFill>
                <a:latin typeface="Cascadia Mono"/>
                <a:ea typeface="Cascadia Mono"/>
                <a:cs typeface="Cascadia Mono"/>
              </a:defRPr>
            </a:pPr>
            <a:r>
              <a:rPr sz="975" b="1">
                <a:solidFill>
                  <a:srgbClr val="35D4B5"/>
                </a:solidFill>
                <a:latin typeface="Cascadia Mono"/>
                <a:ea typeface="Cascadia Mono"/>
                <a:cs typeface="Cascadia Mono"/>
              </a:rPr>
              <a:t>LIVE VS CERTIFIED</a:t>
            </a:r>
          </a:p>
        </p:txBody>
      </p:sp>
      <p:sp>
        <p:nvSpPr>
          <p:cNvPr id="3" name="Rectangle 2">
            <a:extLst>
              <a:ext uri="{FF2B5EF4-FFF2-40B4-BE49-F238E27FC236}">
                <a16:creationId xmlns:a16="http://schemas.microsoft.com/office/drawing/2014/main" id="{0C4BFB19-C626-43A0-A71D-FAC2713F8C98}"/>
              </a:ext>
            </a:extLst>
          </p:cNvPr>
          <p:cNvSpPr>
            <a:spLocks noGrp="1"/>
          </p:cNvSpPr>
          <p:nvPr/>
        </p:nvSpPr>
        <p:spPr>
          <a:xfrm>
            <a:off x="4191000" y="533400"/>
            <a:ext cx="7391400" cy="552450"/>
          </a:xfrm>
          <a:prstGeom prst="rect">
            <a:avLst/>
          </a:prstGeom>
          <a:noFill/>
          <a:ln w="0">
            <a:noFill/>
          </a:ln>
        </p:spPr>
        <p:txBody>
          <a:bodyPr wrap="square" lIns="0" tIns="0" rIns="0" bIns="0" anchor="t">
            <a:normAutofit/>
          </a:bodyPr>
          <a:lstStyle/>
          <a:p>
            <a:pPr algn="r" rtl="1">
              <a:lnSpc>
                <a:spcPct val="100000"/>
              </a:lnSpc>
              <a:buNone/>
              <a:defRPr lang="he-IL" sz="2400" b="1">
                <a:solidFill>
                  <a:srgbClr val="F8FBFF"/>
                </a:solidFill>
                <a:latin typeface="Arial"/>
                <a:ea typeface="Arial"/>
                <a:cs typeface="Arial"/>
              </a:defRPr>
            </a:pPr>
            <a:r>
              <a:rPr lang="he-IL" sz="2400" b="1">
                <a:solidFill>
                  <a:srgbClr val="F8FBFF"/>
                </a:solidFill>
                <a:latin typeface="Arial"/>
                <a:ea typeface="Arial"/>
                <a:cs typeface="Arial"/>
              </a:rPr>
              <a:t>מהיר בזמן אמת, מאושר אחרי בדיקה</a:t>
            </a:r>
          </a:p>
        </p:txBody>
      </p:sp>
      <p:sp>
        <p:nvSpPr>
          <p:cNvPr id="4" name="Rectangle 3">
            <a:extLst>
              <a:ext uri="{FF2B5EF4-FFF2-40B4-BE49-F238E27FC236}">
                <a16:creationId xmlns:a16="http://schemas.microsoft.com/office/drawing/2014/main" id="{C213719B-67BF-4372-AE83-9F86D39DFD85}"/>
              </a:ext>
            </a:extLst>
          </p:cNvPr>
          <p:cNvSpPr>
            <a:spLocks noGrp="1"/>
          </p:cNvSpPr>
          <p:nvPr/>
        </p:nvSpPr>
        <p:spPr>
          <a:xfrm>
            <a:off x="495300" y="6438900"/>
            <a:ext cx="342900" cy="171450"/>
          </a:xfrm>
          <a:prstGeom prst="rect">
            <a:avLst/>
          </a:prstGeom>
          <a:noFill/>
          <a:ln w="0">
            <a:noFill/>
          </a:ln>
        </p:spPr>
        <p:txBody>
          <a:bodyPr wrap="square" lIns="0" tIns="0" rIns="0" bIns="0" anchor="t">
            <a:normAutofit/>
          </a:bodyPr>
          <a:lstStyle/>
          <a:p>
            <a:pPr algn="l">
              <a:lnSpc>
                <a:spcPct val="100000"/>
              </a:lnSpc>
              <a:buNone/>
              <a:defRPr sz="825" b="1">
                <a:solidFill>
                  <a:srgbClr val="9AB1C5"/>
                </a:solidFill>
                <a:latin typeface="Cascadia Mono"/>
                <a:ea typeface="Cascadia Mono"/>
                <a:cs typeface="Cascadia Mono"/>
              </a:defRPr>
            </a:pPr>
            <a:r>
              <a:rPr sz="825" b="1">
                <a:solidFill>
                  <a:srgbClr val="9AB1C5"/>
                </a:solidFill>
                <a:latin typeface="Cascadia Mono"/>
                <a:ea typeface="Cascadia Mono"/>
                <a:cs typeface="Cascadia Mono"/>
              </a:rPr>
              <a:t>05</a:t>
            </a:r>
          </a:p>
        </p:txBody>
      </p:sp>
      <p:sp>
        <p:nvSpPr>
          <p:cNvPr id="5" name="Straight Connector 4">
            <a:extLst>
              <a:ext uri="{FF2B5EF4-FFF2-40B4-BE49-F238E27FC236}">
                <a16:creationId xmlns:a16="http://schemas.microsoft.com/office/drawing/2014/main" id="{CA06BC3F-ECAE-4C96-8770-C309E1FC1F2C}"/>
              </a:ext>
            </a:extLst>
          </p:cNvPr>
          <p:cNvSpPr>
            <a:spLocks noGrp="1"/>
          </p:cNvSpPr>
          <p:nvPr/>
        </p:nvSpPr>
        <p:spPr>
          <a:xfrm>
            <a:off x="914400" y="6534150"/>
            <a:ext cx="10744200" cy="0"/>
          </a:xfrm>
          <a:prstGeom prst="line">
            <a:avLst/>
          </a:prstGeom>
          <a:noFill/>
          <a:ln w="9525">
            <a:solidFill>
              <a:srgbClr val="294157"/>
            </a:solidFill>
            <a:prstDash val="solid"/>
          </a:ln>
        </p:spPr>
      </p:sp>
      <p:sp>
        <p:nvSpPr>
          <p:cNvPr id="6" name="Rectangle 5">
            <a:extLst>
              <a:ext uri="{FF2B5EF4-FFF2-40B4-BE49-F238E27FC236}">
                <a16:creationId xmlns:a16="http://schemas.microsoft.com/office/drawing/2014/main" id="{B84C5600-3E8C-45EB-A6BD-14C4223E611B}"/>
              </a:ext>
            </a:extLst>
          </p:cNvPr>
          <p:cNvSpPr>
            <a:spLocks noGrp="1"/>
          </p:cNvSpPr>
          <p:nvPr/>
        </p:nvSpPr>
        <p:spPr>
          <a:xfrm>
            <a:off x="8953500" y="1352550"/>
            <a:ext cx="2609850" cy="400050"/>
          </a:xfrm>
          <a:prstGeom prst="rect">
            <a:avLst/>
          </a:prstGeom>
          <a:noFill/>
          <a:ln w="0">
            <a:noFill/>
          </a:ln>
        </p:spPr>
        <p:txBody>
          <a:bodyPr wrap="square" lIns="0" tIns="0" rIns="0" bIns="0" anchor="t">
            <a:normAutofit/>
          </a:bodyPr>
          <a:lstStyle/>
          <a:p>
            <a:pPr algn="r" rtl="1">
              <a:lnSpc>
                <a:spcPct val="100000"/>
              </a:lnSpc>
              <a:buNone/>
              <a:defRPr lang="he-IL" sz="2250" b="1">
                <a:solidFill>
                  <a:srgbClr val="35D4B5"/>
                </a:solidFill>
                <a:latin typeface="Arial"/>
                <a:ea typeface="Arial"/>
                <a:cs typeface="Arial"/>
              </a:defRPr>
            </a:pPr>
            <a:r>
              <a:rPr lang="he-IL" sz="2250" b="1">
                <a:solidFill>
                  <a:srgbClr val="35D4B5"/>
                </a:solidFill>
                <a:latin typeface="Arial"/>
                <a:ea typeface="Arial"/>
                <a:cs typeface="Arial"/>
              </a:rPr>
              <a:t>מהיר עכשיו</a:t>
            </a:r>
          </a:p>
        </p:txBody>
      </p:sp>
      <p:sp>
        <p:nvSpPr>
          <p:cNvPr id="7" name="Rectangle 6">
            <a:extLst>
              <a:ext uri="{FF2B5EF4-FFF2-40B4-BE49-F238E27FC236}">
                <a16:creationId xmlns:a16="http://schemas.microsoft.com/office/drawing/2014/main" id="{ABC45591-1718-400E-9D0B-3A9DE1E81B0D}"/>
              </a:ext>
            </a:extLst>
          </p:cNvPr>
          <p:cNvSpPr>
            <a:spLocks noGrp="1"/>
          </p:cNvSpPr>
          <p:nvPr/>
        </p:nvSpPr>
        <p:spPr>
          <a:xfrm>
            <a:off x="6286500" y="1771650"/>
            <a:ext cx="5276850" cy="304800"/>
          </a:xfrm>
          <a:prstGeom prst="rect">
            <a:avLst/>
          </a:prstGeom>
          <a:noFill/>
          <a:ln w="0">
            <a:noFill/>
          </a:ln>
        </p:spPr>
        <p:txBody>
          <a:bodyPr wrap="square" lIns="0" tIns="0" rIns="0" bIns="0" anchor="t">
            <a:normAutofit/>
          </a:bodyPr>
          <a:lstStyle/>
          <a:p>
            <a:pPr algn="r" rtl="1">
              <a:lnSpc>
                <a:spcPct val="100000"/>
              </a:lnSpc>
              <a:buNone/>
              <a:defRPr lang="he-IL" sz="1650" b="0">
                <a:solidFill>
                  <a:srgbClr val="9AB1C5"/>
                </a:solidFill>
                <a:latin typeface="Arial"/>
                <a:ea typeface="Arial"/>
                <a:cs typeface="Arial"/>
              </a:defRPr>
            </a:pPr>
            <a:r>
              <a:rPr lang="he-IL" sz="1650" b="0">
                <a:solidFill>
                  <a:srgbClr val="9AB1C5"/>
                </a:solidFill>
                <a:latin typeface="Arial"/>
                <a:ea typeface="Arial"/>
                <a:cs typeface="Arial"/>
              </a:rPr>
              <a:t>המסלול החי מספק תמונת מצב בזמן שהשוק פעיל</a:t>
            </a:r>
          </a:p>
        </p:txBody>
      </p:sp>
      <p:sp>
        <p:nvSpPr>
          <p:cNvPr id="8" name="Rectangle: Rounded Corners 7">
            <a:extLst>
              <a:ext uri="{FF2B5EF4-FFF2-40B4-BE49-F238E27FC236}">
                <a16:creationId xmlns:a16="http://schemas.microsoft.com/office/drawing/2014/main" id="{5DC5BA81-D722-43C4-90C4-E22D16F8D8CA}"/>
              </a:ext>
            </a:extLst>
          </p:cNvPr>
          <p:cNvSpPr>
            <a:spLocks noGrp="1"/>
          </p:cNvSpPr>
          <p:nvPr/>
        </p:nvSpPr>
        <p:spPr>
          <a:xfrm>
            <a:off x="685800" y="2247900"/>
            <a:ext cx="2238375" cy="838200"/>
          </a:xfrm>
          <a:prstGeom prst="roundRect">
            <a:avLst>
              <a:gd name="adj" fmla="val 13636"/>
            </a:avLst>
          </a:prstGeom>
          <a:solidFill>
            <a:srgbClr val="10283C"/>
          </a:solidFill>
          <a:ln w="14288">
            <a:solidFill>
              <a:srgbClr val="35D4B5"/>
            </a:solidFill>
            <a:prstDash val="solid"/>
          </a:ln>
        </p:spPr>
      </p:sp>
      <p:sp>
        <p:nvSpPr>
          <p:cNvPr id="9" name="Rectangle 8">
            <a:extLst>
              <a:ext uri="{FF2B5EF4-FFF2-40B4-BE49-F238E27FC236}">
                <a16:creationId xmlns:a16="http://schemas.microsoft.com/office/drawing/2014/main" id="{E4D74A06-36EE-4E8B-A0B4-119687162AF3}"/>
              </a:ext>
            </a:extLst>
          </p:cNvPr>
          <p:cNvSpPr>
            <a:spLocks noGrp="1"/>
          </p:cNvSpPr>
          <p:nvPr/>
        </p:nvSpPr>
        <p:spPr>
          <a:xfrm>
            <a:off x="781050" y="2409825"/>
            <a:ext cx="2047875" cy="266700"/>
          </a:xfrm>
          <a:prstGeom prst="rect">
            <a:avLst/>
          </a:prstGeom>
          <a:noFill/>
          <a:ln w="0">
            <a:noFill/>
          </a:ln>
        </p:spPr>
        <p:txBody>
          <a:bodyPr wrap="square" lIns="0" tIns="0" rIns="0" bIns="0" anchor="ctr">
            <a:normAutofit/>
          </a:bodyPr>
          <a:lstStyle/>
          <a:p>
            <a:pPr algn="ctr">
              <a:lnSpc>
                <a:spcPct val="100000"/>
              </a:lnSpc>
              <a:buNone/>
              <a:defRPr sz="1425" b="1">
                <a:solidFill>
                  <a:srgbClr val="F8FBFF"/>
                </a:solidFill>
                <a:latin typeface="Cascadia Mono"/>
                <a:ea typeface="Cascadia Mono"/>
                <a:cs typeface="Cascadia Mono"/>
              </a:defRPr>
            </a:pPr>
            <a:r>
              <a:rPr sz="1425" b="1">
                <a:solidFill>
                  <a:srgbClr val="F8FBFF"/>
                </a:solidFill>
                <a:latin typeface="Cascadia Mono"/>
                <a:ea typeface="Cascadia Mono"/>
                <a:cs typeface="Cascadia Mono"/>
              </a:rPr>
              <a:t>Gold PROVISIONAL</a:t>
            </a:r>
          </a:p>
        </p:txBody>
      </p:sp>
      <p:sp>
        <p:nvSpPr>
          <p:cNvPr id="10" name="Rectangle 9">
            <a:extLst>
              <a:ext uri="{FF2B5EF4-FFF2-40B4-BE49-F238E27FC236}">
                <a16:creationId xmlns:a16="http://schemas.microsoft.com/office/drawing/2014/main" id="{DCA5AB2B-0161-4F92-B43D-B1EC912BD876}"/>
              </a:ext>
            </a:extLst>
          </p:cNvPr>
          <p:cNvSpPr>
            <a:spLocks noGrp="1"/>
          </p:cNvSpPr>
          <p:nvPr/>
        </p:nvSpPr>
        <p:spPr>
          <a:xfrm>
            <a:off x="762000" y="2724150"/>
            <a:ext cx="2085975" cy="190500"/>
          </a:xfrm>
          <a:prstGeom prst="rect">
            <a:avLst/>
          </a:prstGeom>
          <a:noFill/>
          <a:ln w="0">
            <a:noFill/>
          </a:ln>
        </p:spPr>
        <p:txBody>
          <a:bodyPr wrap="square" lIns="0" tIns="0" rIns="0" bIns="0" anchor="t">
            <a:normAutofit/>
          </a:bodyPr>
          <a:lstStyle/>
          <a:p>
            <a:pPr algn="r" rtl="1">
              <a:lnSpc>
                <a:spcPct val="100000"/>
              </a:lnSpc>
              <a:buNone/>
              <a:defRPr lang="he-IL" sz="1125" b="0">
                <a:solidFill>
                  <a:srgbClr val="9AB1C5"/>
                </a:solidFill>
                <a:latin typeface="Arial"/>
                <a:ea typeface="Arial"/>
                <a:cs typeface="Arial"/>
              </a:defRPr>
            </a:pPr>
            <a:r>
              <a:rPr lang="he-IL" sz="1125" b="0">
                <a:solidFill>
                  <a:srgbClr val="9AB1C5"/>
                </a:solidFill>
                <a:latin typeface="Arial"/>
                <a:ea typeface="Arial"/>
                <a:cs typeface="Arial"/>
              </a:rPr>
              <a:t>מוכן לתצוגה</a:t>
            </a:r>
          </a:p>
        </p:txBody>
      </p:sp>
      <p:sp>
        <p:nvSpPr>
          <p:cNvPr id="11" name="Rectangle: Rounded Corners 10">
            <a:extLst>
              <a:ext uri="{FF2B5EF4-FFF2-40B4-BE49-F238E27FC236}">
                <a16:creationId xmlns:a16="http://schemas.microsoft.com/office/drawing/2014/main" id="{2C75F63F-9C85-4654-BEED-8A161FCDE6F3}"/>
              </a:ext>
            </a:extLst>
          </p:cNvPr>
          <p:cNvSpPr>
            <a:spLocks noGrp="1"/>
          </p:cNvSpPr>
          <p:nvPr/>
        </p:nvSpPr>
        <p:spPr>
          <a:xfrm>
            <a:off x="3419475" y="2247900"/>
            <a:ext cx="2238375" cy="838200"/>
          </a:xfrm>
          <a:prstGeom prst="roundRect">
            <a:avLst>
              <a:gd name="adj" fmla="val 13636"/>
            </a:avLst>
          </a:prstGeom>
          <a:solidFill>
            <a:srgbClr val="10283C"/>
          </a:solidFill>
          <a:ln w="14288">
            <a:solidFill>
              <a:srgbClr val="35D4B5"/>
            </a:solidFill>
            <a:prstDash val="solid"/>
          </a:ln>
        </p:spPr>
      </p:sp>
      <p:sp>
        <p:nvSpPr>
          <p:cNvPr id="12" name="Rectangle 11">
            <a:extLst>
              <a:ext uri="{FF2B5EF4-FFF2-40B4-BE49-F238E27FC236}">
                <a16:creationId xmlns:a16="http://schemas.microsoft.com/office/drawing/2014/main" id="{8B4A0536-3D2E-41AA-8847-84B81E20F7B5}"/>
              </a:ext>
            </a:extLst>
          </p:cNvPr>
          <p:cNvSpPr>
            <a:spLocks noGrp="1"/>
          </p:cNvSpPr>
          <p:nvPr/>
        </p:nvSpPr>
        <p:spPr>
          <a:xfrm>
            <a:off x="3514725" y="2409825"/>
            <a:ext cx="2047875" cy="266700"/>
          </a:xfrm>
          <a:prstGeom prst="rect">
            <a:avLst/>
          </a:prstGeom>
          <a:noFill/>
          <a:ln w="0">
            <a:noFill/>
          </a:ln>
        </p:spPr>
        <p:txBody>
          <a:bodyPr wrap="square" lIns="0" tIns="0" rIns="0" bIns="0" anchor="ctr">
            <a:normAutofit/>
          </a:bodyPr>
          <a:lstStyle/>
          <a:p>
            <a:pPr algn="ctr">
              <a:lnSpc>
                <a:spcPct val="100000"/>
              </a:lnSpc>
              <a:buNone/>
              <a:defRPr sz="1425" b="1">
                <a:solidFill>
                  <a:srgbClr val="F8FBFF"/>
                </a:solidFill>
                <a:latin typeface="Cascadia Mono"/>
                <a:ea typeface="Cascadia Mono"/>
                <a:cs typeface="Cascadia Mono"/>
              </a:defRPr>
            </a:pPr>
            <a:r>
              <a:rPr sz="1425" b="1">
                <a:solidFill>
                  <a:srgbClr val="F8FBFF"/>
                </a:solidFill>
                <a:latin typeface="Cascadia Mono"/>
                <a:ea typeface="Cascadia Mono"/>
                <a:cs typeface="Cascadia Mono"/>
              </a:rPr>
              <a:t>Spark Streaming</a:t>
            </a:r>
          </a:p>
        </p:txBody>
      </p:sp>
      <p:sp>
        <p:nvSpPr>
          <p:cNvPr id="13" name="Rectangle 12">
            <a:extLst>
              <a:ext uri="{FF2B5EF4-FFF2-40B4-BE49-F238E27FC236}">
                <a16:creationId xmlns:a16="http://schemas.microsoft.com/office/drawing/2014/main" id="{A773194D-B8E8-4040-8AA8-C69166AB7EDD}"/>
              </a:ext>
            </a:extLst>
          </p:cNvPr>
          <p:cNvSpPr>
            <a:spLocks noGrp="1"/>
          </p:cNvSpPr>
          <p:nvPr/>
        </p:nvSpPr>
        <p:spPr>
          <a:xfrm>
            <a:off x="3495675" y="2724150"/>
            <a:ext cx="2085975" cy="190500"/>
          </a:xfrm>
          <a:prstGeom prst="rect">
            <a:avLst/>
          </a:prstGeom>
          <a:noFill/>
          <a:ln w="0">
            <a:noFill/>
          </a:ln>
        </p:spPr>
        <p:txBody>
          <a:bodyPr wrap="square" lIns="0" tIns="0" rIns="0" bIns="0" anchor="t">
            <a:normAutofit/>
          </a:bodyPr>
          <a:lstStyle/>
          <a:p>
            <a:endParaRPr/>
          </a:p>
        </p:txBody>
      </p:sp>
      <p:sp>
        <p:nvSpPr>
          <p:cNvPr id="14" name="Rectangle: Rounded Corners 13">
            <a:extLst>
              <a:ext uri="{FF2B5EF4-FFF2-40B4-BE49-F238E27FC236}">
                <a16:creationId xmlns:a16="http://schemas.microsoft.com/office/drawing/2014/main" id="{66C07C95-04A7-4808-BF1F-735FAB1B9D93}"/>
              </a:ext>
            </a:extLst>
          </p:cNvPr>
          <p:cNvSpPr>
            <a:spLocks noGrp="1"/>
          </p:cNvSpPr>
          <p:nvPr/>
        </p:nvSpPr>
        <p:spPr>
          <a:xfrm>
            <a:off x="6153150" y="2247900"/>
            <a:ext cx="2238375" cy="838200"/>
          </a:xfrm>
          <a:prstGeom prst="roundRect">
            <a:avLst>
              <a:gd name="adj" fmla="val 13636"/>
            </a:avLst>
          </a:prstGeom>
          <a:solidFill>
            <a:srgbClr val="10283C"/>
          </a:solidFill>
          <a:ln w="14288">
            <a:solidFill>
              <a:srgbClr val="35D4B5"/>
            </a:solidFill>
            <a:prstDash val="solid"/>
          </a:ln>
        </p:spPr>
      </p:sp>
      <p:sp>
        <p:nvSpPr>
          <p:cNvPr id="15" name="Rectangle 14">
            <a:extLst>
              <a:ext uri="{FF2B5EF4-FFF2-40B4-BE49-F238E27FC236}">
                <a16:creationId xmlns:a16="http://schemas.microsoft.com/office/drawing/2014/main" id="{5184EB5B-48E3-445A-AE25-431FCB7ED277}"/>
              </a:ext>
            </a:extLst>
          </p:cNvPr>
          <p:cNvSpPr>
            <a:spLocks noGrp="1"/>
          </p:cNvSpPr>
          <p:nvPr/>
        </p:nvSpPr>
        <p:spPr>
          <a:xfrm>
            <a:off x="6248400" y="2409825"/>
            <a:ext cx="2047875" cy="266700"/>
          </a:xfrm>
          <a:prstGeom prst="rect">
            <a:avLst/>
          </a:prstGeom>
          <a:noFill/>
          <a:ln w="0">
            <a:noFill/>
          </a:ln>
        </p:spPr>
        <p:txBody>
          <a:bodyPr wrap="square" lIns="0" tIns="0" rIns="0" bIns="0" anchor="ctr">
            <a:normAutofit/>
          </a:bodyPr>
          <a:lstStyle/>
          <a:p>
            <a:pPr algn="ctr">
              <a:lnSpc>
                <a:spcPct val="100000"/>
              </a:lnSpc>
              <a:buNone/>
              <a:defRPr sz="1425" b="1">
                <a:solidFill>
                  <a:srgbClr val="F8FBFF"/>
                </a:solidFill>
                <a:latin typeface="Cascadia Mono"/>
                <a:ea typeface="Cascadia Mono"/>
                <a:cs typeface="Cascadia Mono"/>
              </a:defRPr>
            </a:pPr>
            <a:r>
              <a:rPr sz="1425" b="1">
                <a:solidFill>
                  <a:srgbClr val="F8FBFF"/>
                </a:solidFill>
                <a:latin typeface="Cascadia Mono"/>
                <a:ea typeface="Cascadia Mono"/>
                <a:cs typeface="Cascadia Mono"/>
              </a:rPr>
              <a:t>Kafka</a:t>
            </a:r>
          </a:p>
        </p:txBody>
      </p:sp>
      <p:sp>
        <p:nvSpPr>
          <p:cNvPr id="16" name="Rectangle 15">
            <a:extLst>
              <a:ext uri="{FF2B5EF4-FFF2-40B4-BE49-F238E27FC236}">
                <a16:creationId xmlns:a16="http://schemas.microsoft.com/office/drawing/2014/main" id="{01B2A27B-4EBA-4ACF-BDD0-DC4026FDA993}"/>
              </a:ext>
            </a:extLst>
          </p:cNvPr>
          <p:cNvSpPr>
            <a:spLocks noGrp="1"/>
          </p:cNvSpPr>
          <p:nvPr/>
        </p:nvSpPr>
        <p:spPr>
          <a:xfrm>
            <a:off x="6229350" y="2724150"/>
            <a:ext cx="2085975" cy="190500"/>
          </a:xfrm>
          <a:prstGeom prst="rect">
            <a:avLst/>
          </a:prstGeom>
          <a:noFill/>
          <a:ln w="0">
            <a:noFill/>
          </a:ln>
        </p:spPr>
        <p:txBody>
          <a:bodyPr wrap="square" lIns="0" tIns="0" rIns="0" bIns="0" anchor="t">
            <a:normAutofit/>
          </a:bodyPr>
          <a:lstStyle/>
          <a:p>
            <a:endParaRPr/>
          </a:p>
        </p:txBody>
      </p:sp>
      <p:sp>
        <p:nvSpPr>
          <p:cNvPr id="17" name="Rectangle: Rounded Corners 16">
            <a:extLst>
              <a:ext uri="{FF2B5EF4-FFF2-40B4-BE49-F238E27FC236}">
                <a16:creationId xmlns:a16="http://schemas.microsoft.com/office/drawing/2014/main" id="{B0E157CB-48B8-4986-BC3C-F4238E2151DB}"/>
              </a:ext>
            </a:extLst>
          </p:cNvPr>
          <p:cNvSpPr>
            <a:spLocks noGrp="1"/>
          </p:cNvSpPr>
          <p:nvPr/>
        </p:nvSpPr>
        <p:spPr>
          <a:xfrm>
            <a:off x="8886825" y="2247900"/>
            <a:ext cx="2238375" cy="838200"/>
          </a:xfrm>
          <a:prstGeom prst="roundRect">
            <a:avLst>
              <a:gd name="adj" fmla="val 13636"/>
            </a:avLst>
          </a:prstGeom>
          <a:solidFill>
            <a:srgbClr val="10283C"/>
          </a:solidFill>
          <a:ln w="14288">
            <a:solidFill>
              <a:srgbClr val="35D4B5"/>
            </a:solidFill>
            <a:prstDash val="solid"/>
          </a:ln>
        </p:spPr>
      </p:sp>
      <p:sp>
        <p:nvSpPr>
          <p:cNvPr id="18" name="Rectangle 17">
            <a:extLst>
              <a:ext uri="{FF2B5EF4-FFF2-40B4-BE49-F238E27FC236}">
                <a16:creationId xmlns:a16="http://schemas.microsoft.com/office/drawing/2014/main" id="{4E661456-998F-451D-9325-41190E628911}"/>
              </a:ext>
            </a:extLst>
          </p:cNvPr>
          <p:cNvSpPr>
            <a:spLocks noGrp="1"/>
          </p:cNvSpPr>
          <p:nvPr/>
        </p:nvSpPr>
        <p:spPr>
          <a:xfrm>
            <a:off x="8982075" y="2409825"/>
            <a:ext cx="2047875" cy="266700"/>
          </a:xfrm>
          <a:prstGeom prst="rect">
            <a:avLst/>
          </a:prstGeom>
          <a:noFill/>
          <a:ln w="0">
            <a:noFill/>
          </a:ln>
        </p:spPr>
        <p:txBody>
          <a:bodyPr wrap="square" lIns="0" tIns="0" rIns="0" bIns="0" anchor="ctr">
            <a:normAutofit/>
          </a:bodyPr>
          <a:lstStyle/>
          <a:p>
            <a:pPr algn="ctr">
              <a:lnSpc>
                <a:spcPct val="100000"/>
              </a:lnSpc>
              <a:buNone/>
              <a:defRPr sz="1425" b="1">
                <a:solidFill>
                  <a:srgbClr val="F8FBFF"/>
                </a:solidFill>
                <a:latin typeface="Cascadia Mono"/>
                <a:ea typeface="Cascadia Mono"/>
                <a:cs typeface="Cascadia Mono"/>
              </a:defRPr>
            </a:pPr>
            <a:r>
              <a:rPr sz="1425" b="1">
                <a:solidFill>
                  <a:srgbClr val="F8FBFF"/>
                </a:solidFill>
                <a:latin typeface="Cascadia Mono"/>
                <a:ea typeface="Cascadia Mono"/>
                <a:cs typeface="Cascadia Mono"/>
              </a:rPr>
              <a:t>Alpaca</a:t>
            </a:r>
          </a:p>
        </p:txBody>
      </p:sp>
      <p:sp>
        <p:nvSpPr>
          <p:cNvPr id="19" name="Rectangle 18">
            <a:extLst>
              <a:ext uri="{FF2B5EF4-FFF2-40B4-BE49-F238E27FC236}">
                <a16:creationId xmlns:a16="http://schemas.microsoft.com/office/drawing/2014/main" id="{2A7DF634-2FBC-4FA4-ADD4-4D60F36F17C9}"/>
              </a:ext>
            </a:extLst>
          </p:cNvPr>
          <p:cNvSpPr>
            <a:spLocks noGrp="1"/>
          </p:cNvSpPr>
          <p:nvPr/>
        </p:nvSpPr>
        <p:spPr>
          <a:xfrm>
            <a:off x="8963025" y="2724150"/>
            <a:ext cx="2085975" cy="190500"/>
          </a:xfrm>
          <a:prstGeom prst="rect">
            <a:avLst/>
          </a:prstGeom>
          <a:noFill/>
          <a:ln w="0">
            <a:noFill/>
          </a:ln>
        </p:spPr>
        <p:txBody>
          <a:bodyPr wrap="square" lIns="0" tIns="0" rIns="0" bIns="0" anchor="t">
            <a:normAutofit/>
          </a:bodyPr>
          <a:lstStyle/>
          <a:p>
            <a:endParaRPr/>
          </a:p>
        </p:txBody>
      </p:sp>
      <p:cxnSp>
        <p:nvCxnSpPr>
          <p:cNvPr id="66" name="Straight Arrow Connector 65"/>
          <p:cNvCxnSpPr>
            <a:stCxn id="17" idx="1"/>
            <a:endCxn id="14" idx="3"/>
          </p:cNvCxnSpPr>
          <p:nvPr/>
        </p:nvCxnSpPr>
        <p:spPr>
          <a:xfrm flipH="1">
            <a:off x="8391525" y="2667000"/>
            <a:ext cx="495300" cy="0"/>
          </a:xfrm>
          <a:prstGeom prst="straightConnector1">
            <a:avLst/>
          </a:prstGeom>
          <a:ln w="19050">
            <a:solidFill>
              <a:srgbClr val="35D4B5"/>
            </a:solidFill>
            <a:prstDash val="solid"/>
            <a:tailEnd type="triangle" w="sm" len="sm"/>
          </a:ln>
        </p:spPr>
      </p:cxnSp>
      <p:cxnSp>
        <p:nvCxnSpPr>
          <p:cNvPr id="67" name="Straight Arrow Connector 66"/>
          <p:cNvCxnSpPr>
            <a:stCxn id="14" idx="1"/>
            <a:endCxn id="11" idx="3"/>
          </p:cNvCxnSpPr>
          <p:nvPr/>
        </p:nvCxnSpPr>
        <p:spPr>
          <a:xfrm flipH="1">
            <a:off x="5657850" y="2667000"/>
            <a:ext cx="495300" cy="0"/>
          </a:xfrm>
          <a:prstGeom prst="straightConnector1">
            <a:avLst/>
          </a:prstGeom>
          <a:ln w="19050">
            <a:solidFill>
              <a:srgbClr val="35D4B5"/>
            </a:solidFill>
            <a:prstDash val="solid"/>
            <a:tailEnd type="triangle" w="sm" len="sm"/>
          </a:ln>
        </p:spPr>
      </p:cxnSp>
      <p:cxnSp>
        <p:nvCxnSpPr>
          <p:cNvPr id="68" name="Straight Arrow Connector 67"/>
          <p:cNvCxnSpPr>
            <a:stCxn id="11" idx="1"/>
            <a:endCxn id="8" idx="3"/>
          </p:cNvCxnSpPr>
          <p:nvPr/>
        </p:nvCxnSpPr>
        <p:spPr>
          <a:xfrm flipH="1">
            <a:off x="2924175" y="2667000"/>
            <a:ext cx="495300" cy="0"/>
          </a:xfrm>
          <a:prstGeom prst="straightConnector1">
            <a:avLst/>
          </a:prstGeom>
          <a:ln w="19050">
            <a:solidFill>
              <a:srgbClr val="35D4B5"/>
            </a:solidFill>
            <a:prstDash val="solid"/>
            <a:tailEnd type="triangle" w="sm" len="sm"/>
          </a:ln>
        </p:spPr>
      </p:cxnSp>
      <p:sp>
        <p:nvSpPr>
          <p:cNvPr id="23" name="Rectangle 22">
            <a:extLst>
              <a:ext uri="{FF2B5EF4-FFF2-40B4-BE49-F238E27FC236}">
                <a16:creationId xmlns:a16="http://schemas.microsoft.com/office/drawing/2014/main" id="{D7DB36C7-447A-4052-BC01-CADF05FE9260}"/>
              </a:ext>
            </a:extLst>
          </p:cNvPr>
          <p:cNvSpPr>
            <a:spLocks noGrp="1"/>
          </p:cNvSpPr>
          <p:nvPr/>
        </p:nvSpPr>
        <p:spPr>
          <a:xfrm>
            <a:off x="685800" y="3200400"/>
            <a:ext cx="4572000" cy="209550"/>
          </a:xfrm>
          <a:prstGeom prst="rect">
            <a:avLst/>
          </a:prstGeom>
          <a:noFill/>
          <a:ln w="0">
            <a:noFill/>
          </a:ln>
        </p:spPr>
        <p:txBody>
          <a:bodyPr wrap="square" lIns="0" tIns="0" rIns="0" bIns="0" anchor="ctr">
            <a:normAutofit/>
          </a:bodyPr>
          <a:lstStyle/>
          <a:p>
            <a:pPr algn="l">
              <a:lnSpc>
                <a:spcPct val="100000"/>
              </a:lnSpc>
              <a:buNone/>
              <a:defRPr sz="975" b="1">
                <a:solidFill>
                  <a:srgbClr val="35D4B5"/>
                </a:solidFill>
                <a:latin typeface="Cascadia Mono"/>
                <a:ea typeface="Cascadia Mono"/>
                <a:cs typeface="Cascadia Mono"/>
              </a:defRPr>
            </a:pPr>
            <a:r>
              <a:rPr sz="975" b="1">
                <a:solidFill>
                  <a:srgbClr val="35D4B5"/>
                </a:solidFill>
                <a:latin typeface="Cascadia Mono"/>
                <a:ea typeface="Cascadia Mono"/>
                <a:cs typeface="Cascadia Mono"/>
              </a:rPr>
              <a:t>DOCKER COMPOSE OWNS THE LIFECYCLE</a:t>
            </a:r>
          </a:p>
        </p:txBody>
      </p:sp>
      <p:sp>
        <p:nvSpPr>
          <p:cNvPr id="24" name="Straight Connector 23">
            <a:extLst>
              <a:ext uri="{FF2B5EF4-FFF2-40B4-BE49-F238E27FC236}">
                <a16:creationId xmlns:a16="http://schemas.microsoft.com/office/drawing/2014/main" id="{4C94934B-3835-4725-AB43-A8515ECF92E1}"/>
              </a:ext>
            </a:extLst>
          </p:cNvPr>
          <p:cNvSpPr>
            <a:spLocks noGrp="1"/>
          </p:cNvSpPr>
          <p:nvPr/>
        </p:nvSpPr>
        <p:spPr>
          <a:xfrm>
            <a:off x="609600" y="3600450"/>
            <a:ext cx="10972800" cy="0"/>
          </a:xfrm>
          <a:prstGeom prst="line">
            <a:avLst/>
          </a:prstGeom>
          <a:noFill/>
          <a:ln w="9525">
            <a:solidFill>
              <a:srgbClr val="294157"/>
            </a:solidFill>
            <a:prstDash val="solid"/>
          </a:ln>
        </p:spPr>
      </p:sp>
      <p:sp>
        <p:nvSpPr>
          <p:cNvPr id="25" name="Rectangle 24">
            <a:extLst>
              <a:ext uri="{FF2B5EF4-FFF2-40B4-BE49-F238E27FC236}">
                <a16:creationId xmlns:a16="http://schemas.microsoft.com/office/drawing/2014/main" id="{8A782D1A-4417-40ED-BFB2-B3C719FC921E}"/>
              </a:ext>
            </a:extLst>
          </p:cNvPr>
          <p:cNvSpPr>
            <a:spLocks noGrp="1"/>
          </p:cNvSpPr>
          <p:nvPr/>
        </p:nvSpPr>
        <p:spPr>
          <a:xfrm>
            <a:off x="8210550" y="3886200"/>
            <a:ext cx="3352800" cy="400050"/>
          </a:xfrm>
          <a:prstGeom prst="rect">
            <a:avLst/>
          </a:prstGeom>
          <a:noFill/>
          <a:ln w="0">
            <a:noFill/>
          </a:ln>
        </p:spPr>
        <p:txBody>
          <a:bodyPr wrap="square" lIns="0" tIns="0" rIns="0" bIns="0" anchor="t">
            <a:normAutofit/>
          </a:bodyPr>
          <a:lstStyle/>
          <a:p>
            <a:pPr algn="r" rtl="1">
              <a:lnSpc>
                <a:spcPct val="100000"/>
              </a:lnSpc>
              <a:buNone/>
              <a:defRPr lang="he-IL" sz="2250" b="1">
                <a:solidFill>
                  <a:srgbClr val="5B91FF"/>
                </a:solidFill>
                <a:latin typeface="Arial"/>
                <a:ea typeface="Arial"/>
                <a:cs typeface="Arial"/>
              </a:defRPr>
            </a:pPr>
            <a:r>
              <a:rPr lang="he-IL" sz="2250" b="1">
                <a:solidFill>
                  <a:srgbClr val="5B91FF"/>
                </a:solidFill>
                <a:latin typeface="Arial"/>
                <a:ea typeface="Arial"/>
                <a:cs typeface="Arial"/>
              </a:rPr>
              <a:t>אמין לאחר הסגירה</a:t>
            </a:r>
          </a:p>
        </p:txBody>
      </p:sp>
      <p:sp>
        <p:nvSpPr>
          <p:cNvPr id="26" name="Rectangle 25">
            <a:extLst>
              <a:ext uri="{FF2B5EF4-FFF2-40B4-BE49-F238E27FC236}">
                <a16:creationId xmlns:a16="http://schemas.microsoft.com/office/drawing/2014/main" id="{4E48FC53-8B9E-4B5E-85F6-E532502DF0DA}"/>
              </a:ext>
            </a:extLst>
          </p:cNvPr>
          <p:cNvSpPr>
            <a:spLocks noGrp="1"/>
          </p:cNvSpPr>
          <p:nvPr/>
        </p:nvSpPr>
        <p:spPr>
          <a:xfrm>
            <a:off x="5391150" y="4305300"/>
            <a:ext cx="6172200" cy="304800"/>
          </a:xfrm>
          <a:prstGeom prst="rect">
            <a:avLst/>
          </a:prstGeom>
          <a:noFill/>
          <a:ln w="0">
            <a:noFill/>
          </a:ln>
        </p:spPr>
        <p:txBody>
          <a:bodyPr wrap="square" lIns="0" tIns="0" rIns="0" bIns="0" anchor="t">
            <a:normAutofit/>
          </a:bodyPr>
          <a:lstStyle/>
          <a:p>
            <a:pPr algn="r" rtl="1">
              <a:lnSpc>
                <a:spcPct val="100000"/>
              </a:lnSpc>
              <a:buNone/>
              <a:defRPr lang="he-IL" sz="1650" b="0">
                <a:solidFill>
                  <a:srgbClr val="9AB1C5"/>
                </a:solidFill>
                <a:latin typeface="Arial"/>
                <a:ea typeface="Arial"/>
                <a:cs typeface="Arial"/>
              </a:defRPr>
            </a:pPr>
            <a:r>
              <a:rPr lang="he-IL" sz="1650" b="0">
                <a:solidFill>
                  <a:srgbClr val="9AB1C5"/>
                </a:solidFill>
                <a:latin typeface="Arial"/>
                <a:ea typeface="Arial"/>
                <a:cs typeface="Arial"/>
              </a:rPr>
              <a:t>המסלול המאושר בונה מחדש את היום מן המקור ומפעיל שערי איכות</a:t>
            </a:r>
          </a:p>
        </p:txBody>
      </p:sp>
      <p:sp>
        <p:nvSpPr>
          <p:cNvPr id="27" name="Rectangle: Rounded Corners 26">
            <a:extLst>
              <a:ext uri="{FF2B5EF4-FFF2-40B4-BE49-F238E27FC236}">
                <a16:creationId xmlns:a16="http://schemas.microsoft.com/office/drawing/2014/main" id="{2FF63020-E441-46A7-B370-2E3363651DDE}"/>
              </a:ext>
            </a:extLst>
          </p:cNvPr>
          <p:cNvSpPr>
            <a:spLocks noGrp="1"/>
          </p:cNvSpPr>
          <p:nvPr/>
        </p:nvSpPr>
        <p:spPr>
          <a:xfrm>
            <a:off x="609600" y="4810125"/>
            <a:ext cx="1752600" cy="838200"/>
          </a:xfrm>
          <a:prstGeom prst="roundRect">
            <a:avLst>
              <a:gd name="adj" fmla="val 13636"/>
            </a:avLst>
          </a:prstGeom>
          <a:solidFill>
            <a:srgbClr val="10283C"/>
          </a:solidFill>
          <a:ln w="14288">
            <a:solidFill>
              <a:srgbClr val="5B91FF"/>
            </a:solidFill>
            <a:prstDash val="solid"/>
          </a:ln>
        </p:spPr>
      </p:sp>
      <p:sp>
        <p:nvSpPr>
          <p:cNvPr id="28" name="Rectangle 27">
            <a:extLst>
              <a:ext uri="{FF2B5EF4-FFF2-40B4-BE49-F238E27FC236}">
                <a16:creationId xmlns:a16="http://schemas.microsoft.com/office/drawing/2014/main" id="{4F43C237-E1F6-4D82-8953-46890832A821}"/>
              </a:ext>
            </a:extLst>
          </p:cNvPr>
          <p:cNvSpPr>
            <a:spLocks noGrp="1"/>
          </p:cNvSpPr>
          <p:nvPr/>
        </p:nvSpPr>
        <p:spPr>
          <a:xfrm>
            <a:off x="704850" y="4972050"/>
            <a:ext cx="1562100" cy="266700"/>
          </a:xfrm>
          <a:prstGeom prst="rect">
            <a:avLst/>
          </a:prstGeom>
          <a:noFill/>
          <a:ln w="0">
            <a:noFill/>
          </a:ln>
        </p:spPr>
        <p:txBody>
          <a:bodyPr wrap="square" lIns="0" tIns="0" rIns="0" bIns="0" anchor="ctr">
            <a:normAutofit/>
          </a:bodyPr>
          <a:lstStyle/>
          <a:p>
            <a:pPr algn="ctr">
              <a:lnSpc>
                <a:spcPct val="100000"/>
              </a:lnSpc>
              <a:buNone/>
              <a:defRPr sz="1425" b="1">
                <a:solidFill>
                  <a:srgbClr val="F8FBFF"/>
                </a:solidFill>
                <a:latin typeface="Cascadia Mono"/>
                <a:ea typeface="Cascadia Mono"/>
                <a:cs typeface="Cascadia Mono"/>
              </a:defRPr>
            </a:pPr>
            <a:r>
              <a:rPr sz="1425" b="1">
                <a:solidFill>
                  <a:srgbClr val="F8FBFF"/>
                </a:solidFill>
                <a:latin typeface="Cascadia Mono"/>
                <a:ea typeface="Cascadia Mono"/>
                <a:cs typeface="Cascadia Mono"/>
              </a:rPr>
              <a:t>Gold CERTIFIED</a:t>
            </a:r>
          </a:p>
        </p:txBody>
      </p:sp>
      <p:sp>
        <p:nvSpPr>
          <p:cNvPr id="29" name="Rectangle 28">
            <a:extLst>
              <a:ext uri="{FF2B5EF4-FFF2-40B4-BE49-F238E27FC236}">
                <a16:creationId xmlns:a16="http://schemas.microsoft.com/office/drawing/2014/main" id="{313BD3B4-A446-4304-914C-73B5DFEEC4E0}"/>
              </a:ext>
            </a:extLst>
          </p:cNvPr>
          <p:cNvSpPr>
            <a:spLocks noGrp="1"/>
          </p:cNvSpPr>
          <p:nvPr/>
        </p:nvSpPr>
        <p:spPr>
          <a:xfrm>
            <a:off x="685800" y="5286375"/>
            <a:ext cx="1600200" cy="190500"/>
          </a:xfrm>
          <a:prstGeom prst="rect">
            <a:avLst/>
          </a:prstGeom>
          <a:noFill/>
          <a:ln w="0">
            <a:noFill/>
          </a:ln>
        </p:spPr>
        <p:txBody>
          <a:bodyPr wrap="square" lIns="0" tIns="0" rIns="0" bIns="0" anchor="t">
            <a:normAutofit/>
          </a:bodyPr>
          <a:lstStyle/>
          <a:p>
            <a:endParaRPr/>
          </a:p>
        </p:txBody>
      </p:sp>
      <p:sp>
        <p:nvSpPr>
          <p:cNvPr id="30" name="Rectangle: Rounded Corners 29">
            <a:extLst>
              <a:ext uri="{FF2B5EF4-FFF2-40B4-BE49-F238E27FC236}">
                <a16:creationId xmlns:a16="http://schemas.microsoft.com/office/drawing/2014/main" id="{DB40E47C-86BA-42C6-8903-874128EED022}"/>
              </a:ext>
            </a:extLst>
          </p:cNvPr>
          <p:cNvSpPr>
            <a:spLocks noGrp="1"/>
          </p:cNvSpPr>
          <p:nvPr/>
        </p:nvSpPr>
        <p:spPr>
          <a:xfrm>
            <a:off x="2800350" y="4810125"/>
            <a:ext cx="1752600" cy="838200"/>
          </a:xfrm>
          <a:prstGeom prst="roundRect">
            <a:avLst>
              <a:gd name="adj" fmla="val 13636"/>
            </a:avLst>
          </a:prstGeom>
          <a:solidFill>
            <a:srgbClr val="10283C"/>
          </a:solidFill>
          <a:ln w="14288">
            <a:solidFill>
              <a:srgbClr val="5B91FF"/>
            </a:solidFill>
            <a:prstDash val="solid"/>
          </a:ln>
        </p:spPr>
      </p:sp>
      <p:sp>
        <p:nvSpPr>
          <p:cNvPr id="31" name="Rectangle 30">
            <a:extLst>
              <a:ext uri="{FF2B5EF4-FFF2-40B4-BE49-F238E27FC236}">
                <a16:creationId xmlns:a16="http://schemas.microsoft.com/office/drawing/2014/main" id="{15C637C9-7D31-4CA8-A91E-4EE63B47121D}"/>
              </a:ext>
            </a:extLst>
          </p:cNvPr>
          <p:cNvSpPr>
            <a:spLocks noGrp="1"/>
          </p:cNvSpPr>
          <p:nvPr/>
        </p:nvSpPr>
        <p:spPr>
          <a:xfrm>
            <a:off x="2895600" y="4972050"/>
            <a:ext cx="1562100" cy="266700"/>
          </a:xfrm>
          <a:prstGeom prst="rect">
            <a:avLst/>
          </a:prstGeom>
          <a:noFill/>
          <a:ln w="0">
            <a:noFill/>
          </a:ln>
        </p:spPr>
        <p:txBody>
          <a:bodyPr wrap="square" lIns="0" tIns="0" rIns="0" bIns="0" anchor="ctr">
            <a:normAutofit/>
          </a:bodyPr>
          <a:lstStyle/>
          <a:p>
            <a:pPr algn="ctr">
              <a:lnSpc>
                <a:spcPct val="100000"/>
              </a:lnSpc>
              <a:buNone/>
              <a:defRPr sz="1425" b="1">
                <a:solidFill>
                  <a:srgbClr val="F8FBFF"/>
                </a:solidFill>
                <a:latin typeface="Cascadia Mono"/>
                <a:ea typeface="Cascadia Mono"/>
                <a:cs typeface="Cascadia Mono"/>
              </a:defRPr>
            </a:pPr>
            <a:r>
              <a:rPr sz="1425" b="1">
                <a:solidFill>
                  <a:srgbClr val="F8FBFF"/>
                </a:solidFill>
                <a:latin typeface="Cascadia Mono"/>
                <a:ea typeface="Cascadia Mono"/>
                <a:cs typeface="Cascadia Mono"/>
              </a:rPr>
              <a:t>Data Quality</a:t>
            </a:r>
          </a:p>
        </p:txBody>
      </p:sp>
      <p:sp>
        <p:nvSpPr>
          <p:cNvPr id="32" name="Rectangle 31">
            <a:extLst>
              <a:ext uri="{FF2B5EF4-FFF2-40B4-BE49-F238E27FC236}">
                <a16:creationId xmlns:a16="http://schemas.microsoft.com/office/drawing/2014/main" id="{C69A4FEC-0211-41F3-AC73-42DA76BAF232}"/>
              </a:ext>
            </a:extLst>
          </p:cNvPr>
          <p:cNvSpPr>
            <a:spLocks noGrp="1"/>
          </p:cNvSpPr>
          <p:nvPr/>
        </p:nvSpPr>
        <p:spPr>
          <a:xfrm>
            <a:off x="2876550" y="5286375"/>
            <a:ext cx="1600200" cy="190500"/>
          </a:xfrm>
          <a:prstGeom prst="rect">
            <a:avLst/>
          </a:prstGeom>
          <a:noFill/>
          <a:ln w="0">
            <a:noFill/>
          </a:ln>
        </p:spPr>
        <p:txBody>
          <a:bodyPr wrap="square" lIns="0" tIns="0" rIns="0" bIns="0" anchor="t">
            <a:normAutofit/>
          </a:bodyPr>
          <a:lstStyle/>
          <a:p>
            <a:endParaRPr/>
          </a:p>
        </p:txBody>
      </p:sp>
      <p:sp>
        <p:nvSpPr>
          <p:cNvPr id="33" name="Rectangle: Rounded Corners 32">
            <a:extLst>
              <a:ext uri="{FF2B5EF4-FFF2-40B4-BE49-F238E27FC236}">
                <a16:creationId xmlns:a16="http://schemas.microsoft.com/office/drawing/2014/main" id="{745B0282-303D-405B-A927-800CD80EAEA9}"/>
              </a:ext>
            </a:extLst>
          </p:cNvPr>
          <p:cNvSpPr>
            <a:spLocks noGrp="1"/>
          </p:cNvSpPr>
          <p:nvPr/>
        </p:nvSpPr>
        <p:spPr>
          <a:xfrm>
            <a:off x="4991100" y="4810125"/>
            <a:ext cx="1752600" cy="838200"/>
          </a:xfrm>
          <a:prstGeom prst="roundRect">
            <a:avLst>
              <a:gd name="adj" fmla="val 13636"/>
            </a:avLst>
          </a:prstGeom>
          <a:solidFill>
            <a:srgbClr val="10283C"/>
          </a:solidFill>
          <a:ln w="14288">
            <a:solidFill>
              <a:srgbClr val="5B91FF"/>
            </a:solidFill>
            <a:prstDash val="solid"/>
          </a:ln>
        </p:spPr>
      </p:sp>
      <p:sp>
        <p:nvSpPr>
          <p:cNvPr id="34" name="Rectangle 33">
            <a:extLst>
              <a:ext uri="{FF2B5EF4-FFF2-40B4-BE49-F238E27FC236}">
                <a16:creationId xmlns:a16="http://schemas.microsoft.com/office/drawing/2014/main" id="{7A5F911B-6004-474B-8FE0-B4CA775B562C}"/>
              </a:ext>
            </a:extLst>
          </p:cNvPr>
          <p:cNvSpPr>
            <a:spLocks noGrp="1"/>
          </p:cNvSpPr>
          <p:nvPr/>
        </p:nvSpPr>
        <p:spPr>
          <a:xfrm>
            <a:off x="5086350" y="4972050"/>
            <a:ext cx="1562100" cy="266700"/>
          </a:xfrm>
          <a:prstGeom prst="rect">
            <a:avLst/>
          </a:prstGeom>
          <a:noFill/>
          <a:ln w="0">
            <a:noFill/>
          </a:ln>
        </p:spPr>
        <p:txBody>
          <a:bodyPr wrap="square" lIns="0" tIns="0" rIns="0" bIns="0" anchor="ctr">
            <a:normAutofit/>
          </a:bodyPr>
          <a:lstStyle/>
          <a:p>
            <a:pPr algn="ctr">
              <a:lnSpc>
                <a:spcPct val="100000"/>
              </a:lnSpc>
              <a:buNone/>
              <a:defRPr sz="1425" b="1">
                <a:solidFill>
                  <a:srgbClr val="F8FBFF"/>
                </a:solidFill>
                <a:latin typeface="Cascadia Mono"/>
                <a:ea typeface="Cascadia Mono"/>
                <a:cs typeface="Cascadia Mono"/>
              </a:defRPr>
            </a:pPr>
            <a:r>
              <a:rPr sz="1425" b="1">
                <a:solidFill>
                  <a:srgbClr val="F8FBFF"/>
                </a:solidFill>
                <a:latin typeface="Cascadia Mono"/>
                <a:ea typeface="Cascadia Mono"/>
                <a:cs typeface="Cascadia Mono"/>
              </a:rPr>
              <a:t>Silver</a:t>
            </a:r>
          </a:p>
        </p:txBody>
      </p:sp>
      <p:sp>
        <p:nvSpPr>
          <p:cNvPr id="35" name="Rectangle 34">
            <a:extLst>
              <a:ext uri="{FF2B5EF4-FFF2-40B4-BE49-F238E27FC236}">
                <a16:creationId xmlns:a16="http://schemas.microsoft.com/office/drawing/2014/main" id="{57FFEA74-2E78-46E4-94EE-7D2B1944D766}"/>
              </a:ext>
            </a:extLst>
          </p:cNvPr>
          <p:cNvSpPr>
            <a:spLocks noGrp="1"/>
          </p:cNvSpPr>
          <p:nvPr/>
        </p:nvSpPr>
        <p:spPr>
          <a:xfrm>
            <a:off x="5067300" y="5286375"/>
            <a:ext cx="1600200" cy="190500"/>
          </a:xfrm>
          <a:prstGeom prst="rect">
            <a:avLst/>
          </a:prstGeom>
          <a:noFill/>
          <a:ln w="0">
            <a:noFill/>
          </a:ln>
        </p:spPr>
        <p:txBody>
          <a:bodyPr wrap="square" lIns="0" tIns="0" rIns="0" bIns="0" anchor="t">
            <a:normAutofit/>
          </a:bodyPr>
          <a:lstStyle/>
          <a:p>
            <a:endParaRPr/>
          </a:p>
        </p:txBody>
      </p:sp>
      <p:sp>
        <p:nvSpPr>
          <p:cNvPr id="36" name="Rectangle: Rounded Corners 35">
            <a:extLst>
              <a:ext uri="{FF2B5EF4-FFF2-40B4-BE49-F238E27FC236}">
                <a16:creationId xmlns:a16="http://schemas.microsoft.com/office/drawing/2014/main" id="{6933CC96-DDAE-443B-B4DA-D98E362F987C}"/>
              </a:ext>
            </a:extLst>
          </p:cNvPr>
          <p:cNvSpPr>
            <a:spLocks noGrp="1"/>
          </p:cNvSpPr>
          <p:nvPr/>
        </p:nvSpPr>
        <p:spPr>
          <a:xfrm>
            <a:off x="7181850" y="4810125"/>
            <a:ext cx="1752600" cy="838200"/>
          </a:xfrm>
          <a:prstGeom prst="roundRect">
            <a:avLst>
              <a:gd name="adj" fmla="val 13636"/>
            </a:avLst>
          </a:prstGeom>
          <a:solidFill>
            <a:srgbClr val="10283C"/>
          </a:solidFill>
          <a:ln w="14288">
            <a:solidFill>
              <a:srgbClr val="5B91FF"/>
            </a:solidFill>
            <a:prstDash val="solid"/>
          </a:ln>
        </p:spPr>
      </p:sp>
      <p:sp>
        <p:nvSpPr>
          <p:cNvPr id="37" name="Rectangle 36">
            <a:extLst>
              <a:ext uri="{FF2B5EF4-FFF2-40B4-BE49-F238E27FC236}">
                <a16:creationId xmlns:a16="http://schemas.microsoft.com/office/drawing/2014/main" id="{7C23A044-5BCE-4896-BB90-4C3E35A19F0C}"/>
              </a:ext>
            </a:extLst>
          </p:cNvPr>
          <p:cNvSpPr>
            <a:spLocks noGrp="1"/>
          </p:cNvSpPr>
          <p:nvPr/>
        </p:nvSpPr>
        <p:spPr>
          <a:xfrm>
            <a:off x="7277100" y="4972050"/>
            <a:ext cx="1562100" cy="266700"/>
          </a:xfrm>
          <a:prstGeom prst="rect">
            <a:avLst/>
          </a:prstGeom>
          <a:noFill/>
          <a:ln w="0">
            <a:noFill/>
          </a:ln>
        </p:spPr>
        <p:txBody>
          <a:bodyPr wrap="square" lIns="0" tIns="0" rIns="0" bIns="0" anchor="ctr">
            <a:normAutofit/>
          </a:bodyPr>
          <a:lstStyle/>
          <a:p>
            <a:pPr algn="ctr">
              <a:lnSpc>
                <a:spcPct val="100000"/>
              </a:lnSpc>
              <a:buNone/>
              <a:defRPr sz="1425" b="1">
                <a:solidFill>
                  <a:srgbClr val="F8FBFF"/>
                </a:solidFill>
                <a:latin typeface="Cascadia Mono"/>
                <a:ea typeface="Cascadia Mono"/>
                <a:cs typeface="Cascadia Mono"/>
              </a:defRPr>
            </a:pPr>
            <a:r>
              <a:rPr sz="1425" b="1">
                <a:solidFill>
                  <a:srgbClr val="F8FBFF"/>
                </a:solidFill>
                <a:latin typeface="Cascadia Mono"/>
                <a:ea typeface="Cascadia Mono"/>
                <a:cs typeface="Cascadia Mono"/>
              </a:rPr>
              <a:t>Spark Batch</a:t>
            </a:r>
          </a:p>
        </p:txBody>
      </p:sp>
      <p:sp>
        <p:nvSpPr>
          <p:cNvPr id="38" name="Rectangle 37">
            <a:extLst>
              <a:ext uri="{FF2B5EF4-FFF2-40B4-BE49-F238E27FC236}">
                <a16:creationId xmlns:a16="http://schemas.microsoft.com/office/drawing/2014/main" id="{04666E74-BA3E-46AB-82A6-75088FE7A92B}"/>
              </a:ext>
            </a:extLst>
          </p:cNvPr>
          <p:cNvSpPr>
            <a:spLocks noGrp="1"/>
          </p:cNvSpPr>
          <p:nvPr/>
        </p:nvSpPr>
        <p:spPr>
          <a:xfrm>
            <a:off x="7258050" y="5286375"/>
            <a:ext cx="1600200" cy="190500"/>
          </a:xfrm>
          <a:prstGeom prst="rect">
            <a:avLst/>
          </a:prstGeom>
          <a:noFill/>
          <a:ln w="0">
            <a:noFill/>
          </a:ln>
        </p:spPr>
        <p:txBody>
          <a:bodyPr wrap="square" lIns="0" tIns="0" rIns="0" bIns="0" anchor="t">
            <a:normAutofit/>
          </a:bodyPr>
          <a:lstStyle/>
          <a:p>
            <a:endParaRPr/>
          </a:p>
        </p:txBody>
      </p:sp>
      <p:sp>
        <p:nvSpPr>
          <p:cNvPr id="39" name="Rectangle: Rounded Corners 38">
            <a:extLst>
              <a:ext uri="{FF2B5EF4-FFF2-40B4-BE49-F238E27FC236}">
                <a16:creationId xmlns:a16="http://schemas.microsoft.com/office/drawing/2014/main" id="{03CC2C9C-979A-4461-9D80-7D97E4A486B7}"/>
              </a:ext>
            </a:extLst>
          </p:cNvPr>
          <p:cNvSpPr>
            <a:spLocks noGrp="1"/>
          </p:cNvSpPr>
          <p:nvPr/>
        </p:nvSpPr>
        <p:spPr>
          <a:xfrm>
            <a:off x="9372600" y="4810125"/>
            <a:ext cx="1752600" cy="838200"/>
          </a:xfrm>
          <a:prstGeom prst="roundRect">
            <a:avLst>
              <a:gd name="adj" fmla="val 13636"/>
            </a:avLst>
          </a:prstGeom>
          <a:solidFill>
            <a:srgbClr val="10283C"/>
          </a:solidFill>
          <a:ln w="14288">
            <a:solidFill>
              <a:srgbClr val="5B91FF"/>
            </a:solidFill>
            <a:prstDash val="solid"/>
          </a:ln>
        </p:spPr>
      </p:sp>
      <p:sp>
        <p:nvSpPr>
          <p:cNvPr id="40" name="Rectangle 39">
            <a:extLst>
              <a:ext uri="{FF2B5EF4-FFF2-40B4-BE49-F238E27FC236}">
                <a16:creationId xmlns:a16="http://schemas.microsoft.com/office/drawing/2014/main" id="{90B28BB4-F53F-421A-820B-59CB1336388C}"/>
              </a:ext>
            </a:extLst>
          </p:cNvPr>
          <p:cNvSpPr>
            <a:spLocks noGrp="1"/>
          </p:cNvSpPr>
          <p:nvPr/>
        </p:nvSpPr>
        <p:spPr>
          <a:xfrm>
            <a:off x="9467850" y="4972050"/>
            <a:ext cx="1562100" cy="266700"/>
          </a:xfrm>
          <a:prstGeom prst="rect">
            <a:avLst/>
          </a:prstGeom>
          <a:noFill/>
          <a:ln w="0">
            <a:noFill/>
          </a:ln>
        </p:spPr>
        <p:txBody>
          <a:bodyPr wrap="square" lIns="0" tIns="0" rIns="0" bIns="0" anchor="ctr">
            <a:normAutofit/>
          </a:bodyPr>
          <a:lstStyle/>
          <a:p>
            <a:pPr algn="ctr">
              <a:lnSpc>
                <a:spcPct val="100000"/>
              </a:lnSpc>
              <a:buNone/>
              <a:defRPr sz="1425" b="1">
                <a:solidFill>
                  <a:srgbClr val="F8FBFF"/>
                </a:solidFill>
                <a:latin typeface="Cascadia Mono"/>
                <a:ea typeface="Cascadia Mono"/>
                <a:cs typeface="Cascadia Mono"/>
              </a:defRPr>
            </a:pPr>
            <a:r>
              <a:rPr sz="1425" b="1">
                <a:solidFill>
                  <a:srgbClr val="F8FBFF"/>
                </a:solidFill>
                <a:latin typeface="Cascadia Mono"/>
                <a:ea typeface="Cascadia Mono"/>
                <a:cs typeface="Cascadia Mono"/>
              </a:rPr>
              <a:t>Bronze</a:t>
            </a:r>
          </a:p>
        </p:txBody>
      </p:sp>
      <p:sp>
        <p:nvSpPr>
          <p:cNvPr id="41" name="Rectangle 40">
            <a:extLst>
              <a:ext uri="{FF2B5EF4-FFF2-40B4-BE49-F238E27FC236}">
                <a16:creationId xmlns:a16="http://schemas.microsoft.com/office/drawing/2014/main" id="{A1EAFF10-ADE9-4F62-980C-453EFCC0B112}"/>
              </a:ext>
            </a:extLst>
          </p:cNvPr>
          <p:cNvSpPr>
            <a:spLocks noGrp="1"/>
          </p:cNvSpPr>
          <p:nvPr/>
        </p:nvSpPr>
        <p:spPr>
          <a:xfrm>
            <a:off x="9448800" y="5286375"/>
            <a:ext cx="1600200" cy="190500"/>
          </a:xfrm>
          <a:prstGeom prst="rect">
            <a:avLst/>
          </a:prstGeom>
          <a:noFill/>
          <a:ln w="0">
            <a:noFill/>
          </a:ln>
        </p:spPr>
        <p:txBody>
          <a:bodyPr wrap="square" lIns="0" tIns="0" rIns="0" bIns="0" anchor="t">
            <a:normAutofit/>
          </a:bodyPr>
          <a:lstStyle/>
          <a:p>
            <a:endParaRPr/>
          </a:p>
        </p:txBody>
      </p:sp>
      <p:cxnSp>
        <p:nvCxnSpPr>
          <p:cNvPr id="88" name="Straight Arrow Connector 87"/>
          <p:cNvCxnSpPr>
            <a:stCxn id="39" idx="1"/>
            <a:endCxn id="36" idx="3"/>
          </p:cNvCxnSpPr>
          <p:nvPr/>
        </p:nvCxnSpPr>
        <p:spPr>
          <a:xfrm flipH="1">
            <a:off x="8934450" y="5229225"/>
            <a:ext cx="438150" cy="0"/>
          </a:xfrm>
          <a:prstGeom prst="straightConnector1">
            <a:avLst/>
          </a:prstGeom>
          <a:ln w="19050">
            <a:solidFill>
              <a:srgbClr val="5B91FF"/>
            </a:solidFill>
            <a:prstDash val="solid"/>
            <a:tailEnd type="triangle" w="sm" len="sm"/>
          </a:ln>
        </p:spPr>
      </p:cxnSp>
      <p:cxnSp>
        <p:nvCxnSpPr>
          <p:cNvPr id="89" name="Straight Arrow Connector 88"/>
          <p:cNvCxnSpPr>
            <a:stCxn id="36" idx="1"/>
            <a:endCxn id="33" idx="3"/>
          </p:cNvCxnSpPr>
          <p:nvPr/>
        </p:nvCxnSpPr>
        <p:spPr>
          <a:xfrm flipH="1">
            <a:off x="6743700" y="5229225"/>
            <a:ext cx="438150" cy="0"/>
          </a:xfrm>
          <a:prstGeom prst="straightConnector1">
            <a:avLst/>
          </a:prstGeom>
          <a:ln w="19050">
            <a:solidFill>
              <a:srgbClr val="5B91FF"/>
            </a:solidFill>
            <a:prstDash val="solid"/>
            <a:tailEnd type="triangle" w="sm" len="sm"/>
          </a:ln>
        </p:spPr>
      </p:cxnSp>
      <p:cxnSp>
        <p:nvCxnSpPr>
          <p:cNvPr id="90" name="Straight Arrow Connector 89"/>
          <p:cNvCxnSpPr>
            <a:stCxn id="33" idx="1"/>
            <a:endCxn id="30" idx="3"/>
          </p:cNvCxnSpPr>
          <p:nvPr/>
        </p:nvCxnSpPr>
        <p:spPr>
          <a:xfrm flipH="1">
            <a:off x="4552950" y="5229225"/>
            <a:ext cx="438150" cy="0"/>
          </a:xfrm>
          <a:prstGeom prst="straightConnector1">
            <a:avLst/>
          </a:prstGeom>
          <a:ln w="19050">
            <a:solidFill>
              <a:srgbClr val="5B91FF"/>
            </a:solidFill>
            <a:prstDash val="solid"/>
            <a:tailEnd type="triangle" w="sm" len="sm"/>
          </a:ln>
        </p:spPr>
      </p:cxnSp>
      <p:cxnSp>
        <p:nvCxnSpPr>
          <p:cNvPr id="91" name="Straight Arrow Connector 90"/>
          <p:cNvCxnSpPr>
            <a:stCxn id="30" idx="1"/>
            <a:endCxn id="27" idx="3"/>
          </p:cNvCxnSpPr>
          <p:nvPr/>
        </p:nvCxnSpPr>
        <p:spPr>
          <a:xfrm flipH="1">
            <a:off x="2362200" y="5229225"/>
            <a:ext cx="438150" cy="0"/>
          </a:xfrm>
          <a:prstGeom prst="straightConnector1">
            <a:avLst/>
          </a:prstGeom>
          <a:ln w="19050">
            <a:solidFill>
              <a:srgbClr val="5B91FF"/>
            </a:solidFill>
            <a:prstDash val="solid"/>
            <a:tailEnd type="triangle" w="sm" len="sm"/>
          </a:ln>
        </p:spPr>
      </p:cxnSp>
      <p:sp>
        <p:nvSpPr>
          <p:cNvPr id="46" name="Rectangle 45">
            <a:extLst>
              <a:ext uri="{FF2B5EF4-FFF2-40B4-BE49-F238E27FC236}">
                <a16:creationId xmlns:a16="http://schemas.microsoft.com/office/drawing/2014/main" id="{57AC2D64-A599-4EA2-9FC1-4E3D20C13B52}"/>
              </a:ext>
            </a:extLst>
          </p:cNvPr>
          <p:cNvSpPr>
            <a:spLocks noGrp="1"/>
          </p:cNvSpPr>
          <p:nvPr/>
        </p:nvSpPr>
        <p:spPr>
          <a:xfrm>
            <a:off x="609600" y="5848350"/>
            <a:ext cx="3714750" cy="209550"/>
          </a:xfrm>
          <a:prstGeom prst="rect">
            <a:avLst/>
          </a:prstGeom>
          <a:noFill/>
          <a:ln w="0">
            <a:noFill/>
          </a:ln>
        </p:spPr>
        <p:txBody>
          <a:bodyPr wrap="square" lIns="0" tIns="0" rIns="0" bIns="0" anchor="ctr">
            <a:normAutofit/>
          </a:bodyPr>
          <a:lstStyle/>
          <a:p>
            <a:pPr algn="l">
              <a:lnSpc>
                <a:spcPct val="100000"/>
              </a:lnSpc>
              <a:buNone/>
              <a:defRPr sz="975" b="1">
                <a:solidFill>
                  <a:srgbClr val="5B91FF"/>
                </a:solidFill>
                <a:latin typeface="Cascadia Mono"/>
                <a:ea typeface="Cascadia Mono"/>
                <a:cs typeface="Cascadia Mono"/>
              </a:defRPr>
            </a:pPr>
            <a:r>
              <a:rPr sz="975" b="1">
                <a:solidFill>
                  <a:srgbClr val="5B91FF"/>
                </a:solidFill>
                <a:latin typeface="Cascadia Mono"/>
                <a:ea typeface="Cascadia Mono"/>
                <a:cs typeface="Cascadia Mono"/>
              </a:rPr>
              <a:t>AIRFLOW SCHEDULES AND MONITORS</a:t>
            </a:r>
          </a:p>
        </p:txBody>
      </p:sp>
    </p:spTree>
    <p:extLst>
      <p:ext uri="{BB962C8B-B14F-4D97-AF65-F5344CB8AC3E}">
        <p14:creationId xmlns:p14="http://schemas.microsoft.com/office/powerpoint/2010/main" val="4828037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91827"/>
        </a:solidFill>
        <a:effectLst/>
      </p:bgPr>
    </p:bg>
    <p:spTree>
      <p:nvGrpSpPr>
        <p:cNvPr id="1" name=""/>
        <p:cNvGrpSpPr/>
        <p:nvPr/>
      </p:nvGrpSpPr>
      <p:grpSpPr>
        <a:xfrm>
          <a:off x="0" y="0"/>
          <a:ext cx="0" cy="0"/>
          <a:chOff x="0" y="0"/>
          <a:chExt cx="0" cy="0"/>
        </a:xfrm>
      </p:grpSpPr>
      <p:sp>
        <p:nvSpPr>
          <p:cNvPr id="34" name="Rectangle 33">
            <a:extLst>
              <a:ext uri="{FF2B5EF4-FFF2-40B4-BE49-F238E27FC236}">
                <a16:creationId xmlns:a16="http://schemas.microsoft.com/office/drawing/2014/main" id="{4D797930-9D09-48EA-BBBD-97BA64243114}"/>
              </a:ext>
            </a:extLst>
          </p:cNvPr>
          <p:cNvSpPr>
            <a:spLocks noGrp="1"/>
          </p:cNvSpPr>
          <p:nvPr/>
        </p:nvSpPr>
        <p:spPr>
          <a:xfrm>
            <a:off x="0" y="0"/>
            <a:ext cx="171450" cy="6858000"/>
          </a:xfrm>
          <a:prstGeom prst="rect">
            <a:avLst/>
          </a:prstGeom>
          <a:solidFill>
            <a:srgbClr val="35D4B5"/>
          </a:solidFill>
          <a:ln w="0">
            <a:noFill/>
          </a:ln>
        </p:spPr>
      </p:sp>
      <p:sp>
        <p:nvSpPr>
          <p:cNvPr id="2" name="Rectangle 1">
            <a:extLst>
              <a:ext uri="{FF2B5EF4-FFF2-40B4-BE49-F238E27FC236}">
                <a16:creationId xmlns:a16="http://schemas.microsoft.com/office/drawing/2014/main" id="{3D659C84-62A1-493B-B34B-8698A763F4C6}"/>
              </a:ext>
            </a:extLst>
          </p:cNvPr>
          <p:cNvSpPr>
            <a:spLocks noGrp="1"/>
          </p:cNvSpPr>
          <p:nvPr/>
        </p:nvSpPr>
        <p:spPr>
          <a:xfrm>
            <a:off x="609600" y="361950"/>
            <a:ext cx="4000500" cy="209550"/>
          </a:xfrm>
          <a:prstGeom prst="rect">
            <a:avLst/>
          </a:prstGeom>
          <a:noFill/>
          <a:ln w="0">
            <a:noFill/>
          </a:ln>
        </p:spPr>
        <p:txBody>
          <a:bodyPr wrap="square" lIns="0" tIns="0" rIns="0" bIns="0" anchor="ctr">
            <a:normAutofit/>
          </a:bodyPr>
          <a:lstStyle/>
          <a:p>
            <a:pPr algn="l">
              <a:lnSpc>
                <a:spcPct val="100000"/>
              </a:lnSpc>
              <a:buNone/>
              <a:defRPr sz="975" b="1">
                <a:solidFill>
                  <a:srgbClr val="35D4B5"/>
                </a:solidFill>
                <a:latin typeface="Cascadia Mono"/>
                <a:ea typeface="Cascadia Mono"/>
                <a:cs typeface="Cascadia Mono"/>
              </a:defRPr>
            </a:pPr>
            <a:r>
              <a:rPr sz="975" b="1">
                <a:solidFill>
                  <a:srgbClr val="35D4B5"/>
                </a:solidFill>
                <a:latin typeface="Cascadia Mono"/>
                <a:ea typeface="Cascadia Mono"/>
                <a:cs typeface="Cascadia Mono"/>
              </a:rPr>
              <a:t>TECHNOLOGY CHOICES</a:t>
            </a:r>
          </a:p>
        </p:txBody>
      </p:sp>
      <p:sp>
        <p:nvSpPr>
          <p:cNvPr id="3" name="Rectangle 2">
            <a:extLst>
              <a:ext uri="{FF2B5EF4-FFF2-40B4-BE49-F238E27FC236}">
                <a16:creationId xmlns:a16="http://schemas.microsoft.com/office/drawing/2014/main" id="{84FB3995-B6BD-438A-9489-C23EEE11991C}"/>
              </a:ext>
            </a:extLst>
          </p:cNvPr>
          <p:cNvSpPr>
            <a:spLocks noGrp="1"/>
          </p:cNvSpPr>
          <p:nvPr/>
        </p:nvSpPr>
        <p:spPr>
          <a:xfrm>
            <a:off x="4191000" y="533400"/>
            <a:ext cx="7391400" cy="552450"/>
          </a:xfrm>
          <a:prstGeom prst="rect">
            <a:avLst/>
          </a:prstGeom>
          <a:noFill/>
          <a:ln w="0">
            <a:noFill/>
          </a:ln>
        </p:spPr>
        <p:txBody>
          <a:bodyPr wrap="square" lIns="0" tIns="0" rIns="0" bIns="0" anchor="t">
            <a:normAutofit/>
          </a:bodyPr>
          <a:lstStyle/>
          <a:p>
            <a:pPr algn="r" rtl="1">
              <a:lnSpc>
                <a:spcPct val="100000"/>
              </a:lnSpc>
              <a:buNone/>
              <a:defRPr lang="he-IL" sz="2400" b="1">
                <a:solidFill>
                  <a:srgbClr val="F8FBFF"/>
                </a:solidFill>
                <a:latin typeface="Arial"/>
                <a:ea typeface="Arial"/>
                <a:cs typeface="Arial"/>
              </a:defRPr>
            </a:pPr>
            <a:r>
              <a:rPr lang="he-IL" sz="2400" b="1">
                <a:solidFill>
                  <a:srgbClr val="F8FBFF"/>
                </a:solidFill>
                <a:latin typeface="Arial"/>
                <a:ea typeface="Arial"/>
                <a:cs typeface="Arial"/>
              </a:rPr>
              <a:t>בחירה מודעת: כלי מתאים לכל אחריות</a:t>
            </a:r>
          </a:p>
        </p:txBody>
      </p:sp>
      <p:sp>
        <p:nvSpPr>
          <p:cNvPr id="4" name="Rectangle 3">
            <a:extLst>
              <a:ext uri="{FF2B5EF4-FFF2-40B4-BE49-F238E27FC236}">
                <a16:creationId xmlns:a16="http://schemas.microsoft.com/office/drawing/2014/main" id="{D72C4C09-AF3D-45B8-B264-01C1B97102B2}"/>
              </a:ext>
            </a:extLst>
          </p:cNvPr>
          <p:cNvSpPr>
            <a:spLocks noGrp="1"/>
          </p:cNvSpPr>
          <p:nvPr/>
        </p:nvSpPr>
        <p:spPr>
          <a:xfrm>
            <a:off x="495300" y="6438900"/>
            <a:ext cx="342900" cy="171450"/>
          </a:xfrm>
          <a:prstGeom prst="rect">
            <a:avLst/>
          </a:prstGeom>
          <a:noFill/>
          <a:ln w="0">
            <a:noFill/>
          </a:ln>
        </p:spPr>
        <p:txBody>
          <a:bodyPr wrap="square" lIns="0" tIns="0" rIns="0" bIns="0" anchor="t">
            <a:normAutofit/>
          </a:bodyPr>
          <a:lstStyle/>
          <a:p>
            <a:pPr algn="l">
              <a:lnSpc>
                <a:spcPct val="100000"/>
              </a:lnSpc>
              <a:buNone/>
              <a:defRPr sz="825" b="1">
                <a:solidFill>
                  <a:srgbClr val="9AB1C5"/>
                </a:solidFill>
                <a:latin typeface="Cascadia Mono"/>
                <a:ea typeface="Cascadia Mono"/>
                <a:cs typeface="Cascadia Mono"/>
              </a:defRPr>
            </a:pPr>
            <a:r>
              <a:rPr sz="825" b="1">
                <a:solidFill>
                  <a:srgbClr val="9AB1C5"/>
                </a:solidFill>
                <a:latin typeface="Cascadia Mono"/>
                <a:ea typeface="Cascadia Mono"/>
                <a:cs typeface="Cascadia Mono"/>
              </a:rPr>
              <a:t>06</a:t>
            </a:r>
          </a:p>
        </p:txBody>
      </p:sp>
      <p:sp>
        <p:nvSpPr>
          <p:cNvPr id="5" name="Straight Connector 4">
            <a:extLst>
              <a:ext uri="{FF2B5EF4-FFF2-40B4-BE49-F238E27FC236}">
                <a16:creationId xmlns:a16="http://schemas.microsoft.com/office/drawing/2014/main" id="{5EBC0BB8-0E8B-48D6-A6BB-63D553D14A07}"/>
              </a:ext>
            </a:extLst>
          </p:cNvPr>
          <p:cNvSpPr>
            <a:spLocks noGrp="1"/>
          </p:cNvSpPr>
          <p:nvPr/>
        </p:nvSpPr>
        <p:spPr>
          <a:xfrm>
            <a:off x="914400" y="6534150"/>
            <a:ext cx="10744200" cy="0"/>
          </a:xfrm>
          <a:prstGeom prst="line">
            <a:avLst/>
          </a:prstGeom>
          <a:noFill/>
          <a:ln w="9525">
            <a:solidFill>
              <a:srgbClr val="294157"/>
            </a:solidFill>
            <a:prstDash val="solid"/>
          </a:ln>
        </p:spPr>
      </p:sp>
      <p:sp>
        <p:nvSpPr>
          <p:cNvPr id="6" name="Rectangle 5">
            <a:extLst>
              <a:ext uri="{FF2B5EF4-FFF2-40B4-BE49-F238E27FC236}">
                <a16:creationId xmlns:a16="http://schemas.microsoft.com/office/drawing/2014/main" id="{02C8AD41-9287-4793-BD16-AB3920483602}"/>
              </a:ext>
            </a:extLst>
          </p:cNvPr>
          <p:cNvSpPr>
            <a:spLocks noGrp="1"/>
          </p:cNvSpPr>
          <p:nvPr/>
        </p:nvSpPr>
        <p:spPr>
          <a:xfrm>
            <a:off x="7239000" y="1257300"/>
            <a:ext cx="4286250" cy="266700"/>
          </a:xfrm>
          <a:prstGeom prst="rect">
            <a:avLst/>
          </a:prstGeom>
          <a:noFill/>
          <a:ln w="0">
            <a:noFill/>
          </a:ln>
        </p:spPr>
        <p:txBody>
          <a:bodyPr wrap="square" lIns="0" tIns="0" rIns="0" bIns="0" anchor="t">
            <a:normAutofit/>
          </a:bodyPr>
          <a:lstStyle/>
          <a:p>
            <a:pPr algn="r" rtl="1">
              <a:lnSpc>
                <a:spcPct val="100000"/>
              </a:lnSpc>
              <a:buNone/>
              <a:defRPr lang="he-IL" sz="1275" b="1">
                <a:solidFill>
                  <a:srgbClr val="9AB1C5"/>
                </a:solidFill>
                <a:latin typeface="Arial"/>
                <a:ea typeface="Arial"/>
                <a:cs typeface="Arial"/>
              </a:defRPr>
            </a:pPr>
            <a:r>
              <a:rPr lang="he-IL" sz="1275" b="1">
                <a:solidFill>
                  <a:srgbClr val="9AB1C5"/>
                </a:solidFill>
                <a:latin typeface="Arial"/>
                <a:ea typeface="Arial"/>
                <a:cs typeface="Arial"/>
              </a:rPr>
              <a:t>למה היא, ולא החלופה</a:t>
            </a:r>
          </a:p>
        </p:txBody>
      </p:sp>
      <p:sp>
        <p:nvSpPr>
          <p:cNvPr id="7" name="Rectangle 6">
            <a:extLst>
              <a:ext uri="{FF2B5EF4-FFF2-40B4-BE49-F238E27FC236}">
                <a16:creationId xmlns:a16="http://schemas.microsoft.com/office/drawing/2014/main" id="{2917EA90-0B79-4F85-971E-073D53636ADA}"/>
              </a:ext>
            </a:extLst>
          </p:cNvPr>
          <p:cNvSpPr>
            <a:spLocks noGrp="1"/>
          </p:cNvSpPr>
          <p:nvPr/>
        </p:nvSpPr>
        <p:spPr>
          <a:xfrm>
            <a:off x="3429000" y="1257300"/>
            <a:ext cx="3714750" cy="266700"/>
          </a:xfrm>
          <a:prstGeom prst="rect">
            <a:avLst/>
          </a:prstGeom>
          <a:noFill/>
          <a:ln w="0">
            <a:noFill/>
          </a:ln>
        </p:spPr>
        <p:txBody>
          <a:bodyPr wrap="square" lIns="0" tIns="0" rIns="0" bIns="0" anchor="t">
            <a:normAutofit/>
          </a:bodyPr>
          <a:lstStyle/>
          <a:p>
            <a:pPr algn="r" rtl="1">
              <a:lnSpc>
                <a:spcPct val="100000"/>
              </a:lnSpc>
              <a:buNone/>
              <a:defRPr lang="he-IL" sz="1275" b="1">
                <a:solidFill>
                  <a:srgbClr val="9AB1C5"/>
                </a:solidFill>
                <a:latin typeface="Arial"/>
                <a:ea typeface="Arial"/>
                <a:cs typeface="Arial"/>
              </a:defRPr>
            </a:pPr>
            <a:r>
              <a:rPr lang="he-IL" sz="1275" b="1">
                <a:solidFill>
                  <a:srgbClr val="9AB1C5"/>
                </a:solidFill>
                <a:latin typeface="Arial"/>
                <a:ea typeface="Arial"/>
                <a:cs typeface="Arial"/>
              </a:rPr>
              <a:t>התפקיד במערכת</a:t>
            </a:r>
          </a:p>
        </p:txBody>
      </p:sp>
      <p:sp>
        <p:nvSpPr>
          <p:cNvPr id="8" name="Rectangle 7">
            <a:extLst>
              <a:ext uri="{FF2B5EF4-FFF2-40B4-BE49-F238E27FC236}">
                <a16:creationId xmlns:a16="http://schemas.microsoft.com/office/drawing/2014/main" id="{615C8287-FCD9-49E3-A905-7DA08CC69D9E}"/>
              </a:ext>
            </a:extLst>
          </p:cNvPr>
          <p:cNvSpPr>
            <a:spLocks noGrp="1"/>
          </p:cNvSpPr>
          <p:nvPr/>
        </p:nvSpPr>
        <p:spPr>
          <a:xfrm>
            <a:off x="685800" y="1257300"/>
            <a:ext cx="2095500" cy="266700"/>
          </a:xfrm>
          <a:prstGeom prst="rect">
            <a:avLst/>
          </a:prstGeom>
          <a:noFill/>
          <a:ln w="0">
            <a:noFill/>
          </a:ln>
        </p:spPr>
        <p:txBody>
          <a:bodyPr wrap="square" lIns="0" tIns="0" rIns="0" bIns="0" anchor="t">
            <a:normAutofit/>
          </a:bodyPr>
          <a:lstStyle/>
          <a:p>
            <a:pPr algn="l">
              <a:lnSpc>
                <a:spcPct val="100000"/>
              </a:lnSpc>
              <a:buNone/>
              <a:defRPr sz="1050" b="1">
                <a:solidFill>
                  <a:srgbClr val="9AB1C5"/>
                </a:solidFill>
                <a:latin typeface="Cascadia Mono"/>
                <a:ea typeface="Cascadia Mono"/>
                <a:cs typeface="Cascadia Mono"/>
              </a:defRPr>
            </a:pPr>
            <a:r>
              <a:rPr sz="1050" b="1">
                <a:solidFill>
                  <a:srgbClr val="9AB1C5"/>
                </a:solidFill>
                <a:latin typeface="Cascadia Mono"/>
                <a:ea typeface="Cascadia Mono"/>
                <a:cs typeface="Cascadia Mono"/>
              </a:rPr>
              <a:t>TECHNOLOGY</a:t>
            </a:r>
          </a:p>
        </p:txBody>
      </p:sp>
      <p:sp>
        <p:nvSpPr>
          <p:cNvPr id="9" name="Straight Connector 8">
            <a:extLst>
              <a:ext uri="{FF2B5EF4-FFF2-40B4-BE49-F238E27FC236}">
                <a16:creationId xmlns:a16="http://schemas.microsoft.com/office/drawing/2014/main" id="{83BE4B84-2830-4517-9E44-391E5ABE47D5}"/>
              </a:ext>
            </a:extLst>
          </p:cNvPr>
          <p:cNvSpPr>
            <a:spLocks noGrp="1"/>
          </p:cNvSpPr>
          <p:nvPr/>
        </p:nvSpPr>
        <p:spPr>
          <a:xfrm>
            <a:off x="609600" y="1657350"/>
            <a:ext cx="10972800" cy="0"/>
          </a:xfrm>
          <a:prstGeom prst="line">
            <a:avLst/>
          </a:prstGeom>
          <a:noFill/>
          <a:ln w="9525">
            <a:solidFill>
              <a:srgbClr val="294157"/>
            </a:solidFill>
            <a:prstDash val="solid"/>
          </a:ln>
        </p:spPr>
      </p:sp>
      <p:sp>
        <p:nvSpPr>
          <p:cNvPr id="10" name="Rectangle 9">
            <a:extLst>
              <a:ext uri="{FF2B5EF4-FFF2-40B4-BE49-F238E27FC236}">
                <a16:creationId xmlns:a16="http://schemas.microsoft.com/office/drawing/2014/main" id="{7DE0538D-FBB5-4523-AB21-5CD52E0640E7}"/>
              </a:ext>
            </a:extLst>
          </p:cNvPr>
          <p:cNvSpPr>
            <a:spLocks noGrp="1"/>
          </p:cNvSpPr>
          <p:nvPr/>
        </p:nvSpPr>
        <p:spPr>
          <a:xfrm>
            <a:off x="685800" y="1866900"/>
            <a:ext cx="2190750" cy="323850"/>
          </a:xfrm>
          <a:prstGeom prst="rect">
            <a:avLst/>
          </a:prstGeom>
          <a:noFill/>
          <a:ln w="0">
            <a:noFill/>
          </a:ln>
        </p:spPr>
        <p:txBody>
          <a:bodyPr wrap="square" lIns="0" tIns="0" rIns="0" bIns="0" anchor="ctr">
            <a:normAutofit/>
          </a:bodyPr>
          <a:lstStyle/>
          <a:p>
            <a:pPr algn="l">
              <a:lnSpc>
                <a:spcPct val="100000"/>
              </a:lnSpc>
              <a:buNone/>
              <a:defRPr sz="1575" b="1">
                <a:solidFill>
                  <a:srgbClr val="35D4B5"/>
                </a:solidFill>
                <a:latin typeface="Cascadia Mono"/>
                <a:ea typeface="Cascadia Mono"/>
                <a:cs typeface="Cascadia Mono"/>
              </a:defRPr>
            </a:pPr>
            <a:r>
              <a:rPr sz="1575" b="1">
                <a:solidFill>
                  <a:srgbClr val="35D4B5"/>
                </a:solidFill>
                <a:latin typeface="Cascadia Mono"/>
                <a:ea typeface="Cascadia Mono"/>
                <a:cs typeface="Cascadia Mono"/>
              </a:rPr>
              <a:t>Kafka</a:t>
            </a:r>
          </a:p>
        </p:txBody>
      </p:sp>
      <p:sp>
        <p:nvSpPr>
          <p:cNvPr id="11" name="Rectangle 10">
            <a:extLst>
              <a:ext uri="{FF2B5EF4-FFF2-40B4-BE49-F238E27FC236}">
                <a16:creationId xmlns:a16="http://schemas.microsoft.com/office/drawing/2014/main" id="{9707DC8A-055A-491E-8DEE-1C2C17C14A3F}"/>
              </a:ext>
            </a:extLst>
          </p:cNvPr>
          <p:cNvSpPr>
            <a:spLocks noGrp="1"/>
          </p:cNvSpPr>
          <p:nvPr/>
        </p:nvSpPr>
        <p:spPr>
          <a:xfrm>
            <a:off x="3143250" y="1790700"/>
            <a:ext cx="3714750" cy="476250"/>
          </a:xfrm>
          <a:prstGeom prst="rect">
            <a:avLst/>
          </a:prstGeom>
          <a:noFill/>
          <a:ln w="0">
            <a:noFill/>
          </a:ln>
        </p:spPr>
        <p:txBody>
          <a:bodyPr wrap="square" lIns="0" tIns="0" rIns="0" bIns="0" anchor="ctr">
            <a:normAutofit/>
          </a:bodyPr>
          <a:lstStyle/>
          <a:p>
            <a:pPr algn="r" rtl="1">
              <a:lnSpc>
                <a:spcPct val="100000"/>
              </a:lnSpc>
              <a:buNone/>
              <a:defRPr lang="he-IL" sz="1350" b="0">
                <a:solidFill>
                  <a:srgbClr val="F8FBFF"/>
                </a:solidFill>
                <a:latin typeface="Arial"/>
                <a:ea typeface="Arial"/>
                <a:cs typeface="Arial"/>
              </a:defRPr>
            </a:pPr>
            <a:r>
              <a:rPr lang="he-IL" sz="1350" b="0">
                <a:solidFill>
                  <a:srgbClr val="F8FBFF"/>
                </a:solidFill>
                <a:latin typeface="Arial"/>
                <a:ea typeface="Arial"/>
                <a:cs typeface="Arial"/>
              </a:rPr>
              <a:t>יומן אירועים בין המקור לצרכנים</a:t>
            </a:r>
          </a:p>
        </p:txBody>
      </p:sp>
      <p:sp>
        <p:nvSpPr>
          <p:cNvPr id="12" name="Rectangle 11">
            <a:extLst>
              <a:ext uri="{FF2B5EF4-FFF2-40B4-BE49-F238E27FC236}">
                <a16:creationId xmlns:a16="http://schemas.microsoft.com/office/drawing/2014/main" id="{CE5F10C6-9E7E-49E4-8116-69BD2407BF08}"/>
              </a:ext>
            </a:extLst>
          </p:cNvPr>
          <p:cNvSpPr>
            <a:spLocks noGrp="1"/>
          </p:cNvSpPr>
          <p:nvPr/>
        </p:nvSpPr>
        <p:spPr>
          <a:xfrm>
            <a:off x="7143750" y="1790700"/>
            <a:ext cx="4381500" cy="476250"/>
          </a:xfrm>
          <a:prstGeom prst="rect">
            <a:avLst/>
          </a:prstGeom>
          <a:noFill/>
          <a:ln w="0">
            <a:noFill/>
          </a:ln>
        </p:spPr>
        <p:txBody>
          <a:bodyPr wrap="square" lIns="0" tIns="0" rIns="0" bIns="0" anchor="ctr">
            <a:normAutofit/>
          </a:bodyPr>
          <a:lstStyle/>
          <a:p>
            <a:pPr algn="r" rtl="1">
              <a:lnSpc>
                <a:spcPct val="100000"/>
              </a:lnSpc>
              <a:buNone/>
              <a:defRPr lang="he-IL" sz="1275" b="0">
                <a:solidFill>
                  <a:srgbClr val="9AB1C5"/>
                </a:solidFill>
                <a:latin typeface="Arial"/>
                <a:ea typeface="Arial"/>
                <a:cs typeface="Arial"/>
              </a:defRPr>
            </a:pPr>
            <a:r>
              <a:rPr lang="he-IL" sz="1275" b="0">
                <a:solidFill>
                  <a:srgbClr val="9AB1C5"/>
                </a:solidFill>
                <a:latin typeface="Arial"/>
                <a:ea typeface="Arial"/>
                <a:cs typeface="Arial"/>
              </a:rPr>
              <a:t>מפריד בין רכיבים ושומר היסטוריה; לא חיבור ישיר</a:t>
            </a:r>
          </a:p>
        </p:txBody>
      </p:sp>
      <p:sp>
        <p:nvSpPr>
          <p:cNvPr id="13" name="Straight Connector 12">
            <a:extLst>
              <a:ext uri="{FF2B5EF4-FFF2-40B4-BE49-F238E27FC236}">
                <a16:creationId xmlns:a16="http://schemas.microsoft.com/office/drawing/2014/main" id="{DD707F7A-1D32-465D-8C7C-7D7AA0639E81}"/>
              </a:ext>
            </a:extLst>
          </p:cNvPr>
          <p:cNvSpPr>
            <a:spLocks noGrp="1"/>
          </p:cNvSpPr>
          <p:nvPr/>
        </p:nvSpPr>
        <p:spPr>
          <a:xfrm>
            <a:off x="609600" y="2343150"/>
            <a:ext cx="10972800" cy="0"/>
          </a:xfrm>
          <a:prstGeom prst="line">
            <a:avLst/>
          </a:prstGeom>
          <a:noFill/>
          <a:ln w="9525">
            <a:solidFill>
              <a:srgbClr val="294157"/>
            </a:solidFill>
            <a:prstDash val="solid"/>
          </a:ln>
        </p:spPr>
      </p:sp>
      <p:sp>
        <p:nvSpPr>
          <p:cNvPr id="14" name="Rectangle 13">
            <a:extLst>
              <a:ext uri="{FF2B5EF4-FFF2-40B4-BE49-F238E27FC236}">
                <a16:creationId xmlns:a16="http://schemas.microsoft.com/office/drawing/2014/main" id="{D3C1A0B5-CEA7-4A77-B91A-3A1685733B23}"/>
              </a:ext>
            </a:extLst>
          </p:cNvPr>
          <p:cNvSpPr>
            <a:spLocks noGrp="1"/>
          </p:cNvSpPr>
          <p:nvPr/>
        </p:nvSpPr>
        <p:spPr>
          <a:xfrm>
            <a:off x="685800" y="2552700"/>
            <a:ext cx="2190750" cy="323850"/>
          </a:xfrm>
          <a:prstGeom prst="rect">
            <a:avLst/>
          </a:prstGeom>
          <a:noFill/>
          <a:ln w="0">
            <a:noFill/>
          </a:ln>
        </p:spPr>
        <p:txBody>
          <a:bodyPr wrap="square" lIns="0" tIns="0" rIns="0" bIns="0" anchor="ctr">
            <a:normAutofit/>
          </a:bodyPr>
          <a:lstStyle/>
          <a:p>
            <a:pPr algn="l">
              <a:lnSpc>
                <a:spcPct val="100000"/>
              </a:lnSpc>
              <a:buNone/>
              <a:defRPr sz="1575" b="1">
                <a:solidFill>
                  <a:srgbClr val="5B91FF"/>
                </a:solidFill>
                <a:latin typeface="Cascadia Mono"/>
                <a:ea typeface="Cascadia Mono"/>
                <a:cs typeface="Cascadia Mono"/>
              </a:defRPr>
            </a:pPr>
            <a:r>
              <a:rPr sz="1575" b="1">
                <a:solidFill>
                  <a:srgbClr val="5B91FF"/>
                </a:solidFill>
                <a:latin typeface="Cascadia Mono"/>
                <a:ea typeface="Cascadia Mono"/>
                <a:cs typeface="Cascadia Mono"/>
              </a:rPr>
              <a:t>Spark</a:t>
            </a:r>
          </a:p>
        </p:txBody>
      </p:sp>
      <p:sp>
        <p:nvSpPr>
          <p:cNvPr id="15" name="Rectangle 14">
            <a:extLst>
              <a:ext uri="{FF2B5EF4-FFF2-40B4-BE49-F238E27FC236}">
                <a16:creationId xmlns:a16="http://schemas.microsoft.com/office/drawing/2014/main" id="{C4100845-8DC2-48DF-BE94-1DB94D5E3405}"/>
              </a:ext>
            </a:extLst>
          </p:cNvPr>
          <p:cNvSpPr>
            <a:spLocks noGrp="1"/>
          </p:cNvSpPr>
          <p:nvPr/>
        </p:nvSpPr>
        <p:spPr>
          <a:xfrm>
            <a:off x="3143250" y="2476500"/>
            <a:ext cx="3714750" cy="476250"/>
          </a:xfrm>
          <a:prstGeom prst="rect">
            <a:avLst/>
          </a:prstGeom>
          <a:noFill/>
          <a:ln w="0">
            <a:noFill/>
          </a:ln>
        </p:spPr>
        <p:txBody>
          <a:bodyPr wrap="square" lIns="0" tIns="0" rIns="0" bIns="0" anchor="ctr">
            <a:normAutofit/>
          </a:bodyPr>
          <a:lstStyle/>
          <a:p>
            <a:pPr algn="r" rtl="1">
              <a:lnSpc>
                <a:spcPct val="100000"/>
              </a:lnSpc>
              <a:buNone/>
              <a:defRPr lang="he-IL" sz="1350" b="0">
                <a:solidFill>
                  <a:srgbClr val="F8FBFF"/>
                </a:solidFill>
                <a:latin typeface="Arial"/>
                <a:ea typeface="Arial"/>
                <a:cs typeface="Arial"/>
              </a:defRPr>
            </a:pPr>
            <a:r>
              <a:rPr lang="he-IL" sz="1350" b="0">
                <a:solidFill>
                  <a:srgbClr val="F8FBFF"/>
                </a:solidFill>
                <a:latin typeface="Arial"/>
                <a:ea typeface="Arial"/>
                <a:cs typeface="Arial"/>
              </a:rPr>
              <a:t>מנוע אחד לעיבוד רציף ולעבודות אצווה</a:t>
            </a:r>
          </a:p>
        </p:txBody>
      </p:sp>
      <p:sp>
        <p:nvSpPr>
          <p:cNvPr id="16" name="Rectangle 15">
            <a:extLst>
              <a:ext uri="{FF2B5EF4-FFF2-40B4-BE49-F238E27FC236}">
                <a16:creationId xmlns:a16="http://schemas.microsoft.com/office/drawing/2014/main" id="{686CDFCE-2AD8-4BAC-887A-24B85119459D}"/>
              </a:ext>
            </a:extLst>
          </p:cNvPr>
          <p:cNvSpPr>
            <a:spLocks noGrp="1"/>
          </p:cNvSpPr>
          <p:nvPr/>
        </p:nvSpPr>
        <p:spPr>
          <a:xfrm>
            <a:off x="7143750" y="2476500"/>
            <a:ext cx="4381500" cy="476250"/>
          </a:xfrm>
          <a:prstGeom prst="rect">
            <a:avLst/>
          </a:prstGeom>
          <a:noFill/>
          <a:ln w="0">
            <a:noFill/>
          </a:ln>
        </p:spPr>
        <p:txBody>
          <a:bodyPr wrap="square" lIns="0" tIns="0" rIns="0" bIns="0" anchor="ctr">
            <a:normAutofit/>
          </a:bodyPr>
          <a:lstStyle/>
          <a:p>
            <a:pPr algn="r" rtl="1">
              <a:lnSpc>
                <a:spcPct val="100000"/>
              </a:lnSpc>
              <a:buNone/>
              <a:defRPr lang="he-IL" sz="1275" b="0">
                <a:solidFill>
                  <a:srgbClr val="9AB1C5"/>
                </a:solidFill>
                <a:latin typeface="Arial"/>
                <a:ea typeface="Arial"/>
                <a:cs typeface="Arial"/>
              </a:defRPr>
            </a:pPr>
            <a:r>
              <a:rPr lang="he-IL" sz="1275" b="0">
                <a:solidFill>
                  <a:srgbClr val="9AB1C5"/>
                </a:solidFill>
                <a:latin typeface="Arial"/>
                <a:ea typeface="Arial"/>
                <a:cs typeface="Arial"/>
              </a:rPr>
              <a:t>אותו מנוע לשני מסלולים; לא שתי לוגיקות נפרדות</a:t>
            </a:r>
          </a:p>
        </p:txBody>
      </p:sp>
      <p:sp>
        <p:nvSpPr>
          <p:cNvPr id="17" name="Straight Connector 16">
            <a:extLst>
              <a:ext uri="{FF2B5EF4-FFF2-40B4-BE49-F238E27FC236}">
                <a16:creationId xmlns:a16="http://schemas.microsoft.com/office/drawing/2014/main" id="{77FE06C6-C4F4-4A66-AEDF-8640C2B19F09}"/>
              </a:ext>
            </a:extLst>
          </p:cNvPr>
          <p:cNvSpPr>
            <a:spLocks noGrp="1"/>
          </p:cNvSpPr>
          <p:nvPr/>
        </p:nvSpPr>
        <p:spPr>
          <a:xfrm>
            <a:off x="609600" y="3028950"/>
            <a:ext cx="10972800" cy="0"/>
          </a:xfrm>
          <a:prstGeom prst="line">
            <a:avLst/>
          </a:prstGeom>
          <a:noFill/>
          <a:ln w="9525">
            <a:solidFill>
              <a:srgbClr val="294157"/>
            </a:solidFill>
            <a:prstDash val="solid"/>
          </a:ln>
        </p:spPr>
      </p:sp>
      <p:sp>
        <p:nvSpPr>
          <p:cNvPr id="18" name="Rectangle 17">
            <a:extLst>
              <a:ext uri="{FF2B5EF4-FFF2-40B4-BE49-F238E27FC236}">
                <a16:creationId xmlns:a16="http://schemas.microsoft.com/office/drawing/2014/main" id="{9E0CEA4A-582F-4502-95B4-D0A34A7DC59F}"/>
              </a:ext>
            </a:extLst>
          </p:cNvPr>
          <p:cNvSpPr>
            <a:spLocks noGrp="1"/>
          </p:cNvSpPr>
          <p:nvPr/>
        </p:nvSpPr>
        <p:spPr>
          <a:xfrm>
            <a:off x="685800" y="3238500"/>
            <a:ext cx="2190750" cy="323850"/>
          </a:xfrm>
          <a:prstGeom prst="rect">
            <a:avLst/>
          </a:prstGeom>
          <a:noFill/>
          <a:ln w="0">
            <a:noFill/>
          </a:ln>
        </p:spPr>
        <p:txBody>
          <a:bodyPr wrap="square" lIns="0" tIns="0" rIns="0" bIns="0" anchor="ctr">
            <a:normAutofit/>
          </a:bodyPr>
          <a:lstStyle/>
          <a:p>
            <a:pPr algn="l">
              <a:lnSpc>
                <a:spcPct val="100000"/>
              </a:lnSpc>
              <a:buNone/>
              <a:defRPr sz="1575" b="1">
                <a:solidFill>
                  <a:srgbClr val="F4B94F"/>
                </a:solidFill>
                <a:latin typeface="Cascadia Mono"/>
                <a:ea typeface="Cascadia Mono"/>
                <a:cs typeface="Cascadia Mono"/>
              </a:defRPr>
            </a:pPr>
            <a:r>
              <a:rPr sz="1575" b="1">
                <a:solidFill>
                  <a:srgbClr val="F4B94F"/>
                </a:solidFill>
                <a:latin typeface="Cascadia Mono"/>
                <a:ea typeface="Cascadia Mono"/>
                <a:cs typeface="Cascadia Mono"/>
              </a:rPr>
              <a:t>Airflow</a:t>
            </a:r>
          </a:p>
        </p:txBody>
      </p:sp>
      <p:sp>
        <p:nvSpPr>
          <p:cNvPr id="19" name="Rectangle 18">
            <a:extLst>
              <a:ext uri="{FF2B5EF4-FFF2-40B4-BE49-F238E27FC236}">
                <a16:creationId xmlns:a16="http://schemas.microsoft.com/office/drawing/2014/main" id="{9D0BA45C-96D6-4B0A-804C-6F8B75973264}"/>
              </a:ext>
            </a:extLst>
          </p:cNvPr>
          <p:cNvSpPr>
            <a:spLocks noGrp="1"/>
          </p:cNvSpPr>
          <p:nvPr/>
        </p:nvSpPr>
        <p:spPr>
          <a:xfrm>
            <a:off x="3143250" y="3162300"/>
            <a:ext cx="3714750" cy="476250"/>
          </a:xfrm>
          <a:prstGeom prst="rect">
            <a:avLst/>
          </a:prstGeom>
          <a:noFill/>
          <a:ln w="0">
            <a:noFill/>
          </a:ln>
        </p:spPr>
        <p:txBody>
          <a:bodyPr wrap="square" lIns="0" tIns="0" rIns="0" bIns="0" anchor="ctr">
            <a:normAutofit/>
          </a:bodyPr>
          <a:lstStyle/>
          <a:p>
            <a:pPr algn="r" rtl="1">
              <a:lnSpc>
                <a:spcPct val="100000"/>
              </a:lnSpc>
              <a:buNone/>
              <a:defRPr lang="he-IL" sz="1350" b="0">
                <a:solidFill>
                  <a:srgbClr val="F8FBFF"/>
                </a:solidFill>
                <a:latin typeface="Arial"/>
                <a:ea typeface="Arial"/>
                <a:cs typeface="Arial"/>
              </a:defRPr>
            </a:pPr>
            <a:r>
              <a:rPr lang="he-IL" sz="1350" b="0">
                <a:solidFill>
                  <a:srgbClr val="F8FBFF"/>
                </a:solidFill>
                <a:latin typeface="Arial"/>
                <a:ea typeface="Arial"/>
                <a:cs typeface="Arial"/>
              </a:rPr>
              <a:t>תזמון ותלות בין עבודות שמסתיימות</a:t>
            </a:r>
          </a:p>
        </p:txBody>
      </p:sp>
      <p:sp>
        <p:nvSpPr>
          <p:cNvPr id="20" name="Rectangle 19">
            <a:extLst>
              <a:ext uri="{FF2B5EF4-FFF2-40B4-BE49-F238E27FC236}">
                <a16:creationId xmlns:a16="http://schemas.microsoft.com/office/drawing/2014/main" id="{1CAA4362-62EA-47B5-972E-5F4820520831}"/>
              </a:ext>
            </a:extLst>
          </p:cNvPr>
          <p:cNvSpPr>
            <a:spLocks noGrp="1"/>
          </p:cNvSpPr>
          <p:nvPr/>
        </p:nvSpPr>
        <p:spPr>
          <a:xfrm>
            <a:off x="7143750" y="3162300"/>
            <a:ext cx="4381500" cy="476250"/>
          </a:xfrm>
          <a:prstGeom prst="rect">
            <a:avLst/>
          </a:prstGeom>
          <a:noFill/>
          <a:ln w="0">
            <a:noFill/>
          </a:ln>
        </p:spPr>
        <p:txBody>
          <a:bodyPr wrap="square" lIns="0" tIns="0" rIns="0" bIns="0" anchor="ctr">
            <a:normAutofit/>
          </a:bodyPr>
          <a:lstStyle/>
          <a:p>
            <a:pPr algn="r" rtl="1">
              <a:lnSpc>
                <a:spcPct val="100000"/>
              </a:lnSpc>
              <a:buNone/>
              <a:defRPr lang="he-IL" sz="1275" b="0">
                <a:solidFill>
                  <a:srgbClr val="9AB1C5"/>
                </a:solidFill>
                <a:latin typeface="Arial"/>
                <a:ea typeface="Arial"/>
                <a:cs typeface="Arial"/>
              </a:defRPr>
            </a:pPr>
            <a:r>
              <a:rPr lang="he-IL" sz="1275" b="0">
                <a:solidFill>
                  <a:srgbClr val="9AB1C5"/>
                </a:solidFill>
                <a:latin typeface="Arial"/>
                <a:ea typeface="Arial"/>
                <a:cs typeface="Arial"/>
              </a:rPr>
              <a:t>סטטוס, לוגים וניסיון חוזר; לא תזמון ידני</a:t>
            </a:r>
          </a:p>
        </p:txBody>
      </p:sp>
      <p:sp>
        <p:nvSpPr>
          <p:cNvPr id="21" name="Straight Connector 20">
            <a:extLst>
              <a:ext uri="{FF2B5EF4-FFF2-40B4-BE49-F238E27FC236}">
                <a16:creationId xmlns:a16="http://schemas.microsoft.com/office/drawing/2014/main" id="{4A97391C-8D54-4D96-9E2E-9EB25B965998}"/>
              </a:ext>
            </a:extLst>
          </p:cNvPr>
          <p:cNvSpPr>
            <a:spLocks noGrp="1"/>
          </p:cNvSpPr>
          <p:nvPr/>
        </p:nvSpPr>
        <p:spPr>
          <a:xfrm>
            <a:off x="609600" y="3714750"/>
            <a:ext cx="10972800" cy="0"/>
          </a:xfrm>
          <a:prstGeom prst="line">
            <a:avLst/>
          </a:prstGeom>
          <a:noFill/>
          <a:ln w="9525">
            <a:solidFill>
              <a:srgbClr val="294157"/>
            </a:solidFill>
            <a:prstDash val="solid"/>
          </a:ln>
        </p:spPr>
      </p:sp>
      <p:sp>
        <p:nvSpPr>
          <p:cNvPr id="22" name="Rectangle 21">
            <a:extLst>
              <a:ext uri="{FF2B5EF4-FFF2-40B4-BE49-F238E27FC236}">
                <a16:creationId xmlns:a16="http://schemas.microsoft.com/office/drawing/2014/main" id="{496B88BA-DDEB-47E4-83B5-82F279062BF8}"/>
              </a:ext>
            </a:extLst>
          </p:cNvPr>
          <p:cNvSpPr>
            <a:spLocks noGrp="1"/>
          </p:cNvSpPr>
          <p:nvPr/>
        </p:nvSpPr>
        <p:spPr>
          <a:xfrm>
            <a:off x="685800" y="3924300"/>
            <a:ext cx="2190750" cy="323850"/>
          </a:xfrm>
          <a:prstGeom prst="rect">
            <a:avLst/>
          </a:prstGeom>
          <a:noFill/>
          <a:ln w="0">
            <a:noFill/>
          </a:ln>
        </p:spPr>
        <p:txBody>
          <a:bodyPr wrap="square" lIns="0" tIns="0" rIns="0" bIns="0" anchor="ctr">
            <a:normAutofit/>
          </a:bodyPr>
          <a:lstStyle/>
          <a:p>
            <a:pPr algn="l">
              <a:lnSpc>
                <a:spcPct val="100000"/>
              </a:lnSpc>
              <a:buNone/>
              <a:defRPr sz="1575" b="1">
                <a:solidFill>
                  <a:srgbClr val="35D4B5"/>
                </a:solidFill>
                <a:latin typeface="Cascadia Mono"/>
                <a:ea typeface="Cascadia Mono"/>
                <a:cs typeface="Cascadia Mono"/>
              </a:defRPr>
            </a:pPr>
            <a:r>
              <a:rPr sz="1575" b="1">
                <a:solidFill>
                  <a:srgbClr val="35D4B5"/>
                </a:solidFill>
                <a:latin typeface="Cascadia Mono"/>
                <a:ea typeface="Cascadia Mono"/>
                <a:cs typeface="Cascadia Mono"/>
              </a:rPr>
              <a:t>MinIO</a:t>
            </a:r>
          </a:p>
        </p:txBody>
      </p:sp>
      <p:sp>
        <p:nvSpPr>
          <p:cNvPr id="23" name="Rectangle 22">
            <a:extLst>
              <a:ext uri="{FF2B5EF4-FFF2-40B4-BE49-F238E27FC236}">
                <a16:creationId xmlns:a16="http://schemas.microsoft.com/office/drawing/2014/main" id="{A12F2F78-8634-44EA-8B03-B48BD251C7A9}"/>
              </a:ext>
            </a:extLst>
          </p:cNvPr>
          <p:cNvSpPr>
            <a:spLocks noGrp="1"/>
          </p:cNvSpPr>
          <p:nvPr/>
        </p:nvSpPr>
        <p:spPr>
          <a:xfrm>
            <a:off x="3143250" y="3848100"/>
            <a:ext cx="3714750" cy="476250"/>
          </a:xfrm>
          <a:prstGeom prst="rect">
            <a:avLst/>
          </a:prstGeom>
          <a:noFill/>
          <a:ln w="0">
            <a:noFill/>
          </a:ln>
        </p:spPr>
        <p:txBody>
          <a:bodyPr wrap="square" lIns="0" tIns="0" rIns="0" bIns="0" anchor="ctr">
            <a:normAutofit/>
          </a:bodyPr>
          <a:lstStyle/>
          <a:p>
            <a:pPr algn="r" rtl="1">
              <a:lnSpc>
                <a:spcPct val="100000"/>
              </a:lnSpc>
              <a:buNone/>
              <a:defRPr lang="he-IL" sz="1350" b="0">
                <a:solidFill>
                  <a:srgbClr val="F8FBFF"/>
                </a:solidFill>
                <a:latin typeface="Arial"/>
                <a:ea typeface="Arial"/>
                <a:cs typeface="Arial"/>
              </a:defRPr>
            </a:pPr>
            <a:r>
              <a:rPr lang="he-IL" sz="1350" b="0">
                <a:solidFill>
                  <a:srgbClr val="F8FBFF"/>
                </a:solidFill>
                <a:latin typeface="Arial"/>
                <a:ea typeface="Arial"/>
                <a:cs typeface="Arial"/>
              </a:rPr>
              <a:t>אחסון גולמי וקבצים אנליטיים</a:t>
            </a:r>
          </a:p>
        </p:txBody>
      </p:sp>
      <p:sp>
        <p:nvSpPr>
          <p:cNvPr id="24" name="Rectangle 23">
            <a:extLst>
              <a:ext uri="{FF2B5EF4-FFF2-40B4-BE49-F238E27FC236}">
                <a16:creationId xmlns:a16="http://schemas.microsoft.com/office/drawing/2014/main" id="{4003AEF4-1B68-498E-98E6-3EBB466E774F}"/>
              </a:ext>
            </a:extLst>
          </p:cNvPr>
          <p:cNvSpPr>
            <a:spLocks noGrp="1"/>
          </p:cNvSpPr>
          <p:nvPr/>
        </p:nvSpPr>
        <p:spPr>
          <a:xfrm>
            <a:off x="7143750" y="3848100"/>
            <a:ext cx="4381500" cy="476250"/>
          </a:xfrm>
          <a:prstGeom prst="rect">
            <a:avLst/>
          </a:prstGeom>
          <a:noFill/>
          <a:ln w="0">
            <a:noFill/>
          </a:ln>
        </p:spPr>
        <p:txBody>
          <a:bodyPr wrap="square" lIns="0" tIns="0" rIns="0" bIns="0" anchor="ctr">
            <a:normAutofit/>
          </a:bodyPr>
          <a:lstStyle/>
          <a:p>
            <a:pPr algn="r" rtl="1">
              <a:lnSpc>
                <a:spcPct val="100000"/>
              </a:lnSpc>
              <a:buNone/>
              <a:defRPr lang="he-IL" sz="1275" b="0">
                <a:solidFill>
                  <a:srgbClr val="9AB1C5"/>
                </a:solidFill>
                <a:latin typeface="Arial"/>
                <a:ea typeface="Arial"/>
                <a:cs typeface="Arial"/>
              </a:defRPr>
            </a:pPr>
            <a:r>
              <a:rPr lang="he-IL" sz="1275" b="0">
                <a:solidFill>
                  <a:srgbClr val="9AB1C5"/>
                </a:solidFill>
                <a:latin typeface="Arial"/>
                <a:ea typeface="Arial"/>
                <a:cs typeface="Arial"/>
              </a:rPr>
              <a:t>מותאם לקבצים ולארכיון; לא תיקייה מקומית או מסד הגשה</a:t>
            </a:r>
          </a:p>
        </p:txBody>
      </p:sp>
      <p:sp>
        <p:nvSpPr>
          <p:cNvPr id="25" name="Straight Connector 24">
            <a:extLst>
              <a:ext uri="{FF2B5EF4-FFF2-40B4-BE49-F238E27FC236}">
                <a16:creationId xmlns:a16="http://schemas.microsoft.com/office/drawing/2014/main" id="{8DA22A3C-A598-4053-A7CD-332C575CF37D}"/>
              </a:ext>
            </a:extLst>
          </p:cNvPr>
          <p:cNvSpPr>
            <a:spLocks noGrp="1"/>
          </p:cNvSpPr>
          <p:nvPr/>
        </p:nvSpPr>
        <p:spPr>
          <a:xfrm>
            <a:off x="609600" y="4400550"/>
            <a:ext cx="10972800" cy="0"/>
          </a:xfrm>
          <a:prstGeom prst="line">
            <a:avLst/>
          </a:prstGeom>
          <a:noFill/>
          <a:ln w="9525">
            <a:solidFill>
              <a:srgbClr val="294157"/>
            </a:solidFill>
            <a:prstDash val="solid"/>
          </a:ln>
        </p:spPr>
      </p:sp>
      <p:sp>
        <p:nvSpPr>
          <p:cNvPr id="26" name="Rectangle 25">
            <a:extLst>
              <a:ext uri="{FF2B5EF4-FFF2-40B4-BE49-F238E27FC236}">
                <a16:creationId xmlns:a16="http://schemas.microsoft.com/office/drawing/2014/main" id="{A6D54BD9-2F9C-454D-85BD-21D57C5AE0E4}"/>
              </a:ext>
            </a:extLst>
          </p:cNvPr>
          <p:cNvSpPr>
            <a:spLocks noGrp="1"/>
          </p:cNvSpPr>
          <p:nvPr/>
        </p:nvSpPr>
        <p:spPr>
          <a:xfrm>
            <a:off x="685800" y="4610100"/>
            <a:ext cx="2190750" cy="323850"/>
          </a:xfrm>
          <a:prstGeom prst="rect">
            <a:avLst/>
          </a:prstGeom>
          <a:noFill/>
          <a:ln w="0">
            <a:noFill/>
          </a:ln>
        </p:spPr>
        <p:txBody>
          <a:bodyPr wrap="square" lIns="0" tIns="0" rIns="0" bIns="0" anchor="ctr">
            <a:normAutofit/>
          </a:bodyPr>
          <a:lstStyle/>
          <a:p>
            <a:pPr algn="l">
              <a:lnSpc>
                <a:spcPct val="100000"/>
              </a:lnSpc>
              <a:buNone/>
              <a:defRPr sz="1575" b="1">
                <a:solidFill>
                  <a:srgbClr val="5B91FF"/>
                </a:solidFill>
                <a:latin typeface="Cascadia Mono"/>
                <a:ea typeface="Cascadia Mono"/>
                <a:cs typeface="Cascadia Mono"/>
              </a:defRPr>
            </a:pPr>
            <a:r>
              <a:rPr sz="1575" b="1">
                <a:solidFill>
                  <a:srgbClr val="5B91FF"/>
                </a:solidFill>
                <a:latin typeface="Cascadia Mono"/>
                <a:ea typeface="Cascadia Mono"/>
                <a:cs typeface="Cascadia Mono"/>
              </a:rPr>
              <a:t>MariaDB</a:t>
            </a:r>
          </a:p>
        </p:txBody>
      </p:sp>
      <p:sp>
        <p:nvSpPr>
          <p:cNvPr id="27" name="Rectangle 26">
            <a:extLst>
              <a:ext uri="{FF2B5EF4-FFF2-40B4-BE49-F238E27FC236}">
                <a16:creationId xmlns:a16="http://schemas.microsoft.com/office/drawing/2014/main" id="{6BC9CA48-2622-438E-8158-6B923D10D441}"/>
              </a:ext>
            </a:extLst>
          </p:cNvPr>
          <p:cNvSpPr>
            <a:spLocks noGrp="1"/>
          </p:cNvSpPr>
          <p:nvPr/>
        </p:nvSpPr>
        <p:spPr>
          <a:xfrm>
            <a:off x="3143250" y="4533900"/>
            <a:ext cx="3714750" cy="476250"/>
          </a:xfrm>
          <a:prstGeom prst="rect">
            <a:avLst/>
          </a:prstGeom>
          <a:noFill/>
          <a:ln w="0">
            <a:noFill/>
          </a:ln>
        </p:spPr>
        <p:txBody>
          <a:bodyPr wrap="square" lIns="0" tIns="0" rIns="0" bIns="0" anchor="ctr">
            <a:normAutofit/>
          </a:bodyPr>
          <a:lstStyle/>
          <a:p>
            <a:pPr algn="r" rtl="1">
              <a:lnSpc>
                <a:spcPct val="100000"/>
              </a:lnSpc>
              <a:buNone/>
              <a:defRPr lang="he-IL" sz="1350" b="0">
                <a:solidFill>
                  <a:srgbClr val="F8FBFF"/>
                </a:solidFill>
                <a:latin typeface="Arial"/>
                <a:ea typeface="Arial"/>
                <a:cs typeface="Arial"/>
              </a:defRPr>
            </a:pPr>
            <a:r>
              <a:rPr lang="he-IL" sz="1350" b="0">
                <a:solidFill>
                  <a:srgbClr val="F8FBFF"/>
                </a:solidFill>
                <a:latin typeface="Arial"/>
                <a:ea typeface="Arial"/>
                <a:cs typeface="Arial"/>
              </a:rPr>
              <a:t>שכבת נתונים מוכנה לאפליקציה</a:t>
            </a:r>
          </a:p>
        </p:txBody>
      </p:sp>
      <p:sp>
        <p:nvSpPr>
          <p:cNvPr id="28" name="Rectangle 27">
            <a:extLst>
              <a:ext uri="{FF2B5EF4-FFF2-40B4-BE49-F238E27FC236}">
                <a16:creationId xmlns:a16="http://schemas.microsoft.com/office/drawing/2014/main" id="{513DC519-E2F5-4CE0-9126-A313558A35A4}"/>
              </a:ext>
            </a:extLst>
          </p:cNvPr>
          <p:cNvSpPr>
            <a:spLocks noGrp="1"/>
          </p:cNvSpPr>
          <p:nvPr/>
        </p:nvSpPr>
        <p:spPr>
          <a:xfrm>
            <a:off x="7143750" y="4533900"/>
            <a:ext cx="4381500" cy="476250"/>
          </a:xfrm>
          <a:prstGeom prst="rect">
            <a:avLst/>
          </a:prstGeom>
          <a:noFill/>
          <a:ln w="0">
            <a:noFill/>
          </a:ln>
        </p:spPr>
        <p:txBody>
          <a:bodyPr wrap="square" lIns="0" tIns="0" rIns="0" bIns="0" anchor="ctr">
            <a:normAutofit/>
          </a:bodyPr>
          <a:lstStyle/>
          <a:p>
            <a:pPr algn="r" rtl="1">
              <a:lnSpc>
                <a:spcPct val="100000"/>
              </a:lnSpc>
              <a:buNone/>
              <a:defRPr lang="he-IL" sz="1275" b="0">
                <a:solidFill>
                  <a:srgbClr val="9AB1C5"/>
                </a:solidFill>
                <a:latin typeface="Arial"/>
                <a:ea typeface="Arial"/>
                <a:cs typeface="Arial"/>
              </a:defRPr>
            </a:pPr>
            <a:r>
              <a:rPr lang="he-IL" sz="1275" b="0">
                <a:solidFill>
                  <a:srgbClr val="9AB1C5"/>
                </a:solidFill>
                <a:latin typeface="Arial"/>
                <a:ea typeface="Arial"/>
                <a:cs typeface="Arial"/>
              </a:rPr>
              <a:t>שאילתות ואינדקסים מהירים; לא אחסון קבצים</a:t>
            </a:r>
          </a:p>
        </p:txBody>
      </p:sp>
      <p:sp>
        <p:nvSpPr>
          <p:cNvPr id="29" name="Straight Connector 28">
            <a:extLst>
              <a:ext uri="{FF2B5EF4-FFF2-40B4-BE49-F238E27FC236}">
                <a16:creationId xmlns:a16="http://schemas.microsoft.com/office/drawing/2014/main" id="{A730E0AF-251E-4E2A-B7B6-F8C5F2CECC06}"/>
              </a:ext>
            </a:extLst>
          </p:cNvPr>
          <p:cNvSpPr>
            <a:spLocks noGrp="1"/>
          </p:cNvSpPr>
          <p:nvPr/>
        </p:nvSpPr>
        <p:spPr>
          <a:xfrm>
            <a:off x="609600" y="5086350"/>
            <a:ext cx="10972800" cy="0"/>
          </a:xfrm>
          <a:prstGeom prst="line">
            <a:avLst/>
          </a:prstGeom>
          <a:noFill/>
          <a:ln w="9525">
            <a:solidFill>
              <a:srgbClr val="294157"/>
            </a:solidFill>
            <a:prstDash val="solid"/>
          </a:ln>
        </p:spPr>
      </p:sp>
      <p:sp>
        <p:nvSpPr>
          <p:cNvPr id="30" name="Rectangle 29">
            <a:extLst>
              <a:ext uri="{FF2B5EF4-FFF2-40B4-BE49-F238E27FC236}">
                <a16:creationId xmlns:a16="http://schemas.microsoft.com/office/drawing/2014/main" id="{297741D5-41C9-441D-BF2D-A3E128E81185}"/>
              </a:ext>
            </a:extLst>
          </p:cNvPr>
          <p:cNvSpPr>
            <a:spLocks noGrp="1"/>
          </p:cNvSpPr>
          <p:nvPr/>
        </p:nvSpPr>
        <p:spPr>
          <a:xfrm>
            <a:off x="685800" y="5295900"/>
            <a:ext cx="2190750" cy="323850"/>
          </a:xfrm>
          <a:prstGeom prst="rect">
            <a:avLst/>
          </a:prstGeom>
          <a:noFill/>
          <a:ln w="0">
            <a:noFill/>
          </a:ln>
        </p:spPr>
        <p:txBody>
          <a:bodyPr wrap="square" lIns="0" tIns="0" rIns="0" bIns="0" anchor="ctr">
            <a:normAutofit/>
          </a:bodyPr>
          <a:lstStyle/>
          <a:p>
            <a:pPr algn="l">
              <a:lnSpc>
                <a:spcPct val="100000"/>
              </a:lnSpc>
              <a:buNone/>
              <a:defRPr sz="1575" b="1">
                <a:solidFill>
                  <a:srgbClr val="F4B94F"/>
                </a:solidFill>
                <a:latin typeface="Cascadia Mono"/>
                <a:ea typeface="Cascadia Mono"/>
                <a:cs typeface="Cascadia Mono"/>
              </a:defRPr>
            </a:pPr>
            <a:r>
              <a:rPr sz="1575" b="1">
                <a:solidFill>
                  <a:srgbClr val="F4B94F"/>
                </a:solidFill>
                <a:latin typeface="Cascadia Mono"/>
                <a:ea typeface="Cascadia Mono"/>
                <a:cs typeface="Cascadia Mono"/>
              </a:rPr>
              <a:t>Docker Compose</a:t>
            </a:r>
          </a:p>
        </p:txBody>
      </p:sp>
      <p:sp>
        <p:nvSpPr>
          <p:cNvPr id="31" name="Rectangle 30">
            <a:extLst>
              <a:ext uri="{FF2B5EF4-FFF2-40B4-BE49-F238E27FC236}">
                <a16:creationId xmlns:a16="http://schemas.microsoft.com/office/drawing/2014/main" id="{5EF87B73-71F7-4395-9D10-034DCB235F10}"/>
              </a:ext>
            </a:extLst>
          </p:cNvPr>
          <p:cNvSpPr>
            <a:spLocks noGrp="1"/>
          </p:cNvSpPr>
          <p:nvPr/>
        </p:nvSpPr>
        <p:spPr>
          <a:xfrm>
            <a:off x="3143250" y="5219700"/>
            <a:ext cx="3714750" cy="476250"/>
          </a:xfrm>
          <a:prstGeom prst="rect">
            <a:avLst/>
          </a:prstGeom>
          <a:noFill/>
          <a:ln w="0">
            <a:noFill/>
          </a:ln>
        </p:spPr>
        <p:txBody>
          <a:bodyPr wrap="square" lIns="0" tIns="0" rIns="0" bIns="0" anchor="ctr">
            <a:normAutofit/>
          </a:bodyPr>
          <a:lstStyle/>
          <a:p>
            <a:pPr algn="r" rtl="1">
              <a:lnSpc>
                <a:spcPct val="100000"/>
              </a:lnSpc>
              <a:buNone/>
              <a:defRPr lang="he-IL" sz="1350" b="0">
                <a:solidFill>
                  <a:srgbClr val="F8FBFF"/>
                </a:solidFill>
                <a:latin typeface="Arial"/>
                <a:ea typeface="Arial"/>
                <a:cs typeface="Arial"/>
              </a:defRPr>
            </a:pPr>
            <a:r>
              <a:rPr lang="he-IL" sz="1350" b="0">
                <a:solidFill>
                  <a:srgbClr val="F8FBFF"/>
                </a:solidFill>
                <a:latin typeface="Arial"/>
                <a:ea typeface="Arial"/>
                <a:cs typeface="Arial"/>
              </a:rPr>
              <a:t>מחזור החיים של השירותים המקומיים</a:t>
            </a:r>
          </a:p>
        </p:txBody>
      </p:sp>
      <p:sp>
        <p:nvSpPr>
          <p:cNvPr id="32" name="Rectangle 31">
            <a:extLst>
              <a:ext uri="{FF2B5EF4-FFF2-40B4-BE49-F238E27FC236}">
                <a16:creationId xmlns:a16="http://schemas.microsoft.com/office/drawing/2014/main" id="{3F3AEADD-EBCA-4836-A23C-4C9C04754FA8}"/>
              </a:ext>
            </a:extLst>
          </p:cNvPr>
          <p:cNvSpPr>
            <a:spLocks noGrp="1"/>
          </p:cNvSpPr>
          <p:nvPr/>
        </p:nvSpPr>
        <p:spPr>
          <a:xfrm>
            <a:off x="7143750" y="5219700"/>
            <a:ext cx="4381500" cy="476250"/>
          </a:xfrm>
          <a:prstGeom prst="rect">
            <a:avLst/>
          </a:prstGeom>
          <a:noFill/>
          <a:ln w="0">
            <a:noFill/>
          </a:ln>
        </p:spPr>
        <p:txBody>
          <a:bodyPr wrap="square" lIns="0" tIns="0" rIns="0" bIns="0" anchor="ctr">
            <a:normAutofit/>
          </a:bodyPr>
          <a:lstStyle/>
          <a:p>
            <a:pPr algn="r" rtl="1">
              <a:lnSpc>
                <a:spcPct val="100000"/>
              </a:lnSpc>
              <a:buNone/>
              <a:defRPr lang="he-IL" sz="1275" b="0">
                <a:solidFill>
                  <a:srgbClr val="9AB1C5"/>
                </a:solidFill>
                <a:latin typeface="Arial"/>
                <a:ea typeface="Arial"/>
                <a:cs typeface="Arial"/>
              </a:defRPr>
            </a:pPr>
            <a:r>
              <a:rPr lang="he-IL" sz="1275" b="0">
                <a:solidFill>
                  <a:srgbClr val="9AB1C5"/>
                </a:solidFill>
                <a:latin typeface="Arial"/>
                <a:ea typeface="Arial"/>
                <a:cs typeface="Arial"/>
              </a:rPr>
              <a:t>פשוט לשחזור מקומי; לא הפעלה ידנית או תשתית כבדה</a:t>
            </a:r>
          </a:p>
        </p:txBody>
      </p:sp>
      <p:sp>
        <p:nvSpPr>
          <p:cNvPr id="33" name="Rectangle 32">
            <a:extLst>
              <a:ext uri="{FF2B5EF4-FFF2-40B4-BE49-F238E27FC236}">
                <a16:creationId xmlns:a16="http://schemas.microsoft.com/office/drawing/2014/main" id="{F14244F6-15AA-4A2C-A45A-8762756D3C42}"/>
              </a:ext>
            </a:extLst>
          </p:cNvPr>
          <p:cNvSpPr>
            <a:spLocks noGrp="1"/>
          </p:cNvSpPr>
          <p:nvPr/>
        </p:nvSpPr>
        <p:spPr>
          <a:xfrm>
            <a:off x="2857500" y="6000750"/>
            <a:ext cx="8667750" cy="323850"/>
          </a:xfrm>
          <a:prstGeom prst="rect">
            <a:avLst/>
          </a:prstGeom>
          <a:noFill/>
          <a:ln w="0">
            <a:noFill/>
          </a:ln>
        </p:spPr>
        <p:txBody>
          <a:bodyPr wrap="square" lIns="0" tIns="0" rIns="0" bIns="0" anchor="t">
            <a:normAutofit/>
          </a:bodyPr>
          <a:lstStyle/>
          <a:p>
            <a:pPr algn="r" rtl="1">
              <a:lnSpc>
                <a:spcPct val="100000"/>
              </a:lnSpc>
              <a:buNone/>
              <a:defRPr lang="he-IL" sz="1275" b="0">
                <a:solidFill>
                  <a:srgbClr val="35D4B5"/>
                </a:solidFill>
                <a:latin typeface="Arial"/>
                <a:ea typeface="Arial"/>
                <a:cs typeface="Arial"/>
              </a:defRPr>
            </a:pPr>
            <a:r>
              <a:rPr lang="he-IL" sz="1275" b="0">
                <a:solidFill>
                  <a:srgbClr val="35D4B5"/>
                </a:solidFill>
                <a:latin typeface="Arial"/>
                <a:ea typeface="Arial"/>
                <a:cs typeface="Arial"/>
              </a:rPr>
              <a:t>בחרתי בכוונה בכלים שלמדנו ונחשפנו אליהם בקורס, ואז חיברתי ביניהם לפי גבולות אחריות ברורים.</a:t>
            </a:r>
          </a:p>
        </p:txBody>
      </p:sp>
    </p:spTree>
    <p:extLst>
      <p:ext uri="{BB962C8B-B14F-4D97-AF65-F5344CB8AC3E}">
        <p14:creationId xmlns:p14="http://schemas.microsoft.com/office/powerpoint/2010/main" val="6912605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91827"/>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8036BFF0-CBDC-4DD3-A6BB-2422A637FBB8}"/>
              </a:ext>
            </a:extLst>
          </p:cNvPr>
          <p:cNvSpPr>
            <a:spLocks noGrp="1"/>
          </p:cNvSpPr>
          <p:nvPr/>
        </p:nvSpPr>
        <p:spPr>
          <a:xfrm>
            <a:off x="0" y="0"/>
            <a:ext cx="171450" cy="6858000"/>
          </a:xfrm>
          <a:prstGeom prst="rect">
            <a:avLst/>
          </a:prstGeom>
          <a:solidFill>
            <a:srgbClr val="35D4B5"/>
          </a:solidFill>
          <a:ln w="0">
            <a:noFill/>
          </a:ln>
        </p:spPr>
      </p:sp>
      <p:sp>
        <p:nvSpPr>
          <p:cNvPr id="2" name="Rectangle 1">
            <a:extLst>
              <a:ext uri="{FF2B5EF4-FFF2-40B4-BE49-F238E27FC236}">
                <a16:creationId xmlns:a16="http://schemas.microsoft.com/office/drawing/2014/main" id="{8CB46549-98A3-4184-BEE9-A66A18E864D0}"/>
              </a:ext>
            </a:extLst>
          </p:cNvPr>
          <p:cNvSpPr>
            <a:spLocks noGrp="1"/>
          </p:cNvSpPr>
          <p:nvPr/>
        </p:nvSpPr>
        <p:spPr>
          <a:xfrm>
            <a:off x="609600" y="361950"/>
            <a:ext cx="4000500" cy="209550"/>
          </a:xfrm>
          <a:prstGeom prst="rect">
            <a:avLst/>
          </a:prstGeom>
          <a:noFill/>
          <a:ln w="0">
            <a:noFill/>
          </a:ln>
        </p:spPr>
        <p:txBody>
          <a:bodyPr wrap="square" lIns="0" tIns="0" rIns="0" bIns="0" anchor="ctr">
            <a:normAutofit/>
          </a:bodyPr>
          <a:lstStyle/>
          <a:p>
            <a:pPr algn="l">
              <a:lnSpc>
                <a:spcPct val="100000"/>
              </a:lnSpc>
              <a:buNone/>
              <a:defRPr sz="975" b="1">
                <a:solidFill>
                  <a:srgbClr val="35D4B5"/>
                </a:solidFill>
                <a:latin typeface="Cascadia Mono"/>
                <a:ea typeface="Cascadia Mono"/>
                <a:cs typeface="Cascadia Mono"/>
              </a:defRPr>
            </a:pPr>
            <a:r>
              <a:rPr sz="975" b="1">
                <a:solidFill>
                  <a:srgbClr val="35D4B5"/>
                </a:solidFill>
                <a:latin typeface="Cascadia Mono"/>
                <a:ea typeface="Cascadia Mono"/>
                <a:cs typeface="Cascadia Mono"/>
              </a:rPr>
              <a:t>PRODUCT EVIDENCE</a:t>
            </a:r>
          </a:p>
        </p:txBody>
      </p:sp>
      <p:sp>
        <p:nvSpPr>
          <p:cNvPr id="3" name="Rectangle 2">
            <a:extLst>
              <a:ext uri="{FF2B5EF4-FFF2-40B4-BE49-F238E27FC236}">
                <a16:creationId xmlns:a16="http://schemas.microsoft.com/office/drawing/2014/main" id="{B0E08833-5718-4376-8934-14D6D71247AF}"/>
              </a:ext>
            </a:extLst>
          </p:cNvPr>
          <p:cNvSpPr>
            <a:spLocks noGrp="1"/>
          </p:cNvSpPr>
          <p:nvPr/>
        </p:nvSpPr>
        <p:spPr>
          <a:xfrm>
            <a:off x="4191000" y="533400"/>
            <a:ext cx="7391400" cy="552450"/>
          </a:xfrm>
          <a:prstGeom prst="rect">
            <a:avLst/>
          </a:prstGeom>
          <a:noFill/>
          <a:ln w="0">
            <a:noFill/>
          </a:ln>
        </p:spPr>
        <p:txBody>
          <a:bodyPr wrap="square" lIns="0" tIns="0" rIns="0" bIns="0" anchor="t">
            <a:normAutofit/>
          </a:bodyPr>
          <a:lstStyle/>
          <a:p>
            <a:pPr algn="r" rtl="1">
              <a:lnSpc>
                <a:spcPct val="100000"/>
              </a:lnSpc>
              <a:buNone/>
              <a:defRPr lang="he-IL" sz="2400" b="1">
                <a:solidFill>
                  <a:srgbClr val="F8FBFF"/>
                </a:solidFill>
                <a:latin typeface="Arial"/>
                <a:ea typeface="Arial"/>
                <a:cs typeface="Arial"/>
              </a:defRPr>
            </a:pPr>
            <a:r>
              <a:rPr lang="he-IL" sz="2400" b="1">
                <a:solidFill>
                  <a:srgbClr val="F8FBFF"/>
                </a:solidFill>
                <a:latin typeface="Arial"/>
                <a:ea typeface="Arial"/>
                <a:cs typeface="Arial"/>
              </a:rPr>
              <a:t>מסך אחד, עם יכולת לרדת עד המקור</a:t>
            </a:r>
          </a:p>
        </p:txBody>
      </p:sp>
      <p:sp>
        <p:nvSpPr>
          <p:cNvPr id="4" name="Rectangle 3">
            <a:extLst>
              <a:ext uri="{FF2B5EF4-FFF2-40B4-BE49-F238E27FC236}">
                <a16:creationId xmlns:a16="http://schemas.microsoft.com/office/drawing/2014/main" id="{87B58F21-3D0D-4DFA-A3B0-DB5227FE51F4}"/>
              </a:ext>
            </a:extLst>
          </p:cNvPr>
          <p:cNvSpPr>
            <a:spLocks noGrp="1"/>
          </p:cNvSpPr>
          <p:nvPr/>
        </p:nvSpPr>
        <p:spPr>
          <a:xfrm>
            <a:off x="495300" y="6438900"/>
            <a:ext cx="342900" cy="171450"/>
          </a:xfrm>
          <a:prstGeom prst="rect">
            <a:avLst/>
          </a:prstGeom>
          <a:noFill/>
          <a:ln w="0">
            <a:noFill/>
          </a:ln>
        </p:spPr>
        <p:txBody>
          <a:bodyPr wrap="square" lIns="0" tIns="0" rIns="0" bIns="0" anchor="t">
            <a:normAutofit/>
          </a:bodyPr>
          <a:lstStyle/>
          <a:p>
            <a:pPr algn="l">
              <a:lnSpc>
                <a:spcPct val="100000"/>
              </a:lnSpc>
              <a:buNone/>
              <a:defRPr sz="825" b="1">
                <a:solidFill>
                  <a:srgbClr val="9AB1C5"/>
                </a:solidFill>
                <a:latin typeface="Cascadia Mono"/>
                <a:ea typeface="Cascadia Mono"/>
                <a:cs typeface="Cascadia Mono"/>
              </a:defRPr>
            </a:pPr>
            <a:r>
              <a:rPr sz="825" b="1">
                <a:solidFill>
                  <a:srgbClr val="9AB1C5"/>
                </a:solidFill>
                <a:latin typeface="Cascadia Mono"/>
                <a:ea typeface="Cascadia Mono"/>
                <a:cs typeface="Cascadia Mono"/>
              </a:rPr>
              <a:t>07</a:t>
            </a:r>
          </a:p>
        </p:txBody>
      </p:sp>
      <p:sp>
        <p:nvSpPr>
          <p:cNvPr id="5" name="Straight Connector 4">
            <a:extLst>
              <a:ext uri="{FF2B5EF4-FFF2-40B4-BE49-F238E27FC236}">
                <a16:creationId xmlns:a16="http://schemas.microsoft.com/office/drawing/2014/main" id="{FCE554A5-D350-4DB0-9024-AD5ECC2DD8A3}"/>
              </a:ext>
            </a:extLst>
          </p:cNvPr>
          <p:cNvSpPr>
            <a:spLocks noGrp="1"/>
          </p:cNvSpPr>
          <p:nvPr/>
        </p:nvSpPr>
        <p:spPr>
          <a:xfrm>
            <a:off x="914400" y="6534150"/>
            <a:ext cx="10744200" cy="0"/>
          </a:xfrm>
          <a:prstGeom prst="line">
            <a:avLst/>
          </a:prstGeom>
          <a:noFill/>
          <a:ln w="9525">
            <a:solidFill>
              <a:srgbClr val="294157"/>
            </a:solidFill>
            <a:prstDash val="solid"/>
          </a:ln>
        </p:spPr>
      </p:sp>
      <p:pic>
        <p:nvPicPr>
          <p:cNvPr id="23" name="Picture 22"/>
          <p:cNvPicPr>
            <a:picLocks noChangeAspect="1"/>
          </p:cNvPicPr>
          <p:nvPr/>
        </p:nvPicPr>
        <p:blipFill>
          <a:blip r:embed="rId3"/>
          <a:srcRect t="4036" b="4036"/>
          <a:stretch>
            <a:fillRect/>
          </a:stretch>
        </p:blipFill>
        <p:spPr>
          <a:xfrm>
            <a:off x="552450" y="1428750"/>
            <a:ext cx="7858125" cy="4514850"/>
          </a:xfrm>
          <a:prstGeom prst="roundRect">
            <a:avLst>
              <a:gd name="adj" fmla="val 2954"/>
            </a:avLst>
          </a:prstGeom>
        </p:spPr>
      </p:pic>
      <p:sp>
        <p:nvSpPr>
          <p:cNvPr id="7" name="Rectangle 6">
            <a:extLst>
              <a:ext uri="{FF2B5EF4-FFF2-40B4-BE49-F238E27FC236}">
                <a16:creationId xmlns:a16="http://schemas.microsoft.com/office/drawing/2014/main" id="{4BA9AFBF-7793-41E6-A29C-65CB8F6331F0}"/>
              </a:ext>
            </a:extLst>
          </p:cNvPr>
          <p:cNvSpPr>
            <a:spLocks noGrp="1"/>
          </p:cNvSpPr>
          <p:nvPr/>
        </p:nvSpPr>
        <p:spPr>
          <a:xfrm>
            <a:off x="8743950" y="1524000"/>
            <a:ext cx="2838450" cy="457200"/>
          </a:xfrm>
          <a:prstGeom prst="rect">
            <a:avLst/>
          </a:prstGeom>
          <a:noFill/>
          <a:ln w="0">
            <a:noFill/>
          </a:ln>
        </p:spPr>
        <p:txBody>
          <a:bodyPr wrap="square" lIns="0" tIns="0" rIns="0" bIns="0" anchor="t">
            <a:normAutofit/>
          </a:bodyPr>
          <a:lstStyle/>
          <a:p>
            <a:pPr algn="r" rtl="1">
              <a:lnSpc>
                <a:spcPct val="100000"/>
              </a:lnSpc>
              <a:buNone/>
              <a:defRPr lang="he-IL" sz="2250" b="1">
                <a:solidFill>
                  <a:srgbClr val="F8FBFF"/>
                </a:solidFill>
                <a:latin typeface="Arial"/>
                <a:ea typeface="Arial"/>
                <a:cs typeface="Arial"/>
              </a:defRPr>
            </a:pPr>
            <a:r>
              <a:rPr lang="he-IL" sz="2250" b="1">
                <a:solidFill>
                  <a:srgbClr val="F8FBFF"/>
                </a:solidFill>
                <a:latin typeface="Arial"/>
                <a:ea typeface="Arial"/>
                <a:cs typeface="Arial"/>
              </a:rPr>
              <a:t>מסך המחקר הראשי</a:t>
            </a:r>
          </a:p>
        </p:txBody>
      </p:sp>
      <p:sp>
        <p:nvSpPr>
          <p:cNvPr id="8" name="Rectangle 7">
            <a:extLst>
              <a:ext uri="{FF2B5EF4-FFF2-40B4-BE49-F238E27FC236}">
                <a16:creationId xmlns:a16="http://schemas.microsoft.com/office/drawing/2014/main" id="{53D0F816-7EAB-44FE-8FFB-153DF104263A}"/>
              </a:ext>
            </a:extLst>
          </p:cNvPr>
          <p:cNvSpPr>
            <a:spLocks noGrp="1"/>
          </p:cNvSpPr>
          <p:nvPr/>
        </p:nvSpPr>
        <p:spPr>
          <a:xfrm>
            <a:off x="8743950" y="2114550"/>
            <a:ext cx="2838450" cy="819150"/>
          </a:xfrm>
          <a:prstGeom prst="rect">
            <a:avLst/>
          </a:prstGeom>
          <a:noFill/>
          <a:ln w="0">
            <a:noFill/>
          </a:ln>
        </p:spPr>
        <p:txBody>
          <a:bodyPr wrap="square" lIns="0" tIns="0" rIns="0" bIns="0" anchor="t">
            <a:normAutofit/>
          </a:bodyPr>
          <a:lstStyle/>
          <a:p>
            <a:pPr algn="r" rtl="1">
              <a:lnSpc>
                <a:spcPct val="100000"/>
              </a:lnSpc>
              <a:buNone/>
              <a:defRPr lang="he-IL" sz="1650" b="0">
                <a:solidFill>
                  <a:srgbClr val="9AB1C5"/>
                </a:solidFill>
                <a:latin typeface="Arial"/>
                <a:ea typeface="Arial"/>
                <a:cs typeface="Arial"/>
              </a:defRPr>
            </a:pPr>
            <a:r>
              <a:rPr lang="he-IL" sz="1650" b="0">
                <a:solidFill>
                  <a:srgbClr val="9AB1C5"/>
                </a:solidFill>
                <a:latin typeface="Arial"/>
                <a:ea typeface="Arial"/>
                <a:cs typeface="Arial"/>
              </a:rPr>
              <a:t>מחיר, נפח, Indicators, דיווחי חברה וטריות נתונים במקום אחד.</a:t>
            </a:r>
          </a:p>
        </p:txBody>
      </p:sp>
      <p:sp>
        <p:nvSpPr>
          <p:cNvPr id="9" name="Straight Connector 8">
            <a:extLst>
              <a:ext uri="{FF2B5EF4-FFF2-40B4-BE49-F238E27FC236}">
                <a16:creationId xmlns:a16="http://schemas.microsoft.com/office/drawing/2014/main" id="{E02B0106-C9C1-4617-B1AD-CDD9599B83DE}"/>
              </a:ext>
            </a:extLst>
          </p:cNvPr>
          <p:cNvSpPr>
            <a:spLocks noGrp="1"/>
          </p:cNvSpPr>
          <p:nvPr/>
        </p:nvSpPr>
        <p:spPr>
          <a:xfrm>
            <a:off x="8743950" y="3143250"/>
            <a:ext cx="2838450" cy="0"/>
          </a:xfrm>
          <a:prstGeom prst="line">
            <a:avLst/>
          </a:prstGeom>
          <a:noFill/>
          <a:ln w="9525">
            <a:solidFill>
              <a:srgbClr val="294157"/>
            </a:solidFill>
            <a:prstDash val="solid"/>
          </a:ln>
        </p:spPr>
      </p:sp>
      <p:sp>
        <p:nvSpPr>
          <p:cNvPr id="10" name="Rectangle 9">
            <a:extLst>
              <a:ext uri="{FF2B5EF4-FFF2-40B4-BE49-F238E27FC236}">
                <a16:creationId xmlns:a16="http://schemas.microsoft.com/office/drawing/2014/main" id="{89FF6839-AB57-4EA0-801B-F0B555EFB531}"/>
              </a:ext>
            </a:extLst>
          </p:cNvPr>
          <p:cNvSpPr>
            <a:spLocks noGrp="1"/>
          </p:cNvSpPr>
          <p:nvPr/>
        </p:nvSpPr>
        <p:spPr>
          <a:xfrm>
            <a:off x="8743950" y="3314700"/>
            <a:ext cx="1428750" cy="333375"/>
          </a:xfrm>
          <a:prstGeom prst="rect">
            <a:avLst/>
          </a:prstGeom>
          <a:noFill/>
          <a:ln w="0">
            <a:noFill/>
          </a:ln>
        </p:spPr>
        <p:txBody>
          <a:bodyPr wrap="square" lIns="0" tIns="0" rIns="0" bIns="0" anchor="t">
            <a:normAutofit/>
          </a:bodyPr>
          <a:lstStyle/>
          <a:p>
            <a:pPr algn="l">
              <a:lnSpc>
                <a:spcPct val="100000"/>
              </a:lnSpc>
              <a:buNone/>
              <a:defRPr sz="1800" b="1">
                <a:solidFill>
                  <a:srgbClr val="35D4B5"/>
                </a:solidFill>
                <a:latin typeface="Cascadia Mono"/>
                <a:ea typeface="Cascadia Mono"/>
                <a:cs typeface="Cascadia Mono"/>
              </a:defRPr>
            </a:pPr>
            <a:r>
              <a:rPr sz="1800" b="1">
                <a:solidFill>
                  <a:srgbClr val="35D4B5"/>
                </a:solidFill>
                <a:latin typeface="Cascadia Mono"/>
                <a:ea typeface="Cascadia Mono"/>
                <a:cs typeface="Cascadia Mono"/>
              </a:rPr>
              <a:t>11</a:t>
            </a:r>
          </a:p>
        </p:txBody>
      </p:sp>
      <p:sp>
        <p:nvSpPr>
          <p:cNvPr id="11" name="Rectangle 10">
            <a:extLst>
              <a:ext uri="{FF2B5EF4-FFF2-40B4-BE49-F238E27FC236}">
                <a16:creationId xmlns:a16="http://schemas.microsoft.com/office/drawing/2014/main" id="{06F64E7C-5252-4D7F-9059-B1AC4FE1F0DA}"/>
              </a:ext>
            </a:extLst>
          </p:cNvPr>
          <p:cNvSpPr>
            <a:spLocks noGrp="1"/>
          </p:cNvSpPr>
          <p:nvPr/>
        </p:nvSpPr>
        <p:spPr>
          <a:xfrm>
            <a:off x="10001250" y="3352800"/>
            <a:ext cx="1581150" cy="285750"/>
          </a:xfrm>
          <a:prstGeom prst="rect">
            <a:avLst/>
          </a:prstGeom>
          <a:noFill/>
          <a:ln w="0">
            <a:noFill/>
          </a:ln>
        </p:spPr>
        <p:txBody>
          <a:bodyPr wrap="square" lIns="0" tIns="0" rIns="0" bIns="0" anchor="t">
            <a:normAutofit/>
          </a:bodyPr>
          <a:lstStyle/>
          <a:p>
            <a:pPr algn="r" rtl="1">
              <a:lnSpc>
                <a:spcPct val="100000"/>
              </a:lnSpc>
              <a:buNone/>
              <a:defRPr lang="he-IL" sz="1425" b="0">
                <a:solidFill>
                  <a:srgbClr val="9AB1C5"/>
                </a:solidFill>
                <a:latin typeface="Arial"/>
                <a:ea typeface="Arial"/>
                <a:cs typeface="Arial"/>
              </a:defRPr>
            </a:pPr>
            <a:r>
              <a:rPr lang="he-IL" sz="1425" b="0">
                <a:solidFill>
                  <a:srgbClr val="9AB1C5"/>
                </a:solidFill>
                <a:latin typeface="Arial"/>
                <a:ea typeface="Arial"/>
                <a:cs typeface="Arial"/>
              </a:rPr>
              <a:t>נכסים במעקב</a:t>
            </a:r>
          </a:p>
        </p:txBody>
      </p:sp>
      <p:sp>
        <p:nvSpPr>
          <p:cNvPr id="12" name="Rectangle 11">
            <a:extLst>
              <a:ext uri="{FF2B5EF4-FFF2-40B4-BE49-F238E27FC236}">
                <a16:creationId xmlns:a16="http://schemas.microsoft.com/office/drawing/2014/main" id="{C78F558F-AC1A-455E-ADAE-449B37E466EA}"/>
              </a:ext>
            </a:extLst>
          </p:cNvPr>
          <p:cNvSpPr>
            <a:spLocks noGrp="1"/>
          </p:cNvSpPr>
          <p:nvPr/>
        </p:nvSpPr>
        <p:spPr>
          <a:xfrm>
            <a:off x="8743950" y="3924300"/>
            <a:ext cx="1428750" cy="333375"/>
          </a:xfrm>
          <a:prstGeom prst="rect">
            <a:avLst/>
          </a:prstGeom>
          <a:noFill/>
          <a:ln w="0">
            <a:noFill/>
          </a:ln>
        </p:spPr>
        <p:txBody>
          <a:bodyPr wrap="square" lIns="0" tIns="0" rIns="0" bIns="0" anchor="t">
            <a:normAutofit/>
          </a:bodyPr>
          <a:lstStyle/>
          <a:p>
            <a:pPr algn="l">
              <a:lnSpc>
                <a:spcPct val="100000"/>
              </a:lnSpc>
              <a:buNone/>
              <a:defRPr sz="1800" b="1">
                <a:solidFill>
                  <a:srgbClr val="5B91FF"/>
                </a:solidFill>
                <a:latin typeface="Cascadia Mono"/>
                <a:ea typeface="Cascadia Mono"/>
                <a:cs typeface="Cascadia Mono"/>
              </a:defRPr>
            </a:pPr>
            <a:r>
              <a:rPr sz="1800" b="1">
                <a:solidFill>
                  <a:srgbClr val="5B91FF"/>
                </a:solidFill>
                <a:latin typeface="Cascadia Mono"/>
                <a:ea typeface="Cascadia Mono"/>
                <a:cs typeface="Cascadia Mono"/>
              </a:rPr>
              <a:t>72,850</a:t>
            </a:r>
          </a:p>
        </p:txBody>
      </p:sp>
      <p:sp>
        <p:nvSpPr>
          <p:cNvPr id="13" name="Rectangle 12">
            <a:extLst>
              <a:ext uri="{FF2B5EF4-FFF2-40B4-BE49-F238E27FC236}">
                <a16:creationId xmlns:a16="http://schemas.microsoft.com/office/drawing/2014/main" id="{4325FBFA-8781-48F5-8887-7689B55C849D}"/>
              </a:ext>
            </a:extLst>
          </p:cNvPr>
          <p:cNvSpPr>
            <a:spLocks noGrp="1"/>
          </p:cNvSpPr>
          <p:nvPr/>
        </p:nvSpPr>
        <p:spPr>
          <a:xfrm>
            <a:off x="10001250" y="3962400"/>
            <a:ext cx="1581150" cy="285750"/>
          </a:xfrm>
          <a:prstGeom prst="rect">
            <a:avLst/>
          </a:prstGeom>
          <a:noFill/>
          <a:ln w="0">
            <a:noFill/>
          </a:ln>
        </p:spPr>
        <p:txBody>
          <a:bodyPr wrap="square" lIns="0" tIns="0" rIns="0" bIns="0" anchor="t">
            <a:normAutofit/>
          </a:bodyPr>
          <a:lstStyle/>
          <a:p>
            <a:pPr algn="r" rtl="1">
              <a:lnSpc>
                <a:spcPct val="100000"/>
              </a:lnSpc>
              <a:buNone/>
              <a:defRPr lang="he-IL" sz="1425" b="0">
                <a:solidFill>
                  <a:srgbClr val="9AB1C5"/>
                </a:solidFill>
                <a:latin typeface="Arial"/>
                <a:ea typeface="Arial"/>
                <a:cs typeface="Arial"/>
              </a:defRPr>
            </a:pPr>
            <a:r>
              <a:rPr lang="he-IL" sz="1425" b="0">
                <a:solidFill>
                  <a:srgbClr val="9AB1C5"/>
                </a:solidFill>
                <a:latin typeface="Arial"/>
                <a:ea typeface="Arial"/>
                <a:cs typeface="Arial"/>
              </a:rPr>
              <a:t>נרות Gold</a:t>
            </a:r>
          </a:p>
        </p:txBody>
      </p:sp>
      <p:sp>
        <p:nvSpPr>
          <p:cNvPr id="14" name="Rectangle 13">
            <a:extLst>
              <a:ext uri="{FF2B5EF4-FFF2-40B4-BE49-F238E27FC236}">
                <a16:creationId xmlns:a16="http://schemas.microsoft.com/office/drawing/2014/main" id="{F26D2D24-B63A-407F-9E65-B70BCE92C8A4}"/>
              </a:ext>
            </a:extLst>
          </p:cNvPr>
          <p:cNvSpPr>
            <a:spLocks noGrp="1"/>
          </p:cNvSpPr>
          <p:nvPr/>
        </p:nvSpPr>
        <p:spPr>
          <a:xfrm>
            <a:off x="8743950" y="4533900"/>
            <a:ext cx="1428750" cy="333375"/>
          </a:xfrm>
          <a:prstGeom prst="rect">
            <a:avLst/>
          </a:prstGeom>
          <a:noFill/>
          <a:ln w="0">
            <a:noFill/>
          </a:ln>
        </p:spPr>
        <p:txBody>
          <a:bodyPr wrap="square" lIns="0" tIns="0" rIns="0" bIns="0" anchor="t">
            <a:normAutofit/>
          </a:bodyPr>
          <a:lstStyle/>
          <a:p>
            <a:pPr algn="l">
              <a:lnSpc>
                <a:spcPct val="100000"/>
              </a:lnSpc>
              <a:buNone/>
              <a:defRPr sz="1800" b="1">
                <a:solidFill>
                  <a:srgbClr val="5B91FF"/>
                </a:solidFill>
                <a:latin typeface="Cascadia Mono"/>
                <a:ea typeface="Cascadia Mono"/>
                <a:cs typeface="Cascadia Mono"/>
              </a:defRPr>
            </a:pPr>
            <a:r>
              <a:rPr sz="1800" b="1">
                <a:solidFill>
                  <a:srgbClr val="5B91FF"/>
                </a:solidFill>
                <a:latin typeface="Cascadia Mono"/>
                <a:ea typeface="Cascadia Mono"/>
                <a:cs typeface="Cascadia Mono"/>
              </a:rPr>
              <a:t>65,616</a:t>
            </a:r>
          </a:p>
        </p:txBody>
      </p:sp>
      <p:sp>
        <p:nvSpPr>
          <p:cNvPr id="15" name="Rectangle 14">
            <a:extLst>
              <a:ext uri="{FF2B5EF4-FFF2-40B4-BE49-F238E27FC236}">
                <a16:creationId xmlns:a16="http://schemas.microsoft.com/office/drawing/2014/main" id="{6B22A782-8F70-4EF5-B56F-49377671F4AC}"/>
              </a:ext>
            </a:extLst>
          </p:cNvPr>
          <p:cNvSpPr>
            <a:spLocks noGrp="1"/>
          </p:cNvSpPr>
          <p:nvPr/>
        </p:nvSpPr>
        <p:spPr>
          <a:xfrm>
            <a:off x="10001250" y="4572000"/>
            <a:ext cx="1581150" cy="285750"/>
          </a:xfrm>
          <a:prstGeom prst="rect">
            <a:avLst/>
          </a:prstGeom>
          <a:noFill/>
          <a:ln w="0">
            <a:noFill/>
          </a:ln>
        </p:spPr>
        <p:txBody>
          <a:bodyPr wrap="square" lIns="0" tIns="0" rIns="0" bIns="0" anchor="t">
            <a:normAutofit/>
          </a:bodyPr>
          <a:lstStyle/>
          <a:p>
            <a:pPr algn="r" rtl="1">
              <a:lnSpc>
                <a:spcPct val="100000"/>
              </a:lnSpc>
              <a:buNone/>
              <a:defRPr lang="he-IL" sz="1425" b="0">
                <a:solidFill>
                  <a:srgbClr val="9AB1C5"/>
                </a:solidFill>
                <a:latin typeface="Arial"/>
                <a:ea typeface="Arial"/>
                <a:cs typeface="Arial"/>
              </a:defRPr>
            </a:pPr>
            <a:r>
              <a:rPr lang="he-IL" sz="1425" b="0">
                <a:solidFill>
                  <a:srgbClr val="9AB1C5"/>
                </a:solidFill>
                <a:latin typeface="Arial"/>
                <a:ea typeface="Arial"/>
                <a:cs typeface="Arial"/>
              </a:rPr>
              <a:t>נרות Certified</a:t>
            </a:r>
          </a:p>
        </p:txBody>
      </p:sp>
      <p:sp>
        <p:nvSpPr>
          <p:cNvPr id="16" name="Rectangle 15">
            <a:extLst>
              <a:ext uri="{FF2B5EF4-FFF2-40B4-BE49-F238E27FC236}">
                <a16:creationId xmlns:a16="http://schemas.microsoft.com/office/drawing/2014/main" id="{D0C06A59-14F5-4BC5-AB43-BA4A7DDDB894}"/>
              </a:ext>
            </a:extLst>
          </p:cNvPr>
          <p:cNvSpPr>
            <a:spLocks noGrp="1"/>
          </p:cNvSpPr>
          <p:nvPr/>
        </p:nvSpPr>
        <p:spPr>
          <a:xfrm>
            <a:off x="8743950" y="5143500"/>
            <a:ext cx="1428750" cy="333375"/>
          </a:xfrm>
          <a:prstGeom prst="rect">
            <a:avLst/>
          </a:prstGeom>
          <a:noFill/>
          <a:ln w="0">
            <a:noFill/>
          </a:ln>
        </p:spPr>
        <p:txBody>
          <a:bodyPr wrap="square" lIns="0" tIns="0" rIns="0" bIns="0" anchor="t">
            <a:normAutofit/>
          </a:bodyPr>
          <a:lstStyle/>
          <a:p>
            <a:pPr algn="l">
              <a:lnSpc>
                <a:spcPct val="100000"/>
              </a:lnSpc>
              <a:buNone/>
              <a:defRPr sz="1800" b="1">
                <a:solidFill>
                  <a:srgbClr val="35D4B5"/>
                </a:solidFill>
                <a:latin typeface="Cascadia Mono"/>
                <a:ea typeface="Cascadia Mono"/>
                <a:cs typeface="Cascadia Mono"/>
              </a:defRPr>
            </a:pPr>
            <a:r>
              <a:rPr sz="1800" b="1">
                <a:solidFill>
                  <a:srgbClr val="35D4B5"/>
                </a:solidFill>
                <a:latin typeface="Cascadia Mono"/>
                <a:ea typeface="Cascadia Mono"/>
                <a:cs typeface="Cascadia Mono"/>
              </a:rPr>
              <a:t>937</a:t>
            </a:r>
          </a:p>
        </p:txBody>
      </p:sp>
      <p:sp>
        <p:nvSpPr>
          <p:cNvPr id="17" name="Rectangle 16">
            <a:extLst>
              <a:ext uri="{FF2B5EF4-FFF2-40B4-BE49-F238E27FC236}">
                <a16:creationId xmlns:a16="http://schemas.microsoft.com/office/drawing/2014/main" id="{57BBA33D-6A3A-4EB0-B60C-BB850670E5FE}"/>
              </a:ext>
            </a:extLst>
          </p:cNvPr>
          <p:cNvSpPr>
            <a:spLocks noGrp="1"/>
          </p:cNvSpPr>
          <p:nvPr/>
        </p:nvSpPr>
        <p:spPr>
          <a:xfrm>
            <a:off x="10001250" y="5181600"/>
            <a:ext cx="1581150" cy="285750"/>
          </a:xfrm>
          <a:prstGeom prst="rect">
            <a:avLst/>
          </a:prstGeom>
          <a:noFill/>
          <a:ln w="0">
            <a:noFill/>
          </a:ln>
        </p:spPr>
        <p:txBody>
          <a:bodyPr wrap="square" lIns="0" tIns="0" rIns="0" bIns="0" anchor="t">
            <a:normAutofit/>
          </a:bodyPr>
          <a:lstStyle/>
          <a:p>
            <a:pPr algn="r" rtl="1">
              <a:lnSpc>
                <a:spcPct val="100000"/>
              </a:lnSpc>
              <a:buNone/>
              <a:defRPr lang="he-IL" sz="1425" b="0">
                <a:solidFill>
                  <a:srgbClr val="9AB1C5"/>
                </a:solidFill>
                <a:latin typeface="Arial"/>
                <a:ea typeface="Arial"/>
                <a:cs typeface="Arial"/>
              </a:defRPr>
            </a:pPr>
            <a:r>
              <a:rPr lang="he-IL" sz="1425" b="0">
                <a:solidFill>
                  <a:srgbClr val="9AB1C5"/>
                </a:solidFill>
                <a:latin typeface="Arial"/>
                <a:ea typeface="Arial"/>
                <a:cs typeface="Arial"/>
              </a:rPr>
              <a:t>רשומות SEC</a:t>
            </a:r>
          </a:p>
        </p:txBody>
      </p:sp>
    </p:spTree>
    <p:extLst>
      <p:ext uri="{BB962C8B-B14F-4D97-AF65-F5344CB8AC3E}">
        <p14:creationId xmlns:p14="http://schemas.microsoft.com/office/powerpoint/2010/main" val="4680085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91827"/>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F120A499-3116-4FE3-AFB3-71CCEDCFC31B}"/>
              </a:ext>
            </a:extLst>
          </p:cNvPr>
          <p:cNvSpPr>
            <a:spLocks noGrp="1"/>
          </p:cNvSpPr>
          <p:nvPr/>
        </p:nvSpPr>
        <p:spPr>
          <a:xfrm>
            <a:off x="0" y="0"/>
            <a:ext cx="171450" cy="6858000"/>
          </a:xfrm>
          <a:prstGeom prst="rect">
            <a:avLst/>
          </a:prstGeom>
          <a:solidFill>
            <a:srgbClr val="35D4B5"/>
          </a:solidFill>
          <a:ln w="0">
            <a:noFill/>
          </a:ln>
        </p:spPr>
      </p:sp>
      <p:sp>
        <p:nvSpPr>
          <p:cNvPr id="2" name="Rectangle 1">
            <a:extLst>
              <a:ext uri="{FF2B5EF4-FFF2-40B4-BE49-F238E27FC236}">
                <a16:creationId xmlns:a16="http://schemas.microsoft.com/office/drawing/2014/main" id="{5C578608-7826-41A1-85CA-3FB48971EE2A}"/>
              </a:ext>
            </a:extLst>
          </p:cNvPr>
          <p:cNvSpPr>
            <a:spLocks noGrp="1"/>
          </p:cNvSpPr>
          <p:nvPr/>
        </p:nvSpPr>
        <p:spPr>
          <a:xfrm>
            <a:off x="609600" y="361950"/>
            <a:ext cx="4000500" cy="209550"/>
          </a:xfrm>
          <a:prstGeom prst="rect">
            <a:avLst/>
          </a:prstGeom>
          <a:noFill/>
          <a:ln w="0">
            <a:noFill/>
          </a:ln>
        </p:spPr>
        <p:txBody>
          <a:bodyPr wrap="square" lIns="0" tIns="0" rIns="0" bIns="0" anchor="ctr">
            <a:normAutofit/>
          </a:bodyPr>
          <a:lstStyle/>
          <a:p>
            <a:pPr algn="l">
              <a:lnSpc>
                <a:spcPct val="100000"/>
              </a:lnSpc>
              <a:buNone/>
              <a:defRPr sz="975" b="1">
                <a:solidFill>
                  <a:srgbClr val="35D4B5"/>
                </a:solidFill>
                <a:latin typeface="Cascadia Mono"/>
                <a:ea typeface="Cascadia Mono"/>
                <a:cs typeface="Cascadia Mono"/>
              </a:defRPr>
            </a:pPr>
            <a:r>
              <a:rPr sz="975" b="1">
                <a:solidFill>
                  <a:srgbClr val="35D4B5"/>
                </a:solidFill>
                <a:latin typeface="Cascadia Mono"/>
                <a:ea typeface="Cascadia Mono"/>
                <a:cs typeface="Cascadia Mono"/>
              </a:rPr>
              <a:t>DECISION INTELLIGENCE</a:t>
            </a:r>
          </a:p>
        </p:txBody>
      </p:sp>
      <p:sp>
        <p:nvSpPr>
          <p:cNvPr id="3" name="Rectangle 2">
            <a:extLst>
              <a:ext uri="{FF2B5EF4-FFF2-40B4-BE49-F238E27FC236}">
                <a16:creationId xmlns:a16="http://schemas.microsoft.com/office/drawing/2014/main" id="{A81E865C-D7D7-43F0-9044-13F63A20CC16}"/>
              </a:ext>
            </a:extLst>
          </p:cNvPr>
          <p:cNvSpPr>
            <a:spLocks noGrp="1"/>
          </p:cNvSpPr>
          <p:nvPr/>
        </p:nvSpPr>
        <p:spPr>
          <a:xfrm>
            <a:off x="4191000" y="533400"/>
            <a:ext cx="7391400" cy="552450"/>
          </a:xfrm>
          <a:prstGeom prst="rect">
            <a:avLst/>
          </a:prstGeom>
          <a:noFill/>
          <a:ln w="0">
            <a:noFill/>
          </a:ln>
        </p:spPr>
        <p:txBody>
          <a:bodyPr wrap="square" lIns="0" tIns="0" rIns="0" bIns="0" anchor="t">
            <a:normAutofit/>
          </a:bodyPr>
          <a:lstStyle/>
          <a:p>
            <a:pPr algn="r" rtl="1">
              <a:lnSpc>
                <a:spcPct val="100000"/>
              </a:lnSpc>
              <a:buNone/>
              <a:defRPr lang="he-IL" sz="2400" b="1">
                <a:solidFill>
                  <a:srgbClr val="F8FBFF"/>
                </a:solidFill>
                <a:latin typeface="Arial"/>
                <a:ea typeface="Arial"/>
                <a:cs typeface="Arial"/>
              </a:defRPr>
            </a:pPr>
            <a:r>
              <a:rPr lang="he-IL" sz="2400" b="1">
                <a:solidFill>
                  <a:srgbClr val="F8FBFF"/>
                </a:solidFill>
                <a:latin typeface="Arial"/>
                <a:ea typeface="Arial"/>
                <a:cs typeface="Arial"/>
              </a:rPr>
              <a:t>החלטה שמפרידה בין ראיה, הסתברות וסיכון</a:t>
            </a:r>
          </a:p>
        </p:txBody>
      </p:sp>
      <p:sp>
        <p:nvSpPr>
          <p:cNvPr id="4" name="Rectangle 3">
            <a:extLst>
              <a:ext uri="{FF2B5EF4-FFF2-40B4-BE49-F238E27FC236}">
                <a16:creationId xmlns:a16="http://schemas.microsoft.com/office/drawing/2014/main" id="{06D79530-B2AC-449D-BF8F-7F41385FFDA8}"/>
              </a:ext>
            </a:extLst>
          </p:cNvPr>
          <p:cNvSpPr>
            <a:spLocks noGrp="1"/>
          </p:cNvSpPr>
          <p:nvPr/>
        </p:nvSpPr>
        <p:spPr>
          <a:xfrm>
            <a:off x="495300" y="6438900"/>
            <a:ext cx="342900" cy="171450"/>
          </a:xfrm>
          <a:prstGeom prst="rect">
            <a:avLst/>
          </a:prstGeom>
          <a:noFill/>
          <a:ln w="0">
            <a:noFill/>
          </a:ln>
        </p:spPr>
        <p:txBody>
          <a:bodyPr wrap="square" lIns="0" tIns="0" rIns="0" bIns="0" anchor="t">
            <a:normAutofit/>
          </a:bodyPr>
          <a:lstStyle/>
          <a:p>
            <a:pPr algn="l">
              <a:lnSpc>
                <a:spcPct val="100000"/>
              </a:lnSpc>
              <a:buNone/>
              <a:defRPr sz="825" b="1">
                <a:solidFill>
                  <a:srgbClr val="9AB1C5"/>
                </a:solidFill>
                <a:latin typeface="Cascadia Mono"/>
                <a:ea typeface="Cascadia Mono"/>
                <a:cs typeface="Cascadia Mono"/>
              </a:defRPr>
            </a:pPr>
            <a:r>
              <a:rPr sz="825" b="1">
                <a:solidFill>
                  <a:srgbClr val="9AB1C5"/>
                </a:solidFill>
                <a:latin typeface="Cascadia Mono"/>
                <a:ea typeface="Cascadia Mono"/>
                <a:cs typeface="Cascadia Mono"/>
              </a:rPr>
              <a:t>08</a:t>
            </a:r>
          </a:p>
        </p:txBody>
      </p:sp>
      <p:sp>
        <p:nvSpPr>
          <p:cNvPr id="5" name="Straight Connector 4">
            <a:extLst>
              <a:ext uri="{FF2B5EF4-FFF2-40B4-BE49-F238E27FC236}">
                <a16:creationId xmlns:a16="http://schemas.microsoft.com/office/drawing/2014/main" id="{AA5F0764-2FE6-4DBE-9222-256766FC04AF}"/>
              </a:ext>
            </a:extLst>
          </p:cNvPr>
          <p:cNvSpPr>
            <a:spLocks noGrp="1"/>
          </p:cNvSpPr>
          <p:nvPr/>
        </p:nvSpPr>
        <p:spPr>
          <a:xfrm>
            <a:off x="914400" y="6534150"/>
            <a:ext cx="10744200" cy="0"/>
          </a:xfrm>
          <a:prstGeom prst="line">
            <a:avLst/>
          </a:prstGeom>
          <a:noFill/>
          <a:ln w="9525">
            <a:solidFill>
              <a:srgbClr val="294157"/>
            </a:solidFill>
            <a:prstDash val="solid"/>
          </a:ln>
        </p:spPr>
      </p:sp>
      <p:pic>
        <p:nvPicPr>
          <p:cNvPr id="26" name="Picture 25"/>
          <p:cNvPicPr>
            <a:picLocks noChangeAspect="1"/>
          </p:cNvPicPr>
          <p:nvPr/>
        </p:nvPicPr>
        <p:blipFill>
          <a:blip r:embed="rId3"/>
          <a:srcRect t="2578" b="2578"/>
          <a:stretch>
            <a:fillRect/>
          </a:stretch>
        </p:blipFill>
        <p:spPr>
          <a:xfrm>
            <a:off x="457200" y="1352550"/>
            <a:ext cx="7905750" cy="4686300"/>
          </a:xfrm>
          <a:prstGeom prst="roundRect">
            <a:avLst>
              <a:gd name="adj" fmla="val 2846"/>
            </a:avLst>
          </a:prstGeom>
        </p:spPr>
      </p:pic>
      <p:sp>
        <p:nvSpPr>
          <p:cNvPr id="7" name="Rectangle 6">
            <a:extLst>
              <a:ext uri="{FF2B5EF4-FFF2-40B4-BE49-F238E27FC236}">
                <a16:creationId xmlns:a16="http://schemas.microsoft.com/office/drawing/2014/main" id="{4F38D792-F814-47BF-A12A-858C8ACDF96B}"/>
              </a:ext>
            </a:extLst>
          </p:cNvPr>
          <p:cNvSpPr>
            <a:spLocks noGrp="1"/>
          </p:cNvSpPr>
          <p:nvPr/>
        </p:nvSpPr>
        <p:spPr>
          <a:xfrm>
            <a:off x="8763000" y="1466850"/>
            <a:ext cx="2762250" cy="361950"/>
          </a:xfrm>
          <a:prstGeom prst="rect">
            <a:avLst/>
          </a:prstGeom>
          <a:noFill/>
          <a:ln w="0">
            <a:noFill/>
          </a:ln>
        </p:spPr>
        <p:txBody>
          <a:bodyPr wrap="square" lIns="0" tIns="0" rIns="0" bIns="0" anchor="t">
            <a:normAutofit/>
          </a:bodyPr>
          <a:lstStyle/>
          <a:p>
            <a:pPr algn="r" rtl="1">
              <a:lnSpc>
                <a:spcPct val="100000"/>
              </a:lnSpc>
              <a:buNone/>
              <a:defRPr lang="he-IL" sz="2100" b="1">
                <a:solidFill>
                  <a:srgbClr val="F8FBFF"/>
                </a:solidFill>
                <a:latin typeface="Arial"/>
                <a:ea typeface="Arial"/>
                <a:cs typeface="Arial"/>
              </a:defRPr>
            </a:pPr>
            <a:r>
              <a:rPr lang="he-IL" sz="2100" b="1">
                <a:solidFill>
                  <a:srgbClr val="F8FBFF"/>
                </a:solidFill>
                <a:latin typeface="Arial"/>
                <a:ea typeface="Arial"/>
                <a:cs typeface="Arial"/>
              </a:rPr>
              <a:t>שלוש שכבות שונות</a:t>
            </a:r>
          </a:p>
        </p:txBody>
      </p:sp>
      <p:sp>
        <p:nvSpPr>
          <p:cNvPr id="8" name="Rectangle 7">
            <a:extLst>
              <a:ext uri="{FF2B5EF4-FFF2-40B4-BE49-F238E27FC236}">
                <a16:creationId xmlns:a16="http://schemas.microsoft.com/office/drawing/2014/main" id="{827B9068-C3A7-4525-8E3E-CE6F11DF2799}"/>
              </a:ext>
            </a:extLst>
          </p:cNvPr>
          <p:cNvSpPr>
            <a:spLocks noGrp="1"/>
          </p:cNvSpPr>
          <p:nvPr/>
        </p:nvSpPr>
        <p:spPr>
          <a:xfrm>
            <a:off x="8763000" y="2114550"/>
            <a:ext cx="2686050" cy="228600"/>
          </a:xfrm>
          <a:prstGeom prst="rect">
            <a:avLst/>
          </a:prstGeom>
          <a:noFill/>
          <a:ln w="0">
            <a:noFill/>
          </a:ln>
        </p:spPr>
        <p:txBody>
          <a:bodyPr wrap="square" lIns="0" tIns="0" rIns="0" bIns="0" anchor="t">
            <a:normAutofit/>
          </a:bodyPr>
          <a:lstStyle/>
          <a:p>
            <a:pPr algn="l">
              <a:lnSpc>
                <a:spcPct val="100000"/>
              </a:lnSpc>
              <a:buNone/>
              <a:defRPr sz="1050" b="1">
                <a:solidFill>
                  <a:srgbClr val="35D4B5"/>
                </a:solidFill>
                <a:latin typeface="Cascadia Mono"/>
                <a:ea typeface="Cascadia Mono"/>
                <a:cs typeface="Cascadia Mono"/>
              </a:defRPr>
            </a:pPr>
            <a:r>
              <a:rPr sz="1050" b="1">
                <a:solidFill>
                  <a:srgbClr val="35D4B5"/>
                </a:solidFill>
                <a:latin typeface="Cascadia Mono"/>
                <a:ea typeface="Cascadia Mono"/>
                <a:cs typeface="Cascadia Mono"/>
              </a:rPr>
              <a:t>RULE SCORE</a:t>
            </a:r>
          </a:p>
        </p:txBody>
      </p:sp>
      <p:sp>
        <p:nvSpPr>
          <p:cNvPr id="9" name="Rectangle 8">
            <a:extLst>
              <a:ext uri="{FF2B5EF4-FFF2-40B4-BE49-F238E27FC236}">
                <a16:creationId xmlns:a16="http://schemas.microsoft.com/office/drawing/2014/main" id="{94B84358-1F5C-4AAB-87AE-AF90222D892C}"/>
              </a:ext>
            </a:extLst>
          </p:cNvPr>
          <p:cNvSpPr>
            <a:spLocks noGrp="1"/>
          </p:cNvSpPr>
          <p:nvPr/>
        </p:nvSpPr>
        <p:spPr>
          <a:xfrm>
            <a:off x="8763000" y="2381250"/>
            <a:ext cx="2686050" cy="285750"/>
          </a:xfrm>
          <a:prstGeom prst="rect">
            <a:avLst/>
          </a:prstGeom>
          <a:noFill/>
          <a:ln w="0">
            <a:noFill/>
          </a:ln>
        </p:spPr>
        <p:txBody>
          <a:bodyPr wrap="square" lIns="0" tIns="0" rIns="0" bIns="0" anchor="t">
            <a:normAutofit/>
          </a:bodyPr>
          <a:lstStyle/>
          <a:p>
            <a:pPr algn="r" rtl="1">
              <a:lnSpc>
                <a:spcPct val="100000"/>
              </a:lnSpc>
              <a:buNone/>
              <a:defRPr lang="he-IL" sz="1650" b="0">
                <a:solidFill>
                  <a:srgbClr val="F8FBFF"/>
                </a:solidFill>
                <a:latin typeface="Arial"/>
                <a:ea typeface="Arial"/>
                <a:cs typeface="Arial"/>
              </a:defRPr>
            </a:pPr>
            <a:r>
              <a:rPr lang="he-IL" sz="1650" b="0">
                <a:solidFill>
                  <a:srgbClr val="F8FBFF"/>
                </a:solidFill>
                <a:latin typeface="Arial"/>
                <a:ea typeface="Arial"/>
                <a:cs typeface="Arial"/>
              </a:rPr>
              <a:t>מה הכללים תומכים</a:t>
            </a:r>
          </a:p>
        </p:txBody>
      </p:sp>
      <p:sp>
        <p:nvSpPr>
          <p:cNvPr id="10" name="Rectangle 9">
            <a:extLst>
              <a:ext uri="{FF2B5EF4-FFF2-40B4-BE49-F238E27FC236}">
                <a16:creationId xmlns:a16="http://schemas.microsoft.com/office/drawing/2014/main" id="{61C57D3C-72B7-41F9-8377-4B65081AD0E5}"/>
              </a:ext>
            </a:extLst>
          </p:cNvPr>
          <p:cNvSpPr>
            <a:spLocks noGrp="1"/>
          </p:cNvSpPr>
          <p:nvPr/>
        </p:nvSpPr>
        <p:spPr>
          <a:xfrm>
            <a:off x="8763000" y="2800350"/>
            <a:ext cx="2686050" cy="228600"/>
          </a:xfrm>
          <a:prstGeom prst="rect">
            <a:avLst/>
          </a:prstGeom>
          <a:noFill/>
          <a:ln w="0">
            <a:noFill/>
          </a:ln>
        </p:spPr>
        <p:txBody>
          <a:bodyPr wrap="square" lIns="0" tIns="0" rIns="0" bIns="0" anchor="t">
            <a:normAutofit/>
          </a:bodyPr>
          <a:lstStyle/>
          <a:p>
            <a:pPr algn="l">
              <a:lnSpc>
                <a:spcPct val="100000"/>
              </a:lnSpc>
              <a:buNone/>
              <a:defRPr sz="1050" b="1">
                <a:solidFill>
                  <a:srgbClr val="EF7484"/>
                </a:solidFill>
                <a:latin typeface="Cascadia Mono"/>
                <a:ea typeface="Cascadia Mono"/>
                <a:cs typeface="Cascadia Mono"/>
              </a:defRPr>
            </a:pPr>
            <a:r>
              <a:rPr sz="1050" b="1">
                <a:solidFill>
                  <a:srgbClr val="EF7484"/>
                </a:solidFill>
                <a:latin typeface="Cascadia Mono"/>
                <a:ea typeface="Cascadia Mono"/>
                <a:cs typeface="Cascadia Mono"/>
              </a:rPr>
              <a:t>MODEL PROBABILITY</a:t>
            </a:r>
          </a:p>
        </p:txBody>
      </p:sp>
      <p:sp>
        <p:nvSpPr>
          <p:cNvPr id="11" name="Rectangle 10">
            <a:extLst>
              <a:ext uri="{FF2B5EF4-FFF2-40B4-BE49-F238E27FC236}">
                <a16:creationId xmlns:a16="http://schemas.microsoft.com/office/drawing/2014/main" id="{DEFDB20B-9F36-4091-B9A7-34C2D16BB90F}"/>
              </a:ext>
            </a:extLst>
          </p:cNvPr>
          <p:cNvSpPr>
            <a:spLocks noGrp="1"/>
          </p:cNvSpPr>
          <p:nvPr/>
        </p:nvSpPr>
        <p:spPr>
          <a:xfrm>
            <a:off x="8763000" y="3067050"/>
            <a:ext cx="2686050" cy="285750"/>
          </a:xfrm>
          <a:prstGeom prst="rect">
            <a:avLst/>
          </a:prstGeom>
          <a:noFill/>
          <a:ln w="0">
            <a:noFill/>
          </a:ln>
        </p:spPr>
        <p:txBody>
          <a:bodyPr wrap="square" lIns="0" tIns="0" rIns="0" bIns="0" anchor="t">
            <a:normAutofit/>
          </a:bodyPr>
          <a:lstStyle/>
          <a:p>
            <a:pPr algn="r" rtl="1">
              <a:lnSpc>
                <a:spcPct val="100000"/>
              </a:lnSpc>
              <a:buNone/>
              <a:defRPr lang="he-IL" sz="1650" b="0">
                <a:solidFill>
                  <a:srgbClr val="F8FBFF"/>
                </a:solidFill>
                <a:latin typeface="Arial"/>
                <a:ea typeface="Arial"/>
                <a:cs typeface="Arial"/>
              </a:defRPr>
            </a:pPr>
            <a:r>
              <a:rPr lang="he-IL" sz="1650" b="0">
                <a:solidFill>
                  <a:srgbClr val="F8FBFF"/>
                </a:solidFill>
                <a:latin typeface="Arial"/>
                <a:ea typeface="Arial"/>
                <a:cs typeface="Arial"/>
              </a:rPr>
              <a:t>רק לאחר אימון ואימות</a:t>
            </a:r>
          </a:p>
        </p:txBody>
      </p:sp>
      <p:sp>
        <p:nvSpPr>
          <p:cNvPr id="12" name="Rectangle 11">
            <a:extLst>
              <a:ext uri="{FF2B5EF4-FFF2-40B4-BE49-F238E27FC236}">
                <a16:creationId xmlns:a16="http://schemas.microsoft.com/office/drawing/2014/main" id="{B80A0973-5478-456D-914D-1DABE6F48871}"/>
              </a:ext>
            </a:extLst>
          </p:cNvPr>
          <p:cNvSpPr>
            <a:spLocks noGrp="1"/>
          </p:cNvSpPr>
          <p:nvPr/>
        </p:nvSpPr>
        <p:spPr>
          <a:xfrm>
            <a:off x="8763000" y="3486150"/>
            <a:ext cx="2686050" cy="228600"/>
          </a:xfrm>
          <a:prstGeom prst="rect">
            <a:avLst/>
          </a:prstGeom>
          <a:noFill/>
          <a:ln w="0">
            <a:noFill/>
          </a:ln>
        </p:spPr>
        <p:txBody>
          <a:bodyPr wrap="square" lIns="0" tIns="0" rIns="0" bIns="0" anchor="t">
            <a:normAutofit/>
          </a:bodyPr>
          <a:lstStyle/>
          <a:p>
            <a:pPr algn="l">
              <a:lnSpc>
                <a:spcPct val="100000"/>
              </a:lnSpc>
              <a:buNone/>
              <a:defRPr sz="1050" b="1">
                <a:solidFill>
                  <a:srgbClr val="35D4B5"/>
                </a:solidFill>
                <a:latin typeface="Cascadia Mono"/>
                <a:ea typeface="Cascadia Mono"/>
                <a:cs typeface="Cascadia Mono"/>
              </a:defRPr>
            </a:pPr>
            <a:r>
              <a:rPr sz="1050" b="1">
                <a:solidFill>
                  <a:srgbClr val="35D4B5"/>
                </a:solidFill>
                <a:latin typeface="Cascadia Mono"/>
                <a:ea typeface="Cascadia Mono"/>
                <a:cs typeface="Cascadia Mono"/>
              </a:rPr>
              <a:t>DATA CONFIDENCE</a:t>
            </a:r>
          </a:p>
        </p:txBody>
      </p:sp>
      <p:sp>
        <p:nvSpPr>
          <p:cNvPr id="13" name="Rectangle 12">
            <a:extLst>
              <a:ext uri="{FF2B5EF4-FFF2-40B4-BE49-F238E27FC236}">
                <a16:creationId xmlns:a16="http://schemas.microsoft.com/office/drawing/2014/main" id="{C00A22B0-DF40-4F1E-9FAD-F1ACC1D02C1E}"/>
              </a:ext>
            </a:extLst>
          </p:cNvPr>
          <p:cNvSpPr>
            <a:spLocks noGrp="1"/>
          </p:cNvSpPr>
          <p:nvPr/>
        </p:nvSpPr>
        <p:spPr>
          <a:xfrm>
            <a:off x="8763000" y="3752850"/>
            <a:ext cx="2686050" cy="285750"/>
          </a:xfrm>
          <a:prstGeom prst="rect">
            <a:avLst/>
          </a:prstGeom>
          <a:noFill/>
          <a:ln w="0">
            <a:noFill/>
          </a:ln>
        </p:spPr>
        <p:txBody>
          <a:bodyPr wrap="square" lIns="0" tIns="0" rIns="0" bIns="0" anchor="t">
            <a:normAutofit/>
          </a:bodyPr>
          <a:lstStyle/>
          <a:p>
            <a:pPr algn="r" rtl="1">
              <a:lnSpc>
                <a:spcPct val="100000"/>
              </a:lnSpc>
              <a:buNone/>
              <a:defRPr lang="he-IL" sz="1650" b="0">
                <a:solidFill>
                  <a:srgbClr val="F8FBFF"/>
                </a:solidFill>
                <a:latin typeface="Arial"/>
                <a:ea typeface="Arial"/>
                <a:cs typeface="Arial"/>
              </a:defRPr>
            </a:pPr>
            <a:r>
              <a:rPr lang="he-IL" sz="1650" b="0">
                <a:solidFill>
                  <a:srgbClr val="F8FBFF"/>
                </a:solidFill>
                <a:latin typeface="Arial"/>
                <a:ea typeface="Arial"/>
                <a:cs typeface="Arial"/>
              </a:rPr>
              <a:t>איכות, כיסוי וטריות</a:t>
            </a:r>
          </a:p>
        </p:txBody>
      </p:sp>
      <p:sp>
        <p:nvSpPr>
          <p:cNvPr id="14" name="Rectangle 13">
            <a:extLst>
              <a:ext uri="{FF2B5EF4-FFF2-40B4-BE49-F238E27FC236}">
                <a16:creationId xmlns:a16="http://schemas.microsoft.com/office/drawing/2014/main" id="{AFA73872-C3A2-4DAF-B153-00C1FA50B44D}"/>
              </a:ext>
            </a:extLst>
          </p:cNvPr>
          <p:cNvSpPr>
            <a:spLocks noGrp="1"/>
          </p:cNvSpPr>
          <p:nvPr/>
        </p:nvSpPr>
        <p:spPr>
          <a:xfrm>
            <a:off x="8763000" y="4171950"/>
            <a:ext cx="2686050" cy="228600"/>
          </a:xfrm>
          <a:prstGeom prst="rect">
            <a:avLst/>
          </a:prstGeom>
          <a:noFill/>
          <a:ln w="0">
            <a:noFill/>
          </a:ln>
        </p:spPr>
        <p:txBody>
          <a:bodyPr wrap="square" lIns="0" tIns="0" rIns="0" bIns="0" anchor="t">
            <a:normAutofit/>
          </a:bodyPr>
          <a:lstStyle/>
          <a:p>
            <a:pPr algn="l">
              <a:lnSpc>
                <a:spcPct val="100000"/>
              </a:lnSpc>
              <a:buNone/>
              <a:defRPr sz="1050" b="1">
                <a:solidFill>
                  <a:srgbClr val="35D4B5"/>
                </a:solidFill>
                <a:latin typeface="Cascadia Mono"/>
                <a:ea typeface="Cascadia Mono"/>
                <a:cs typeface="Cascadia Mono"/>
              </a:defRPr>
            </a:pPr>
            <a:r>
              <a:rPr sz="1050" b="1">
                <a:solidFill>
                  <a:srgbClr val="35D4B5"/>
                </a:solidFill>
                <a:latin typeface="Cascadia Mono"/>
                <a:ea typeface="Cascadia Mono"/>
                <a:cs typeface="Cascadia Mono"/>
              </a:rPr>
              <a:t>LEVELS + RISK</a:t>
            </a:r>
          </a:p>
        </p:txBody>
      </p:sp>
      <p:sp>
        <p:nvSpPr>
          <p:cNvPr id="15" name="Rectangle 14">
            <a:extLst>
              <a:ext uri="{FF2B5EF4-FFF2-40B4-BE49-F238E27FC236}">
                <a16:creationId xmlns:a16="http://schemas.microsoft.com/office/drawing/2014/main" id="{466123D5-AD74-4065-988E-DF00956E5A54}"/>
              </a:ext>
            </a:extLst>
          </p:cNvPr>
          <p:cNvSpPr>
            <a:spLocks noGrp="1"/>
          </p:cNvSpPr>
          <p:nvPr/>
        </p:nvSpPr>
        <p:spPr>
          <a:xfrm>
            <a:off x="8763000" y="4438650"/>
            <a:ext cx="2686050" cy="285750"/>
          </a:xfrm>
          <a:prstGeom prst="rect">
            <a:avLst/>
          </a:prstGeom>
          <a:noFill/>
          <a:ln w="0">
            <a:noFill/>
          </a:ln>
        </p:spPr>
        <p:txBody>
          <a:bodyPr wrap="square" lIns="0" tIns="0" rIns="0" bIns="0" anchor="t">
            <a:normAutofit/>
          </a:bodyPr>
          <a:lstStyle/>
          <a:p>
            <a:pPr algn="r" rtl="1">
              <a:lnSpc>
                <a:spcPct val="100000"/>
              </a:lnSpc>
              <a:buNone/>
              <a:defRPr lang="he-IL" sz="1650" b="0">
                <a:solidFill>
                  <a:srgbClr val="F8FBFF"/>
                </a:solidFill>
                <a:latin typeface="Arial"/>
                <a:ea typeface="Arial"/>
                <a:cs typeface="Arial"/>
              </a:defRPr>
            </a:pPr>
            <a:r>
              <a:rPr lang="he-IL" sz="1650" b="0">
                <a:solidFill>
                  <a:srgbClr val="F8FBFF"/>
                </a:solidFill>
                <a:latin typeface="Arial"/>
                <a:ea typeface="Arial"/>
                <a:cs typeface="Arial"/>
              </a:rPr>
              <a:t>כניסה, ביטול ויעדים</a:t>
            </a:r>
          </a:p>
        </p:txBody>
      </p:sp>
      <p:sp>
        <p:nvSpPr>
          <p:cNvPr id="16" name="Rectangle 15">
            <a:extLst>
              <a:ext uri="{FF2B5EF4-FFF2-40B4-BE49-F238E27FC236}">
                <a16:creationId xmlns:a16="http://schemas.microsoft.com/office/drawing/2014/main" id="{096A507A-D13D-4CC6-9DDD-B3744DC9CF1D}"/>
              </a:ext>
            </a:extLst>
          </p:cNvPr>
          <p:cNvSpPr>
            <a:spLocks noGrp="1"/>
          </p:cNvSpPr>
          <p:nvPr/>
        </p:nvSpPr>
        <p:spPr>
          <a:xfrm>
            <a:off x="8763000" y="4953000"/>
            <a:ext cx="2762250" cy="19050"/>
          </a:xfrm>
          <a:prstGeom prst="rect">
            <a:avLst/>
          </a:prstGeom>
          <a:solidFill>
            <a:srgbClr val="294157"/>
          </a:solidFill>
          <a:ln w="0">
            <a:noFill/>
          </a:ln>
        </p:spPr>
      </p:sp>
      <p:sp>
        <p:nvSpPr>
          <p:cNvPr id="17" name="Rectangle 16">
            <a:extLst>
              <a:ext uri="{FF2B5EF4-FFF2-40B4-BE49-F238E27FC236}">
                <a16:creationId xmlns:a16="http://schemas.microsoft.com/office/drawing/2014/main" id="{E349B7E0-BB12-464E-BAD0-B8E3F4ABBF42}"/>
              </a:ext>
            </a:extLst>
          </p:cNvPr>
          <p:cNvSpPr>
            <a:spLocks noGrp="1"/>
          </p:cNvSpPr>
          <p:nvPr/>
        </p:nvSpPr>
        <p:spPr>
          <a:xfrm>
            <a:off x="8763000" y="5200650"/>
            <a:ext cx="952500" cy="323850"/>
          </a:xfrm>
          <a:prstGeom prst="rect">
            <a:avLst/>
          </a:prstGeom>
          <a:noFill/>
          <a:ln w="0">
            <a:noFill/>
          </a:ln>
        </p:spPr>
        <p:txBody>
          <a:bodyPr wrap="square" lIns="0" tIns="0" rIns="0" bIns="0" anchor="t">
            <a:normAutofit/>
          </a:bodyPr>
          <a:lstStyle/>
          <a:p>
            <a:pPr algn="l">
              <a:lnSpc>
                <a:spcPct val="100000"/>
              </a:lnSpc>
              <a:buNone/>
              <a:defRPr sz="1800" b="1">
                <a:solidFill>
                  <a:srgbClr val="F4B94F"/>
                </a:solidFill>
                <a:latin typeface="Cascadia Mono"/>
                <a:ea typeface="Cascadia Mono"/>
                <a:cs typeface="Cascadia Mono"/>
              </a:defRPr>
            </a:pPr>
            <a:r>
              <a:rPr sz="1800" b="1">
                <a:solidFill>
                  <a:srgbClr val="F4B94F"/>
                </a:solidFill>
                <a:latin typeface="Cascadia Mono"/>
                <a:ea typeface="Cascadia Mono"/>
                <a:cs typeface="Cascadia Mono"/>
              </a:rPr>
              <a:t>2 / 20</a:t>
            </a:r>
          </a:p>
        </p:txBody>
      </p:sp>
      <p:sp>
        <p:nvSpPr>
          <p:cNvPr id="18" name="Rectangle 17">
            <a:extLst>
              <a:ext uri="{FF2B5EF4-FFF2-40B4-BE49-F238E27FC236}">
                <a16:creationId xmlns:a16="http://schemas.microsoft.com/office/drawing/2014/main" id="{F662E5D9-2A51-4A98-B250-22847001FCD8}"/>
              </a:ext>
            </a:extLst>
          </p:cNvPr>
          <p:cNvSpPr>
            <a:spLocks noGrp="1"/>
          </p:cNvSpPr>
          <p:nvPr/>
        </p:nvSpPr>
        <p:spPr>
          <a:xfrm>
            <a:off x="9791700" y="5238750"/>
            <a:ext cx="1733550" cy="266700"/>
          </a:xfrm>
          <a:prstGeom prst="rect">
            <a:avLst/>
          </a:prstGeom>
          <a:noFill/>
          <a:ln w="0">
            <a:noFill/>
          </a:ln>
        </p:spPr>
        <p:txBody>
          <a:bodyPr wrap="square" lIns="0" tIns="0" rIns="0" bIns="0" anchor="t">
            <a:normAutofit/>
          </a:bodyPr>
          <a:lstStyle/>
          <a:p>
            <a:pPr algn="r" rtl="1">
              <a:lnSpc>
                <a:spcPct val="100000"/>
              </a:lnSpc>
              <a:buNone/>
              <a:defRPr lang="he-IL" sz="1350" b="0">
                <a:solidFill>
                  <a:srgbClr val="9AB1C5"/>
                </a:solidFill>
                <a:latin typeface="Arial"/>
                <a:ea typeface="Arial"/>
                <a:cs typeface="Arial"/>
              </a:defRPr>
            </a:pPr>
            <a:r>
              <a:rPr lang="he-IL" sz="1350" b="0">
                <a:solidFill>
                  <a:srgbClr val="9AB1C5"/>
                </a:solidFill>
                <a:latin typeface="Arial"/>
                <a:ea typeface="Arial"/>
                <a:cs typeface="Arial"/>
              </a:rPr>
              <a:t>ימי Shadow Mode חיים</a:t>
            </a:r>
          </a:p>
        </p:txBody>
      </p:sp>
      <p:sp>
        <p:nvSpPr>
          <p:cNvPr id="19" name="Rectangle 18">
            <a:extLst>
              <a:ext uri="{FF2B5EF4-FFF2-40B4-BE49-F238E27FC236}">
                <a16:creationId xmlns:a16="http://schemas.microsoft.com/office/drawing/2014/main" id="{C325848E-2CEB-4B8D-837F-96B2A0136459}"/>
              </a:ext>
            </a:extLst>
          </p:cNvPr>
          <p:cNvSpPr>
            <a:spLocks noGrp="1"/>
          </p:cNvSpPr>
          <p:nvPr/>
        </p:nvSpPr>
        <p:spPr>
          <a:xfrm>
            <a:off x="8763000" y="5543550"/>
            <a:ext cx="2762250" cy="228600"/>
          </a:xfrm>
          <a:prstGeom prst="rect">
            <a:avLst/>
          </a:prstGeom>
          <a:noFill/>
          <a:ln w="0">
            <a:noFill/>
          </a:ln>
        </p:spPr>
        <p:txBody>
          <a:bodyPr wrap="square" lIns="0" tIns="0" rIns="0" bIns="0" anchor="t">
            <a:normAutofit/>
          </a:bodyPr>
          <a:lstStyle/>
          <a:p>
            <a:pPr algn="l">
              <a:lnSpc>
                <a:spcPct val="100000"/>
              </a:lnSpc>
              <a:buNone/>
              <a:defRPr sz="1125" b="1">
                <a:solidFill>
                  <a:srgbClr val="EF7484"/>
                </a:solidFill>
                <a:latin typeface="Cascadia Mono"/>
                <a:ea typeface="Cascadia Mono"/>
                <a:cs typeface="Cascadia Mono"/>
              </a:defRPr>
            </a:pPr>
            <a:r>
              <a:rPr sz="1125" b="1">
                <a:solidFill>
                  <a:srgbClr val="EF7484"/>
                </a:solidFill>
                <a:latin typeface="Cascadia Mono"/>
                <a:ea typeface="Cascadia Mono"/>
                <a:cs typeface="Cascadia Mono"/>
              </a:rPr>
              <a:t>V2 FALLBACK</a:t>
            </a:r>
          </a:p>
        </p:txBody>
      </p:sp>
      <p:sp>
        <p:nvSpPr>
          <p:cNvPr id="20" name="Rectangle 19">
            <a:extLst>
              <a:ext uri="{FF2B5EF4-FFF2-40B4-BE49-F238E27FC236}">
                <a16:creationId xmlns:a16="http://schemas.microsoft.com/office/drawing/2014/main" id="{DFE4F297-C310-4516-8287-77BB6C718A05}"/>
              </a:ext>
            </a:extLst>
          </p:cNvPr>
          <p:cNvSpPr>
            <a:spLocks noGrp="1"/>
          </p:cNvSpPr>
          <p:nvPr/>
        </p:nvSpPr>
        <p:spPr>
          <a:xfrm>
            <a:off x="8763000" y="5810250"/>
            <a:ext cx="2762250" cy="228600"/>
          </a:xfrm>
          <a:prstGeom prst="rect">
            <a:avLst/>
          </a:prstGeom>
          <a:noFill/>
          <a:ln w="0">
            <a:noFill/>
          </a:ln>
        </p:spPr>
        <p:txBody>
          <a:bodyPr wrap="square" lIns="0" tIns="0" rIns="0" bIns="0" anchor="t">
            <a:normAutofit/>
          </a:bodyPr>
          <a:lstStyle/>
          <a:p>
            <a:pPr algn="r" rtl="1">
              <a:lnSpc>
                <a:spcPct val="100000"/>
              </a:lnSpc>
              <a:buNone/>
              <a:defRPr lang="he-IL" sz="1275" b="0">
                <a:solidFill>
                  <a:srgbClr val="EF7484"/>
                </a:solidFill>
                <a:latin typeface="Arial"/>
                <a:ea typeface="Arial"/>
                <a:cs typeface="Arial"/>
              </a:defRPr>
            </a:pPr>
            <a:r>
              <a:rPr lang="he-IL" sz="1275" b="0">
                <a:solidFill>
                  <a:srgbClr val="EF7484"/>
                </a:solidFill>
                <a:latin typeface="Arial"/>
                <a:ea typeface="Arial"/>
                <a:cs typeface="Arial"/>
              </a:rPr>
              <a:t>אין הסתברות מומצאת</a:t>
            </a:r>
          </a:p>
        </p:txBody>
      </p:sp>
    </p:spTree>
    <p:extLst>
      <p:ext uri="{BB962C8B-B14F-4D97-AF65-F5344CB8AC3E}">
        <p14:creationId xmlns:p14="http://schemas.microsoft.com/office/powerpoint/2010/main" val="2725305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91827"/>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E0C6383D-675F-4247-AE05-A0B61C98B5E5}"/>
              </a:ext>
            </a:extLst>
          </p:cNvPr>
          <p:cNvSpPr>
            <a:spLocks noGrp="1"/>
          </p:cNvSpPr>
          <p:nvPr/>
        </p:nvSpPr>
        <p:spPr>
          <a:xfrm>
            <a:off x="0" y="0"/>
            <a:ext cx="171450" cy="6858000"/>
          </a:xfrm>
          <a:prstGeom prst="rect">
            <a:avLst/>
          </a:prstGeom>
          <a:solidFill>
            <a:srgbClr val="35D4B5"/>
          </a:solidFill>
          <a:ln w="0">
            <a:noFill/>
          </a:ln>
        </p:spPr>
      </p:sp>
      <p:sp>
        <p:nvSpPr>
          <p:cNvPr id="2" name="Rectangle 1">
            <a:extLst>
              <a:ext uri="{FF2B5EF4-FFF2-40B4-BE49-F238E27FC236}">
                <a16:creationId xmlns:a16="http://schemas.microsoft.com/office/drawing/2014/main" id="{1A902CA8-F3E1-4A2E-9320-56FA184F0AB3}"/>
              </a:ext>
            </a:extLst>
          </p:cNvPr>
          <p:cNvSpPr>
            <a:spLocks noGrp="1"/>
          </p:cNvSpPr>
          <p:nvPr/>
        </p:nvSpPr>
        <p:spPr>
          <a:xfrm>
            <a:off x="609600" y="361950"/>
            <a:ext cx="4000500" cy="209550"/>
          </a:xfrm>
          <a:prstGeom prst="rect">
            <a:avLst/>
          </a:prstGeom>
          <a:noFill/>
          <a:ln w="0">
            <a:noFill/>
          </a:ln>
        </p:spPr>
        <p:txBody>
          <a:bodyPr wrap="square" lIns="0" tIns="0" rIns="0" bIns="0" anchor="ctr">
            <a:normAutofit/>
          </a:bodyPr>
          <a:lstStyle/>
          <a:p>
            <a:pPr algn="l">
              <a:lnSpc>
                <a:spcPct val="100000"/>
              </a:lnSpc>
              <a:buNone/>
              <a:defRPr sz="975" b="1">
                <a:solidFill>
                  <a:srgbClr val="35D4B5"/>
                </a:solidFill>
                <a:latin typeface="Cascadia Mono"/>
                <a:ea typeface="Cascadia Mono"/>
                <a:cs typeface="Cascadia Mono"/>
              </a:defRPr>
            </a:pPr>
            <a:r>
              <a:rPr sz="975" b="1">
                <a:solidFill>
                  <a:srgbClr val="35D4B5"/>
                </a:solidFill>
                <a:latin typeface="Cascadia Mono"/>
                <a:ea typeface="Cascadia Mono"/>
                <a:cs typeface="Cascadia Mono"/>
              </a:rPr>
              <a:t>HISTORICAL VALIDATION</a:t>
            </a:r>
          </a:p>
        </p:txBody>
      </p:sp>
      <p:sp>
        <p:nvSpPr>
          <p:cNvPr id="3" name="Rectangle 2">
            <a:extLst>
              <a:ext uri="{FF2B5EF4-FFF2-40B4-BE49-F238E27FC236}">
                <a16:creationId xmlns:a16="http://schemas.microsoft.com/office/drawing/2014/main" id="{EBDC10C3-50F0-4C78-A2B1-CD7DEF08778F}"/>
              </a:ext>
            </a:extLst>
          </p:cNvPr>
          <p:cNvSpPr>
            <a:spLocks noGrp="1"/>
          </p:cNvSpPr>
          <p:nvPr/>
        </p:nvSpPr>
        <p:spPr>
          <a:xfrm>
            <a:off x="4191000" y="533400"/>
            <a:ext cx="7391400" cy="552450"/>
          </a:xfrm>
          <a:prstGeom prst="rect">
            <a:avLst/>
          </a:prstGeom>
          <a:noFill/>
          <a:ln w="0">
            <a:noFill/>
          </a:ln>
        </p:spPr>
        <p:txBody>
          <a:bodyPr wrap="square" lIns="0" tIns="0" rIns="0" bIns="0" anchor="t">
            <a:normAutofit/>
          </a:bodyPr>
          <a:lstStyle/>
          <a:p>
            <a:pPr algn="r" rtl="1">
              <a:lnSpc>
                <a:spcPct val="100000"/>
              </a:lnSpc>
              <a:buNone/>
              <a:defRPr lang="he-IL" sz="2400" b="1">
                <a:solidFill>
                  <a:srgbClr val="F8FBFF"/>
                </a:solidFill>
                <a:latin typeface="Arial"/>
                <a:ea typeface="Arial"/>
                <a:cs typeface="Arial"/>
              </a:defRPr>
            </a:pPr>
            <a:r>
              <a:rPr lang="he-IL" sz="2400" b="1">
                <a:solidFill>
                  <a:srgbClr val="F8FBFF"/>
                </a:solidFill>
                <a:latin typeface="Arial"/>
                <a:ea typeface="Arial"/>
                <a:cs typeface="Arial"/>
              </a:rPr>
              <a:t>בדיקה היסטורית שלא מסתירה חיכוך</a:t>
            </a:r>
          </a:p>
        </p:txBody>
      </p:sp>
      <p:sp>
        <p:nvSpPr>
          <p:cNvPr id="4" name="Rectangle 3">
            <a:extLst>
              <a:ext uri="{FF2B5EF4-FFF2-40B4-BE49-F238E27FC236}">
                <a16:creationId xmlns:a16="http://schemas.microsoft.com/office/drawing/2014/main" id="{DD88123C-639D-4EF2-94C0-E90C6859F195}"/>
              </a:ext>
            </a:extLst>
          </p:cNvPr>
          <p:cNvSpPr>
            <a:spLocks noGrp="1"/>
          </p:cNvSpPr>
          <p:nvPr/>
        </p:nvSpPr>
        <p:spPr>
          <a:xfrm>
            <a:off x="495300" y="6438900"/>
            <a:ext cx="342900" cy="171450"/>
          </a:xfrm>
          <a:prstGeom prst="rect">
            <a:avLst/>
          </a:prstGeom>
          <a:noFill/>
          <a:ln w="0">
            <a:noFill/>
          </a:ln>
        </p:spPr>
        <p:txBody>
          <a:bodyPr wrap="square" lIns="0" tIns="0" rIns="0" bIns="0" anchor="t">
            <a:normAutofit/>
          </a:bodyPr>
          <a:lstStyle/>
          <a:p>
            <a:pPr algn="l">
              <a:lnSpc>
                <a:spcPct val="100000"/>
              </a:lnSpc>
              <a:buNone/>
              <a:defRPr sz="825" b="1">
                <a:solidFill>
                  <a:srgbClr val="9AB1C5"/>
                </a:solidFill>
                <a:latin typeface="Cascadia Mono"/>
                <a:ea typeface="Cascadia Mono"/>
                <a:cs typeface="Cascadia Mono"/>
              </a:defRPr>
            </a:pPr>
            <a:r>
              <a:rPr sz="825" b="1">
                <a:solidFill>
                  <a:srgbClr val="9AB1C5"/>
                </a:solidFill>
                <a:latin typeface="Cascadia Mono"/>
                <a:ea typeface="Cascadia Mono"/>
                <a:cs typeface="Cascadia Mono"/>
              </a:rPr>
              <a:t>09</a:t>
            </a:r>
          </a:p>
        </p:txBody>
      </p:sp>
      <p:sp>
        <p:nvSpPr>
          <p:cNvPr id="5" name="Straight Connector 4">
            <a:extLst>
              <a:ext uri="{FF2B5EF4-FFF2-40B4-BE49-F238E27FC236}">
                <a16:creationId xmlns:a16="http://schemas.microsoft.com/office/drawing/2014/main" id="{D7B3513E-0B5F-4471-AD5B-ED5FC69EC23B}"/>
              </a:ext>
            </a:extLst>
          </p:cNvPr>
          <p:cNvSpPr>
            <a:spLocks noGrp="1"/>
          </p:cNvSpPr>
          <p:nvPr/>
        </p:nvSpPr>
        <p:spPr>
          <a:xfrm>
            <a:off x="914400" y="6534150"/>
            <a:ext cx="10744200" cy="0"/>
          </a:xfrm>
          <a:prstGeom prst="line">
            <a:avLst/>
          </a:prstGeom>
          <a:noFill/>
          <a:ln w="9525">
            <a:solidFill>
              <a:srgbClr val="294157"/>
            </a:solidFill>
            <a:prstDash val="solid"/>
          </a:ln>
        </p:spPr>
      </p:sp>
      <p:pic>
        <p:nvPicPr>
          <p:cNvPr id="21" name="Picture 20"/>
          <p:cNvPicPr>
            <a:picLocks noChangeAspect="1"/>
          </p:cNvPicPr>
          <p:nvPr/>
        </p:nvPicPr>
        <p:blipFill>
          <a:blip r:embed="rId3"/>
          <a:srcRect t="3714" b="3714"/>
          <a:stretch>
            <a:fillRect/>
          </a:stretch>
        </p:blipFill>
        <p:spPr>
          <a:xfrm>
            <a:off x="495300" y="1276350"/>
            <a:ext cx="8001000" cy="4629150"/>
          </a:xfrm>
          <a:prstGeom prst="roundRect">
            <a:avLst>
              <a:gd name="adj" fmla="val 2881"/>
            </a:avLst>
          </a:prstGeom>
        </p:spPr>
      </p:pic>
      <p:sp>
        <p:nvSpPr>
          <p:cNvPr id="7" name="Rectangle 6">
            <a:extLst>
              <a:ext uri="{FF2B5EF4-FFF2-40B4-BE49-F238E27FC236}">
                <a16:creationId xmlns:a16="http://schemas.microsoft.com/office/drawing/2014/main" id="{8C4C001B-6341-45A4-BF8C-53BCF241AB1D}"/>
              </a:ext>
            </a:extLst>
          </p:cNvPr>
          <p:cNvSpPr>
            <a:spLocks noGrp="1"/>
          </p:cNvSpPr>
          <p:nvPr/>
        </p:nvSpPr>
        <p:spPr>
          <a:xfrm>
            <a:off x="8858250" y="1409700"/>
            <a:ext cx="2667000" cy="342900"/>
          </a:xfrm>
          <a:prstGeom prst="rect">
            <a:avLst/>
          </a:prstGeom>
          <a:noFill/>
          <a:ln w="0">
            <a:noFill/>
          </a:ln>
        </p:spPr>
        <p:txBody>
          <a:bodyPr wrap="square" lIns="0" tIns="0" rIns="0" bIns="0" anchor="t">
            <a:normAutofit/>
          </a:bodyPr>
          <a:lstStyle/>
          <a:p>
            <a:pPr algn="r" rtl="1">
              <a:lnSpc>
                <a:spcPct val="100000"/>
              </a:lnSpc>
              <a:buNone/>
              <a:defRPr lang="he-IL" sz="1950" b="1">
                <a:solidFill>
                  <a:srgbClr val="F8FBFF"/>
                </a:solidFill>
                <a:latin typeface="Arial"/>
                <a:ea typeface="Arial"/>
                <a:cs typeface="Arial"/>
              </a:defRPr>
            </a:pPr>
            <a:r>
              <a:rPr lang="he-IL" sz="1950" b="1">
                <a:solidFill>
                  <a:srgbClr val="F8FBFF"/>
                </a:solidFill>
                <a:latin typeface="Arial"/>
                <a:ea typeface="Arial"/>
                <a:cs typeface="Arial"/>
              </a:rPr>
              <a:t>ריצה מאושרת</a:t>
            </a:r>
          </a:p>
        </p:txBody>
      </p:sp>
      <p:sp>
        <p:nvSpPr>
          <p:cNvPr id="8" name="Rectangle 7">
            <a:extLst>
              <a:ext uri="{FF2B5EF4-FFF2-40B4-BE49-F238E27FC236}">
                <a16:creationId xmlns:a16="http://schemas.microsoft.com/office/drawing/2014/main" id="{3BCA77FC-DDC7-4B16-8806-637B5CF1A78F}"/>
              </a:ext>
            </a:extLst>
          </p:cNvPr>
          <p:cNvSpPr>
            <a:spLocks noGrp="1"/>
          </p:cNvSpPr>
          <p:nvPr/>
        </p:nvSpPr>
        <p:spPr>
          <a:xfrm>
            <a:off x="8858250" y="2057400"/>
            <a:ext cx="2667000" cy="409575"/>
          </a:xfrm>
          <a:prstGeom prst="rect">
            <a:avLst/>
          </a:prstGeom>
          <a:noFill/>
          <a:ln w="0">
            <a:noFill/>
          </a:ln>
        </p:spPr>
        <p:txBody>
          <a:bodyPr wrap="square" lIns="0" tIns="0" rIns="0" bIns="0" anchor="t">
            <a:normAutofit/>
          </a:bodyPr>
          <a:lstStyle/>
          <a:p>
            <a:pPr algn="l">
              <a:lnSpc>
                <a:spcPct val="100000"/>
              </a:lnSpc>
              <a:buNone/>
              <a:defRPr sz="2400" b="1">
                <a:solidFill>
                  <a:srgbClr val="35D4B5"/>
                </a:solidFill>
                <a:latin typeface="Cascadia Mono"/>
                <a:ea typeface="Cascadia Mono"/>
                <a:cs typeface="Cascadia Mono"/>
              </a:defRPr>
            </a:pPr>
            <a:r>
              <a:rPr sz="2400" b="1">
                <a:solidFill>
                  <a:srgbClr val="35D4B5"/>
                </a:solidFill>
                <a:latin typeface="Cascadia Mono"/>
                <a:ea typeface="Cascadia Mono"/>
                <a:cs typeface="Cascadia Mono"/>
              </a:rPr>
              <a:t>53</a:t>
            </a:r>
          </a:p>
        </p:txBody>
      </p:sp>
      <p:sp>
        <p:nvSpPr>
          <p:cNvPr id="9" name="Rectangle 8">
            <a:extLst>
              <a:ext uri="{FF2B5EF4-FFF2-40B4-BE49-F238E27FC236}">
                <a16:creationId xmlns:a16="http://schemas.microsoft.com/office/drawing/2014/main" id="{462375A7-B04F-44B2-8949-F17F6F3F78B0}"/>
              </a:ext>
            </a:extLst>
          </p:cNvPr>
          <p:cNvSpPr>
            <a:spLocks noGrp="1"/>
          </p:cNvSpPr>
          <p:nvPr/>
        </p:nvSpPr>
        <p:spPr>
          <a:xfrm>
            <a:off x="8858250" y="2486025"/>
            <a:ext cx="2667000" cy="266700"/>
          </a:xfrm>
          <a:prstGeom prst="rect">
            <a:avLst/>
          </a:prstGeom>
          <a:noFill/>
          <a:ln w="0">
            <a:noFill/>
          </a:ln>
        </p:spPr>
        <p:txBody>
          <a:bodyPr wrap="square" lIns="0" tIns="0" rIns="0" bIns="0" anchor="t">
            <a:normAutofit/>
          </a:bodyPr>
          <a:lstStyle/>
          <a:p>
            <a:pPr algn="r" rtl="1">
              <a:lnSpc>
                <a:spcPct val="100000"/>
              </a:lnSpc>
              <a:buNone/>
              <a:defRPr lang="he-IL" sz="1575" b="0">
                <a:solidFill>
                  <a:srgbClr val="9AB1C5"/>
                </a:solidFill>
                <a:latin typeface="Arial"/>
                <a:ea typeface="Arial"/>
                <a:cs typeface="Arial"/>
              </a:defRPr>
            </a:pPr>
            <a:r>
              <a:rPr lang="he-IL" sz="1575" b="0">
                <a:solidFill>
                  <a:srgbClr val="9AB1C5"/>
                </a:solidFill>
                <a:latin typeface="Arial"/>
                <a:ea typeface="Arial"/>
                <a:cs typeface="Arial"/>
              </a:rPr>
              <a:t>ימי מסחר מאושרים</a:t>
            </a:r>
          </a:p>
        </p:txBody>
      </p:sp>
      <p:sp>
        <p:nvSpPr>
          <p:cNvPr id="10" name="Rectangle 9">
            <a:extLst>
              <a:ext uri="{FF2B5EF4-FFF2-40B4-BE49-F238E27FC236}">
                <a16:creationId xmlns:a16="http://schemas.microsoft.com/office/drawing/2014/main" id="{C894581B-2156-4BD0-A3B8-2079AAEB3110}"/>
              </a:ext>
            </a:extLst>
          </p:cNvPr>
          <p:cNvSpPr>
            <a:spLocks noGrp="1"/>
          </p:cNvSpPr>
          <p:nvPr/>
        </p:nvSpPr>
        <p:spPr>
          <a:xfrm>
            <a:off x="8858250" y="2952750"/>
            <a:ext cx="2667000" cy="409575"/>
          </a:xfrm>
          <a:prstGeom prst="rect">
            <a:avLst/>
          </a:prstGeom>
          <a:noFill/>
          <a:ln w="0">
            <a:noFill/>
          </a:ln>
        </p:spPr>
        <p:txBody>
          <a:bodyPr wrap="square" lIns="0" tIns="0" rIns="0" bIns="0" anchor="t">
            <a:normAutofit/>
          </a:bodyPr>
          <a:lstStyle/>
          <a:p>
            <a:pPr algn="l">
              <a:lnSpc>
                <a:spcPct val="100000"/>
              </a:lnSpc>
              <a:buNone/>
              <a:defRPr sz="2400" b="1">
                <a:solidFill>
                  <a:srgbClr val="5B91FF"/>
                </a:solidFill>
                <a:latin typeface="Cascadia Mono"/>
                <a:ea typeface="Cascadia Mono"/>
                <a:cs typeface="Cascadia Mono"/>
              </a:defRPr>
            </a:pPr>
            <a:r>
              <a:rPr sz="2400" b="1">
                <a:solidFill>
                  <a:srgbClr val="5B91FF"/>
                </a:solidFill>
                <a:latin typeface="Cascadia Mono"/>
                <a:ea typeface="Cascadia Mono"/>
                <a:cs typeface="Cascadia Mono"/>
              </a:rPr>
              <a:t>11</a:t>
            </a:r>
          </a:p>
        </p:txBody>
      </p:sp>
      <p:sp>
        <p:nvSpPr>
          <p:cNvPr id="11" name="Rectangle 10">
            <a:extLst>
              <a:ext uri="{FF2B5EF4-FFF2-40B4-BE49-F238E27FC236}">
                <a16:creationId xmlns:a16="http://schemas.microsoft.com/office/drawing/2014/main" id="{A298CEC2-1DAE-4E1A-9569-A1C1BC372010}"/>
              </a:ext>
            </a:extLst>
          </p:cNvPr>
          <p:cNvSpPr>
            <a:spLocks noGrp="1"/>
          </p:cNvSpPr>
          <p:nvPr/>
        </p:nvSpPr>
        <p:spPr>
          <a:xfrm>
            <a:off x="8858250" y="3381375"/>
            <a:ext cx="2667000" cy="266700"/>
          </a:xfrm>
          <a:prstGeom prst="rect">
            <a:avLst/>
          </a:prstGeom>
          <a:noFill/>
          <a:ln w="0">
            <a:noFill/>
          </a:ln>
        </p:spPr>
        <p:txBody>
          <a:bodyPr wrap="square" lIns="0" tIns="0" rIns="0" bIns="0" anchor="t">
            <a:normAutofit/>
          </a:bodyPr>
          <a:lstStyle/>
          <a:p>
            <a:pPr algn="r" rtl="1">
              <a:lnSpc>
                <a:spcPct val="100000"/>
              </a:lnSpc>
              <a:buNone/>
              <a:defRPr lang="he-IL" sz="1575" b="0">
                <a:solidFill>
                  <a:srgbClr val="9AB1C5"/>
                </a:solidFill>
                <a:latin typeface="Arial"/>
                <a:ea typeface="Arial"/>
                <a:cs typeface="Arial"/>
              </a:defRPr>
            </a:pPr>
            <a:r>
              <a:rPr lang="he-IL" sz="1575" b="0">
                <a:solidFill>
                  <a:srgbClr val="9AB1C5"/>
                </a:solidFill>
                <a:latin typeface="Arial"/>
                <a:ea typeface="Arial"/>
                <a:cs typeface="Arial"/>
              </a:rPr>
              <a:t>ריצות מפורסמות</a:t>
            </a:r>
          </a:p>
        </p:txBody>
      </p:sp>
      <p:sp>
        <p:nvSpPr>
          <p:cNvPr id="12" name="Rectangle 11">
            <a:extLst>
              <a:ext uri="{FF2B5EF4-FFF2-40B4-BE49-F238E27FC236}">
                <a16:creationId xmlns:a16="http://schemas.microsoft.com/office/drawing/2014/main" id="{F10A1566-AC06-4A56-B74C-515BBADA9E21}"/>
              </a:ext>
            </a:extLst>
          </p:cNvPr>
          <p:cNvSpPr>
            <a:spLocks noGrp="1"/>
          </p:cNvSpPr>
          <p:nvPr/>
        </p:nvSpPr>
        <p:spPr>
          <a:xfrm>
            <a:off x="8858250" y="3848100"/>
            <a:ext cx="2667000" cy="409575"/>
          </a:xfrm>
          <a:prstGeom prst="rect">
            <a:avLst/>
          </a:prstGeom>
          <a:noFill/>
          <a:ln w="0">
            <a:noFill/>
          </a:ln>
        </p:spPr>
        <p:txBody>
          <a:bodyPr wrap="square" lIns="0" tIns="0" rIns="0" bIns="0" anchor="t">
            <a:normAutofit/>
          </a:bodyPr>
          <a:lstStyle/>
          <a:p>
            <a:pPr algn="l">
              <a:lnSpc>
                <a:spcPct val="100000"/>
              </a:lnSpc>
              <a:buNone/>
              <a:defRPr sz="2400" b="1">
                <a:solidFill>
                  <a:srgbClr val="F4B94F"/>
                </a:solidFill>
                <a:latin typeface="Cascadia Mono"/>
                <a:ea typeface="Cascadia Mono"/>
                <a:cs typeface="Cascadia Mono"/>
              </a:defRPr>
            </a:pPr>
            <a:r>
              <a:rPr sz="2400" b="1">
                <a:solidFill>
                  <a:srgbClr val="F4B94F"/>
                </a:solidFill>
                <a:latin typeface="Cascadia Mono"/>
                <a:ea typeface="Cascadia Mono"/>
                <a:cs typeface="Cascadia Mono"/>
              </a:rPr>
              <a:t>65,616</a:t>
            </a:r>
          </a:p>
        </p:txBody>
      </p:sp>
      <p:sp>
        <p:nvSpPr>
          <p:cNvPr id="13" name="Rectangle 12">
            <a:extLst>
              <a:ext uri="{FF2B5EF4-FFF2-40B4-BE49-F238E27FC236}">
                <a16:creationId xmlns:a16="http://schemas.microsoft.com/office/drawing/2014/main" id="{9782E964-4AAC-42A2-8DAE-A84563F6B710}"/>
              </a:ext>
            </a:extLst>
          </p:cNvPr>
          <p:cNvSpPr>
            <a:spLocks noGrp="1"/>
          </p:cNvSpPr>
          <p:nvPr/>
        </p:nvSpPr>
        <p:spPr>
          <a:xfrm>
            <a:off x="8858250" y="4276725"/>
            <a:ext cx="2667000" cy="266700"/>
          </a:xfrm>
          <a:prstGeom prst="rect">
            <a:avLst/>
          </a:prstGeom>
          <a:noFill/>
          <a:ln w="0">
            <a:noFill/>
          </a:ln>
        </p:spPr>
        <p:txBody>
          <a:bodyPr wrap="square" lIns="0" tIns="0" rIns="0" bIns="0" anchor="t">
            <a:normAutofit/>
          </a:bodyPr>
          <a:lstStyle/>
          <a:p>
            <a:pPr algn="r" rtl="1">
              <a:lnSpc>
                <a:spcPct val="100000"/>
              </a:lnSpc>
              <a:buNone/>
              <a:defRPr lang="he-IL" sz="1575" b="0">
                <a:solidFill>
                  <a:srgbClr val="9AB1C5"/>
                </a:solidFill>
                <a:latin typeface="Arial"/>
                <a:ea typeface="Arial"/>
                <a:cs typeface="Arial"/>
              </a:defRPr>
            </a:pPr>
            <a:r>
              <a:rPr lang="he-IL" sz="1575" b="0">
                <a:solidFill>
                  <a:srgbClr val="9AB1C5"/>
                </a:solidFill>
                <a:latin typeface="Arial"/>
                <a:ea typeface="Arial"/>
                <a:cs typeface="Arial"/>
              </a:rPr>
              <a:t>נרות Certified</a:t>
            </a:r>
          </a:p>
        </p:txBody>
      </p:sp>
      <p:sp>
        <p:nvSpPr>
          <p:cNvPr id="14" name="Straight Connector 13">
            <a:extLst>
              <a:ext uri="{FF2B5EF4-FFF2-40B4-BE49-F238E27FC236}">
                <a16:creationId xmlns:a16="http://schemas.microsoft.com/office/drawing/2014/main" id="{29452129-7D1D-4F7F-BC48-22F213AAEFD5}"/>
              </a:ext>
            </a:extLst>
          </p:cNvPr>
          <p:cNvSpPr>
            <a:spLocks noGrp="1"/>
          </p:cNvSpPr>
          <p:nvPr/>
        </p:nvSpPr>
        <p:spPr>
          <a:xfrm>
            <a:off x="8858250" y="4819650"/>
            <a:ext cx="2667000" cy="0"/>
          </a:xfrm>
          <a:prstGeom prst="line">
            <a:avLst/>
          </a:prstGeom>
          <a:noFill/>
          <a:ln w="9525">
            <a:solidFill>
              <a:srgbClr val="294157"/>
            </a:solidFill>
            <a:prstDash val="solid"/>
          </a:ln>
        </p:spPr>
      </p:sp>
      <p:sp>
        <p:nvSpPr>
          <p:cNvPr id="15" name="Rectangle 14">
            <a:extLst>
              <a:ext uri="{FF2B5EF4-FFF2-40B4-BE49-F238E27FC236}">
                <a16:creationId xmlns:a16="http://schemas.microsoft.com/office/drawing/2014/main" id="{C5905195-8407-495A-A3E6-5EB4EC4DEC0D}"/>
              </a:ext>
            </a:extLst>
          </p:cNvPr>
          <p:cNvSpPr>
            <a:spLocks noGrp="1"/>
          </p:cNvSpPr>
          <p:nvPr/>
        </p:nvSpPr>
        <p:spPr>
          <a:xfrm>
            <a:off x="8858250" y="5048250"/>
            <a:ext cx="2667000" cy="704850"/>
          </a:xfrm>
          <a:prstGeom prst="rect">
            <a:avLst/>
          </a:prstGeom>
          <a:noFill/>
          <a:ln w="0">
            <a:noFill/>
          </a:ln>
        </p:spPr>
        <p:txBody>
          <a:bodyPr wrap="square" lIns="0" tIns="0" rIns="0" bIns="0" anchor="t">
            <a:normAutofit/>
          </a:bodyPr>
          <a:lstStyle/>
          <a:p>
            <a:pPr algn="r" rtl="1">
              <a:lnSpc>
                <a:spcPct val="100000"/>
              </a:lnSpc>
              <a:buNone/>
              <a:defRPr lang="he-IL" sz="1500" b="0">
                <a:solidFill>
                  <a:srgbClr val="9AB1C5"/>
                </a:solidFill>
                <a:latin typeface="Arial"/>
                <a:ea typeface="Arial"/>
                <a:cs typeface="Arial"/>
              </a:defRPr>
            </a:pPr>
            <a:r>
              <a:rPr lang="he-IL" sz="1500" b="0">
                <a:solidFill>
                  <a:srgbClr val="9AB1C5"/>
                </a:solidFill>
                <a:latin typeface="Arial"/>
                <a:ea typeface="Arial"/>
                <a:cs typeface="Arial"/>
              </a:rPr>
              <a:t>האות של נר t משפיע רק על הנר הבא, והחישוב כולל עלויות והחלקת מחיר.</a:t>
            </a:r>
          </a:p>
        </p:txBody>
      </p:sp>
    </p:spTree>
    <p:extLst>
      <p:ext uri="{BB962C8B-B14F-4D97-AF65-F5344CB8AC3E}">
        <p14:creationId xmlns:p14="http://schemas.microsoft.com/office/powerpoint/2010/main" val="11335955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91827"/>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24099B59-C743-4E1A-846B-27586EB479FB}"/>
              </a:ext>
            </a:extLst>
          </p:cNvPr>
          <p:cNvSpPr>
            <a:spLocks noGrp="1"/>
          </p:cNvSpPr>
          <p:nvPr/>
        </p:nvSpPr>
        <p:spPr>
          <a:xfrm>
            <a:off x="0" y="0"/>
            <a:ext cx="171450" cy="6858000"/>
          </a:xfrm>
          <a:prstGeom prst="rect">
            <a:avLst/>
          </a:prstGeom>
          <a:solidFill>
            <a:srgbClr val="35D4B5"/>
          </a:solidFill>
          <a:ln w="0">
            <a:noFill/>
          </a:ln>
        </p:spPr>
      </p:sp>
      <p:sp>
        <p:nvSpPr>
          <p:cNvPr id="2" name="Rectangle 1">
            <a:extLst>
              <a:ext uri="{FF2B5EF4-FFF2-40B4-BE49-F238E27FC236}">
                <a16:creationId xmlns:a16="http://schemas.microsoft.com/office/drawing/2014/main" id="{704EEFB3-F661-4FEC-A00D-540B797C8D9C}"/>
              </a:ext>
            </a:extLst>
          </p:cNvPr>
          <p:cNvSpPr>
            <a:spLocks noGrp="1"/>
          </p:cNvSpPr>
          <p:nvPr/>
        </p:nvSpPr>
        <p:spPr>
          <a:xfrm>
            <a:off x="609600" y="361950"/>
            <a:ext cx="4000500" cy="209550"/>
          </a:xfrm>
          <a:prstGeom prst="rect">
            <a:avLst/>
          </a:prstGeom>
          <a:noFill/>
          <a:ln w="0">
            <a:noFill/>
          </a:ln>
        </p:spPr>
        <p:txBody>
          <a:bodyPr wrap="square" lIns="0" tIns="0" rIns="0" bIns="0" anchor="ctr">
            <a:normAutofit/>
          </a:bodyPr>
          <a:lstStyle/>
          <a:p>
            <a:pPr algn="l">
              <a:lnSpc>
                <a:spcPct val="100000"/>
              </a:lnSpc>
              <a:buNone/>
              <a:defRPr sz="975" b="1">
                <a:solidFill>
                  <a:srgbClr val="35D4B5"/>
                </a:solidFill>
                <a:latin typeface="Cascadia Mono"/>
                <a:ea typeface="Cascadia Mono"/>
                <a:cs typeface="Cascadia Mono"/>
              </a:defRPr>
            </a:pPr>
            <a:r>
              <a:rPr sz="975" b="1">
                <a:solidFill>
                  <a:srgbClr val="35D4B5"/>
                </a:solidFill>
                <a:latin typeface="Cascadia Mono"/>
                <a:ea typeface="Cascadia Mono"/>
                <a:cs typeface="Cascadia Mono"/>
              </a:rPr>
              <a:t>ENGINEERING CHALLENGES</a:t>
            </a:r>
          </a:p>
        </p:txBody>
      </p:sp>
      <p:sp>
        <p:nvSpPr>
          <p:cNvPr id="3" name="Rectangle 2">
            <a:extLst>
              <a:ext uri="{FF2B5EF4-FFF2-40B4-BE49-F238E27FC236}">
                <a16:creationId xmlns:a16="http://schemas.microsoft.com/office/drawing/2014/main" id="{96D88EA8-8049-4397-860E-07ABB10065A6}"/>
              </a:ext>
            </a:extLst>
          </p:cNvPr>
          <p:cNvSpPr>
            <a:spLocks noGrp="1"/>
          </p:cNvSpPr>
          <p:nvPr/>
        </p:nvSpPr>
        <p:spPr>
          <a:xfrm>
            <a:off x="4191000" y="533400"/>
            <a:ext cx="7391400" cy="552450"/>
          </a:xfrm>
          <a:prstGeom prst="rect">
            <a:avLst/>
          </a:prstGeom>
          <a:noFill/>
          <a:ln w="0">
            <a:noFill/>
          </a:ln>
        </p:spPr>
        <p:txBody>
          <a:bodyPr wrap="square" lIns="0" tIns="0" rIns="0" bIns="0" anchor="t">
            <a:normAutofit/>
          </a:bodyPr>
          <a:lstStyle/>
          <a:p>
            <a:pPr algn="r" rtl="1">
              <a:lnSpc>
                <a:spcPct val="100000"/>
              </a:lnSpc>
              <a:buNone/>
              <a:defRPr lang="he-IL" sz="2400" b="1">
                <a:solidFill>
                  <a:srgbClr val="F8FBFF"/>
                </a:solidFill>
                <a:latin typeface="Arial"/>
                <a:ea typeface="Arial"/>
                <a:cs typeface="Arial"/>
              </a:defRPr>
            </a:pPr>
            <a:r>
              <a:rPr lang="he-IL" sz="2400" b="1">
                <a:solidFill>
                  <a:srgbClr val="F8FBFF"/>
                </a:solidFill>
                <a:latin typeface="Arial"/>
                <a:ea typeface="Arial"/>
                <a:cs typeface="Arial"/>
              </a:rPr>
              <a:t>האתגרים שהפכו לעקרונות תכנון</a:t>
            </a:r>
          </a:p>
        </p:txBody>
      </p:sp>
      <p:sp>
        <p:nvSpPr>
          <p:cNvPr id="4" name="Rectangle 3">
            <a:extLst>
              <a:ext uri="{FF2B5EF4-FFF2-40B4-BE49-F238E27FC236}">
                <a16:creationId xmlns:a16="http://schemas.microsoft.com/office/drawing/2014/main" id="{1419F467-65CC-403D-BD5A-AA8AAAA3512F}"/>
              </a:ext>
            </a:extLst>
          </p:cNvPr>
          <p:cNvSpPr>
            <a:spLocks noGrp="1"/>
          </p:cNvSpPr>
          <p:nvPr/>
        </p:nvSpPr>
        <p:spPr>
          <a:xfrm>
            <a:off x="495300" y="6438900"/>
            <a:ext cx="342900" cy="171450"/>
          </a:xfrm>
          <a:prstGeom prst="rect">
            <a:avLst/>
          </a:prstGeom>
          <a:noFill/>
          <a:ln w="0">
            <a:noFill/>
          </a:ln>
        </p:spPr>
        <p:txBody>
          <a:bodyPr wrap="square" lIns="0" tIns="0" rIns="0" bIns="0" anchor="t">
            <a:normAutofit/>
          </a:bodyPr>
          <a:lstStyle/>
          <a:p>
            <a:pPr algn="l">
              <a:lnSpc>
                <a:spcPct val="100000"/>
              </a:lnSpc>
              <a:buNone/>
              <a:defRPr sz="825" b="1">
                <a:solidFill>
                  <a:srgbClr val="9AB1C5"/>
                </a:solidFill>
                <a:latin typeface="Cascadia Mono"/>
                <a:ea typeface="Cascadia Mono"/>
                <a:cs typeface="Cascadia Mono"/>
              </a:defRPr>
            </a:pPr>
            <a:r>
              <a:rPr sz="825" b="1">
                <a:solidFill>
                  <a:srgbClr val="9AB1C5"/>
                </a:solidFill>
                <a:latin typeface="Cascadia Mono"/>
                <a:ea typeface="Cascadia Mono"/>
                <a:cs typeface="Cascadia Mono"/>
              </a:rPr>
              <a:t>10</a:t>
            </a:r>
          </a:p>
        </p:txBody>
      </p:sp>
      <p:sp>
        <p:nvSpPr>
          <p:cNvPr id="5" name="Straight Connector 4">
            <a:extLst>
              <a:ext uri="{FF2B5EF4-FFF2-40B4-BE49-F238E27FC236}">
                <a16:creationId xmlns:a16="http://schemas.microsoft.com/office/drawing/2014/main" id="{9EF9ED4B-FE5C-4CE6-B501-C7A3F6518521}"/>
              </a:ext>
            </a:extLst>
          </p:cNvPr>
          <p:cNvSpPr>
            <a:spLocks noGrp="1"/>
          </p:cNvSpPr>
          <p:nvPr/>
        </p:nvSpPr>
        <p:spPr>
          <a:xfrm>
            <a:off x="914400" y="6534150"/>
            <a:ext cx="10744200" cy="0"/>
          </a:xfrm>
          <a:prstGeom prst="line">
            <a:avLst/>
          </a:prstGeom>
          <a:noFill/>
          <a:ln w="9525">
            <a:solidFill>
              <a:srgbClr val="294157"/>
            </a:solidFill>
            <a:prstDash val="solid"/>
          </a:ln>
        </p:spPr>
      </p:sp>
      <p:sp>
        <p:nvSpPr>
          <p:cNvPr id="6" name="Rectangle 5">
            <a:extLst>
              <a:ext uri="{FF2B5EF4-FFF2-40B4-BE49-F238E27FC236}">
                <a16:creationId xmlns:a16="http://schemas.microsoft.com/office/drawing/2014/main" id="{750238A9-FC5B-4522-A6B2-4ECFF73B48B7}"/>
              </a:ext>
            </a:extLst>
          </p:cNvPr>
          <p:cNvSpPr>
            <a:spLocks noGrp="1"/>
          </p:cNvSpPr>
          <p:nvPr/>
        </p:nvSpPr>
        <p:spPr>
          <a:xfrm>
            <a:off x="8763000" y="1257300"/>
            <a:ext cx="2762250" cy="247650"/>
          </a:xfrm>
          <a:prstGeom prst="rect">
            <a:avLst/>
          </a:prstGeom>
          <a:noFill/>
          <a:ln w="0">
            <a:noFill/>
          </a:ln>
        </p:spPr>
        <p:txBody>
          <a:bodyPr wrap="square" lIns="0" tIns="0" rIns="0" bIns="0" anchor="t">
            <a:normAutofit/>
          </a:bodyPr>
          <a:lstStyle/>
          <a:p>
            <a:pPr algn="r" rtl="1">
              <a:lnSpc>
                <a:spcPct val="100000"/>
              </a:lnSpc>
              <a:buNone/>
              <a:defRPr lang="he-IL" sz="1200" b="1">
                <a:solidFill>
                  <a:srgbClr val="9AB1C5"/>
                </a:solidFill>
                <a:latin typeface="Arial"/>
                <a:ea typeface="Arial"/>
                <a:cs typeface="Arial"/>
              </a:defRPr>
            </a:pPr>
            <a:r>
              <a:rPr lang="he-IL" sz="1200" b="1">
                <a:solidFill>
                  <a:srgbClr val="9AB1C5"/>
                </a:solidFill>
                <a:latin typeface="Arial"/>
                <a:ea typeface="Arial"/>
                <a:cs typeface="Arial"/>
              </a:rPr>
              <a:t>המתח</a:t>
            </a:r>
          </a:p>
        </p:txBody>
      </p:sp>
      <p:sp>
        <p:nvSpPr>
          <p:cNvPr id="7" name="Rectangle 6">
            <a:extLst>
              <a:ext uri="{FF2B5EF4-FFF2-40B4-BE49-F238E27FC236}">
                <a16:creationId xmlns:a16="http://schemas.microsoft.com/office/drawing/2014/main" id="{D6BFBF3B-AF3C-415A-846D-924F89BCD510}"/>
              </a:ext>
            </a:extLst>
          </p:cNvPr>
          <p:cNvSpPr>
            <a:spLocks noGrp="1"/>
          </p:cNvSpPr>
          <p:nvPr/>
        </p:nvSpPr>
        <p:spPr>
          <a:xfrm>
            <a:off x="1047750" y="1257300"/>
            <a:ext cx="6477000" cy="247650"/>
          </a:xfrm>
          <a:prstGeom prst="rect">
            <a:avLst/>
          </a:prstGeom>
          <a:noFill/>
          <a:ln w="0">
            <a:noFill/>
          </a:ln>
        </p:spPr>
        <p:txBody>
          <a:bodyPr wrap="square" lIns="0" tIns="0" rIns="0" bIns="0" anchor="t">
            <a:normAutofit/>
          </a:bodyPr>
          <a:lstStyle/>
          <a:p>
            <a:pPr algn="r" rtl="1">
              <a:lnSpc>
                <a:spcPct val="100000"/>
              </a:lnSpc>
              <a:buNone/>
              <a:defRPr lang="he-IL" sz="1200" b="1">
                <a:solidFill>
                  <a:srgbClr val="9AB1C5"/>
                </a:solidFill>
                <a:latin typeface="Arial"/>
                <a:ea typeface="Arial"/>
                <a:cs typeface="Arial"/>
              </a:defRPr>
            </a:pPr>
            <a:r>
              <a:rPr lang="he-IL" sz="1200" b="1">
                <a:solidFill>
                  <a:srgbClr val="9AB1C5"/>
                </a:solidFill>
                <a:latin typeface="Arial"/>
                <a:ea typeface="Arial"/>
                <a:cs typeface="Arial"/>
              </a:rPr>
              <a:t>ההחלטה</a:t>
            </a:r>
          </a:p>
        </p:txBody>
      </p:sp>
      <p:sp>
        <p:nvSpPr>
          <p:cNvPr id="8" name="Straight Connector 7">
            <a:extLst>
              <a:ext uri="{FF2B5EF4-FFF2-40B4-BE49-F238E27FC236}">
                <a16:creationId xmlns:a16="http://schemas.microsoft.com/office/drawing/2014/main" id="{9F98B46E-1903-486A-8A6A-B6114BB8E4BB}"/>
              </a:ext>
            </a:extLst>
          </p:cNvPr>
          <p:cNvSpPr>
            <a:spLocks noGrp="1"/>
          </p:cNvSpPr>
          <p:nvPr/>
        </p:nvSpPr>
        <p:spPr>
          <a:xfrm>
            <a:off x="609600" y="1619250"/>
            <a:ext cx="10972800" cy="0"/>
          </a:xfrm>
          <a:prstGeom prst="line">
            <a:avLst/>
          </a:prstGeom>
          <a:noFill/>
          <a:ln w="9525">
            <a:solidFill>
              <a:srgbClr val="294157"/>
            </a:solidFill>
            <a:prstDash val="solid"/>
          </a:ln>
        </p:spPr>
      </p:sp>
      <p:sp>
        <p:nvSpPr>
          <p:cNvPr id="9" name="Rectangle 8">
            <a:extLst>
              <a:ext uri="{FF2B5EF4-FFF2-40B4-BE49-F238E27FC236}">
                <a16:creationId xmlns:a16="http://schemas.microsoft.com/office/drawing/2014/main" id="{5ED94049-F882-44D1-AECE-8F54D409D46D}"/>
              </a:ext>
            </a:extLst>
          </p:cNvPr>
          <p:cNvSpPr>
            <a:spLocks noGrp="1"/>
          </p:cNvSpPr>
          <p:nvPr/>
        </p:nvSpPr>
        <p:spPr>
          <a:xfrm>
            <a:off x="8305800" y="1847850"/>
            <a:ext cx="3219450" cy="457200"/>
          </a:xfrm>
          <a:prstGeom prst="rect">
            <a:avLst/>
          </a:prstGeom>
          <a:noFill/>
          <a:ln w="0">
            <a:noFill/>
          </a:ln>
        </p:spPr>
        <p:txBody>
          <a:bodyPr wrap="square" lIns="0" tIns="0" rIns="0" bIns="0" anchor="t">
            <a:normAutofit/>
          </a:bodyPr>
          <a:lstStyle/>
          <a:p>
            <a:pPr algn="r" rtl="1">
              <a:lnSpc>
                <a:spcPct val="100000"/>
              </a:lnSpc>
              <a:buNone/>
              <a:defRPr lang="he-IL" sz="1875" b="1">
                <a:solidFill>
                  <a:srgbClr val="F8FBFF"/>
                </a:solidFill>
                <a:latin typeface="Arial"/>
                <a:ea typeface="Arial"/>
                <a:cs typeface="Arial"/>
              </a:defRPr>
            </a:pPr>
            <a:r>
              <a:rPr lang="he-IL" sz="1875" b="1">
                <a:solidFill>
                  <a:srgbClr val="F8FBFF"/>
                </a:solidFill>
                <a:latin typeface="Arial"/>
                <a:ea typeface="Arial"/>
                <a:cs typeface="Arial"/>
              </a:rPr>
              <a:t>מהירות מול אמינות</a:t>
            </a:r>
          </a:p>
        </p:txBody>
      </p:sp>
      <p:sp>
        <p:nvSpPr>
          <p:cNvPr id="10" name="Rectangle 9">
            <a:extLst>
              <a:ext uri="{FF2B5EF4-FFF2-40B4-BE49-F238E27FC236}">
                <a16:creationId xmlns:a16="http://schemas.microsoft.com/office/drawing/2014/main" id="{C393061D-1D9E-44E9-9AF3-647961E8472A}"/>
              </a:ext>
            </a:extLst>
          </p:cNvPr>
          <p:cNvSpPr>
            <a:spLocks noGrp="1"/>
          </p:cNvSpPr>
          <p:nvPr/>
        </p:nvSpPr>
        <p:spPr>
          <a:xfrm>
            <a:off x="7886700" y="1866900"/>
            <a:ext cx="38100" cy="552450"/>
          </a:xfrm>
          <a:prstGeom prst="rect">
            <a:avLst/>
          </a:prstGeom>
          <a:solidFill>
            <a:srgbClr val="35D4B5"/>
          </a:solidFill>
          <a:ln w="0">
            <a:noFill/>
          </a:ln>
        </p:spPr>
      </p:sp>
      <p:sp>
        <p:nvSpPr>
          <p:cNvPr id="11" name="Rectangle 10">
            <a:extLst>
              <a:ext uri="{FF2B5EF4-FFF2-40B4-BE49-F238E27FC236}">
                <a16:creationId xmlns:a16="http://schemas.microsoft.com/office/drawing/2014/main" id="{FD3ADFDE-5629-4412-BF00-EF7C47541BCA}"/>
              </a:ext>
            </a:extLst>
          </p:cNvPr>
          <p:cNvSpPr>
            <a:spLocks noGrp="1"/>
          </p:cNvSpPr>
          <p:nvPr/>
        </p:nvSpPr>
        <p:spPr>
          <a:xfrm>
            <a:off x="1047750" y="1828800"/>
            <a:ext cx="6429375" cy="342900"/>
          </a:xfrm>
          <a:prstGeom prst="rect">
            <a:avLst/>
          </a:prstGeom>
          <a:noFill/>
          <a:ln w="0">
            <a:noFill/>
          </a:ln>
        </p:spPr>
        <p:txBody>
          <a:bodyPr wrap="square" lIns="0" tIns="0" rIns="0" bIns="0" anchor="t">
            <a:normAutofit/>
          </a:bodyPr>
          <a:lstStyle/>
          <a:p>
            <a:pPr algn="r" rtl="1">
              <a:lnSpc>
                <a:spcPct val="100000"/>
              </a:lnSpc>
              <a:buNone/>
              <a:defRPr lang="he-IL" sz="1650" b="0">
                <a:solidFill>
                  <a:srgbClr val="F8FBFF"/>
                </a:solidFill>
                <a:latin typeface="Arial"/>
                <a:ea typeface="Arial"/>
                <a:cs typeface="Arial"/>
              </a:defRPr>
            </a:pPr>
            <a:r>
              <a:rPr lang="he-IL" sz="1650" b="0">
                <a:solidFill>
                  <a:srgbClr val="F8FBFF"/>
                </a:solidFill>
                <a:latin typeface="Arial"/>
                <a:ea typeface="Arial"/>
                <a:cs typeface="Arial"/>
              </a:rPr>
              <a:t>נתון חי מוצג מיד. יום סגור נבנה מחדש ונבדק.</a:t>
            </a:r>
          </a:p>
        </p:txBody>
      </p:sp>
      <p:sp>
        <p:nvSpPr>
          <p:cNvPr id="12" name="Rectangle 11">
            <a:extLst>
              <a:ext uri="{FF2B5EF4-FFF2-40B4-BE49-F238E27FC236}">
                <a16:creationId xmlns:a16="http://schemas.microsoft.com/office/drawing/2014/main" id="{756484A6-4381-4832-B80D-86E76D794E86}"/>
              </a:ext>
            </a:extLst>
          </p:cNvPr>
          <p:cNvSpPr>
            <a:spLocks noGrp="1"/>
          </p:cNvSpPr>
          <p:nvPr/>
        </p:nvSpPr>
        <p:spPr>
          <a:xfrm>
            <a:off x="1047750" y="2228850"/>
            <a:ext cx="6429375" cy="228600"/>
          </a:xfrm>
          <a:prstGeom prst="rect">
            <a:avLst/>
          </a:prstGeom>
          <a:noFill/>
          <a:ln w="0">
            <a:noFill/>
          </a:ln>
        </p:spPr>
        <p:txBody>
          <a:bodyPr wrap="square" lIns="0" tIns="0" rIns="0" bIns="0" anchor="t">
            <a:normAutofit/>
          </a:bodyPr>
          <a:lstStyle/>
          <a:p>
            <a:pPr algn="l">
              <a:lnSpc>
                <a:spcPct val="100000"/>
              </a:lnSpc>
              <a:buNone/>
              <a:defRPr sz="1050" b="1">
                <a:solidFill>
                  <a:srgbClr val="35D4B5"/>
                </a:solidFill>
                <a:latin typeface="Cascadia Mono"/>
                <a:ea typeface="Cascadia Mono"/>
                <a:cs typeface="Cascadia Mono"/>
              </a:defRPr>
            </a:pPr>
            <a:r>
              <a:rPr sz="1050" b="1">
                <a:solidFill>
                  <a:srgbClr val="35D4B5"/>
                </a:solidFill>
                <a:latin typeface="Cascadia Mono"/>
                <a:ea typeface="Cascadia Mono"/>
                <a:cs typeface="Cascadia Mono"/>
              </a:rPr>
              <a:t>PROVISIONAL / CERTIFIED</a:t>
            </a:r>
          </a:p>
        </p:txBody>
      </p:sp>
      <p:sp>
        <p:nvSpPr>
          <p:cNvPr id="13" name="Straight Connector 12">
            <a:extLst>
              <a:ext uri="{FF2B5EF4-FFF2-40B4-BE49-F238E27FC236}">
                <a16:creationId xmlns:a16="http://schemas.microsoft.com/office/drawing/2014/main" id="{FA30FF6E-6DD4-4EA8-B646-5948BE991738}"/>
              </a:ext>
            </a:extLst>
          </p:cNvPr>
          <p:cNvSpPr>
            <a:spLocks noGrp="1"/>
          </p:cNvSpPr>
          <p:nvPr/>
        </p:nvSpPr>
        <p:spPr>
          <a:xfrm>
            <a:off x="609600" y="2628900"/>
            <a:ext cx="10972800" cy="0"/>
          </a:xfrm>
          <a:prstGeom prst="line">
            <a:avLst/>
          </a:prstGeom>
          <a:noFill/>
          <a:ln w="9525">
            <a:solidFill>
              <a:srgbClr val="294157"/>
            </a:solidFill>
            <a:prstDash val="solid"/>
          </a:ln>
        </p:spPr>
      </p:sp>
      <p:sp>
        <p:nvSpPr>
          <p:cNvPr id="14" name="Rectangle 13">
            <a:extLst>
              <a:ext uri="{FF2B5EF4-FFF2-40B4-BE49-F238E27FC236}">
                <a16:creationId xmlns:a16="http://schemas.microsoft.com/office/drawing/2014/main" id="{CE562733-CFBB-4EE4-9371-6787D4699123}"/>
              </a:ext>
            </a:extLst>
          </p:cNvPr>
          <p:cNvSpPr>
            <a:spLocks noGrp="1"/>
          </p:cNvSpPr>
          <p:nvPr/>
        </p:nvSpPr>
        <p:spPr>
          <a:xfrm>
            <a:off x="8305800" y="2847975"/>
            <a:ext cx="3219450" cy="457200"/>
          </a:xfrm>
          <a:prstGeom prst="rect">
            <a:avLst/>
          </a:prstGeom>
          <a:noFill/>
          <a:ln w="0">
            <a:noFill/>
          </a:ln>
        </p:spPr>
        <p:txBody>
          <a:bodyPr wrap="square" lIns="0" tIns="0" rIns="0" bIns="0" anchor="t">
            <a:normAutofit/>
          </a:bodyPr>
          <a:lstStyle/>
          <a:p>
            <a:pPr algn="r" rtl="1">
              <a:lnSpc>
                <a:spcPct val="100000"/>
              </a:lnSpc>
              <a:buNone/>
              <a:defRPr lang="he-IL" sz="1875" b="1">
                <a:solidFill>
                  <a:srgbClr val="F8FBFF"/>
                </a:solidFill>
                <a:latin typeface="Arial"/>
                <a:ea typeface="Arial"/>
                <a:cs typeface="Arial"/>
              </a:defRPr>
            </a:pPr>
            <a:r>
              <a:rPr lang="he-IL" sz="1875" b="1">
                <a:solidFill>
                  <a:srgbClr val="F8FBFF"/>
                </a:solidFill>
                <a:latin typeface="Arial"/>
                <a:ea typeface="Arial"/>
                <a:cs typeface="Arial"/>
              </a:rPr>
              <a:t>כשל וניסיון חוזר</a:t>
            </a:r>
          </a:p>
        </p:txBody>
      </p:sp>
      <p:sp>
        <p:nvSpPr>
          <p:cNvPr id="15" name="Rectangle 14">
            <a:extLst>
              <a:ext uri="{FF2B5EF4-FFF2-40B4-BE49-F238E27FC236}">
                <a16:creationId xmlns:a16="http://schemas.microsoft.com/office/drawing/2014/main" id="{A8544521-7F6B-4AB5-94A4-98A0FAB05C17}"/>
              </a:ext>
            </a:extLst>
          </p:cNvPr>
          <p:cNvSpPr>
            <a:spLocks noGrp="1"/>
          </p:cNvSpPr>
          <p:nvPr/>
        </p:nvSpPr>
        <p:spPr>
          <a:xfrm>
            <a:off x="7886700" y="2867025"/>
            <a:ext cx="38100" cy="552450"/>
          </a:xfrm>
          <a:prstGeom prst="rect">
            <a:avLst/>
          </a:prstGeom>
          <a:solidFill>
            <a:srgbClr val="5B91FF"/>
          </a:solidFill>
          <a:ln w="0">
            <a:noFill/>
          </a:ln>
        </p:spPr>
      </p:sp>
      <p:sp>
        <p:nvSpPr>
          <p:cNvPr id="16" name="Rectangle 15">
            <a:extLst>
              <a:ext uri="{FF2B5EF4-FFF2-40B4-BE49-F238E27FC236}">
                <a16:creationId xmlns:a16="http://schemas.microsoft.com/office/drawing/2014/main" id="{5B202C08-B6BD-4B9F-926E-06980839BAFF}"/>
              </a:ext>
            </a:extLst>
          </p:cNvPr>
          <p:cNvSpPr>
            <a:spLocks noGrp="1"/>
          </p:cNvSpPr>
          <p:nvPr/>
        </p:nvSpPr>
        <p:spPr>
          <a:xfrm>
            <a:off x="1047750" y="2828925"/>
            <a:ext cx="6429375" cy="342900"/>
          </a:xfrm>
          <a:prstGeom prst="rect">
            <a:avLst/>
          </a:prstGeom>
          <a:noFill/>
          <a:ln w="0">
            <a:noFill/>
          </a:ln>
        </p:spPr>
        <p:txBody>
          <a:bodyPr wrap="square" lIns="0" tIns="0" rIns="0" bIns="0" anchor="t">
            <a:normAutofit/>
          </a:bodyPr>
          <a:lstStyle/>
          <a:p>
            <a:pPr algn="r" rtl="1">
              <a:lnSpc>
                <a:spcPct val="100000"/>
              </a:lnSpc>
              <a:buNone/>
              <a:defRPr lang="he-IL" sz="1650" b="0">
                <a:solidFill>
                  <a:srgbClr val="F8FBFF"/>
                </a:solidFill>
                <a:latin typeface="Arial"/>
                <a:ea typeface="Arial"/>
                <a:cs typeface="Arial"/>
              </a:defRPr>
            </a:pPr>
            <a:r>
              <a:rPr lang="he-IL" sz="1650" b="0">
                <a:solidFill>
                  <a:srgbClr val="F8FBFF"/>
                </a:solidFill>
                <a:latin typeface="Arial"/>
                <a:ea typeface="Arial"/>
                <a:cs typeface="Arial"/>
              </a:rPr>
              <a:t>הפעלה חוזרת אינה יוצרת רשומה עסקית כפולה.</a:t>
            </a:r>
          </a:p>
        </p:txBody>
      </p:sp>
      <p:sp>
        <p:nvSpPr>
          <p:cNvPr id="17" name="Rectangle 16">
            <a:extLst>
              <a:ext uri="{FF2B5EF4-FFF2-40B4-BE49-F238E27FC236}">
                <a16:creationId xmlns:a16="http://schemas.microsoft.com/office/drawing/2014/main" id="{81308C20-C53C-4066-8A15-73A704DF855D}"/>
              </a:ext>
            </a:extLst>
          </p:cNvPr>
          <p:cNvSpPr>
            <a:spLocks noGrp="1"/>
          </p:cNvSpPr>
          <p:nvPr/>
        </p:nvSpPr>
        <p:spPr>
          <a:xfrm>
            <a:off x="1047750" y="3228975"/>
            <a:ext cx="6429375" cy="228600"/>
          </a:xfrm>
          <a:prstGeom prst="rect">
            <a:avLst/>
          </a:prstGeom>
          <a:noFill/>
          <a:ln w="0">
            <a:noFill/>
          </a:ln>
        </p:spPr>
        <p:txBody>
          <a:bodyPr wrap="square" lIns="0" tIns="0" rIns="0" bIns="0" anchor="t">
            <a:normAutofit/>
          </a:bodyPr>
          <a:lstStyle/>
          <a:p>
            <a:pPr algn="l">
              <a:lnSpc>
                <a:spcPct val="100000"/>
              </a:lnSpc>
              <a:buNone/>
              <a:defRPr sz="1050" b="1">
                <a:solidFill>
                  <a:srgbClr val="5B91FF"/>
                </a:solidFill>
                <a:latin typeface="Cascadia Mono"/>
                <a:ea typeface="Cascadia Mono"/>
                <a:cs typeface="Cascadia Mono"/>
              </a:defRPr>
            </a:pPr>
            <a:r>
              <a:rPr sz="1050" b="1">
                <a:solidFill>
                  <a:srgbClr val="5B91FF"/>
                </a:solidFill>
                <a:latin typeface="Cascadia Mono"/>
                <a:ea typeface="Cascadia Mono"/>
                <a:cs typeface="Cascadia Mono"/>
              </a:rPr>
              <a:t>CHECKPOINT · BUSINESS KEY · UPSERT</a:t>
            </a:r>
          </a:p>
        </p:txBody>
      </p:sp>
      <p:sp>
        <p:nvSpPr>
          <p:cNvPr id="18" name="Straight Connector 17">
            <a:extLst>
              <a:ext uri="{FF2B5EF4-FFF2-40B4-BE49-F238E27FC236}">
                <a16:creationId xmlns:a16="http://schemas.microsoft.com/office/drawing/2014/main" id="{FF9B5797-59FB-46FF-824D-3AB353FEF92F}"/>
              </a:ext>
            </a:extLst>
          </p:cNvPr>
          <p:cNvSpPr>
            <a:spLocks noGrp="1"/>
          </p:cNvSpPr>
          <p:nvPr/>
        </p:nvSpPr>
        <p:spPr>
          <a:xfrm>
            <a:off x="609600" y="3629025"/>
            <a:ext cx="10972800" cy="0"/>
          </a:xfrm>
          <a:prstGeom prst="line">
            <a:avLst/>
          </a:prstGeom>
          <a:noFill/>
          <a:ln w="9525">
            <a:solidFill>
              <a:srgbClr val="294157"/>
            </a:solidFill>
            <a:prstDash val="solid"/>
          </a:ln>
        </p:spPr>
      </p:sp>
      <p:sp>
        <p:nvSpPr>
          <p:cNvPr id="19" name="Rectangle 18">
            <a:extLst>
              <a:ext uri="{FF2B5EF4-FFF2-40B4-BE49-F238E27FC236}">
                <a16:creationId xmlns:a16="http://schemas.microsoft.com/office/drawing/2014/main" id="{E83DB61D-3774-40B9-BB49-E2257F9B9CDC}"/>
              </a:ext>
            </a:extLst>
          </p:cNvPr>
          <p:cNvSpPr>
            <a:spLocks noGrp="1"/>
          </p:cNvSpPr>
          <p:nvPr/>
        </p:nvSpPr>
        <p:spPr>
          <a:xfrm>
            <a:off x="8305800" y="3848100"/>
            <a:ext cx="3219450" cy="457200"/>
          </a:xfrm>
          <a:prstGeom prst="rect">
            <a:avLst/>
          </a:prstGeom>
          <a:noFill/>
          <a:ln w="0">
            <a:noFill/>
          </a:ln>
        </p:spPr>
        <p:txBody>
          <a:bodyPr wrap="square" lIns="0" tIns="0" rIns="0" bIns="0" anchor="t">
            <a:normAutofit/>
          </a:bodyPr>
          <a:lstStyle/>
          <a:p>
            <a:pPr algn="r" rtl="1">
              <a:lnSpc>
                <a:spcPct val="100000"/>
              </a:lnSpc>
              <a:buNone/>
              <a:defRPr lang="he-IL" sz="1875" b="1">
                <a:solidFill>
                  <a:srgbClr val="F8FBFF"/>
                </a:solidFill>
                <a:latin typeface="Arial"/>
                <a:ea typeface="Arial"/>
                <a:cs typeface="Arial"/>
              </a:defRPr>
            </a:pPr>
            <a:r>
              <a:rPr lang="he-IL" sz="1875" b="1">
                <a:solidFill>
                  <a:srgbClr val="F8FBFF"/>
                </a:solidFill>
                <a:latin typeface="Arial"/>
                <a:ea typeface="Arial"/>
                <a:cs typeface="Arial"/>
              </a:rPr>
              <a:t>היסטוריה בלי קיצור דרך</a:t>
            </a:r>
          </a:p>
        </p:txBody>
      </p:sp>
      <p:sp>
        <p:nvSpPr>
          <p:cNvPr id="20" name="Rectangle 19">
            <a:extLst>
              <a:ext uri="{FF2B5EF4-FFF2-40B4-BE49-F238E27FC236}">
                <a16:creationId xmlns:a16="http://schemas.microsoft.com/office/drawing/2014/main" id="{A45A393F-D24C-44CD-84A9-0E0D0630FF9C}"/>
              </a:ext>
            </a:extLst>
          </p:cNvPr>
          <p:cNvSpPr>
            <a:spLocks noGrp="1"/>
          </p:cNvSpPr>
          <p:nvPr/>
        </p:nvSpPr>
        <p:spPr>
          <a:xfrm>
            <a:off x="7886700" y="3867150"/>
            <a:ext cx="38100" cy="552450"/>
          </a:xfrm>
          <a:prstGeom prst="rect">
            <a:avLst/>
          </a:prstGeom>
          <a:solidFill>
            <a:srgbClr val="F4B94F"/>
          </a:solidFill>
          <a:ln w="0">
            <a:noFill/>
          </a:ln>
        </p:spPr>
      </p:sp>
      <p:sp>
        <p:nvSpPr>
          <p:cNvPr id="21" name="Rectangle 20">
            <a:extLst>
              <a:ext uri="{FF2B5EF4-FFF2-40B4-BE49-F238E27FC236}">
                <a16:creationId xmlns:a16="http://schemas.microsoft.com/office/drawing/2014/main" id="{882C6542-5E1A-42A4-AE5E-B819468B2736}"/>
              </a:ext>
            </a:extLst>
          </p:cNvPr>
          <p:cNvSpPr>
            <a:spLocks noGrp="1"/>
          </p:cNvSpPr>
          <p:nvPr/>
        </p:nvSpPr>
        <p:spPr>
          <a:xfrm>
            <a:off x="1047750" y="3829050"/>
            <a:ext cx="6429375" cy="342900"/>
          </a:xfrm>
          <a:prstGeom prst="rect">
            <a:avLst/>
          </a:prstGeom>
          <a:noFill/>
          <a:ln w="0">
            <a:noFill/>
          </a:ln>
        </p:spPr>
        <p:txBody>
          <a:bodyPr wrap="square" lIns="0" tIns="0" rIns="0" bIns="0" anchor="t">
            <a:normAutofit/>
          </a:bodyPr>
          <a:lstStyle/>
          <a:p>
            <a:pPr algn="r" rtl="1">
              <a:lnSpc>
                <a:spcPct val="100000"/>
              </a:lnSpc>
              <a:buNone/>
              <a:defRPr lang="he-IL" sz="1650" b="0">
                <a:solidFill>
                  <a:srgbClr val="F8FBFF"/>
                </a:solidFill>
                <a:latin typeface="Arial"/>
                <a:ea typeface="Arial"/>
                <a:cs typeface="Arial"/>
              </a:defRPr>
            </a:pPr>
            <a:r>
              <a:rPr lang="he-IL" sz="1650" b="0">
                <a:solidFill>
                  <a:srgbClr val="F8FBFF"/>
                </a:solidFill>
                <a:latin typeface="Arial"/>
                <a:ea typeface="Arial"/>
                <a:cs typeface="Arial"/>
              </a:rPr>
              <a:t>נתוני עבר עוברים שמירה גולמית ואיכות לפני פרסום.</a:t>
            </a:r>
          </a:p>
        </p:txBody>
      </p:sp>
      <p:sp>
        <p:nvSpPr>
          <p:cNvPr id="22" name="Rectangle 21">
            <a:extLst>
              <a:ext uri="{FF2B5EF4-FFF2-40B4-BE49-F238E27FC236}">
                <a16:creationId xmlns:a16="http://schemas.microsoft.com/office/drawing/2014/main" id="{580391AC-E115-4F09-ADDD-844B64A33788}"/>
              </a:ext>
            </a:extLst>
          </p:cNvPr>
          <p:cNvSpPr>
            <a:spLocks noGrp="1"/>
          </p:cNvSpPr>
          <p:nvPr/>
        </p:nvSpPr>
        <p:spPr>
          <a:xfrm>
            <a:off x="1047750" y="4229100"/>
            <a:ext cx="6429375" cy="228600"/>
          </a:xfrm>
          <a:prstGeom prst="rect">
            <a:avLst/>
          </a:prstGeom>
          <a:noFill/>
          <a:ln w="0">
            <a:noFill/>
          </a:ln>
        </p:spPr>
        <p:txBody>
          <a:bodyPr wrap="square" lIns="0" tIns="0" rIns="0" bIns="0" anchor="t">
            <a:normAutofit/>
          </a:bodyPr>
          <a:lstStyle/>
          <a:p>
            <a:pPr algn="l">
              <a:lnSpc>
                <a:spcPct val="100000"/>
              </a:lnSpc>
              <a:buNone/>
              <a:defRPr sz="1050" b="1">
                <a:solidFill>
                  <a:srgbClr val="F4B94F"/>
                </a:solidFill>
                <a:latin typeface="Cascadia Mono"/>
                <a:ea typeface="Cascadia Mono"/>
                <a:cs typeface="Cascadia Mono"/>
              </a:defRPr>
            </a:pPr>
            <a:r>
              <a:rPr sz="1050" b="1">
                <a:solidFill>
                  <a:srgbClr val="F4B94F"/>
                </a:solidFill>
                <a:latin typeface="Cascadia Mono"/>
                <a:ea typeface="Cascadia Mono"/>
                <a:cs typeface="Cascadia Mono"/>
              </a:rPr>
              <a:t>HISTORICAL TOPIC · BRONZE BARRIER</a:t>
            </a:r>
          </a:p>
        </p:txBody>
      </p:sp>
      <p:sp>
        <p:nvSpPr>
          <p:cNvPr id="23" name="Straight Connector 22">
            <a:extLst>
              <a:ext uri="{FF2B5EF4-FFF2-40B4-BE49-F238E27FC236}">
                <a16:creationId xmlns:a16="http://schemas.microsoft.com/office/drawing/2014/main" id="{20A1E970-B40D-4937-8FDD-C39C6C09FA0C}"/>
              </a:ext>
            </a:extLst>
          </p:cNvPr>
          <p:cNvSpPr>
            <a:spLocks noGrp="1"/>
          </p:cNvSpPr>
          <p:nvPr/>
        </p:nvSpPr>
        <p:spPr>
          <a:xfrm>
            <a:off x="609600" y="4629150"/>
            <a:ext cx="10972800" cy="0"/>
          </a:xfrm>
          <a:prstGeom prst="line">
            <a:avLst/>
          </a:prstGeom>
          <a:noFill/>
          <a:ln w="9525">
            <a:solidFill>
              <a:srgbClr val="294157"/>
            </a:solidFill>
            <a:prstDash val="solid"/>
          </a:ln>
        </p:spPr>
      </p:sp>
      <p:sp>
        <p:nvSpPr>
          <p:cNvPr id="24" name="Rectangle 23">
            <a:extLst>
              <a:ext uri="{FF2B5EF4-FFF2-40B4-BE49-F238E27FC236}">
                <a16:creationId xmlns:a16="http://schemas.microsoft.com/office/drawing/2014/main" id="{1AFBD9D6-41AF-447C-AD0F-64286E804742}"/>
              </a:ext>
            </a:extLst>
          </p:cNvPr>
          <p:cNvSpPr>
            <a:spLocks noGrp="1"/>
          </p:cNvSpPr>
          <p:nvPr/>
        </p:nvSpPr>
        <p:spPr>
          <a:xfrm>
            <a:off x="8305800" y="4848225"/>
            <a:ext cx="3219450" cy="457200"/>
          </a:xfrm>
          <a:prstGeom prst="rect">
            <a:avLst/>
          </a:prstGeom>
          <a:noFill/>
          <a:ln w="0">
            <a:noFill/>
          </a:ln>
        </p:spPr>
        <p:txBody>
          <a:bodyPr wrap="square" lIns="0" tIns="0" rIns="0" bIns="0" anchor="t">
            <a:normAutofit/>
          </a:bodyPr>
          <a:lstStyle/>
          <a:p>
            <a:pPr algn="r" rtl="1">
              <a:lnSpc>
                <a:spcPct val="100000"/>
              </a:lnSpc>
              <a:buNone/>
              <a:defRPr lang="he-IL" sz="1875" b="1">
                <a:solidFill>
                  <a:srgbClr val="F8FBFF"/>
                </a:solidFill>
                <a:latin typeface="Arial"/>
                <a:ea typeface="Arial"/>
                <a:cs typeface="Arial"/>
              </a:defRPr>
            </a:pPr>
            <a:r>
              <a:rPr lang="he-IL" sz="1875" b="1">
                <a:solidFill>
                  <a:srgbClr val="F8FBFF"/>
                </a:solidFill>
                <a:latin typeface="Arial"/>
                <a:ea typeface="Arial"/>
                <a:cs typeface="Arial"/>
              </a:rPr>
              <a:t>מוצר בלי חשיפת תשתית</a:t>
            </a:r>
          </a:p>
        </p:txBody>
      </p:sp>
      <p:sp>
        <p:nvSpPr>
          <p:cNvPr id="25" name="Rectangle 24">
            <a:extLst>
              <a:ext uri="{FF2B5EF4-FFF2-40B4-BE49-F238E27FC236}">
                <a16:creationId xmlns:a16="http://schemas.microsoft.com/office/drawing/2014/main" id="{E14F9BE9-2753-4976-8021-366D52549882}"/>
              </a:ext>
            </a:extLst>
          </p:cNvPr>
          <p:cNvSpPr>
            <a:spLocks noGrp="1"/>
          </p:cNvSpPr>
          <p:nvPr/>
        </p:nvSpPr>
        <p:spPr>
          <a:xfrm>
            <a:off x="7886700" y="4867275"/>
            <a:ext cx="38100" cy="552450"/>
          </a:xfrm>
          <a:prstGeom prst="rect">
            <a:avLst/>
          </a:prstGeom>
          <a:solidFill>
            <a:srgbClr val="EF7484"/>
          </a:solidFill>
          <a:ln w="0">
            <a:noFill/>
          </a:ln>
        </p:spPr>
      </p:sp>
      <p:sp>
        <p:nvSpPr>
          <p:cNvPr id="26" name="Rectangle 25">
            <a:extLst>
              <a:ext uri="{FF2B5EF4-FFF2-40B4-BE49-F238E27FC236}">
                <a16:creationId xmlns:a16="http://schemas.microsoft.com/office/drawing/2014/main" id="{9A9F894E-3CEC-4E23-9BF5-4A51E4E9B46C}"/>
              </a:ext>
            </a:extLst>
          </p:cNvPr>
          <p:cNvSpPr>
            <a:spLocks noGrp="1"/>
          </p:cNvSpPr>
          <p:nvPr/>
        </p:nvSpPr>
        <p:spPr>
          <a:xfrm>
            <a:off x="1047750" y="4829175"/>
            <a:ext cx="6429375" cy="342900"/>
          </a:xfrm>
          <a:prstGeom prst="rect">
            <a:avLst/>
          </a:prstGeom>
          <a:noFill/>
          <a:ln w="0">
            <a:noFill/>
          </a:ln>
        </p:spPr>
        <p:txBody>
          <a:bodyPr wrap="square" lIns="0" tIns="0" rIns="0" bIns="0" anchor="t">
            <a:normAutofit/>
          </a:bodyPr>
          <a:lstStyle/>
          <a:p>
            <a:pPr algn="r" rtl="1">
              <a:lnSpc>
                <a:spcPct val="100000"/>
              </a:lnSpc>
              <a:buNone/>
              <a:defRPr lang="he-IL" sz="1650" b="0">
                <a:solidFill>
                  <a:srgbClr val="F8FBFF"/>
                </a:solidFill>
                <a:latin typeface="Arial"/>
                <a:ea typeface="Arial"/>
                <a:cs typeface="Arial"/>
              </a:defRPr>
            </a:pPr>
            <a:r>
              <a:rPr lang="he-IL" sz="1650" b="0">
                <a:solidFill>
                  <a:srgbClr val="F8FBFF"/>
                </a:solidFill>
                <a:latin typeface="Arial"/>
                <a:ea typeface="Arial"/>
                <a:cs typeface="Arial"/>
              </a:rPr>
              <a:t>הדפדפן מקבל מידע רק דרך ממשק מוגבל לקריאה.</a:t>
            </a:r>
          </a:p>
        </p:txBody>
      </p:sp>
      <p:sp>
        <p:nvSpPr>
          <p:cNvPr id="27" name="Rectangle 26">
            <a:extLst>
              <a:ext uri="{FF2B5EF4-FFF2-40B4-BE49-F238E27FC236}">
                <a16:creationId xmlns:a16="http://schemas.microsoft.com/office/drawing/2014/main" id="{9C30C9BC-5115-4205-8C22-40240F69ED90}"/>
              </a:ext>
            </a:extLst>
          </p:cNvPr>
          <p:cNvSpPr>
            <a:spLocks noGrp="1"/>
          </p:cNvSpPr>
          <p:nvPr/>
        </p:nvSpPr>
        <p:spPr>
          <a:xfrm>
            <a:off x="1047750" y="5229225"/>
            <a:ext cx="6429375" cy="228600"/>
          </a:xfrm>
          <a:prstGeom prst="rect">
            <a:avLst/>
          </a:prstGeom>
          <a:noFill/>
          <a:ln w="0">
            <a:noFill/>
          </a:ln>
        </p:spPr>
        <p:txBody>
          <a:bodyPr wrap="square" lIns="0" tIns="0" rIns="0" bIns="0" anchor="t">
            <a:normAutofit/>
          </a:bodyPr>
          <a:lstStyle/>
          <a:p>
            <a:pPr algn="l">
              <a:lnSpc>
                <a:spcPct val="100000"/>
              </a:lnSpc>
              <a:buNone/>
              <a:defRPr sz="1050" b="1">
                <a:solidFill>
                  <a:srgbClr val="EF7484"/>
                </a:solidFill>
                <a:latin typeface="Cascadia Mono"/>
                <a:ea typeface="Cascadia Mono"/>
                <a:cs typeface="Cascadia Mono"/>
              </a:defRPr>
            </a:pPr>
            <a:r>
              <a:rPr sz="1050" b="1">
                <a:solidFill>
                  <a:srgbClr val="EF7484"/>
                </a:solidFill>
                <a:latin typeface="Cascadia Mono"/>
                <a:ea typeface="Cascadia Mono"/>
                <a:cs typeface="Cascadia Mono"/>
              </a:rPr>
              <a:t>READ-ONLY BACKEND API</a:t>
            </a:r>
          </a:p>
        </p:txBody>
      </p:sp>
    </p:spTree>
    <p:extLst>
      <p:ext uri="{BB962C8B-B14F-4D97-AF65-F5344CB8AC3E}">
        <p14:creationId xmlns:p14="http://schemas.microsoft.com/office/powerpoint/2010/main" val="20334449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91827"/>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8537BD9A-3222-4CAB-AE47-35A8BAD94982}"/>
              </a:ext>
            </a:extLst>
          </p:cNvPr>
          <p:cNvSpPr>
            <a:spLocks noGrp="1"/>
          </p:cNvSpPr>
          <p:nvPr/>
        </p:nvSpPr>
        <p:spPr>
          <a:xfrm>
            <a:off x="0" y="0"/>
            <a:ext cx="171450" cy="6858000"/>
          </a:xfrm>
          <a:prstGeom prst="rect">
            <a:avLst/>
          </a:prstGeom>
          <a:solidFill>
            <a:srgbClr val="35D4B5"/>
          </a:solidFill>
          <a:ln w="0">
            <a:noFill/>
          </a:ln>
        </p:spPr>
      </p:sp>
      <p:sp>
        <p:nvSpPr>
          <p:cNvPr id="2" name="Rectangle 1">
            <a:extLst>
              <a:ext uri="{FF2B5EF4-FFF2-40B4-BE49-F238E27FC236}">
                <a16:creationId xmlns:a16="http://schemas.microsoft.com/office/drawing/2014/main" id="{79EB5995-6D07-4A36-BF3C-FC1EDB78325F}"/>
              </a:ext>
            </a:extLst>
          </p:cNvPr>
          <p:cNvSpPr>
            <a:spLocks noGrp="1"/>
          </p:cNvSpPr>
          <p:nvPr/>
        </p:nvSpPr>
        <p:spPr>
          <a:xfrm>
            <a:off x="609600" y="361950"/>
            <a:ext cx="4000500" cy="209550"/>
          </a:xfrm>
          <a:prstGeom prst="rect">
            <a:avLst/>
          </a:prstGeom>
          <a:noFill/>
          <a:ln w="0">
            <a:noFill/>
          </a:ln>
        </p:spPr>
        <p:txBody>
          <a:bodyPr wrap="square" lIns="0" tIns="0" rIns="0" bIns="0" anchor="ctr">
            <a:normAutofit/>
          </a:bodyPr>
          <a:lstStyle/>
          <a:p>
            <a:pPr algn="l">
              <a:lnSpc>
                <a:spcPct val="100000"/>
              </a:lnSpc>
              <a:buNone/>
              <a:defRPr sz="975" b="1">
                <a:solidFill>
                  <a:srgbClr val="35D4B5"/>
                </a:solidFill>
                <a:latin typeface="Cascadia Mono"/>
                <a:ea typeface="Cascadia Mono"/>
                <a:cs typeface="Cascadia Mono"/>
              </a:defRPr>
            </a:pPr>
            <a:r>
              <a:rPr sz="975" b="1">
                <a:solidFill>
                  <a:srgbClr val="35D4B5"/>
                </a:solidFill>
                <a:latin typeface="Cascadia Mono"/>
                <a:ea typeface="Cascadia Mono"/>
                <a:cs typeface="Cascadia Mono"/>
              </a:rPr>
              <a:t>ROADMAP</a:t>
            </a:r>
          </a:p>
        </p:txBody>
      </p:sp>
      <p:sp>
        <p:nvSpPr>
          <p:cNvPr id="3" name="Rectangle 2">
            <a:extLst>
              <a:ext uri="{FF2B5EF4-FFF2-40B4-BE49-F238E27FC236}">
                <a16:creationId xmlns:a16="http://schemas.microsoft.com/office/drawing/2014/main" id="{6982718A-F3F1-4AC6-887F-4EDADCE88B5D}"/>
              </a:ext>
            </a:extLst>
          </p:cNvPr>
          <p:cNvSpPr>
            <a:spLocks noGrp="1"/>
          </p:cNvSpPr>
          <p:nvPr/>
        </p:nvSpPr>
        <p:spPr>
          <a:xfrm>
            <a:off x="4191000" y="533400"/>
            <a:ext cx="7391400" cy="552450"/>
          </a:xfrm>
          <a:prstGeom prst="rect">
            <a:avLst/>
          </a:prstGeom>
          <a:noFill/>
          <a:ln w="0">
            <a:noFill/>
          </a:ln>
        </p:spPr>
        <p:txBody>
          <a:bodyPr wrap="square" lIns="0" tIns="0" rIns="0" bIns="0" anchor="t">
            <a:normAutofit/>
          </a:bodyPr>
          <a:lstStyle/>
          <a:p>
            <a:pPr algn="r" rtl="1">
              <a:lnSpc>
                <a:spcPct val="100000"/>
              </a:lnSpc>
              <a:buNone/>
              <a:defRPr lang="he-IL" sz="2400" b="1">
                <a:solidFill>
                  <a:srgbClr val="F8FBFF"/>
                </a:solidFill>
                <a:latin typeface="Arial"/>
                <a:ea typeface="Arial"/>
                <a:cs typeface="Arial"/>
              </a:defRPr>
            </a:pPr>
            <a:r>
              <a:rPr lang="he-IL" sz="2400" b="1">
                <a:solidFill>
                  <a:srgbClr val="F8FBFF"/>
                </a:solidFill>
                <a:latin typeface="Arial"/>
                <a:ea typeface="Arial"/>
                <a:cs typeface="Arial"/>
              </a:rPr>
              <a:t>מה כבר עובד, ומה נדרש לפני Production</a:t>
            </a:r>
          </a:p>
        </p:txBody>
      </p:sp>
      <p:sp>
        <p:nvSpPr>
          <p:cNvPr id="4" name="Rectangle 3">
            <a:extLst>
              <a:ext uri="{FF2B5EF4-FFF2-40B4-BE49-F238E27FC236}">
                <a16:creationId xmlns:a16="http://schemas.microsoft.com/office/drawing/2014/main" id="{34F1D326-F0E0-494B-A664-7F5F8CEE5A19}"/>
              </a:ext>
            </a:extLst>
          </p:cNvPr>
          <p:cNvSpPr>
            <a:spLocks noGrp="1"/>
          </p:cNvSpPr>
          <p:nvPr/>
        </p:nvSpPr>
        <p:spPr>
          <a:xfrm>
            <a:off x="495300" y="6438900"/>
            <a:ext cx="342900" cy="171450"/>
          </a:xfrm>
          <a:prstGeom prst="rect">
            <a:avLst/>
          </a:prstGeom>
          <a:noFill/>
          <a:ln w="0">
            <a:noFill/>
          </a:ln>
        </p:spPr>
        <p:txBody>
          <a:bodyPr wrap="square" lIns="0" tIns="0" rIns="0" bIns="0" anchor="t">
            <a:normAutofit/>
          </a:bodyPr>
          <a:lstStyle/>
          <a:p>
            <a:pPr algn="l">
              <a:lnSpc>
                <a:spcPct val="100000"/>
              </a:lnSpc>
              <a:buNone/>
              <a:defRPr sz="825" b="1">
                <a:solidFill>
                  <a:srgbClr val="9AB1C5"/>
                </a:solidFill>
                <a:latin typeface="Cascadia Mono"/>
                <a:ea typeface="Cascadia Mono"/>
                <a:cs typeface="Cascadia Mono"/>
              </a:defRPr>
            </a:pPr>
            <a:r>
              <a:rPr sz="825" b="1">
                <a:solidFill>
                  <a:srgbClr val="9AB1C5"/>
                </a:solidFill>
                <a:latin typeface="Cascadia Mono"/>
                <a:ea typeface="Cascadia Mono"/>
                <a:cs typeface="Cascadia Mono"/>
              </a:rPr>
              <a:t>11</a:t>
            </a:r>
          </a:p>
        </p:txBody>
      </p:sp>
      <p:sp>
        <p:nvSpPr>
          <p:cNvPr id="5" name="Straight Connector 4">
            <a:extLst>
              <a:ext uri="{FF2B5EF4-FFF2-40B4-BE49-F238E27FC236}">
                <a16:creationId xmlns:a16="http://schemas.microsoft.com/office/drawing/2014/main" id="{27BF070D-A64A-4023-AD20-358F8796CBE3}"/>
              </a:ext>
            </a:extLst>
          </p:cNvPr>
          <p:cNvSpPr>
            <a:spLocks noGrp="1"/>
          </p:cNvSpPr>
          <p:nvPr/>
        </p:nvSpPr>
        <p:spPr>
          <a:xfrm>
            <a:off x="914400" y="6534150"/>
            <a:ext cx="10744200" cy="0"/>
          </a:xfrm>
          <a:prstGeom prst="line">
            <a:avLst/>
          </a:prstGeom>
          <a:noFill/>
          <a:ln w="9525">
            <a:solidFill>
              <a:srgbClr val="294157"/>
            </a:solidFill>
            <a:prstDash val="solid"/>
          </a:ln>
        </p:spPr>
      </p:sp>
      <p:sp>
        <p:nvSpPr>
          <p:cNvPr id="6" name="Rectangle 5">
            <a:extLst>
              <a:ext uri="{FF2B5EF4-FFF2-40B4-BE49-F238E27FC236}">
                <a16:creationId xmlns:a16="http://schemas.microsoft.com/office/drawing/2014/main" id="{153158B8-5607-43D9-B198-C30EF2D00E9E}"/>
              </a:ext>
            </a:extLst>
          </p:cNvPr>
          <p:cNvSpPr>
            <a:spLocks noGrp="1"/>
          </p:cNvSpPr>
          <p:nvPr/>
        </p:nvSpPr>
        <p:spPr>
          <a:xfrm>
            <a:off x="4810125" y="1181100"/>
            <a:ext cx="6762750" cy="400050"/>
          </a:xfrm>
          <a:prstGeom prst="rect">
            <a:avLst/>
          </a:prstGeom>
          <a:noFill/>
          <a:ln w="0">
            <a:noFill/>
          </a:ln>
        </p:spPr>
        <p:txBody>
          <a:bodyPr wrap="square" lIns="0" tIns="0" rIns="0" bIns="0" anchor="t">
            <a:normAutofit/>
          </a:bodyPr>
          <a:lstStyle/>
          <a:p>
            <a:pPr algn="r" rtl="1">
              <a:lnSpc>
                <a:spcPct val="100000"/>
              </a:lnSpc>
              <a:buNone/>
              <a:defRPr lang="he-IL" sz="1650" b="0">
                <a:solidFill>
                  <a:srgbClr val="9AB1C5"/>
                </a:solidFill>
                <a:latin typeface="Arial"/>
                <a:ea typeface="Arial"/>
                <a:cs typeface="Arial"/>
              </a:defRPr>
            </a:pPr>
            <a:r>
              <a:rPr lang="he-IL" sz="1650" b="0">
                <a:solidFill>
                  <a:srgbClr val="9AB1C5"/>
                </a:solidFill>
                <a:latin typeface="Arial"/>
                <a:ea typeface="Arial"/>
                <a:cs typeface="Arial"/>
              </a:rPr>
              <a:t>המטרה אינה להוסיף עוד טכנולוגיה. המטרה היא להרחיב אמון, כיסוי ותפעול.</a:t>
            </a:r>
          </a:p>
        </p:txBody>
      </p:sp>
      <p:sp>
        <p:nvSpPr>
          <p:cNvPr id="7" name="Straight Connector 6">
            <a:extLst>
              <a:ext uri="{FF2B5EF4-FFF2-40B4-BE49-F238E27FC236}">
                <a16:creationId xmlns:a16="http://schemas.microsoft.com/office/drawing/2014/main" id="{BD3042B7-8F08-43A5-B1B5-31E1CD6F5521}"/>
              </a:ext>
            </a:extLst>
          </p:cNvPr>
          <p:cNvSpPr>
            <a:spLocks noGrp="1"/>
          </p:cNvSpPr>
          <p:nvPr/>
        </p:nvSpPr>
        <p:spPr>
          <a:xfrm>
            <a:off x="1295400" y="3257550"/>
            <a:ext cx="9525000" cy="0"/>
          </a:xfrm>
          <a:prstGeom prst="line">
            <a:avLst/>
          </a:prstGeom>
          <a:noFill/>
          <a:ln w="38100">
            <a:solidFill>
              <a:srgbClr val="294157"/>
            </a:solidFill>
            <a:prstDash val="solid"/>
          </a:ln>
        </p:spPr>
      </p:sp>
      <p:sp>
        <p:nvSpPr>
          <p:cNvPr id="8" name="Rectangle: Rounded Corners 7">
            <a:extLst>
              <a:ext uri="{FF2B5EF4-FFF2-40B4-BE49-F238E27FC236}">
                <a16:creationId xmlns:a16="http://schemas.microsoft.com/office/drawing/2014/main" id="{45CD1255-0D79-4F19-9B9B-417AA8CD587E}"/>
              </a:ext>
            </a:extLst>
          </p:cNvPr>
          <p:cNvSpPr>
            <a:spLocks noGrp="1"/>
          </p:cNvSpPr>
          <p:nvPr/>
        </p:nvSpPr>
        <p:spPr>
          <a:xfrm>
            <a:off x="9810750" y="3114675"/>
            <a:ext cx="285750" cy="285750"/>
          </a:xfrm>
          <a:prstGeom prst="roundRect">
            <a:avLst>
              <a:gd name="adj" fmla="val 50000"/>
            </a:avLst>
          </a:prstGeom>
          <a:solidFill>
            <a:srgbClr val="35D4B5"/>
          </a:solidFill>
          <a:ln w="0">
            <a:noFill/>
          </a:ln>
        </p:spPr>
      </p:sp>
      <p:sp>
        <p:nvSpPr>
          <p:cNvPr id="9" name="Rectangle 8">
            <a:extLst>
              <a:ext uri="{FF2B5EF4-FFF2-40B4-BE49-F238E27FC236}">
                <a16:creationId xmlns:a16="http://schemas.microsoft.com/office/drawing/2014/main" id="{3466D609-EDD0-421D-A040-9320824C30E2}"/>
              </a:ext>
            </a:extLst>
          </p:cNvPr>
          <p:cNvSpPr>
            <a:spLocks noGrp="1"/>
          </p:cNvSpPr>
          <p:nvPr/>
        </p:nvSpPr>
        <p:spPr>
          <a:xfrm>
            <a:off x="9772650" y="3143250"/>
            <a:ext cx="361950" cy="190500"/>
          </a:xfrm>
          <a:prstGeom prst="rect">
            <a:avLst/>
          </a:prstGeom>
          <a:noFill/>
          <a:ln w="0">
            <a:noFill/>
          </a:ln>
        </p:spPr>
        <p:txBody>
          <a:bodyPr wrap="square" lIns="0" tIns="0" rIns="0" bIns="0" anchor="ctr">
            <a:normAutofit/>
          </a:bodyPr>
          <a:lstStyle/>
          <a:p>
            <a:pPr algn="ctr">
              <a:lnSpc>
                <a:spcPct val="100000"/>
              </a:lnSpc>
              <a:buNone/>
              <a:defRPr sz="825" b="1">
                <a:solidFill>
                  <a:srgbClr val="091827"/>
                </a:solidFill>
                <a:latin typeface="Cascadia Mono"/>
                <a:ea typeface="Cascadia Mono"/>
                <a:cs typeface="Cascadia Mono"/>
              </a:defRPr>
            </a:pPr>
            <a:r>
              <a:rPr sz="825" b="1">
                <a:solidFill>
                  <a:srgbClr val="091827"/>
                </a:solidFill>
                <a:latin typeface="Cascadia Mono"/>
                <a:ea typeface="Cascadia Mono"/>
                <a:cs typeface="Cascadia Mono"/>
              </a:rPr>
              <a:t>01</a:t>
            </a:r>
          </a:p>
        </p:txBody>
      </p:sp>
      <p:sp>
        <p:nvSpPr>
          <p:cNvPr id="10" name="Rectangle 9">
            <a:extLst>
              <a:ext uri="{FF2B5EF4-FFF2-40B4-BE49-F238E27FC236}">
                <a16:creationId xmlns:a16="http://schemas.microsoft.com/office/drawing/2014/main" id="{BAB3EE2F-80F7-4E8F-B97C-AE46F74E029C}"/>
              </a:ext>
            </a:extLst>
          </p:cNvPr>
          <p:cNvSpPr>
            <a:spLocks noGrp="1"/>
          </p:cNvSpPr>
          <p:nvPr/>
        </p:nvSpPr>
        <p:spPr>
          <a:xfrm>
            <a:off x="8001000" y="2000250"/>
            <a:ext cx="2095500" cy="571500"/>
          </a:xfrm>
          <a:prstGeom prst="rect">
            <a:avLst/>
          </a:prstGeom>
          <a:noFill/>
          <a:ln w="0">
            <a:noFill/>
          </a:ln>
        </p:spPr>
        <p:txBody>
          <a:bodyPr wrap="square" lIns="0" tIns="0" rIns="0" bIns="0" anchor="t">
            <a:normAutofit/>
          </a:bodyPr>
          <a:lstStyle/>
          <a:p>
            <a:pPr algn="r" rtl="1">
              <a:lnSpc>
                <a:spcPct val="100000"/>
              </a:lnSpc>
              <a:buNone/>
              <a:defRPr lang="he-IL" sz="2025" b="1">
                <a:solidFill>
                  <a:srgbClr val="F8FBFF"/>
                </a:solidFill>
                <a:latin typeface="Arial"/>
                <a:ea typeface="Arial"/>
                <a:cs typeface="Arial"/>
              </a:defRPr>
            </a:pPr>
            <a:r>
              <a:rPr lang="he-IL" sz="2025" b="1">
                <a:solidFill>
                  <a:srgbClr val="F8FBFF"/>
                </a:solidFill>
                <a:latin typeface="Arial"/>
                <a:ea typeface="Arial"/>
                <a:cs typeface="Arial"/>
              </a:rPr>
              <a:t>היום</a:t>
            </a:r>
          </a:p>
        </p:txBody>
      </p:sp>
      <p:sp>
        <p:nvSpPr>
          <p:cNvPr id="11" name="Rectangle 10">
            <a:extLst>
              <a:ext uri="{FF2B5EF4-FFF2-40B4-BE49-F238E27FC236}">
                <a16:creationId xmlns:a16="http://schemas.microsoft.com/office/drawing/2014/main" id="{159CD81E-C69F-40A7-9609-5F32775BA4D7}"/>
              </a:ext>
            </a:extLst>
          </p:cNvPr>
          <p:cNvSpPr>
            <a:spLocks noGrp="1"/>
          </p:cNvSpPr>
          <p:nvPr/>
        </p:nvSpPr>
        <p:spPr>
          <a:xfrm>
            <a:off x="8001000" y="3714750"/>
            <a:ext cx="2095500" cy="1104900"/>
          </a:xfrm>
          <a:prstGeom prst="rect">
            <a:avLst/>
          </a:prstGeom>
          <a:noFill/>
          <a:ln w="0">
            <a:noFill/>
          </a:ln>
        </p:spPr>
        <p:txBody>
          <a:bodyPr wrap="square" lIns="0" tIns="0" rIns="0" bIns="0" anchor="t">
            <a:normAutofit/>
          </a:bodyPr>
          <a:lstStyle/>
          <a:p>
            <a:pPr algn="r" rtl="1">
              <a:lnSpc>
                <a:spcPct val="105000"/>
              </a:lnSpc>
              <a:buNone/>
              <a:defRPr lang="he-IL" sz="1575" b="0">
                <a:solidFill>
                  <a:srgbClr val="9AB1C5"/>
                </a:solidFill>
                <a:latin typeface="Arial"/>
                <a:ea typeface="Arial"/>
                <a:cs typeface="Arial"/>
              </a:defRPr>
            </a:pPr>
            <a:r>
              <a:rPr lang="he-IL" sz="1575" b="0" dirty="0">
                <a:solidFill>
                  <a:srgbClr val="9AB1C5"/>
                </a:solidFill>
                <a:latin typeface="Arial"/>
                <a:ea typeface="Arial"/>
                <a:cs typeface="Arial"/>
              </a:rPr>
              <a:t>53 ימים מאושרים</a:t>
            </a:r>
          </a:p>
          <a:p>
            <a:pPr algn="r">
              <a:lnSpc>
                <a:spcPct val="105000"/>
              </a:lnSpc>
              <a:buNone/>
              <a:defRPr sz="1575" b="0">
                <a:solidFill>
                  <a:srgbClr val="9AB1C5"/>
                </a:solidFill>
                <a:latin typeface="Arial"/>
                <a:ea typeface="Arial"/>
                <a:cs typeface="Arial"/>
              </a:defRPr>
            </a:pPr>
            <a:r>
              <a:rPr sz="1575" b="0" dirty="0">
                <a:solidFill>
                  <a:srgbClr val="9AB1C5"/>
                </a:solidFill>
                <a:latin typeface="Arial"/>
                <a:ea typeface="Arial"/>
                <a:cs typeface="Arial"/>
              </a:rPr>
              <a:t>v1 Shadow 2/20</a:t>
            </a:r>
          </a:p>
          <a:p>
            <a:pPr algn="r">
              <a:lnSpc>
                <a:spcPct val="105000"/>
              </a:lnSpc>
              <a:buNone/>
              <a:defRPr sz="1575" b="0">
                <a:solidFill>
                  <a:srgbClr val="9AB1C5"/>
                </a:solidFill>
                <a:latin typeface="Arial"/>
                <a:ea typeface="Arial"/>
                <a:cs typeface="Arial"/>
              </a:defRPr>
            </a:pPr>
            <a:r>
              <a:rPr sz="1575" b="0" dirty="0">
                <a:solidFill>
                  <a:srgbClr val="9AB1C5"/>
                </a:solidFill>
                <a:latin typeface="Arial"/>
                <a:ea typeface="Arial"/>
                <a:cs typeface="Arial"/>
              </a:rPr>
              <a:t>v2 FALLBACK</a:t>
            </a:r>
          </a:p>
        </p:txBody>
      </p:sp>
      <p:sp>
        <p:nvSpPr>
          <p:cNvPr id="12" name="Rectangle: Rounded Corners 11">
            <a:extLst>
              <a:ext uri="{FF2B5EF4-FFF2-40B4-BE49-F238E27FC236}">
                <a16:creationId xmlns:a16="http://schemas.microsoft.com/office/drawing/2014/main" id="{A61FD1E2-82CC-47EC-995F-5959CB58E338}"/>
              </a:ext>
            </a:extLst>
          </p:cNvPr>
          <p:cNvSpPr>
            <a:spLocks noGrp="1"/>
          </p:cNvSpPr>
          <p:nvPr/>
        </p:nvSpPr>
        <p:spPr>
          <a:xfrm>
            <a:off x="6048375" y="3114675"/>
            <a:ext cx="285750" cy="285750"/>
          </a:xfrm>
          <a:prstGeom prst="roundRect">
            <a:avLst>
              <a:gd name="adj" fmla="val 50000"/>
            </a:avLst>
          </a:prstGeom>
          <a:solidFill>
            <a:srgbClr val="5B91FF"/>
          </a:solidFill>
          <a:ln w="0">
            <a:noFill/>
          </a:ln>
        </p:spPr>
      </p:sp>
      <p:sp>
        <p:nvSpPr>
          <p:cNvPr id="13" name="Rectangle 12">
            <a:extLst>
              <a:ext uri="{FF2B5EF4-FFF2-40B4-BE49-F238E27FC236}">
                <a16:creationId xmlns:a16="http://schemas.microsoft.com/office/drawing/2014/main" id="{3325B80A-CFBB-450C-B5A4-63CEDBFB6F04}"/>
              </a:ext>
            </a:extLst>
          </p:cNvPr>
          <p:cNvSpPr>
            <a:spLocks noGrp="1"/>
          </p:cNvSpPr>
          <p:nvPr/>
        </p:nvSpPr>
        <p:spPr>
          <a:xfrm>
            <a:off x="6010275" y="3143250"/>
            <a:ext cx="361950" cy="190500"/>
          </a:xfrm>
          <a:prstGeom prst="rect">
            <a:avLst/>
          </a:prstGeom>
          <a:noFill/>
          <a:ln w="0">
            <a:noFill/>
          </a:ln>
        </p:spPr>
        <p:txBody>
          <a:bodyPr wrap="square" lIns="0" tIns="0" rIns="0" bIns="0" anchor="ctr">
            <a:normAutofit/>
          </a:bodyPr>
          <a:lstStyle/>
          <a:p>
            <a:pPr algn="ctr">
              <a:lnSpc>
                <a:spcPct val="100000"/>
              </a:lnSpc>
              <a:buNone/>
              <a:defRPr sz="825" b="1">
                <a:solidFill>
                  <a:srgbClr val="091827"/>
                </a:solidFill>
                <a:latin typeface="Cascadia Mono"/>
                <a:ea typeface="Cascadia Mono"/>
                <a:cs typeface="Cascadia Mono"/>
              </a:defRPr>
            </a:pPr>
            <a:r>
              <a:rPr sz="825" b="1">
                <a:solidFill>
                  <a:srgbClr val="091827"/>
                </a:solidFill>
                <a:latin typeface="Cascadia Mono"/>
                <a:ea typeface="Cascadia Mono"/>
                <a:cs typeface="Cascadia Mono"/>
              </a:rPr>
              <a:t>02</a:t>
            </a:r>
          </a:p>
        </p:txBody>
      </p:sp>
      <p:sp>
        <p:nvSpPr>
          <p:cNvPr id="14" name="Rectangle 13">
            <a:extLst>
              <a:ext uri="{FF2B5EF4-FFF2-40B4-BE49-F238E27FC236}">
                <a16:creationId xmlns:a16="http://schemas.microsoft.com/office/drawing/2014/main" id="{4D8996D5-3221-4EFE-84CD-07DF2222B0E5}"/>
              </a:ext>
            </a:extLst>
          </p:cNvPr>
          <p:cNvSpPr>
            <a:spLocks noGrp="1"/>
          </p:cNvSpPr>
          <p:nvPr/>
        </p:nvSpPr>
        <p:spPr>
          <a:xfrm>
            <a:off x="4238625" y="2000250"/>
            <a:ext cx="2095500" cy="571500"/>
          </a:xfrm>
          <a:prstGeom prst="rect">
            <a:avLst/>
          </a:prstGeom>
          <a:noFill/>
          <a:ln w="0">
            <a:noFill/>
          </a:ln>
        </p:spPr>
        <p:txBody>
          <a:bodyPr wrap="square" lIns="0" tIns="0" rIns="0" bIns="0" anchor="t">
            <a:normAutofit/>
          </a:bodyPr>
          <a:lstStyle/>
          <a:p>
            <a:pPr algn="r" rtl="1">
              <a:lnSpc>
                <a:spcPct val="100000"/>
              </a:lnSpc>
              <a:buNone/>
              <a:defRPr lang="he-IL" sz="2025" b="1">
                <a:solidFill>
                  <a:srgbClr val="F8FBFF"/>
                </a:solidFill>
                <a:latin typeface="Arial"/>
                <a:ea typeface="Arial"/>
                <a:cs typeface="Arial"/>
              </a:defRPr>
            </a:pPr>
            <a:r>
              <a:rPr lang="he-IL" sz="2025" b="1">
                <a:solidFill>
                  <a:srgbClr val="F8FBFF"/>
                </a:solidFill>
                <a:latin typeface="Arial"/>
                <a:ea typeface="Arial"/>
                <a:cs typeface="Arial"/>
              </a:rPr>
              <a:t>שער הראיות</a:t>
            </a:r>
          </a:p>
        </p:txBody>
      </p:sp>
      <p:sp>
        <p:nvSpPr>
          <p:cNvPr id="15" name="Rectangle 14">
            <a:extLst>
              <a:ext uri="{FF2B5EF4-FFF2-40B4-BE49-F238E27FC236}">
                <a16:creationId xmlns:a16="http://schemas.microsoft.com/office/drawing/2014/main" id="{ADF559A4-3FAD-46AF-A685-2A19FD81F3FC}"/>
              </a:ext>
            </a:extLst>
          </p:cNvPr>
          <p:cNvSpPr>
            <a:spLocks noGrp="1"/>
          </p:cNvSpPr>
          <p:nvPr/>
        </p:nvSpPr>
        <p:spPr>
          <a:xfrm>
            <a:off x="4238625" y="3714750"/>
            <a:ext cx="2095500" cy="1104900"/>
          </a:xfrm>
          <a:prstGeom prst="rect">
            <a:avLst/>
          </a:prstGeom>
          <a:noFill/>
          <a:ln w="0">
            <a:noFill/>
          </a:ln>
        </p:spPr>
        <p:txBody>
          <a:bodyPr wrap="square" lIns="0" tIns="0" rIns="0" bIns="0" anchor="t">
            <a:normAutofit/>
          </a:bodyPr>
          <a:lstStyle/>
          <a:p>
            <a:pPr algn="r" rtl="1">
              <a:lnSpc>
                <a:spcPct val="105000"/>
              </a:lnSpc>
              <a:buNone/>
              <a:defRPr lang="he-IL" sz="1575" b="0">
                <a:solidFill>
                  <a:srgbClr val="9AB1C5"/>
                </a:solidFill>
                <a:latin typeface="Arial"/>
                <a:ea typeface="Arial"/>
                <a:cs typeface="Arial"/>
              </a:defRPr>
            </a:pPr>
            <a:r>
              <a:rPr lang="he-IL" sz="1575" b="0" dirty="0">
                <a:solidFill>
                  <a:srgbClr val="9AB1C5"/>
                </a:solidFill>
                <a:latin typeface="Arial"/>
                <a:ea typeface="Arial"/>
                <a:cs typeface="Arial"/>
              </a:rPr>
              <a:t>24 חודשי נתונים</a:t>
            </a:r>
          </a:p>
          <a:p>
            <a:pPr algn="r" rtl="1">
              <a:lnSpc>
                <a:spcPct val="105000"/>
              </a:lnSpc>
              <a:buNone/>
              <a:defRPr lang="he-IL" sz="1575" b="0">
                <a:solidFill>
                  <a:srgbClr val="9AB1C5"/>
                </a:solidFill>
                <a:latin typeface="Arial"/>
                <a:ea typeface="Arial"/>
                <a:cs typeface="Arial"/>
              </a:defRPr>
            </a:pPr>
            <a:r>
              <a:rPr lang="he-IL" sz="1575" b="0" dirty="0">
                <a:solidFill>
                  <a:srgbClr val="9AB1C5"/>
                </a:solidFill>
                <a:latin typeface="Arial"/>
                <a:ea typeface="Arial"/>
                <a:cs typeface="Arial"/>
              </a:rPr>
              <a:t>300 כניסות תקפות</a:t>
            </a:r>
          </a:p>
          <a:p>
            <a:pPr algn="r">
              <a:lnSpc>
                <a:spcPct val="105000"/>
              </a:lnSpc>
              <a:buNone/>
              <a:defRPr sz="1575" b="0">
                <a:solidFill>
                  <a:srgbClr val="9AB1C5"/>
                </a:solidFill>
                <a:latin typeface="Arial"/>
                <a:ea typeface="Arial"/>
                <a:cs typeface="Arial"/>
              </a:defRPr>
            </a:pPr>
            <a:r>
              <a:rPr sz="1575" b="0" dirty="0">
                <a:solidFill>
                  <a:srgbClr val="9AB1C5"/>
                </a:solidFill>
                <a:latin typeface="Arial"/>
                <a:ea typeface="Arial"/>
                <a:cs typeface="Arial"/>
              </a:rPr>
              <a:t>Walk-Forward gates</a:t>
            </a:r>
          </a:p>
        </p:txBody>
      </p:sp>
      <p:sp>
        <p:nvSpPr>
          <p:cNvPr id="16" name="Rectangle: Rounded Corners 15">
            <a:extLst>
              <a:ext uri="{FF2B5EF4-FFF2-40B4-BE49-F238E27FC236}">
                <a16:creationId xmlns:a16="http://schemas.microsoft.com/office/drawing/2014/main" id="{AB67C1F8-A5D0-4089-86CC-895C90560E58}"/>
              </a:ext>
            </a:extLst>
          </p:cNvPr>
          <p:cNvSpPr>
            <a:spLocks noGrp="1"/>
          </p:cNvSpPr>
          <p:nvPr/>
        </p:nvSpPr>
        <p:spPr>
          <a:xfrm>
            <a:off x="2286000" y="3114675"/>
            <a:ext cx="285750" cy="285750"/>
          </a:xfrm>
          <a:prstGeom prst="roundRect">
            <a:avLst>
              <a:gd name="adj" fmla="val 50000"/>
            </a:avLst>
          </a:prstGeom>
          <a:solidFill>
            <a:srgbClr val="F4B94F"/>
          </a:solidFill>
          <a:ln w="0">
            <a:noFill/>
          </a:ln>
        </p:spPr>
      </p:sp>
      <p:sp>
        <p:nvSpPr>
          <p:cNvPr id="17" name="Rectangle 16">
            <a:extLst>
              <a:ext uri="{FF2B5EF4-FFF2-40B4-BE49-F238E27FC236}">
                <a16:creationId xmlns:a16="http://schemas.microsoft.com/office/drawing/2014/main" id="{B5AAEFD9-D56D-4907-82D9-6F467E4051BA}"/>
              </a:ext>
            </a:extLst>
          </p:cNvPr>
          <p:cNvSpPr>
            <a:spLocks noGrp="1"/>
          </p:cNvSpPr>
          <p:nvPr/>
        </p:nvSpPr>
        <p:spPr>
          <a:xfrm>
            <a:off x="2247900" y="3143250"/>
            <a:ext cx="361950" cy="190500"/>
          </a:xfrm>
          <a:prstGeom prst="rect">
            <a:avLst/>
          </a:prstGeom>
          <a:noFill/>
          <a:ln w="0">
            <a:noFill/>
          </a:ln>
        </p:spPr>
        <p:txBody>
          <a:bodyPr wrap="square" lIns="0" tIns="0" rIns="0" bIns="0" anchor="ctr">
            <a:normAutofit/>
          </a:bodyPr>
          <a:lstStyle/>
          <a:p>
            <a:pPr algn="ctr">
              <a:lnSpc>
                <a:spcPct val="100000"/>
              </a:lnSpc>
              <a:buNone/>
              <a:defRPr sz="825" b="1">
                <a:solidFill>
                  <a:srgbClr val="091827"/>
                </a:solidFill>
                <a:latin typeface="Cascadia Mono"/>
                <a:ea typeface="Cascadia Mono"/>
                <a:cs typeface="Cascadia Mono"/>
              </a:defRPr>
            </a:pPr>
            <a:r>
              <a:rPr sz="825" b="1">
                <a:solidFill>
                  <a:srgbClr val="091827"/>
                </a:solidFill>
                <a:latin typeface="Cascadia Mono"/>
                <a:ea typeface="Cascadia Mono"/>
                <a:cs typeface="Cascadia Mono"/>
              </a:rPr>
              <a:t>03</a:t>
            </a:r>
          </a:p>
        </p:txBody>
      </p:sp>
      <p:sp>
        <p:nvSpPr>
          <p:cNvPr id="18" name="Rectangle 17">
            <a:extLst>
              <a:ext uri="{FF2B5EF4-FFF2-40B4-BE49-F238E27FC236}">
                <a16:creationId xmlns:a16="http://schemas.microsoft.com/office/drawing/2014/main" id="{29BBE666-8C8D-41B6-AEB9-8EF6364C9BAC}"/>
              </a:ext>
            </a:extLst>
          </p:cNvPr>
          <p:cNvSpPr>
            <a:spLocks noGrp="1"/>
          </p:cNvSpPr>
          <p:nvPr/>
        </p:nvSpPr>
        <p:spPr>
          <a:xfrm>
            <a:off x="476250" y="2000250"/>
            <a:ext cx="2095500" cy="571500"/>
          </a:xfrm>
          <a:prstGeom prst="rect">
            <a:avLst/>
          </a:prstGeom>
          <a:noFill/>
          <a:ln w="0">
            <a:noFill/>
          </a:ln>
        </p:spPr>
        <p:txBody>
          <a:bodyPr wrap="square" lIns="0" tIns="0" rIns="0" bIns="0" anchor="t">
            <a:normAutofit/>
          </a:bodyPr>
          <a:lstStyle/>
          <a:p>
            <a:pPr algn="r" rtl="1">
              <a:lnSpc>
                <a:spcPct val="100000"/>
              </a:lnSpc>
              <a:buNone/>
              <a:defRPr lang="he-IL" sz="2025" b="1">
                <a:solidFill>
                  <a:srgbClr val="F8FBFF"/>
                </a:solidFill>
                <a:latin typeface="Arial"/>
                <a:ea typeface="Arial"/>
                <a:cs typeface="Arial"/>
              </a:defRPr>
            </a:pPr>
            <a:r>
              <a:rPr lang="he-IL" sz="2025" b="1">
                <a:solidFill>
                  <a:srgbClr val="F8FBFF"/>
                </a:solidFill>
                <a:latin typeface="Arial"/>
                <a:ea typeface="Arial"/>
                <a:cs typeface="Arial"/>
              </a:rPr>
              <a:t>לפני הפעלה</a:t>
            </a:r>
          </a:p>
        </p:txBody>
      </p:sp>
      <p:sp>
        <p:nvSpPr>
          <p:cNvPr id="19" name="Rectangle 18">
            <a:extLst>
              <a:ext uri="{FF2B5EF4-FFF2-40B4-BE49-F238E27FC236}">
                <a16:creationId xmlns:a16="http://schemas.microsoft.com/office/drawing/2014/main" id="{038CB654-2783-42AC-BA82-7593B33E6B41}"/>
              </a:ext>
            </a:extLst>
          </p:cNvPr>
          <p:cNvSpPr>
            <a:spLocks noGrp="1"/>
          </p:cNvSpPr>
          <p:nvPr/>
        </p:nvSpPr>
        <p:spPr>
          <a:xfrm>
            <a:off x="476250" y="3714750"/>
            <a:ext cx="2095500" cy="1104900"/>
          </a:xfrm>
          <a:prstGeom prst="rect">
            <a:avLst/>
          </a:prstGeom>
          <a:noFill/>
          <a:ln w="0">
            <a:noFill/>
          </a:ln>
        </p:spPr>
        <p:txBody>
          <a:bodyPr wrap="square" lIns="0" tIns="0" rIns="0" bIns="0" anchor="t">
            <a:normAutofit/>
          </a:bodyPr>
          <a:lstStyle/>
          <a:p>
            <a:pPr algn="r">
              <a:lnSpc>
                <a:spcPct val="105000"/>
              </a:lnSpc>
              <a:buNone/>
              <a:defRPr sz="1575" b="0">
                <a:solidFill>
                  <a:srgbClr val="9AB1C5"/>
                </a:solidFill>
                <a:latin typeface="Arial"/>
                <a:ea typeface="Arial"/>
                <a:cs typeface="Arial"/>
              </a:defRPr>
            </a:pPr>
            <a:r>
              <a:rPr sz="1575" b="0">
                <a:solidFill>
                  <a:srgbClr val="9AB1C5"/>
                </a:solidFill>
                <a:latin typeface="Arial"/>
                <a:ea typeface="Arial"/>
                <a:cs typeface="Arial"/>
              </a:rPr>
              <a:t>v2 Shadow 20 days</a:t>
            </a:r>
          </a:p>
          <a:p>
            <a:pPr algn="r" rtl="1">
              <a:lnSpc>
                <a:spcPct val="105000"/>
              </a:lnSpc>
              <a:buNone/>
              <a:defRPr lang="he-IL" sz="1575" b="0">
                <a:solidFill>
                  <a:srgbClr val="9AB1C5"/>
                </a:solidFill>
                <a:latin typeface="Arial"/>
                <a:ea typeface="Arial"/>
                <a:cs typeface="Arial"/>
              </a:defRPr>
            </a:pPr>
            <a:r>
              <a:rPr lang="he-IL" sz="1575" b="0">
                <a:solidFill>
                  <a:srgbClr val="9AB1C5"/>
                </a:solidFill>
                <a:latin typeface="Arial"/>
                <a:ea typeface="Arial"/>
                <a:cs typeface="Arial"/>
              </a:rPr>
              <a:t>בדיקת Calibration</a:t>
            </a:r>
          </a:p>
          <a:p>
            <a:pPr algn="r" rtl="1">
              <a:lnSpc>
                <a:spcPct val="105000"/>
              </a:lnSpc>
              <a:buNone/>
              <a:defRPr lang="he-IL" sz="1575" b="0">
                <a:solidFill>
                  <a:srgbClr val="9AB1C5"/>
                </a:solidFill>
                <a:latin typeface="Arial"/>
                <a:ea typeface="Arial"/>
                <a:cs typeface="Arial"/>
              </a:defRPr>
            </a:pPr>
            <a:r>
              <a:rPr lang="he-IL" sz="1575" b="0">
                <a:solidFill>
                  <a:srgbClr val="9AB1C5"/>
                </a:solidFill>
                <a:latin typeface="Arial"/>
                <a:ea typeface="Arial"/>
                <a:cs typeface="Arial"/>
              </a:rPr>
              <a:t>אישור אנושי</a:t>
            </a:r>
          </a:p>
        </p:txBody>
      </p:sp>
      <p:sp>
        <p:nvSpPr>
          <p:cNvPr id="20" name="Rectangle 19">
            <a:extLst>
              <a:ext uri="{FF2B5EF4-FFF2-40B4-BE49-F238E27FC236}">
                <a16:creationId xmlns:a16="http://schemas.microsoft.com/office/drawing/2014/main" id="{FE06F5CC-D059-4791-BBE1-398ED75E7EF0}"/>
              </a:ext>
            </a:extLst>
          </p:cNvPr>
          <p:cNvSpPr>
            <a:spLocks noGrp="1"/>
          </p:cNvSpPr>
          <p:nvPr/>
        </p:nvSpPr>
        <p:spPr>
          <a:xfrm>
            <a:off x="3810000" y="5295900"/>
            <a:ext cx="7753350" cy="438150"/>
          </a:xfrm>
          <a:prstGeom prst="rect">
            <a:avLst/>
          </a:prstGeom>
          <a:noFill/>
          <a:ln w="0">
            <a:noFill/>
          </a:ln>
        </p:spPr>
        <p:txBody>
          <a:bodyPr wrap="square" lIns="0" tIns="0" rIns="0" bIns="0" anchor="t">
            <a:normAutofit/>
          </a:bodyPr>
          <a:lstStyle/>
          <a:p>
            <a:pPr algn="r" rtl="1">
              <a:lnSpc>
                <a:spcPct val="100000"/>
              </a:lnSpc>
              <a:buNone/>
              <a:defRPr lang="he-IL" sz="1575" b="1">
                <a:solidFill>
                  <a:srgbClr val="EF7484"/>
                </a:solidFill>
                <a:latin typeface="Arial"/>
                <a:ea typeface="Arial"/>
                <a:cs typeface="Arial"/>
              </a:defRPr>
            </a:pPr>
            <a:r>
              <a:rPr lang="he-IL" sz="1575" b="1">
                <a:solidFill>
                  <a:srgbClr val="EF7484"/>
                </a:solidFill>
                <a:latin typeface="Arial"/>
                <a:ea typeface="Arial"/>
                <a:cs typeface="Arial"/>
              </a:rPr>
              <a:t>רק אחרי שערי האמון נשקול הזנת שוק מלאה, ענן, אבטחה וניטור תפעולי.</a:t>
            </a:r>
          </a:p>
        </p:txBody>
      </p:sp>
    </p:spTree>
    <p:extLst>
      <p:ext uri="{BB962C8B-B14F-4D97-AF65-F5344CB8AC3E}">
        <p14:creationId xmlns:p14="http://schemas.microsoft.com/office/powerpoint/2010/main" val="10492300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91827"/>
        </a:solidFill>
        <a:effectLst/>
      </p:bgPr>
    </p:bg>
    <p:spTree>
      <p:nvGrpSpPr>
        <p:cNvPr id="1" name=""/>
        <p:cNvGrpSpPr/>
        <p:nvPr/>
      </p:nvGrpSpPr>
      <p:grpSpPr>
        <a:xfrm>
          <a:off x="0" y="0"/>
          <a:ext cx="0" cy="0"/>
          <a:chOff x="0" y="0"/>
          <a:chExt cx="0" cy="0"/>
        </a:xfrm>
      </p:grpSpPr>
      <p:sp>
        <p:nvSpPr>
          <p:cNvPr id="34" name="Rectangle 33">
            <a:extLst>
              <a:ext uri="{FF2B5EF4-FFF2-40B4-BE49-F238E27FC236}">
                <a16:creationId xmlns:a16="http://schemas.microsoft.com/office/drawing/2014/main" id="{5CF54FDF-F376-48E3-A924-2B8DF0CDF57C}"/>
              </a:ext>
            </a:extLst>
          </p:cNvPr>
          <p:cNvSpPr>
            <a:spLocks noGrp="1"/>
          </p:cNvSpPr>
          <p:nvPr/>
        </p:nvSpPr>
        <p:spPr>
          <a:xfrm>
            <a:off x="0" y="0"/>
            <a:ext cx="171450" cy="6858000"/>
          </a:xfrm>
          <a:prstGeom prst="rect">
            <a:avLst/>
          </a:prstGeom>
          <a:solidFill>
            <a:srgbClr val="35D4B5"/>
          </a:solidFill>
          <a:ln w="0">
            <a:noFill/>
          </a:ln>
        </p:spPr>
      </p:sp>
      <p:sp>
        <p:nvSpPr>
          <p:cNvPr id="2" name="Rectangle 1">
            <a:extLst>
              <a:ext uri="{FF2B5EF4-FFF2-40B4-BE49-F238E27FC236}">
                <a16:creationId xmlns:a16="http://schemas.microsoft.com/office/drawing/2014/main" id="{72573BF8-79FC-4017-ACE5-BCEC707079DD}"/>
              </a:ext>
            </a:extLst>
          </p:cNvPr>
          <p:cNvSpPr>
            <a:spLocks noGrp="1"/>
          </p:cNvSpPr>
          <p:nvPr/>
        </p:nvSpPr>
        <p:spPr>
          <a:xfrm>
            <a:off x="609600" y="419100"/>
            <a:ext cx="2667000" cy="209550"/>
          </a:xfrm>
          <a:prstGeom prst="rect">
            <a:avLst/>
          </a:prstGeom>
          <a:noFill/>
          <a:ln w="0">
            <a:noFill/>
          </a:ln>
        </p:spPr>
        <p:txBody>
          <a:bodyPr wrap="square" lIns="0" tIns="0" rIns="0" bIns="0" anchor="ctr">
            <a:normAutofit/>
          </a:bodyPr>
          <a:lstStyle/>
          <a:p>
            <a:pPr algn="l">
              <a:lnSpc>
                <a:spcPct val="100000"/>
              </a:lnSpc>
              <a:buNone/>
              <a:defRPr sz="975" b="1">
                <a:solidFill>
                  <a:srgbClr val="35D4B5"/>
                </a:solidFill>
                <a:latin typeface="Cascadia Mono"/>
                <a:ea typeface="Cascadia Mono"/>
                <a:cs typeface="Cascadia Mono"/>
              </a:defRPr>
            </a:pPr>
            <a:r>
              <a:rPr sz="975" b="1">
                <a:solidFill>
                  <a:srgbClr val="35D4B5"/>
                </a:solidFill>
                <a:latin typeface="Cascadia Mono"/>
                <a:ea typeface="Cascadia Mono"/>
                <a:cs typeface="Cascadia Mono"/>
              </a:rPr>
              <a:t>LIVE DEMO · 05:50</a:t>
            </a:r>
          </a:p>
        </p:txBody>
      </p:sp>
      <p:sp>
        <p:nvSpPr>
          <p:cNvPr id="3" name="Rectangle 2">
            <a:extLst>
              <a:ext uri="{FF2B5EF4-FFF2-40B4-BE49-F238E27FC236}">
                <a16:creationId xmlns:a16="http://schemas.microsoft.com/office/drawing/2014/main" id="{43BA97E8-60C6-403F-B5D1-66995E3A3170}"/>
              </a:ext>
            </a:extLst>
          </p:cNvPr>
          <p:cNvSpPr>
            <a:spLocks noGrp="1"/>
          </p:cNvSpPr>
          <p:nvPr/>
        </p:nvSpPr>
        <p:spPr>
          <a:xfrm>
            <a:off x="4953000" y="933450"/>
            <a:ext cx="6610350" cy="590550"/>
          </a:xfrm>
          <a:prstGeom prst="rect">
            <a:avLst/>
          </a:prstGeom>
          <a:noFill/>
          <a:ln w="0">
            <a:noFill/>
          </a:ln>
        </p:spPr>
        <p:txBody>
          <a:bodyPr wrap="square" lIns="0" tIns="0" rIns="0" bIns="0" anchor="t">
            <a:normAutofit/>
          </a:bodyPr>
          <a:lstStyle/>
          <a:p>
            <a:pPr algn="r" rtl="1">
              <a:lnSpc>
                <a:spcPct val="100000"/>
              </a:lnSpc>
              <a:buNone/>
              <a:defRPr lang="he-IL" sz="3150" b="1">
                <a:solidFill>
                  <a:srgbClr val="F8FBFF"/>
                </a:solidFill>
                <a:latin typeface="Arial"/>
                <a:ea typeface="Arial"/>
                <a:cs typeface="Arial"/>
              </a:defRPr>
            </a:pPr>
            <a:r>
              <a:rPr lang="he-IL" sz="3150" b="1">
                <a:solidFill>
                  <a:srgbClr val="F8FBFF"/>
                </a:solidFill>
                <a:latin typeface="Arial"/>
                <a:ea typeface="Arial"/>
                <a:cs typeface="Arial"/>
              </a:rPr>
              <a:t>עוברים מהסיפור למערכת</a:t>
            </a:r>
          </a:p>
        </p:txBody>
      </p:sp>
      <p:sp>
        <p:nvSpPr>
          <p:cNvPr id="4" name="Rectangle 3">
            <a:extLst>
              <a:ext uri="{FF2B5EF4-FFF2-40B4-BE49-F238E27FC236}">
                <a16:creationId xmlns:a16="http://schemas.microsoft.com/office/drawing/2014/main" id="{2D3244FA-65AB-4BB1-9E39-FCA0E11CD51E}"/>
              </a:ext>
            </a:extLst>
          </p:cNvPr>
          <p:cNvSpPr>
            <a:spLocks noGrp="1"/>
          </p:cNvSpPr>
          <p:nvPr/>
        </p:nvSpPr>
        <p:spPr>
          <a:xfrm>
            <a:off x="5619750" y="1657350"/>
            <a:ext cx="5943600" cy="476250"/>
          </a:xfrm>
          <a:prstGeom prst="rect">
            <a:avLst/>
          </a:prstGeom>
          <a:noFill/>
          <a:ln w="0">
            <a:noFill/>
          </a:ln>
        </p:spPr>
        <p:txBody>
          <a:bodyPr wrap="square" lIns="0" tIns="0" rIns="0" bIns="0" anchor="t">
            <a:normAutofit/>
          </a:bodyPr>
          <a:lstStyle/>
          <a:p>
            <a:pPr algn="r" rtl="1">
              <a:lnSpc>
                <a:spcPct val="100000"/>
              </a:lnSpc>
              <a:buNone/>
              <a:defRPr lang="he-IL" sz="1725" b="0">
                <a:solidFill>
                  <a:srgbClr val="9AB1C5"/>
                </a:solidFill>
                <a:latin typeface="Arial"/>
                <a:ea typeface="Arial"/>
                <a:cs typeface="Arial"/>
              </a:defRPr>
            </a:pPr>
            <a:r>
              <a:rPr lang="he-IL" sz="1725" b="0">
                <a:solidFill>
                  <a:srgbClr val="9AB1C5"/>
                </a:solidFill>
                <a:latin typeface="Arial"/>
                <a:ea typeface="Arial"/>
                <a:cs typeface="Arial"/>
              </a:rPr>
              <a:t>מהאירוע הגולמי ועד תרחיש החלטה שאפשר להסביר ולשחזר</a:t>
            </a:r>
          </a:p>
        </p:txBody>
      </p:sp>
      <p:sp>
        <p:nvSpPr>
          <p:cNvPr id="5" name="Rectangle: Rounded Corners 4">
            <a:extLst>
              <a:ext uri="{FF2B5EF4-FFF2-40B4-BE49-F238E27FC236}">
                <a16:creationId xmlns:a16="http://schemas.microsoft.com/office/drawing/2014/main" id="{D4DE2DC5-5D19-46DF-AAF3-BBCE302F730D}"/>
              </a:ext>
            </a:extLst>
          </p:cNvPr>
          <p:cNvSpPr>
            <a:spLocks noGrp="1"/>
          </p:cNvSpPr>
          <p:nvPr/>
        </p:nvSpPr>
        <p:spPr>
          <a:xfrm>
            <a:off x="704850" y="3181350"/>
            <a:ext cx="419100" cy="419100"/>
          </a:xfrm>
          <a:prstGeom prst="roundRect">
            <a:avLst>
              <a:gd name="adj" fmla="val 50000"/>
            </a:avLst>
          </a:prstGeom>
          <a:solidFill>
            <a:srgbClr val="10283C"/>
          </a:solidFill>
          <a:ln w="14288">
            <a:solidFill>
              <a:srgbClr val="294157"/>
            </a:solidFill>
            <a:prstDash val="solid"/>
          </a:ln>
        </p:spPr>
      </p:sp>
      <p:sp>
        <p:nvSpPr>
          <p:cNvPr id="6" name="Rectangle 5">
            <a:extLst>
              <a:ext uri="{FF2B5EF4-FFF2-40B4-BE49-F238E27FC236}">
                <a16:creationId xmlns:a16="http://schemas.microsoft.com/office/drawing/2014/main" id="{E330B7CE-9197-4D38-945E-CF668A4E69EC}"/>
              </a:ext>
            </a:extLst>
          </p:cNvPr>
          <p:cNvSpPr>
            <a:spLocks noGrp="1"/>
          </p:cNvSpPr>
          <p:nvPr/>
        </p:nvSpPr>
        <p:spPr>
          <a:xfrm>
            <a:off x="704850" y="3295650"/>
            <a:ext cx="419100" cy="171450"/>
          </a:xfrm>
          <a:prstGeom prst="rect">
            <a:avLst/>
          </a:prstGeom>
          <a:noFill/>
          <a:ln w="0">
            <a:noFill/>
          </a:ln>
        </p:spPr>
        <p:txBody>
          <a:bodyPr wrap="square" lIns="0" tIns="0" rIns="0" bIns="0" anchor="t">
            <a:normAutofit/>
          </a:bodyPr>
          <a:lstStyle/>
          <a:p>
            <a:pPr algn="ctr">
              <a:lnSpc>
                <a:spcPct val="100000"/>
              </a:lnSpc>
              <a:buNone/>
              <a:defRPr sz="900" b="1">
                <a:solidFill>
                  <a:srgbClr val="35D4B5"/>
                </a:solidFill>
                <a:latin typeface="Cascadia Mono"/>
                <a:ea typeface="Cascadia Mono"/>
                <a:cs typeface="Cascadia Mono"/>
              </a:defRPr>
            </a:pPr>
            <a:r>
              <a:rPr sz="900" b="1">
                <a:solidFill>
                  <a:srgbClr val="35D4B5"/>
                </a:solidFill>
                <a:latin typeface="Cascadia Mono"/>
                <a:ea typeface="Cascadia Mono"/>
                <a:cs typeface="Cascadia Mono"/>
              </a:rPr>
              <a:t>06</a:t>
            </a:r>
          </a:p>
        </p:txBody>
      </p:sp>
      <p:sp>
        <p:nvSpPr>
          <p:cNvPr id="7" name="Rectangle 6">
            <a:extLst>
              <a:ext uri="{FF2B5EF4-FFF2-40B4-BE49-F238E27FC236}">
                <a16:creationId xmlns:a16="http://schemas.microsoft.com/office/drawing/2014/main" id="{6C946AEE-C31D-48F8-8058-F7CABA9DC713}"/>
              </a:ext>
            </a:extLst>
          </p:cNvPr>
          <p:cNvSpPr>
            <a:spLocks noGrp="1"/>
          </p:cNvSpPr>
          <p:nvPr/>
        </p:nvSpPr>
        <p:spPr>
          <a:xfrm>
            <a:off x="209550" y="3848100"/>
            <a:ext cx="1409700" cy="323850"/>
          </a:xfrm>
          <a:prstGeom prst="rect">
            <a:avLst/>
          </a:prstGeom>
          <a:noFill/>
          <a:ln w="0">
            <a:noFill/>
          </a:ln>
        </p:spPr>
        <p:txBody>
          <a:bodyPr wrap="square" lIns="0" tIns="0" rIns="0" bIns="0" anchor="t">
            <a:normAutofit/>
          </a:bodyPr>
          <a:lstStyle/>
          <a:p>
            <a:pPr algn="ctr">
              <a:lnSpc>
                <a:spcPct val="100000"/>
              </a:lnSpc>
              <a:buNone/>
              <a:defRPr sz="1275" b="1">
                <a:solidFill>
                  <a:srgbClr val="F8FBFF"/>
                </a:solidFill>
                <a:latin typeface="Cascadia Mono"/>
                <a:ea typeface="Cascadia Mono"/>
                <a:cs typeface="Cascadia Mono"/>
              </a:defRPr>
            </a:pPr>
            <a:r>
              <a:rPr sz="1275" b="1">
                <a:solidFill>
                  <a:srgbClr val="F8FBFF"/>
                </a:solidFill>
                <a:latin typeface="Cascadia Mono"/>
                <a:ea typeface="Cascadia Mono"/>
                <a:cs typeface="Cascadia Mono"/>
              </a:rPr>
              <a:t>Backtesting</a:t>
            </a:r>
          </a:p>
        </p:txBody>
      </p:sp>
      <p:sp>
        <p:nvSpPr>
          <p:cNvPr id="8" name="Rectangle: Rounded Corners 7">
            <a:extLst>
              <a:ext uri="{FF2B5EF4-FFF2-40B4-BE49-F238E27FC236}">
                <a16:creationId xmlns:a16="http://schemas.microsoft.com/office/drawing/2014/main" id="{F5D9B2FB-53D4-4D36-AC74-92B83B329112}"/>
              </a:ext>
            </a:extLst>
          </p:cNvPr>
          <p:cNvSpPr>
            <a:spLocks noGrp="1"/>
          </p:cNvSpPr>
          <p:nvPr/>
        </p:nvSpPr>
        <p:spPr>
          <a:xfrm>
            <a:off x="2571750" y="3181350"/>
            <a:ext cx="419100" cy="419100"/>
          </a:xfrm>
          <a:prstGeom prst="roundRect">
            <a:avLst>
              <a:gd name="adj" fmla="val 50000"/>
            </a:avLst>
          </a:prstGeom>
          <a:solidFill>
            <a:srgbClr val="10283C"/>
          </a:solidFill>
          <a:ln w="14288">
            <a:solidFill>
              <a:srgbClr val="294157"/>
            </a:solidFill>
            <a:prstDash val="solid"/>
          </a:ln>
        </p:spPr>
      </p:sp>
      <p:sp>
        <p:nvSpPr>
          <p:cNvPr id="9" name="Rectangle 8">
            <a:extLst>
              <a:ext uri="{FF2B5EF4-FFF2-40B4-BE49-F238E27FC236}">
                <a16:creationId xmlns:a16="http://schemas.microsoft.com/office/drawing/2014/main" id="{AB1DC142-AC7E-4AD6-A018-71BD4398267E}"/>
              </a:ext>
            </a:extLst>
          </p:cNvPr>
          <p:cNvSpPr>
            <a:spLocks noGrp="1"/>
          </p:cNvSpPr>
          <p:nvPr/>
        </p:nvSpPr>
        <p:spPr>
          <a:xfrm>
            <a:off x="2571750" y="3295650"/>
            <a:ext cx="419100" cy="171450"/>
          </a:xfrm>
          <a:prstGeom prst="rect">
            <a:avLst/>
          </a:prstGeom>
          <a:noFill/>
          <a:ln w="0">
            <a:noFill/>
          </a:ln>
        </p:spPr>
        <p:txBody>
          <a:bodyPr wrap="square" lIns="0" tIns="0" rIns="0" bIns="0" anchor="t">
            <a:normAutofit/>
          </a:bodyPr>
          <a:lstStyle/>
          <a:p>
            <a:pPr algn="ctr">
              <a:lnSpc>
                <a:spcPct val="100000"/>
              </a:lnSpc>
              <a:buNone/>
              <a:defRPr sz="900" b="1">
                <a:solidFill>
                  <a:srgbClr val="35D4B5"/>
                </a:solidFill>
                <a:latin typeface="Cascadia Mono"/>
                <a:ea typeface="Cascadia Mono"/>
                <a:cs typeface="Cascadia Mono"/>
              </a:defRPr>
            </a:pPr>
            <a:r>
              <a:rPr sz="900" b="1">
                <a:solidFill>
                  <a:srgbClr val="35D4B5"/>
                </a:solidFill>
                <a:latin typeface="Cascadia Mono"/>
                <a:ea typeface="Cascadia Mono"/>
                <a:cs typeface="Cascadia Mono"/>
              </a:rPr>
              <a:t>05</a:t>
            </a:r>
          </a:p>
        </p:txBody>
      </p:sp>
      <p:sp>
        <p:nvSpPr>
          <p:cNvPr id="10" name="Rectangle 9">
            <a:extLst>
              <a:ext uri="{FF2B5EF4-FFF2-40B4-BE49-F238E27FC236}">
                <a16:creationId xmlns:a16="http://schemas.microsoft.com/office/drawing/2014/main" id="{EDD3D37F-7981-4117-A093-150B1CC7CCA0}"/>
              </a:ext>
            </a:extLst>
          </p:cNvPr>
          <p:cNvSpPr>
            <a:spLocks noGrp="1"/>
          </p:cNvSpPr>
          <p:nvPr/>
        </p:nvSpPr>
        <p:spPr>
          <a:xfrm>
            <a:off x="2076450" y="3848100"/>
            <a:ext cx="1409700" cy="323850"/>
          </a:xfrm>
          <a:prstGeom prst="rect">
            <a:avLst/>
          </a:prstGeom>
          <a:noFill/>
          <a:ln w="0">
            <a:noFill/>
          </a:ln>
        </p:spPr>
        <p:txBody>
          <a:bodyPr wrap="square" lIns="0" tIns="0" rIns="0" bIns="0" anchor="t">
            <a:normAutofit/>
          </a:bodyPr>
          <a:lstStyle/>
          <a:p>
            <a:pPr algn="ctr">
              <a:lnSpc>
                <a:spcPct val="100000"/>
              </a:lnSpc>
              <a:buNone/>
              <a:defRPr sz="1275" b="1">
                <a:solidFill>
                  <a:srgbClr val="F8FBFF"/>
                </a:solidFill>
                <a:latin typeface="Cascadia Mono"/>
                <a:ea typeface="Cascadia Mono"/>
                <a:cs typeface="Cascadia Mono"/>
              </a:defRPr>
            </a:pPr>
            <a:r>
              <a:rPr sz="1275" b="1">
                <a:solidFill>
                  <a:srgbClr val="F8FBFF"/>
                </a:solidFill>
                <a:latin typeface="Cascadia Mono"/>
                <a:ea typeface="Cascadia Mono"/>
                <a:cs typeface="Cascadia Mono"/>
              </a:rPr>
              <a:t>Opportunity</a:t>
            </a:r>
          </a:p>
        </p:txBody>
      </p:sp>
      <p:sp>
        <p:nvSpPr>
          <p:cNvPr id="11" name="Rectangle: Rounded Corners 10">
            <a:extLst>
              <a:ext uri="{FF2B5EF4-FFF2-40B4-BE49-F238E27FC236}">
                <a16:creationId xmlns:a16="http://schemas.microsoft.com/office/drawing/2014/main" id="{66013771-9200-4686-BDB5-BEAA65F93028}"/>
              </a:ext>
            </a:extLst>
          </p:cNvPr>
          <p:cNvSpPr>
            <a:spLocks noGrp="1"/>
          </p:cNvSpPr>
          <p:nvPr/>
        </p:nvSpPr>
        <p:spPr>
          <a:xfrm>
            <a:off x="4438650" y="3181350"/>
            <a:ext cx="419100" cy="419100"/>
          </a:xfrm>
          <a:prstGeom prst="roundRect">
            <a:avLst>
              <a:gd name="adj" fmla="val 50000"/>
            </a:avLst>
          </a:prstGeom>
          <a:solidFill>
            <a:srgbClr val="10283C"/>
          </a:solidFill>
          <a:ln w="14288">
            <a:solidFill>
              <a:srgbClr val="294157"/>
            </a:solidFill>
            <a:prstDash val="solid"/>
          </a:ln>
        </p:spPr>
      </p:sp>
      <p:sp>
        <p:nvSpPr>
          <p:cNvPr id="12" name="Rectangle 11">
            <a:extLst>
              <a:ext uri="{FF2B5EF4-FFF2-40B4-BE49-F238E27FC236}">
                <a16:creationId xmlns:a16="http://schemas.microsoft.com/office/drawing/2014/main" id="{FF5CDF91-D66D-4B45-91C2-E11CDDD0765B}"/>
              </a:ext>
            </a:extLst>
          </p:cNvPr>
          <p:cNvSpPr>
            <a:spLocks noGrp="1"/>
          </p:cNvSpPr>
          <p:nvPr/>
        </p:nvSpPr>
        <p:spPr>
          <a:xfrm>
            <a:off x="4438650" y="3295650"/>
            <a:ext cx="419100" cy="171450"/>
          </a:xfrm>
          <a:prstGeom prst="rect">
            <a:avLst/>
          </a:prstGeom>
          <a:noFill/>
          <a:ln w="0">
            <a:noFill/>
          </a:ln>
        </p:spPr>
        <p:txBody>
          <a:bodyPr wrap="square" lIns="0" tIns="0" rIns="0" bIns="0" anchor="t">
            <a:normAutofit/>
          </a:bodyPr>
          <a:lstStyle/>
          <a:p>
            <a:pPr algn="ctr">
              <a:lnSpc>
                <a:spcPct val="100000"/>
              </a:lnSpc>
              <a:buNone/>
              <a:defRPr sz="900" b="1">
                <a:solidFill>
                  <a:srgbClr val="35D4B5"/>
                </a:solidFill>
                <a:latin typeface="Cascadia Mono"/>
                <a:ea typeface="Cascadia Mono"/>
                <a:cs typeface="Cascadia Mono"/>
              </a:defRPr>
            </a:pPr>
            <a:r>
              <a:rPr sz="900" b="1">
                <a:solidFill>
                  <a:srgbClr val="35D4B5"/>
                </a:solidFill>
                <a:latin typeface="Cascadia Mono"/>
                <a:ea typeface="Cascadia Mono"/>
                <a:cs typeface="Cascadia Mono"/>
              </a:rPr>
              <a:t>04</a:t>
            </a:r>
          </a:p>
        </p:txBody>
      </p:sp>
      <p:sp>
        <p:nvSpPr>
          <p:cNvPr id="13" name="Rectangle 12">
            <a:extLst>
              <a:ext uri="{FF2B5EF4-FFF2-40B4-BE49-F238E27FC236}">
                <a16:creationId xmlns:a16="http://schemas.microsoft.com/office/drawing/2014/main" id="{08DC4CA7-D0DE-4035-8A41-A5FC1C8BDB6E}"/>
              </a:ext>
            </a:extLst>
          </p:cNvPr>
          <p:cNvSpPr>
            <a:spLocks noGrp="1"/>
          </p:cNvSpPr>
          <p:nvPr/>
        </p:nvSpPr>
        <p:spPr>
          <a:xfrm>
            <a:off x="3943350" y="3848100"/>
            <a:ext cx="1409700" cy="323850"/>
          </a:xfrm>
          <a:prstGeom prst="rect">
            <a:avLst/>
          </a:prstGeom>
          <a:noFill/>
          <a:ln w="0">
            <a:noFill/>
          </a:ln>
        </p:spPr>
        <p:txBody>
          <a:bodyPr wrap="square" lIns="0" tIns="0" rIns="0" bIns="0" anchor="t">
            <a:normAutofit/>
          </a:bodyPr>
          <a:lstStyle/>
          <a:p>
            <a:pPr algn="ctr">
              <a:lnSpc>
                <a:spcPct val="100000"/>
              </a:lnSpc>
              <a:buNone/>
              <a:defRPr sz="1275" b="1">
                <a:solidFill>
                  <a:srgbClr val="F8FBFF"/>
                </a:solidFill>
                <a:latin typeface="Cascadia Mono"/>
                <a:ea typeface="Cascadia Mono"/>
                <a:cs typeface="Cascadia Mono"/>
              </a:defRPr>
            </a:pPr>
            <a:r>
              <a:rPr sz="1275" b="1">
                <a:solidFill>
                  <a:srgbClr val="F8FBFF"/>
                </a:solidFill>
                <a:latin typeface="Cascadia Mono"/>
                <a:ea typeface="Cascadia Mono"/>
                <a:cs typeface="Cascadia Mono"/>
              </a:rPr>
              <a:t>Airflow</a:t>
            </a:r>
          </a:p>
        </p:txBody>
      </p:sp>
      <p:sp>
        <p:nvSpPr>
          <p:cNvPr id="14" name="Rectangle: Rounded Corners 13">
            <a:extLst>
              <a:ext uri="{FF2B5EF4-FFF2-40B4-BE49-F238E27FC236}">
                <a16:creationId xmlns:a16="http://schemas.microsoft.com/office/drawing/2014/main" id="{528C7499-CB39-48DA-A981-C66FDEF86758}"/>
              </a:ext>
            </a:extLst>
          </p:cNvPr>
          <p:cNvSpPr>
            <a:spLocks noGrp="1"/>
          </p:cNvSpPr>
          <p:nvPr/>
        </p:nvSpPr>
        <p:spPr>
          <a:xfrm>
            <a:off x="6305550" y="3181350"/>
            <a:ext cx="419100" cy="419100"/>
          </a:xfrm>
          <a:prstGeom prst="roundRect">
            <a:avLst>
              <a:gd name="adj" fmla="val 50000"/>
            </a:avLst>
          </a:prstGeom>
          <a:solidFill>
            <a:srgbClr val="10283C"/>
          </a:solidFill>
          <a:ln w="14288">
            <a:solidFill>
              <a:srgbClr val="294157"/>
            </a:solidFill>
            <a:prstDash val="solid"/>
          </a:ln>
        </p:spPr>
      </p:sp>
      <p:sp>
        <p:nvSpPr>
          <p:cNvPr id="15" name="Rectangle 14">
            <a:extLst>
              <a:ext uri="{FF2B5EF4-FFF2-40B4-BE49-F238E27FC236}">
                <a16:creationId xmlns:a16="http://schemas.microsoft.com/office/drawing/2014/main" id="{ACD15E77-19A1-427F-81D0-3B86431031FC}"/>
              </a:ext>
            </a:extLst>
          </p:cNvPr>
          <p:cNvSpPr>
            <a:spLocks noGrp="1"/>
          </p:cNvSpPr>
          <p:nvPr/>
        </p:nvSpPr>
        <p:spPr>
          <a:xfrm>
            <a:off x="6305550" y="3295650"/>
            <a:ext cx="419100" cy="171450"/>
          </a:xfrm>
          <a:prstGeom prst="rect">
            <a:avLst/>
          </a:prstGeom>
          <a:noFill/>
          <a:ln w="0">
            <a:noFill/>
          </a:ln>
        </p:spPr>
        <p:txBody>
          <a:bodyPr wrap="square" lIns="0" tIns="0" rIns="0" bIns="0" anchor="t">
            <a:normAutofit/>
          </a:bodyPr>
          <a:lstStyle/>
          <a:p>
            <a:pPr algn="ctr">
              <a:lnSpc>
                <a:spcPct val="100000"/>
              </a:lnSpc>
              <a:buNone/>
              <a:defRPr sz="900" b="1">
                <a:solidFill>
                  <a:srgbClr val="35D4B5"/>
                </a:solidFill>
                <a:latin typeface="Cascadia Mono"/>
                <a:ea typeface="Cascadia Mono"/>
                <a:cs typeface="Cascadia Mono"/>
              </a:defRPr>
            </a:pPr>
            <a:r>
              <a:rPr sz="900" b="1">
                <a:solidFill>
                  <a:srgbClr val="35D4B5"/>
                </a:solidFill>
                <a:latin typeface="Cascadia Mono"/>
                <a:ea typeface="Cascadia Mono"/>
                <a:cs typeface="Cascadia Mono"/>
              </a:rPr>
              <a:t>03</a:t>
            </a:r>
          </a:p>
        </p:txBody>
      </p:sp>
      <p:sp>
        <p:nvSpPr>
          <p:cNvPr id="16" name="Rectangle 15">
            <a:extLst>
              <a:ext uri="{FF2B5EF4-FFF2-40B4-BE49-F238E27FC236}">
                <a16:creationId xmlns:a16="http://schemas.microsoft.com/office/drawing/2014/main" id="{EB7256B1-A520-4AC6-8BD8-61F7B63C3370}"/>
              </a:ext>
            </a:extLst>
          </p:cNvPr>
          <p:cNvSpPr>
            <a:spLocks noGrp="1"/>
          </p:cNvSpPr>
          <p:nvPr/>
        </p:nvSpPr>
        <p:spPr>
          <a:xfrm>
            <a:off x="5810250" y="3848100"/>
            <a:ext cx="1409700" cy="323850"/>
          </a:xfrm>
          <a:prstGeom prst="rect">
            <a:avLst/>
          </a:prstGeom>
          <a:noFill/>
          <a:ln w="0">
            <a:noFill/>
          </a:ln>
        </p:spPr>
        <p:txBody>
          <a:bodyPr wrap="square" lIns="0" tIns="0" rIns="0" bIns="0" anchor="t">
            <a:normAutofit/>
          </a:bodyPr>
          <a:lstStyle/>
          <a:p>
            <a:pPr algn="ctr">
              <a:lnSpc>
                <a:spcPct val="100000"/>
              </a:lnSpc>
              <a:buNone/>
              <a:defRPr sz="1275" b="1">
                <a:solidFill>
                  <a:srgbClr val="F8FBFF"/>
                </a:solidFill>
                <a:latin typeface="Cascadia Mono"/>
                <a:ea typeface="Cascadia Mono"/>
                <a:cs typeface="Cascadia Mono"/>
              </a:defRPr>
            </a:pPr>
            <a:r>
              <a:rPr sz="1275" b="1">
                <a:solidFill>
                  <a:srgbClr val="F8FBFF"/>
                </a:solidFill>
                <a:latin typeface="Cascadia Mono"/>
                <a:ea typeface="Cascadia Mono"/>
                <a:cs typeface="Cascadia Mono"/>
              </a:rPr>
              <a:t>MinIO</a:t>
            </a:r>
          </a:p>
        </p:txBody>
      </p:sp>
      <p:sp>
        <p:nvSpPr>
          <p:cNvPr id="17" name="Rectangle: Rounded Corners 16">
            <a:extLst>
              <a:ext uri="{FF2B5EF4-FFF2-40B4-BE49-F238E27FC236}">
                <a16:creationId xmlns:a16="http://schemas.microsoft.com/office/drawing/2014/main" id="{2AA49DA0-4FB1-499B-BA0F-C8DECC979B3E}"/>
              </a:ext>
            </a:extLst>
          </p:cNvPr>
          <p:cNvSpPr>
            <a:spLocks noGrp="1"/>
          </p:cNvSpPr>
          <p:nvPr/>
        </p:nvSpPr>
        <p:spPr>
          <a:xfrm>
            <a:off x="8172450" y="3181350"/>
            <a:ext cx="419100" cy="419100"/>
          </a:xfrm>
          <a:prstGeom prst="roundRect">
            <a:avLst>
              <a:gd name="adj" fmla="val 50000"/>
            </a:avLst>
          </a:prstGeom>
          <a:solidFill>
            <a:srgbClr val="10283C"/>
          </a:solidFill>
          <a:ln w="14288">
            <a:solidFill>
              <a:srgbClr val="294157"/>
            </a:solidFill>
            <a:prstDash val="solid"/>
          </a:ln>
        </p:spPr>
      </p:sp>
      <p:sp>
        <p:nvSpPr>
          <p:cNvPr id="18" name="Rectangle 17">
            <a:extLst>
              <a:ext uri="{FF2B5EF4-FFF2-40B4-BE49-F238E27FC236}">
                <a16:creationId xmlns:a16="http://schemas.microsoft.com/office/drawing/2014/main" id="{C2CF763E-BE25-423B-92D8-9ABD89245A55}"/>
              </a:ext>
            </a:extLst>
          </p:cNvPr>
          <p:cNvSpPr>
            <a:spLocks noGrp="1"/>
          </p:cNvSpPr>
          <p:nvPr/>
        </p:nvSpPr>
        <p:spPr>
          <a:xfrm>
            <a:off x="8172450" y="3295650"/>
            <a:ext cx="419100" cy="171450"/>
          </a:xfrm>
          <a:prstGeom prst="rect">
            <a:avLst/>
          </a:prstGeom>
          <a:noFill/>
          <a:ln w="0">
            <a:noFill/>
          </a:ln>
        </p:spPr>
        <p:txBody>
          <a:bodyPr wrap="square" lIns="0" tIns="0" rIns="0" bIns="0" anchor="t">
            <a:normAutofit/>
          </a:bodyPr>
          <a:lstStyle/>
          <a:p>
            <a:pPr algn="ctr">
              <a:lnSpc>
                <a:spcPct val="100000"/>
              </a:lnSpc>
              <a:buNone/>
              <a:defRPr sz="900" b="1">
                <a:solidFill>
                  <a:srgbClr val="35D4B5"/>
                </a:solidFill>
                <a:latin typeface="Cascadia Mono"/>
                <a:ea typeface="Cascadia Mono"/>
                <a:cs typeface="Cascadia Mono"/>
              </a:defRPr>
            </a:pPr>
            <a:r>
              <a:rPr sz="900" b="1">
                <a:solidFill>
                  <a:srgbClr val="35D4B5"/>
                </a:solidFill>
                <a:latin typeface="Cascadia Mono"/>
                <a:ea typeface="Cascadia Mono"/>
                <a:cs typeface="Cascadia Mono"/>
              </a:rPr>
              <a:t>02</a:t>
            </a:r>
          </a:p>
        </p:txBody>
      </p:sp>
      <p:sp>
        <p:nvSpPr>
          <p:cNvPr id="19" name="Rectangle 18">
            <a:extLst>
              <a:ext uri="{FF2B5EF4-FFF2-40B4-BE49-F238E27FC236}">
                <a16:creationId xmlns:a16="http://schemas.microsoft.com/office/drawing/2014/main" id="{901E840D-BECF-4C9C-BF90-282FA77F1CBC}"/>
              </a:ext>
            </a:extLst>
          </p:cNvPr>
          <p:cNvSpPr>
            <a:spLocks noGrp="1"/>
          </p:cNvSpPr>
          <p:nvPr/>
        </p:nvSpPr>
        <p:spPr>
          <a:xfrm>
            <a:off x="7677150" y="3848100"/>
            <a:ext cx="1409700" cy="323850"/>
          </a:xfrm>
          <a:prstGeom prst="rect">
            <a:avLst/>
          </a:prstGeom>
          <a:noFill/>
          <a:ln w="0">
            <a:noFill/>
          </a:ln>
        </p:spPr>
        <p:txBody>
          <a:bodyPr wrap="square" lIns="0" tIns="0" rIns="0" bIns="0" anchor="t">
            <a:normAutofit/>
          </a:bodyPr>
          <a:lstStyle/>
          <a:p>
            <a:pPr algn="ctr">
              <a:lnSpc>
                <a:spcPct val="100000"/>
              </a:lnSpc>
              <a:buNone/>
              <a:defRPr sz="1275" b="1">
                <a:solidFill>
                  <a:srgbClr val="F8FBFF"/>
                </a:solidFill>
                <a:latin typeface="Cascadia Mono"/>
                <a:ea typeface="Cascadia Mono"/>
                <a:cs typeface="Cascadia Mono"/>
              </a:defRPr>
            </a:pPr>
            <a:r>
              <a:rPr sz="1275" b="1">
                <a:solidFill>
                  <a:srgbClr val="F8FBFF"/>
                </a:solidFill>
                <a:latin typeface="Cascadia Mono"/>
                <a:ea typeface="Cascadia Mono"/>
                <a:cs typeface="Cascadia Mono"/>
              </a:rPr>
              <a:t>Kafka</a:t>
            </a:r>
          </a:p>
        </p:txBody>
      </p:sp>
      <p:sp>
        <p:nvSpPr>
          <p:cNvPr id="20" name="Rectangle: Rounded Corners 19">
            <a:extLst>
              <a:ext uri="{FF2B5EF4-FFF2-40B4-BE49-F238E27FC236}">
                <a16:creationId xmlns:a16="http://schemas.microsoft.com/office/drawing/2014/main" id="{8C3B2ACA-36D9-444E-A52D-0AF937BF7599}"/>
              </a:ext>
            </a:extLst>
          </p:cNvPr>
          <p:cNvSpPr>
            <a:spLocks noGrp="1"/>
          </p:cNvSpPr>
          <p:nvPr/>
        </p:nvSpPr>
        <p:spPr>
          <a:xfrm>
            <a:off x="10039350" y="3181350"/>
            <a:ext cx="419100" cy="419100"/>
          </a:xfrm>
          <a:prstGeom prst="roundRect">
            <a:avLst>
              <a:gd name="adj" fmla="val 50000"/>
            </a:avLst>
          </a:prstGeom>
          <a:solidFill>
            <a:srgbClr val="35D4B5"/>
          </a:solidFill>
          <a:ln w="14288">
            <a:solidFill>
              <a:srgbClr val="35D4B5"/>
            </a:solidFill>
            <a:prstDash val="solid"/>
          </a:ln>
        </p:spPr>
      </p:sp>
      <p:sp>
        <p:nvSpPr>
          <p:cNvPr id="21" name="Rectangle 20">
            <a:extLst>
              <a:ext uri="{FF2B5EF4-FFF2-40B4-BE49-F238E27FC236}">
                <a16:creationId xmlns:a16="http://schemas.microsoft.com/office/drawing/2014/main" id="{E604C03B-7CC2-404E-B4E6-CFFC2F2FB9EC}"/>
              </a:ext>
            </a:extLst>
          </p:cNvPr>
          <p:cNvSpPr>
            <a:spLocks noGrp="1"/>
          </p:cNvSpPr>
          <p:nvPr/>
        </p:nvSpPr>
        <p:spPr>
          <a:xfrm>
            <a:off x="10039350" y="3295650"/>
            <a:ext cx="419100" cy="171450"/>
          </a:xfrm>
          <a:prstGeom prst="rect">
            <a:avLst/>
          </a:prstGeom>
          <a:noFill/>
          <a:ln w="0">
            <a:noFill/>
          </a:ln>
        </p:spPr>
        <p:txBody>
          <a:bodyPr wrap="square" lIns="0" tIns="0" rIns="0" bIns="0" anchor="t">
            <a:normAutofit/>
          </a:bodyPr>
          <a:lstStyle/>
          <a:p>
            <a:pPr algn="ctr">
              <a:lnSpc>
                <a:spcPct val="100000"/>
              </a:lnSpc>
              <a:buNone/>
              <a:defRPr sz="900" b="1">
                <a:solidFill>
                  <a:srgbClr val="091827"/>
                </a:solidFill>
                <a:latin typeface="Cascadia Mono"/>
                <a:ea typeface="Cascadia Mono"/>
                <a:cs typeface="Cascadia Mono"/>
              </a:defRPr>
            </a:pPr>
            <a:r>
              <a:rPr sz="900" b="1">
                <a:solidFill>
                  <a:srgbClr val="091827"/>
                </a:solidFill>
                <a:latin typeface="Cascadia Mono"/>
                <a:ea typeface="Cascadia Mono"/>
                <a:cs typeface="Cascadia Mono"/>
              </a:rPr>
              <a:t>01</a:t>
            </a:r>
          </a:p>
        </p:txBody>
      </p:sp>
      <p:sp>
        <p:nvSpPr>
          <p:cNvPr id="22" name="Rectangle 21">
            <a:extLst>
              <a:ext uri="{FF2B5EF4-FFF2-40B4-BE49-F238E27FC236}">
                <a16:creationId xmlns:a16="http://schemas.microsoft.com/office/drawing/2014/main" id="{C59BE38B-6D86-48DE-91A1-803CB4BEB4B4}"/>
              </a:ext>
            </a:extLst>
          </p:cNvPr>
          <p:cNvSpPr>
            <a:spLocks noGrp="1"/>
          </p:cNvSpPr>
          <p:nvPr/>
        </p:nvSpPr>
        <p:spPr>
          <a:xfrm>
            <a:off x="9544050" y="3848100"/>
            <a:ext cx="1409700" cy="323850"/>
          </a:xfrm>
          <a:prstGeom prst="rect">
            <a:avLst/>
          </a:prstGeom>
          <a:noFill/>
          <a:ln w="0">
            <a:noFill/>
          </a:ln>
        </p:spPr>
        <p:txBody>
          <a:bodyPr wrap="square" lIns="0" tIns="0" rIns="0" bIns="0" anchor="t">
            <a:normAutofit/>
          </a:bodyPr>
          <a:lstStyle/>
          <a:p>
            <a:pPr algn="ctr">
              <a:lnSpc>
                <a:spcPct val="100000"/>
              </a:lnSpc>
              <a:buNone/>
              <a:defRPr sz="1275" b="1">
                <a:solidFill>
                  <a:srgbClr val="F8FBFF"/>
                </a:solidFill>
                <a:latin typeface="Cascadia Mono"/>
                <a:ea typeface="Cascadia Mono"/>
                <a:cs typeface="Cascadia Mono"/>
              </a:defRPr>
            </a:pPr>
            <a:r>
              <a:rPr sz="1275" b="1">
                <a:solidFill>
                  <a:srgbClr val="F8FBFF"/>
                </a:solidFill>
                <a:latin typeface="Cascadia Mono"/>
                <a:ea typeface="Cascadia Mono"/>
                <a:cs typeface="Cascadia Mono"/>
              </a:rPr>
              <a:t>Dashboard</a:t>
            </a:r>
          </a:p>
        </p:txBody>
      </p:sp>
      <p:cxnSp>
        <p:nvCxnSpPr>
          <p:cNvPr id="56" name="Straight Arrow Connector 55"/>
          <p:cNvCxnSpPr>
            <a:stCxn id="20" idx="1"/>
            <a:endCxn id="17" idx="3"/>
          </p:cNvCxnSpPr>
          <p:nvPr/>
        </p:nvCxnSpPr>
        <p:spPr>
          <a:xfrm flipH="1">
            <a:off x="8591550" y="3390900"/>
            <a:ext cx="1447800" cy="0"/>
          </a:xfrm>
          <a:prstGeom prst="straightConnector1">
            <a:avLst/>
          </a:prstGeom>
          <a:ln w="19050">
            <a:solidFill>
              <a:srgbClr val="35D4B5"/>
            </a:solidFill>
            <a:prstDash val="solid"/>
            <a:tailEnd type="triangle" w="sm" len="sm"/>
          </a:ln>
        </p:spPr>
      </p:cxnSp>
      <p:cxnSp>
        <p:nvCxnSpPr>
          <p:cNvPr id="57" name="Straight Arrow Connector 56"/>
          <p:cNvCxnSpPr>
            <a:stCxn id="17" idx="1"/>
            <a:endCxn id="14" idx="3"/>
          </p:cNvCxnSpPr>
          <p:nvPr/>
        </p:nvCxnSpPr>
        <p:spPr>
          <a:xfrm flipH="1">
            <a:off x="6724650" y="3390900"/>
            <a:ext cx="1447800" cy="0"/>
          </a:xfrm>
          <a:prstGeom prst="straightConnector1">
            <a:avLst/>
          </a:prstGeom>
          <a:ln w="19050">
            <a:solidFill>
              <a:srgbClr val="35D4B5"/>
            </a:solidFill>
            <a:prstDash val="solid"/>
            <a:tailEnd type="triangle" w="sm" len="sm"/>
          </a:ln>
        </p:spPr>
      </p:cxnSp>
      <p:cxnSp>
        <p:nvCxnSpPr>
          <p:cNvPr id="58" name="Straight Arrow Connector 57"/>
          <p:cNvCxnSpPr>
            <a:stCxn id="14" idx="1"/>
            <a:endCxn id="11" idx="3"/>
          </p:cNvCxnSpPr>
          <p:nvPr/>
        </p:nvCxnSpPr>
        <p:spPr>
          <a:xfrm flipH="1">
            <a:off x="4857750" y="3390900"/>
            <a:ext cx="1447800" cy="0"/>
          </a:xfrm>
          <a:prstGeom prst="straightConnector1">
            <a:avLst/>
          </a:prstGeom>
          <a:ln w="19050">
            <a:solidFill>
              <a:srgbClr val="35D4B5"/>
            </a:solidFill>
            <a:prstDash val="solid"/>
            <a:tailEnd type="triangle" w="sm" len="sm"/>
          </a:ln>
        </p:spPr>
      </p:cxnSp>
      <p:cxnSp>
        <p:nvCxnSpPr>
          <p:cNvPr id="59" name="Straight Arrow Connector 58"/>
          <p:cNvCxnSpPr>
            <a:stCxn id="11" idx="1"/>
            <a:endCxn id="8" idx="3"/>
          </p:cNvCxnSpPr>
          <p:nvPr/>
        </p:nvCxnSpPr>
        <p:spPr>
          <a:xfrm flipH="1">
            <a:off x="2990850" y="3390900"/>
            <a:ext cx="1447800" cy="0"/>
          </a:xfrm>
          <a:prstGeom prst="straightConnector1">
            <a:avLst/>
          </a:prstGeom>
          <a:ln w="19050">
            <a:solidFill>
              <a:srgbClr val="35D4B5"/>
            </a:solidFill>
            <a:prstDash val="solid"/>
            <a:tailEnd type="triangle" w="sm" len="sm"/>
          </a:ln>
        </p:spPr>
      </p:cxnSp>
      <p:cxnSp>
        <p:nvCxnSpPr>
          <p:cNvPr id="60" name="Straight Arrow Connector 59"/>
          <p:cNvCxnSpPr>
            <a:stCxn id="8" idx="1"/>
            <a:endCxn id="5" idx="3"/>
          </p:cNvCxnSpPr>
          <p:nvPr/>
        </p:nvCxnSpPr>
        <p:spPr>
          <a:xfrm flipH="1">
            <a:off x="1123950" y="3390900"/>
            <a:ext cx="1447800" cy="0"/>
          </a:xfrm>
          <a:prstGeom prst="straightConnector1">
            <a:avLst/>
          </a:prstGeom>
          <a:ln w="19050">
            <a:solidFill>
              <a:srgbClr val="35D4B5"/>
            </a:solidFill>
            <a:prstDash val="solid"/>
            <a:tailEnd type="triangle" w="sm" len="sm"/>
          </a:ln>
        </p:spPr>
      </p:cxnSp>
      <p:sp>
        <p:nvSpPr>
          <p:cNvPr id="28" name="Rectangle 27">
            <a:extLst>
              <a:ext uri="{FF2B5EF4-FFF2-40B4-BE49-F238E27FC236}">
                <a16:creationId xmlns:a16="http://schemas.microsoft.com/office/drawing/2014/main" id="{C439CEB6-8E58-4E22-A097-9C4E13982BF9}"/>
              </a:ext>
            </a:extLst>
          </p:cNvPr>
          <p:cNvSpPr>
            <a:spLocks noGrp="1"/>
          </p:cNvSpPr>
          <p:nvPr/>
        </p:nvSpPr>
        <p:spPr>
          <a:xfrm>
            <a:off x="609600" y="4686300"/>
            <a:ext cx="2476500" cy="323850"/>
          </a:xfrm>
          <a:prstGeom prst="rect">
            <a:avLst/>
          </a:prstGeom>
          <a:noFill/>
          <a:ln w="0">
            <a:noFill/>
          </a:ln>
        </p:spPr>
        <p:txBody>
          <a:bodyPr wrap="square" lIns="0" tIns="0" rIns="0" bIns="0" anchor="t">
            <a:normAutofit/>
          </a:bodyPr>
          <a:lstStyle/>
          <a:p>
            <a:pPr algn="r" rtl="1">
              <a:lnSpc>
                <a:spcPct val="100000"/>
              </a:lnSpc>
              <a:buNone/>
              <a:defRPr lang="he-IL" sz="1650" b="1">
                <a:solidFill>
                  <a:srgbClr val="35D4B5"/>
                </a:solidFill>
                <a:latin typeface="Arial"/>
                <a:ea typeface="Arial"/>
                <a:cs typeface="Arial"/>
              </a:defRPr>
            </a:pPr>
            <a:r>
              <a:rPr lang="he-IL" sz="1650" b="1">
                <a:solidFill>
                  <a:srgbClr val="35D4B5"/>
                </a:solidFill>
                <a:latin typeface="Arial"/>
                <a:ea typeface="Arial"/>
                <a:cs typeface="Arial"/>
              </a:rPr>
              <a:t>החלטה ובדיקה</a:t>
            </a:r>
          </a:p>
        </p:txBody>
      </p:sp>
      <p:sp>
        <p:nvSpPr>
          <p:cNvPr id="29" name="Rectangle 28">
            <a:extLst>
              <a:ext uri="{FF2B5EF4-FFF2-40B4-BE49-F238E27FC236}">
                <a16:creationId xmlns:a16="http://schemas.microsoft.com/office/drawing/2014/main" id="{AB4B9DC3-7B4B-46B0-B369-4D75D348E798}"/>
              </a:ext>
            </a:extLst>
          </p:cNvPr>
          <p:cNvSpPr>
            <a:spLocks noGrp="1"/>
          </p:cNvSpPr>
          <p:nvPr/>
        </p:nvSpPr>
        <p:spPr>
          <a:xfrm>
            <a:off x="4857750" y="4686300"/>
            <a:ext cx="2476500" cy="323850"/>
          </a:xfrm>
          <a:prstGeom prst="rect">
            <a:avLst/>
          </a:prstGeom>
          <a:noFill/>
          <a:ln w="0">
            <a:noFill/>
          </a:ln>
        </p:spPr>
        <p:txBody>
          <a:bodyPr wrap="square" lIns="0" tIns="0" rIns="0" bIns="0" anchor="t">
            <a:normAutofit/>
          </a:bodyPr>
          <a:lstStyle/>
          <a:p>
            <a:pPr algn="r" rtl="1">
              <a:lnSpc>
                <a:spcPct val="100000"/>
              </a:lnSpc>
              <a:buNone/>
              <a:defRPr lang="he-IL" sz="1650" b="1">
                <a:solidFill>
                  <a:srgbClr val="5B91FF"/>
                </a:solidFill>
                <a:latin typeface="Arial"/>
                <a:ea typeface="Arial"/>
                <a:cs typeface="Arial"/>
              </a:defRPr>
            </a:pPr>
            <a:r>
              <a:rPr lang="he-IL" sz="1650" b="1">
                <a:solidFill>
                  <a:srgbClr val="5B91FF"/>
                </a:solidFill>
                <a:latin typeface="Arial"/>
                <a:ea typeface="Arial"/>
                <a:cs typeface="Arial"/>
              </a:rPr>
              <a:t>מקור ואישור</a:t>
            </a:r>
          </a:p>
        </p:txBody>
      </p:sp>
      <p:sp>
        <p:nvSpPr>
          <p:cNvPr id="30" name="Rectangle 29">
            <a:extLst>
              <a:ext uri="{FF2B5EF4-FFF2-40B4-BE49-F238E27FC236}">
                <a16:creationId xmlns:a16="http://schemas.microsoft.com/office/drawing/2014/main" id="{15354E14-75A6-4837-8166-3055AFF3AE40}"/>
              </a:ext>
            </a:extLst>
          </p:cNvPr>
          <p:cNvSpPr>
            <a:spLocks noGrp="1"/>
          </p:cNvSpPr>
          <p:nvPr/>
        </p:nvSpPr>
        <p:spPr>
          <a:xfrm>
            <a:off x="9048750" y="4686300"/>
            <a:ext cx="2514600" cy="323850"/>
          </a:xfrm>
          <a:prstGeom prst="rect">
            <a:avLst/>
          </a:prstGeom>
          <a:noFill/>
          <a:ln w="0">
            <a:noFill/>
          </a:ln>
        </p:spPr>
        <p:txBody>
          <a:bodyPr wrap="square" lIns="0" tIns="0" rIns="0" bIns="0" anchor="t">
            <a:normAutofit/>
          </a:bodyPr>
          <a:lstStyle/>
          <a:p>
            <a:pPr algn="r" rtl="1">
              <a:lnSpc>
                <a:spcPct val="100000"/>
              </a:lnSpc>
              <a:buNone/>
              <a:defRPr lang="he-IL" sz="1650" b="1">
                <a:solidFill>
                  <a:srgbClr val="F4B94F"/>
                </a:solidFill>
                <a:latin typeface="Arial"/>
                <a:ea typeface="Arial"/>
                <a:cs typeface="Arial"/>
              </a:defRPr>
            </a:pPr>
            <a:r>
              <a:rPr lang="he-IL" sz="1650" b="1">
                <a:solidFill>
                  <a:srgbClr val="F4B94F"/>
                </a:solidFill>
                <a:latin typeface="Arial"/>
                <a:ea typeface="Arial"/>
                <a:cs typeface="Arial"/>
              </a:rPr>
              <a:t>המוצר והאירוע</a:t>
            </a:r>
          </a:p>
        </p:txBody>
      </p:sp>
      <p:sp>
        <p:nvSpPr>
          <p:cNvPr id="31" name="Rectangle 30">
            <a:extLst>
              <a:ext uri="{FF2B5EF4-FFF2-40B4-BE49-F238E27FC236}">
                <a16:creationId xmlns:a16="http://schemas.microsoft.com/office/drawing/2014/main" id="{E4637F34-07F7-4ADA-A6B5-5E4CCE56A8C2}"/>
              </a:ext>
            </a:extLst>
          </p:cNvPr>
          <p:cNvSpPr>
            <a:spLocks noGrp="1"/>
          </p:cNvSpPr>
          <p:nvPr/>
        </p:nvSpPr>
        <p:spPr>
          <a:xfrm>
            <a:off x="3600450" y="5581650"/>
            <a:ext cx="7962900" cy="361950"/>
          </a:xfrm>
          <a:prstGeom prst="rect">
            <a:avLst/>
          </a:prstGeom>
          <a:noFill/>
          <a:ln w="0">
            <a:noFill/>
          </a:ln>
        </p:spPr>
        <p:txBody>
          <a:bodyPr wrap="square" lIns="0" tIns="0" rIns="0" bIns="0" anchor="t">
            <a:normAutofit/>
          </a:bodyPr>
          <a:lstStyle/>
          <a:p>
            <a:pPr algn="r" rtl="1">
              <a:lnSpc>
                <a:spcPct val="100000"/>
              </a:lnSpc>
              <a:buNone/>
              <a:defRPr lang="he-IL" sz="1350" b="0">
                <a:solidFill>
                  <a:srgbClr val="EF7484"/>
                </a:solidFill>
                <a:latin typeface="Arial"/>
                <a:ea typeface="Arial"/>
                <a:cs typeface="Arial"/>
              </a:defRPr>
            </a:pPr>
            <a:r>
              <a:rPr lang="he-IL" sz="1350" b="0">
                <a:solidFill>
                  <a:srgbClr val="EF7484"/>
                </a:solidFill>
                <a:latin typeface="Arial"/>
                <a:ea typeface="Arial"/>
                <a:cs typeface="Arial"/>
              </a:rPr>
              <a:t>הדמו לקריאה בלבד. לא מפעילים Backfill, לא משנים נתונים ולא מציגים סודות.</a:t>
            </a:r>
          </a:p>
        </p:txBody>
      </p:sp>
      <p:sp>
        <p:nvSpPr>
          <p:cNvPr id="32" name="Rectangle 31">
            <a:extLst>
              <a:ext uri="{FF2B5EF4-FFF2-40B4-BE49-F238E27FC236}">
                <a16:creationId xmlns:a16="http://schemas.microsoft.com/office/drawing/2014/main" id="{70FA98F0-7C81-42E4-95DA-EDA04CB2886F}"/>
              </a:ext>
            </a:extLst>
          </p:cNvPr>
          <p:cNvSpPr>
            <a:spLocks noGrp="1"/>
          </p:cNvSpPr>
          <p:nvPr/>
        </p:nvSpPr>
        <p:spPr>
          <a:xfrm>
            <a:off x="495300" y="6438900"/>
            <a:ext cx="342900" cy="171450"/>
          </a:xfrm>
          <a:prstGeom prst="rect">
            <a:avLst/>
          </a:prstGeom>
          <a:noFill/>
          <a:ln w="0">
            <a:noFill/>
          </a:ln>
        </p:spPr>
        <p:txBody>
          <a:bodyPr wrap="square" lIns="0" tIns="0" rIns="0" bIns="0" anchor="t">
            <a:normAutofit/>
          </a:bodyPr>
          <a:lstStyle/>
          <a:p>
            <a:pPr algn="l">
              <a:lnSpc>
                <a:spcPct val="100000"/>
              </a:lnSpc>
              <a:buNone/>
              <a:defRPr sz="825" b="1">
                <a:solidFill>
                  <a:srgbClr val="9AB1C5"/>
                </a:solidFill>
                <a:latin typeface="Cascadia Mono"/>
                <a:ea typeface="Cascadia Mono"/>
                <a:cs typeface="Cascadia Mono"/>
              </a:defRPr>
            </a:pPr>
            <a:r>
              <a:rPr sz="825" b="1">
                <a:solidFill>
                  <a:srgbClr val="9AB1C5"/>
                </a:solidFill>
                <a:latin typeface="Cascadia Mono"/>
                <a:ea typeface="Cascadia Mono"/>
                <a:cs typeface="Cascadia Mono"/>
              </a:rPr>
              <a:t>12</a:t>
            </a:r>
          </a:p>
        </p:txBody>
      </p:sp>
      <p:sp>
        <p:nvSpPr>
          <p:cNvPr id="33" name="Straight Connector 32">
            <a:extLst>
              <a:ext uri="{FF2B5EF4-FFF2-40B4-BE49-F238E27FC236}">
                <a16:creationId xmlns:a16="http://schemas.microsoft.com/office/drawing/2014/main" id="{842664D5-6120-4B6B-A1E4-DD5CE099AD9D}"/>
              </a:ext>
            </a:extLst>
          </p:cNvPr>
          <p:cNvSpPr>
            <a:spLocks noGrp="1"/>
          </p:cNvSpPr>
          <p:nvPr/>
        </p:nvSpPr>
        <p:spPr>
          <a:xfrm>
            <a:off x="914400" y="6534150"/>
            <a:ext cx="10744200" cy="0"/>
          </a:xfrm>
          <a:prstGeom prst="line">
            <a:avLst/>
          </a:prstGeom>
          <a:noFill/>
          <a:ln w="9525">
            <a:solidFill>
              <a:srgbClr val="294157"/>
            </a:solidFill>
            <a:prstDash val="solid"/>
          </a:ln>
        </p:spPr>
      </p:sp>
    </p:spTree>
    <p:extLst>
      <p:ext uri="{BB962C8B-B14F-4D97-AF65-F5344CB8AC3E}">
        <p14:creationId xmlns:p14="http://schemas.microsoft.com/office/powerpoint/2010/main" val="679583710"/>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1836</Words>
  <Application>Microsoft Office PowerPoint</Application>
  <DocSecurity>0</DocSecurity>
  <PresentationFormat>Widescreen</PresentationFormat>
  <Paragraphs>284</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Cascadia Mono</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עמיחי ישראל גרינולד</cp:lastModifiedBy>
  <cp:revision>1</cp:revision>
  <dcterms:created xsi:type="dcterms:W3CDTF">2026-09-16T22:59:26Z</dcterms:created>
  <dcterms:modified xsi:type="dcterms:W3CDTF">2026-09-17T13:46:20Z</dcterms:modified>
</cp:coreProperties>
</file>