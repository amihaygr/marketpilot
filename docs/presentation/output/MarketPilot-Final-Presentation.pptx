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8814415aa234118" /><Relationship Type="http://schemas.openxmlformats.org/officeDocument/2006/relationships/extended-properties" Target="/docProps/app.xml" Id="R78a50e9a7dba41c9" /><Relationship Type="http://schemas.openxmlformats.org/officeDocument/2006/relationships/officeDocument" Target="/ppt/presentation.xml" Id="R006925d9982f47cc" /></Relationships>
</file>

<file path=ppt/presentation.xml><?xml version="1.0" encoding="utf-8"?>
<p:presentation xmlns:p="http://schemas.openxmlformats.org/presentationml/2006/main">
  <p:sldMasterIdLst>
    <p:sldMasterId xmlns:r="http://schemas.openxmlformats.org/officeDocument/2006/relationships" id="2147483648" r:id="R58745ad16d224847"/>
  </p:sldMasterIdLst>
  <p:notesMasterIdLst>
    <p:notesMasterId xmlns:r="http://schemas.openxmlformats.org/officeDocument/2006/relationships" r:id="Rce7451200ee545c7"/>
  </p:notesMasterIdLst>
  <p:sldIdLst>
    <p:sldId xmlns:r="http://schemas.openxmlformats.org/officeDocument/2006/relationships" id="256" r:id="Re91c90276f3e4de8"/>
    <p:sldId xmlns:r="http://schemas.openxmlformats.org/officeDocument/2006/relationships" id="257" r:id="R7e67d3afed0346fa"/>
    <p:sldId xmlns:r="http://schemas.openxmlformats.org/officeDocument/2006/relationships" id="258" r:id="R2bda899deb824076"/>
    <p:sldId xmlns:r="http://schemas.openxmlformats.org/officeDocument/2006/relationships" id="259" r:id="Re1ee10bf4f3542ff"/>
    <p:sldId xmlns:r="http://schemas.openxmlformats.org/officeDocument/2006/relationships" id="260" r:id="Rab9235e560354f45"/>
    <p:sldId xmlns:r="http://schemas.openxmlformats.org/officeDocument/2006/relationships" id="261" r:id="Rfbcfd43af2dd445d"/>
    <p:sldId xmlns:r="http://schemas.openxmlformats.org/officeDocument/2006/relationships" id="262" r:id="R9e4e58a5e95f4d2f"/>
    <p:sldId xmlns:r="http://schemas.openxmlformats.org/officeDocument/2006/relationships" id="263" r:id="R4ba006f0d6f645aa"/>
    <p:sldId xmlns:r="http://schemas.openxmlformats.org/officeDocument/2006/relationships" id="264" r:id="R7a5b81a0e2634213"/>
    <p:sldId xmlns:r="http://schemas.openxmlformats.org/officeDocument/2006/relationships" id="265" r:id="Rf64f5ed48e4b4af9"/>
    <p:sldId xmlns:r="http://schemas.openxmlformats.org/officeDocument/2006/relationships" id="266" r:id="R130fb550f138468a"/>
    <p:sldId xmlns:r="http://schemas.openxmlformats.org/officeDocument/2006/relationships" id="267" r:id="R3559e71f61f7408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72d173e655e4e9f" /><Relationship Type="http://schemas.openxmlformats.org/officeDocument/2006/relationships/slideMaster" Target="/ppt/slideMasters/slideMaster1.xml" Id="R58745ad16d224847" /><Relationship Type="http://schemas.openxmlformats.org/officeDocument/2006/relationships/notesMaster" Target="/ppt/notesMasters/notesMaster1.xml" Id="Rce7451200ee545c7" /><Relationship Type="http://schemas.openxmlformats.org/officeDocument/2006/relationships/presProps" Target="/ppt/presProps.xml" Id="R3b319366bdd84412" /><Relationship Type="http://schemas.openxmlformats.org/officeDocument/2006/relationships/tableStyles" Target="/ppt/tableStyles.xml" Id="Rb32ae32ac8da4f58" /><Relationship Type="http://schemas.openxmlformats.org/officeDocument/2006/relationships/slide" Target="/ppt/slides/slide1.xml" Id="Re91c90276f3e4de8" /><Relationship Type="http://schemas.openxmlformats.org/officeDocument/2006/relationships/slide" Target="/ppt/slides/slide2.xml" Id="R7e67d3afed0346fa" /><Relationship Type="http://schemas.openxmlformats.org/officeDocument/2006/relationships/slide" Target="/ppt/slides/slide3.xml" Id="R2bda899deb824076" /><Relationship Type="http://schemas.openxmlformats.org/officeDocument/2006/relationships/slide" Target="/ppt/slides/slide4.xml" Id="Re1ee10bf4f3542ff" /><Relationship Type="http://schemas.openxmlformats.org/officeDocument/2006/relationships/slide" Target="/ppt/slides/slide5.xml" Id="Rab9235e560354f45" /><Relationship Type="http://schemas.openxmlformats.org/officeDocument/2006/relationships/slide" Target="/ppt/slides/slide6.xml" Id="Rfbcfd43af2dd445d" /><Relationship Type="http://schemas.openxmlformats.org/officeDocument/2006/relationships/slide" Target="/ppt/slides/slide7.xml" Id="R9e4e58a5e95f4d2f" /><Relationship Type="http://schemas.openxmlformats.org/officeDocument/2006/relationships/slide" Target="/ppt/slides/slide8.xml" Id="R4ba006f0d6f645aa" /><Relationship Type="http://schemas.openxmlformats.org/officeDocument/2006/relationships/slide" Target="/ppt/slides/slide9.xml" Id="R7a5b81a0e2634213" /><Relationship Type="http://schemas.openxmlformats.org/officeDocument/2006/relationships/slide" Target="/ppt/slides/slide10.xml" Id="Rf64f5ed48e4b4af9" /><Relationship Type="http://schemas.openxmlformats.org/officeDocument/2006/relationships/slide" Target="/ppt/slides/slide11.xml" Id="R130fb550f138468a" /><Relationship Type="http://schemas.openxmlformats.org/officeDocument/2006/relationships/slide" Target="/ppt/slides/slide12.xml" Id="R3559e71f61f7408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eaf940ca0694a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ffef317220449d9" /><Relationship Type="http://schemas.openxmlformats.org/officeDocument/2006/relationships/notesMaster" Target="/ppt/notesMasters/notesMaster1.xml" Id="R8c972881214e48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adb50e03a6e54a6a" /><Relationship Type="http://schemas.openxmlformats.org/officeDocument/2006/relationships/notesMaster" Target="/ppt/notesMasters/notesMaster1.xml" Id="Re1c71413cd7747ee"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ac988d193a4974" /><Relationship Type="http://schemas.openxmlformats.org/officeDocument/2006/relationships/notesMaster" Target="/ppt/notesMasters/notesMaster1.xml" Id="Rcfd849ccf7d8456c" /></Relationships>
</file>

<file path=ppt/notesSlides/_rels/notesSlide4.xml.rels>&#65279;<?xml version="1.0" encoding="utf-8"?><Relationships xmlns="http://schemas.openxmlformats.org/package/2006/relationships"><Relationship Type="http://schemas.openxmlformats.org/officeDocument/2006/relationships/slide" Target="/ppt/slides/slide4.xml" Id="R5f0b2e6ba5f9465e" /><Relationship Type="http://schemas.openxmlformats.org/officeDocument/2006/relationships/notesMaster" Target="/ppt/notesMasters/notesMaster1.xml" Id="R3a0d882410c14bc8" /></Relationships>
</file>

<file path=ppt/notesSlides/_rels/notesSlide5.xml.rels>&#65279;<?xml version="1.0" encoding="utf-8"?><Relationships xmlns="http://schemas.openxmlformats.org/package/2006/relationships"><Relationship Type="http://schemas.openxmlformats.org/officeDocument/2006/relationships/slide" Target="/ppt/slides/slide5.xml" Id="Rf38d47ce04634df8" /><Relationship Type="http://schemas.openxmlformats.org/officeDocument/2006/relationships/notesMaster" Target="/ppt/notesMasters/notesMaster1.xml" Id="Rab84697e660543b5"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815cbf09b549ff" /><Relationship Type="http://schemas.openxmlformats.org/officeDocument/2006/relationships/notesMaster" Target="/ppt/notesMasters/notesMaster1.xml" Id="Re415194acb7c467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81a7ce64ae74a8e" /><Relationship Type="http://schemas.openxmlformats.org/officeDocument/2006/relationships/notesMaster" Target="/ppt/notesMasters/notesMaster1.xml" Id="R4bb9499b7df54d18"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e8546135984eb0" /><Relationship Type="http://schemas.openxmlformats.org/officeDocument/2006/relationships/notesMaster" Target="/ppt/notesMasters/notesMaster1.xml" Id="R66380873448c42cb" /></Relationships>
</file>

<file path=ppt/notesSlides/_rels/notesSlide9.xml.rels>&#65279;<?xml version="1.0" encoding="utf-8"?><Relationships xmlns="http://schemas.openxmlformats.org/package/2006/relationships"><Relationship Type="http://schemas.openxmlformats.org/officeDocument/2006/relationships/slide" Target="/ppt/slides/slide9.xml" Id="R5d6f30e171da4f88" /><Relationship Type="http://schemas.openxmlformats.org/officeDocument/2006/relationships/notesMaster" Target="/ppt/notesMasters/notesMaster1.xml" Id="R784339e50b42431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0f017ead8534c78" /><Relationship Type="http://schemas.openxmlformats.org/officeDocument/2006/relationships/notesMaster" Target="/ppt/notesMasters/notesMaster1.xml" Id="R5c032ac5d3d0482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37be80c660c4ba4" /><Relationship Type="http://schemas.openxmlformats.org/officeDocument/2006/relationships/notesMaster" Target="/ppt/notesMasters/notesMaster1.xml" Id="Rebd4f35d83e84bd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1b9c0b0b8f54d83" /><Relationship Type="http://schemas.openxmlformats.org/officeDocument/2006/relationships/notesMaster" Target="/ppt/notesMasters/notesMaster1.xml" Id="R9afac15315a946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00:00–00:30</a:t>
            </a:r>
          </a:p>
          <a:p xmlns:a="http://schemas.openxmlformats.org/drawingml/2006/main">
            <a:r>
              <a:t/>
            </a:r>
          </a:p>
          <a:p xmlns:a="http://schemas.openxmlformats.org/drawingml/2006/main">
            <a:pPr algn="r" rtl="1"/>
            <a:r>
              <a:t>פתח כאדם שמציג בעיה שהוא באמת רצה לפתור: כשאני מסתכל על מניה, המחיר לבדו לא מספיק לי. אני רוצה לדעת אם הנתון טרי, מה השתנה בחברה, מה הסיכון והאם הרעיון עמד במבחן היסטורי. לכן בניתי סביבת מחקר שמרכזת את התמונה ומאפשרת לעקוב עד מקור הנתון. המערכת אינה שולחת פקודות מסחר ואינה מבטיחה תשואה.</a:t>
            </a:r>
          </a:p>
          <a:p xmlns:a="http://schemas.openxmlformats.org/drawingml/2006/main">
            <a:r>
              <a:t/>
            </a:r>
          </a:p>
          <a:p xmlns:a="http://schemas.openxmlformats.org/drawingml/2006/main">
            <a:pPr algn="r" rtl="1"/>
            <a:r>
              <a:t>מקור ואימות: docs/project-context.md; docs/architecture/architecture.md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00:30–01:15</a:t>
            </a:r>
          </a:p>
          <a:p xmlns:a="http://schemas.openxmlformats.org/drawingml/2006/main">
            <a:r>
              <a:t/>
            </a:r>
          </a:p>
          <a:p xmlns:a="http://schemas.openxmlformats.org/drawingml/2006/main">
            <a:pPr algn="r" rtl="1"/>
            <a:r>
              <a:t>ספר את הבעיה מנקודת המבט שלך כמשתמש: כדי לבחון מניה צריך לעבור בין גרף, חדשות, דיווחי חברה וכלי ניתוח, ועדיין לא תמיד ברור מה טרי ומה אמין. ארבע השאלות בתחתית הפכו לדרישות המוצר: להבין מה קורה, לבדוק את איכות הנתון, להוסיף הקשר עסקי ולבחון את הרעיון על העבר.</a:t>
            </a:r>
          </a:p>
          <a:p xmlns:a="http://schemas.openxmlformats.org/drawingml/2006/main">
            <a:r>
              <a:t/>
            </a:r>
          </a:p>
          <a:p xmlns:a="http://schemas.openxmlformats.org/drawingml/2006/main">
            <a:pPr algn="r" rtl="1"/>
            <a:r>
              <a:t>מקור ואימות: docs/project-context.md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01:15–02:00</a:t>
            </a:r>
          </a:p>
          <a:p xmlns:a="http://schemas.openxmlformats.org/drawingml/2006/main">
            <a:r>
              <a:t/>
            </a:r>
          </a:p>
          <a:p xmlns:a="http://schemas.openxmlformats.org/drawingml/2006/main">
            <a:pPr algn="r" rtl="1"/>
            <a:r>
              <a:t>הסבר את הערך בשפה עסקית: במקום לעבור בין כמה מקורות ולנסות לחבר הכול לבד, המשתמש מקבל סביבת מחקר אחת. המערכת מרכזת נתוני שוק ומידע רשמי, בודקת איכות, מוסיפה הקשר ומציגה תרחיש עם טווח כניסה, נקודת ביטול ויחס סיכון־סיכוי. היא מקצרת את זמן המחקר ומעלה את רמת השקיפות, אבל ההחלטה והביצוע נשארים בידי המשתמש.</a:t>
            </a:r>
          </a:p>
          <a:p xmlns:a="http://schemas.openxmlformats.org/drawingml/2006/main">
            <a:r>
              <a:t/>
            </a:r>
          </a:p>
          <a:p xmlns:a="http://schemas.openxmlformats.org/drawingml/2006/main">
            <a:pPr algn="r" rtl="1"/>
            <a:r>
              <a:t>מקור ואימות: docs/project-context.md; docs/decisions/ADR-008-decision-intelligence.md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02:00–03:15</a:t>
            </a:r>
          </a:p>
          <a:p xmlns:a="http://schemas.openxmlformats.org/drawingml/2006/main">
            <a:r>
              <a:t/>
            </a:r>
          </a:p>
          <a:p xmlns:a="http://schemas.openxmlformats.org/drawingml/2006/main">
            <a:pPr algn="r" rtl="1"/>
            <a:r>
              <a:t>פתח במשפט: כל מסלול עונה על צורך אחר. עקוב אחר השורה העליונה מימין לשמאל: Alpaca הוא מקור השוק, Python מאחד את הנתונים לחוזה, Kafka מפריד בין היצרן לצרכנים, Spark מעבד, ו-MariaDB Gold מגיש את התוצאה ל-API ול-Web. במקביל Kafka נשמר ב-Bronze, Spark Batch מנקה ל-Silver, ורק אחרי בדיקות מפרסם Gold מאושר. SEC ו-Corporate Actions נכנסים בעבודות תחומות ומוסיפים הקשר פונדמנטלי. מעל Gold יושבים כללי v1 ושכבת v2 המוגנת. Airflow מתזמן עבודות תחומות בלבד; הדפדפן מתקשר רק עם ה-API.</a:t>
            </a:r>
          </a:p>
          <a:p xmlns:a="http://schemas.openxmlformats.org/drawingml/2006/main">
            <a:r>
              <a:t/>
            </a:r>
          </a:p>
          <a:p xmlns:a="http://schemas.openxmlformats.org/drawingml/2006/main">
            <a:pPr algn="r" rtl="1"/>
            <a:r>
              <a:t>מקור ואימות: docs/architecture/architecture.md; docs/decisions/ADR-001-storage-strategy.md; ADR-002-airflow-boundary.md; ADR-003-streaming-lifecycle.md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03:15–04:15</a:t>
            </a:r>
          </a:p>
          <a:p xmlns:a="http://schemas.openxmlformats.org/drawingml/2006/main">
            <a:r>
              <a:t/>
            </a:r>
          </a:p>
          <a:p xmlns:a="http://schemas.openxmlformats.org/drawingml/2006/main">
            <a:pPr algn="r" rtl="1"/>
            <a:r>
              <a:t>הסבר את ההבדל כהבטחה למשתמש. Provisional אומר מה ידוע עכשיו. Certified אומר שהיום נבנה מחדש מן המקור ועבר בדיקות. Docker Compose מנהל שירותים ארוכי חיים; Airflow מתזמן ומנטר עבודות תחומות. אל תגיד ש-Airflow מפעיל את ה-Streaming.</a:t>
            </a:r>
          </a:p>
          <a:p xmlns:a="http://schemas.openxmlformats.org/drawingml/2006/main">
            <a:r>
              <a:t/>
            </a:r>
          </a:p>
          <a:p xmlns:a="http://schemas.openxmlformats.org/drawingml/2006/main">
            <a:pPr algn="r" rtl="1"/>
            <a:r>
              <a:t>מקור ואימות: docs/decisions/ADR-002-airflow-boundary.md; docs/decisions/ADR-004-provisional-certified-publication.md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04:15–05:05</a:t>
            </a:r>
          </a:p>
          <a:p xmlns:a="http://schemas.openxmlformats.org/drawingml/2006/main">
            <a:r>
              <a:t/>
            </a:r>
          </a:p>
          <a:p xmlns:a="http://schemas.openxmlformats.org/drawingml/2006/main">
            <a:pPr algn="r" rtl="1"/>
            <a:r>
              <a:t>פתח בכנות: בחרתי לעבוד עם הכלים שלמדנו ונחשפנו אליהם בקורס, אבל לא חיברתי אותם רק כדי לסמן וי. לכל כלי נתתי אחריות שמתאימה לחוזקות שלו. Kafka עדיף כאן על חיבור ישיר כי הוא מפריד בין המקור לצרכנים ומאפשר Replay. Spark חוסך שני מנועי עיבוד שונים למסלול החי ולאצווה. Airflow נותן תלויות, ניסיונות חוזרים ולוגים במקום אוסף משימות Cron. MinIO שומר מידע גולמי ו-Parquet בצורה שדומה ל-S3, במקום לערבב ארכיון עם מסד ההגשה. MariaDB מתאים לשאילתות SQL מהירות של האפליקציה, ו-Docker Compose נותן סביבה מקומית שחוזרת על עצמה בלי המורכבות של Kubernetes. אל תקריא את כל הטבלה; בחר שתיים או שלוש דוגמאות והסבר את שיקול הדעת.</a:t>
            </a:r>
          </a:p>
          <a:p xmlns:a="http://schemas.openxmlformats.org/drawingml/2006/main">
            <a:r>
              <a:t/>
            </a:r>
          </a:p>
          <a:p xmlns:a="http://schemas.openxmlformats.org/drawingml/2006/main">
            <a:pPr algn="r" rtl="1"/>
            <a:r>
              <a:t>מקור ואימות: docs/architecture/architecture.md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05:05–05:45</a:t>
            </a:r>
          </a:p>
          <a:p xmlns:a="http://schemas.openxmlformats.org/drawingml/2006/main">
            <a:r>
              <a:t/>
            </a:r>
          </a:p>
          <a:p xmlns:a="http://schemas.openxmlformats.org/drawingml/2006/main">
            <a:pPr algn="r" rtl="1"/>
            <a:r>
              <a:t>הצג את צילום המסך כראיה, לא כקישוט. המשתמש מקבל תמונת מחקר אחת: מחיר, נפח, אינדיקטורים, דיווחי חברה וטריות. מאחורי כל ערך יש API, סטטוס פרסום ו-Lineage. המסך מפשט את המורכבות, אך אינו מסתיר אותה. אם שואלים על המספרים, ציין שהם Snapshot מתוארך ולא נתון שיווקי קבוע.</a:t>
            </a:r>
          </a:p>
          <a:p xmlns:a="http://schemas.openxmlformats.org/drawingml/2006/main">
            <a:r>
              <a:t/>
            </a:r>
          </a:p>
          <a:p xmlns:a="http://schemas.openxmlformats.org/drawingml/2006/main">
            <a:pPr algn="r" rtl="1"/>
            <a:r>
              <a:t>מקור ואימות: docs/presentation/assets/dashboard.png; docs/final-presentation-verification.md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05:45–06:35</a:t>
            </a:r>
          </a:p>
          <a:p xmlns:a="http://schemas.openxmlformats.org/drawingml/2006/main">
            <a:r>
              <a:t/>
            </a:r>
          </a:p>
          <a:p xmlns:a="http://schemas.openxmlformats.org/drawingml/2006/main">
            <a:pPr algn="r" rtl="1"/>
            <a:r>
              <a:t>פתח כך: המלצה בלי נקודת ביטול ובלי גודל פוזיציה היא רק דעה. המסך מפריד בין Rule Score, שמסכם ראיות לפי כללים שקופים; Data Confidence, שמודד איכות וטריות; ו-Model Probability, שתופיע רק לאחר אימון וכיול. כרגע v1 מחשב Buy Zone, Stop, Targets ו-Risk/Reward. Shadow Mode עומד על 2/20 ו-v2 נמצא ב-FALLBACK, ולכן המערכת אינה מציגה הסתברות לא מוכחת. זהו מנגנון בטיחות, לא חוסר שמסתירים.</a:t>
            </a:r>
          </a:p>
          <a:p xmlns:a="http://schemas.openxmlformats.org/drawingml/2006/main">
            <a:r>
              <a:t/>
            </a:r>
          </a:p>
          <a:p xmlns:a="http://schemas.openxmlformats.org/drawingml/2006/main">
            <a:pPr algn="r" rtl="1"/>
            <a:r>
              <a:t>מקור ואימות: docs/decisions/ADR-008-decision-intelligence.md; docs/decisions/ADR-009-hybrid-decision-intelligence.md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06:35–07:25</a:t>
            </a:r>
          </a:p>
          <a:p xmlns:a="http://schemas.openxmlformats.org/drawingml/2006/main">
            <a:r>
              <a:t/>
            </a:r>
          </a:p>
          <a:p xmlns:a="http://schemas.openxmlformats.org/drawingml/2006/main">
            <a:pPr algn="r" rtl="1"/>
            <a:r>
              <a:t>הדגש שהמטרה אינה לייצר גרף יפה אלא ניסוי שאפשר לבקר. הקלט כולל רק Certified Gold. אות שנוצר בנר מסוים יכול להשפיע רק מהנר הבא, כדי למנוע Look-ahead. עלויות ו-Slippage מפחיתים את התוצאה במקום להיעלם מהמודל. כך גם תוצאה חלשה היא מידע שימושי. ביצועי עבר אינם הבטחת תשואה.</a:t>
            </a:r>
          </a:p>
          <a:p xmlns:a="http://schemas.openxmlformats.org/drawingml/2006/main">
            <a:r>
              <a:t/>
            </a:r>
          </a:p>
          <a:p xmlns:a="http://schemas.openxmlformats.org/drawingml/2006/main">
            <a:pPr algn="r" rtl="1"/>
            <a:r>
              <a:t>מקור ואימות: docs/architecture/architecture.md; docs/decisions/ADR-005-historical-backtesting.md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07:25–08:15</a:t>
            </a:r>
          </a:p>
          <a:p xmlns:a="http://schemas.openxmlformats.org/drawingml/2006/main">
            <a:r>
              <a:t/>
            </a:r>
          </a:p>
          <a:p xmlns:a="http://schemas.openxmlformats.org/drawingml/2006/main">
            <a:pPr algn="r" rtl="1"/>
            <a:r>
              <a:t>בחר שני אתגרים והצג את דרך החשיבה. הראשון: רציתי נתון מהיר, אבל לא רציתי לכנות יום פתוח 'מאושר'. לכן הפרדתי Provisional מ-Certified. השני: במערכת מבוזרת Retry הוא חלק מהחיים, ולכן לא ניסיתי למנוע כל ניסיון חוזר. תכננתי Business Keys, Checkpoint ו-Upsert כך שהניסיון החוזר יהיה בטוח. אם נשאר זמן, הסבר מדוע ה-Backfill עובר דרך Bronze ולא כותב ישירות למסד.</a:t>
            </a:r>
          </a:p>
          <a:p xmlns:a="http://schemas.openxmlformats.org/drawingml/2006/main">
            <a:r>
              <a:t/>
            </a:r>
          </a:p>
          <a:p xmlns:a="http://schemas.openxmlformats.org/drawingml/2006/main">
            <a:pPr algn="r" rtl="1"/>
            <a:r>
              <a:t>מקור ואימות: docs/decisions/ADR-003-streaming-lifecycle.md; ADR-004-provisional-certified-publication.md; ADR-007-certified-historical-acquisition.md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08:15–08:55</a:t>
            </a:r>
          </a:p>
          <a:p xmlns:a="http://schemas.openxmlformats.org/drawingml/2006/main">
            <a:r>
              <a:t/>
            </a:r>
          </a:p>
          <a:p xmlns:a="http://schemas.openxmlformats.org/drawingml/2006/main">
            <a:pPr algn="r" rtl="1"/>
            <a:r>
              <a:t>הפרד בבירור בין קיים לעתידי. היום יש פלטפורמה מקומית מלאה, 53 ימי היסטוריה מאושרים, v1 Rules ו-Shadow Mode של 2/20. תשתית v2 קיימת אך נמצאת ב-FALLBACK כי אין עדיין 24 חודשי נתונים ומדגם של 300 כניסות. לאחר אימון נדרש Walk-Forward, כיול, 20 ימי Shadow חדשים ואישור אנושי. רק אחר כך יש מקום ל-SIP, S3 ואבטחת Production.</a:t>
            </a:r>
          </a:p>
          <a:p xmlns:a="http://schemas.openxmlformats.org/drawingml/2006/main">
            <a:r>
              <a:t/>
            </a:r>
          </a:p>
          <a:p xmlns:a="http://schemas.openxmlformats.org/drawingml/2006/main">
            <a:pPr algn="r" rtl="1"/>
            <a:r>
              <a:t>מקור ואימות: docs/implementation-plan.md; docs/decisions/ADR-009-hybrid-decision-intelligence.md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08:55–09:10</a:t>
            </a:r>
          </a:p>
          <a:p xmlns:a="http://schemas.openxmlformats.org/drawingml/2006/main">
            <a:r>
              <a:t/>
            </a:r>
          </a:p>
          <a:p xmlns:a="http://schemas.openxmlformats.org/drawingml/2006/main">
            <a:pPr algn="r" rtl="1"/>
            <a:r>
              <a:t>עצור לשנייה ועבור לדמו במשפט נקי: עד עכשיו הסברתי את ההיגיון. עכשיו אראה את אותה שרשרת במערכת עצמה. נעבור מהמסך העסקי לאירוע ב-Kafka, לראיית המקור ב-MinIO, לריצה המאושרת ב-Airflow, ולבסוף לתרחיש ההחלטה ולבדיקה ההיסטורית. פתח את סקריפט הדמו והתחל את הטיימר.</a:t>
            </a:r>
          </a:p>
          <a:p xmlns:a="http://schemas.openxmlformats.org/drawingml/2006/main">
            <a:r>
              <a:t/>
            </a:r>
          </a:p>
          <a:p xmlns:a="http://schemas.openxmlformats.org/drawingml/2006/main">
            <a:pPr algn="r" rtl="1"/>
            <a:r>
              <a:t>מקור ואימות: docs/presentation/demo-day-step-by-step-he.md; scripts/demo-preflight.ps1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d22e906e3c5483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6e38cb92b448c7" /><Relationship Type="http://schemas.openxmlformats.org/officeDocument/2006/relationships/slideLayout" Target="/ppt/slideLayouts/slideLayout1.xml" Id="R3c694d5991924dc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c694d5991924dc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4635d9741d04172" /><Relationship Type="http://schemas.openxmlformats.org/officeDocument/2006/relationships/notesSlide" Target="/ppt/notesSlides/notesSlide1.xml" Id="Rf43bbd04a2a74ea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b7a56ef86e54a82" /><Relationship Type="http://schemas.openxmlformats.org/officeDocument/2006/relationships/notesSlide" Target="/ppt/notesSlides/notesSlide2.xml" Id="R5600ece371664a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5710bcf5e6d417d" /><Relationship Type="http://schemas.openxmlformats.org/officeDocument/2006/relationships/notesSlide" Target="/ppt/notesSlides/notesSlide3.xml" Id="Rb96c3efb1eb9448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a08a742a7b54fc9" /><Relationship Type="http://schemas.openxmlformats.org/officeDocument/2006/relationships/notesSlide" Target="/ppt/notesSlides/notesSlide4.xml" Id="R0b7c5f36c94e49e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4913d82283d41ac" /><Relationship Type="http://schemas.openxmlformats.org/officeDocument/2006/relationships/notesSlide" Target="/ppt/notesSlides/notesSlide5.xml" Id="Recda1d299668478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0a4a6b9c0124316" /><Relationship Type="http://schemas.openxmlformats.org/officeDocument/2006/relationships/notesSlide" Target="/ppt/notesSlides/notesSlide6.xml" Id="R5ff9c7e94b054c2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5bd83add4a3467b" /><Relationship Type="http://schemas.openxmlformats.org/officeDocument/2006/relationships/image" Target="/ppt/media/image.png" Id="R90d1c04bab8f48df" /><Relationship Type="http://schemas.openxmlformats.org/officeDocument/2006/relationships/notesSlide" Target="/ppt/notesSlides/notesSlide7.xml" Id="R9d576945b80d482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cb9f57259fe4b96" /><Relationship Type="http://schemas.openxmlformats.org/officeDocument/2006/relationships/image" Target="/ppt/media/image2.png" Id="Reab10b23189f4080" /><Relationship Type="http://schemas.openxmlformats.org/officeDocument/2006/relationships/notesSlide" Target="/ppt/notesSlides/notesSlide8.xml" Id="R4d305150ab21451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3fbea4217364570" /><Relationship Type="http://schemas.openxmlformats.org/officeDocument/2006/relationships/image" Target="/ppt/media/image3.png" Id="R32f8972aab244bc2" /><Relationship Type="http://schemas.openxmlformats.org/officeDocument/2006/relationships/notesSlide" Target="/ppt/notesSlides/notesSlide9.xml" Id="R3616083d2714467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576677ebe484c20" /><Relationship Type="http://schemas.openxmlformats.org/officeDocument/2006/relationships/notesSlide" Target="/ppt/notesSlides/notesSlide10.xml" Id="Rbb04600269844b5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62b90002ec74839" /><Relationship Type="http://schemas.openxmlformats.org/officeDocument/2006/relationships/notesSlide" Target="/ppt/notesSlides/notesSlide11.xml" Id="R05ae6526cf394f7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f440f0470a0460d" /><Relationship Type="http://schemas.openxmlformats.org/officeDocument/2006/relationships/notesSlide" Target="/ppt/notesSlides/notesSlide12.xml" Id="Rf7830a2bbb9b482c" /></Relationships>
</file>

<file path=ppt/slides/slide1.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B055C5A-FF5B-4D5A-9423-36EB8B37F39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1197D7E-A5CE-453C-831A-D769F06AEC99}"/>
              </a:ext>
            </a:extLst>
          </p:cNvPr>
          <p:cNvSpPr>
            <a:spLocks xmlns:a="http://schemas.openxmlformats.org/drawingml/2006/main" noGrp="1"/>
          </p:cNvSpPr>
          <p:nvPr/>
        </p:nvSpPr>
        <p:spPr>
          <a:xfrm xmlns:a="http://schemas.openxmlformats.org/drawingml/2006/main">
            <a:off x="647700" y="552450"/>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MARKETPILOT · FINAL PROJECT</a:t>
            </a:r>
          </a:p>
        </p:txBody>
      </p:sp>
      <p:sp>
        <p:nvSpPr>
          <p:cNvPr id="3" name="">
            <a:extLst xmlns:a="http://schemas.openxmlformats.org/drawingml/2006/main">
              <a:ext uri="{FF2B5EF4-FFF2-40B4-BE49-F238E27FC236}">
                <a16:creationId xmlns:a16="http://schemas.microsoft.com/office/drawing/2014/main" id="{4A8F7B66-34A1-4BF0-BBD3-BF3148887476}"/>
              </a:ext>
            </a:extLst>
          </p:cNvPr>
          <p:cNvSpPr>
            <a:spLocks xmlns:a="http://schemas.openxmlformats.org/drawingml/2006/main" noGrp="1"/>
          </p:cNvSpPr>
          <p:nvPr/>
        </p:nvSpPr>
        <p:spPr>
          <a:xfrm xmlns:a="http://schemas.openxmlformats.org/drawingml/2006/main">
            <a:off x="5143500" y="1257300"/>
            <a:ext cx="638175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0000"/>
              </a:lnSpc>
              <a:buNone/>
              <a:defRPr sz="4350" b="1">
                <a:solidFill>
                  <a:srgbClr val="F8FBFF"/>
                </a:solidFill>
                <a:latin typeface="Arial"/>
                <a:ea typeface="Arial"/>
                <a:cs typeface="Arial"/>
              </a:defRPr>
            </a:pPr>
            <a:r>
              <a:rPr sz="4350" b="1">
                <a:solidFill>
                  <a:srgbClr val="F8FBFF"/>
                </a:solidFill>
                <a:latin typeface="Arial"/>
                <a:ea typeface="Arial"/>
                <a:cs typeface="Arial"/>
              </a:rPr>
              <a:t>MarketPilot</a:t>
            </a:r>
          </a:p>
          <a:p xmlns:a="http://schemas.openxmlformats.org/drawingml/2006/main">
            <a:pPr algn="r" rtl="1">
              <a:lnSpc>
                <a:spcPct val="90000"/>
              </a:lnSpc>
              <a:buNone/>
              <a:defRPr sz="4350" b="1" lang="he-IL">
                <a:solidFill>
                  <a:srgbClr val="F8FBFF"/>
                </a:solidFill>
                <a:latin typeface="Arial"/>
                <a:ea typeface="Arial"/>
                <a:cs typeface="Arial"/>
              </a:defRPr>
            </a:pPr>
            <a:r>
              <a:rPr sz="4350" b="1" lang="he-IL">
                <a:solidFill>
                  <a:srgbClr val="F8FBFF"/>
                </a:solidFill>
                <a:latin typeface="Arial"/>
                <a:ea typeface="Arial"/>
                <a:cs typeface="Arial"/>
              </a:rPr>
              <a:t>מהמידע הגולמי</a:t>
            </a:r>
          </a:p>
          <a:p xmlns:a="http://schemas.openxmlformats.org/drawingml/2006/main">
            <a:pPr algn="r" rtl="1">
              <a:lnSpc>
                <a:spcPct val="90000"/>
              </a:lnSpc>
              <a:buNone/>
              <a:defRPr sz="4350" b="1" lang="he-IL">
                <a:solidFill>
                  <a:srgbClr val="F8FBFF"/>
                </a:solidFill>
                <a:latin typeface="Arial"/>
                <a:ea typeface="Arial"/>
                <a:cs typeface="Arial"/>
              </a:defRPr>
            </a:pPr>
            <a:r>
              <a:rPr sz="4350" b="1" lang="he-IL">
                <a:solidFill>
                  <a:srgbClr val="F8FBFF"/>
                </a:solidFill>
                <a:latin typeface="Arial"/>
                <a:ea typeface="Arial"/>
                <a:cs typeface="Arial"/>
              </a:rPr>
              <a:t>לתרחיש החלטה</a:t>
            </a:r>
          </a:p>
        </p:txBody>
      </p:sp>
      <p:sp>
        <p:nvSpPr>
          <p:cNvPr id="4" name="">
            <a:extLst xmlns:a="http://schemas.openxmlformats.org/drawingml/2006/main">
              <a:ext uri="{FF2B5EF4-FFF2-40B4-BE49-F238E27FC236}">
                <a16:creationId xmlns:a16="http://schemas.microsoft.com/office/drawing/2014/main" id="{2C5E4415-0CC0-45A4-8E34-D122A23DE2AB}"/>
              </a:ext>
            </a:extLst>
          </p:cNvPr>
          <p:cNvSpPr>
            <a:spLocks xmlns:a="http://schemas.openxmlformats.org/drawingml/2006/main" noGrp="1"/>
          </p:cNvSpPr>
          <p:nvPr/>
        </p:nvSpPr>
        <p:spPr>
          <a:xfrm xmlns:a="http://schemas.openxmlformats.org/drawingml/2006/main">
            <a:off x="6000750" y="3733800"/>
            <a:ext cx="552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774"/>
          </a:bodyPr>
          <a:lstStyle xmlns:a="http://schemas.openxmlformats.org/drawingml/2006/main"/>
          <a:p xmlns:a="http://schemas.openxmlformats.org/drawingml/2006/main">
            <a:pPr algn="r" rtl="1">
              <a:lnSpc>
                <a:spcPct val="105000"/>
              </a:lnSpc>
              <a:buNone/>
              <a:defRPr sz="1800" b="0" lang="he-IL">
                <a:solidFill>
                  <a:srgbClr val="9AB1C5"/>
                </a:solidFill>
                <a:latin typeface="Arial"/>
                <a:ea typeface="Arial"/>
                <a:cs typeface="Arial"/>
              </a:defRPr>
            </a:pPr>
            <a:r>
              <a:rPr sz="1800" b="0" lang="he-IL">
                <a:solidFill>
                  <a:srgbClr val="9AB1C5"/>
                </a:solidFill>
                <a:latin typeface="Arial"/>
                <a:ea typeface="Arial"/>
                <a:cs typeface="Arial"/>
              </a:rPr>
              <a:t>סביבת מחקר אחת לסוחר</a:t>
            </a:r>
          </a:p>
          <a:p xmlns:a="http://schemas.openxmlformats.org/drawingml/2006/main">
            <a:pPr algn="r" rtl="1">
              <a:lnSpc>
                <a:spcPct val="105000"/>
              </a:lnSpc>
              <a:buNone/>
              <a:defRPr sz="1800" b="0" lang="he-IL">
                <a:solidFill>
                  <a:srgbClr val="9AB1C5"/>
                </a:solidFill>
                <a:latin typeface="Arial"/>
                <a:ea typeface="Arial"/>
                <a:cs typeface="Arial"/>
              </a:defRPr>
            </a:pPr>
            <a:r>
              <a:rPr sz="1800" b="0" lang="he-IL">
                <a:solidFill>
                  <a:srgbClr val="9AB1C5"/>
                </a:solidFill>
                <a:latin typeface="Arial"/>
                <a:ea typeface="Arial"/>
                <a:cs typeface="Arial"/>
              </a:rPr>
              <a:t>מחברת נתונים, סיכון והסבר</a:t>
            </a:r>
          </a:p>
          <a:p xmlns:a="http://schemas.openxmlformats.org/drawingml/2006/main">
            <a:pPr algn="r" rtl="1">
              <a:lnSpc>
                <a:spcPct val="105000"/>
              </a:lnSpc>
              <a:buNone/>
              <a:defRPr sz="1800" b="0" lang="he-IL">
                <a:solidFill>
                  <a:srgbClr val="9AB1C5"/>
                </a:solidFill>
                <a:latin typeface="Arial"/>
                <a:ea typeface="Arial"/>
                <a:cs typeface="Arial"/>
              </a:defRPr>
            </a:pPr>
            <a:r>
              <a:rPr sz="1800" b="0" lang="he-IL">
                <a:solidFill>
                  <a:srgbClr val="9AB1C5"/>
                </a:solidFill>
                <a:latin typeface="Arial"/>
                <a:ea typeface="Arial"/>
                <a:cs typeface="Arial"/>
              </a:rPr>
              <a:t>לתמונה שאפשר לסמוך עליה</a:t>
            </a:r>
          </a:p>
        </p:txBody>
      </p:sp>
      <p:sp>
        <p:nvSpPr>
          <p:cNvPr id="5" name="">
            <a:extLst xmlns:a="http://schemas.openxmlformats.org/drawingml/2006/main">
              <a:ext uri="{FF2B5EF4-FFF2-40B4-BE49-F238E27FC236}">
                <a16:creationId xmlns:a16="http://schemas.microsoft.com/office/drawing/2014/main" id="{7D18F918-5EB2-47BE-AC80-E37626533D6B}"/>
              </a:ext>
            </a:extLst>
          </p:cNvPr>
          <p:cNvSpPr>
            <a:spLocks xmlns:a="http://schemas.openxmlformats.org/drawingml/2006/main" noGrp="1"/>
          </p:cNvSpPr>
          <p:nvPr/>
        </p:nvSpPr>
        <p:spPr>
          <a:xfrm xmlns:a="http://schemas.openxmlformats.org/drawingml/2006/main">
            <a:off x="742950" y="19812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35D4B5"/>
                </a:solidFill>
                <a:latin typeface="Cascadia Mono"/>
                <a:ea typeface="Cascadia Mono"/>
                <a:cs typeface="Cascadia Mono"/>
              </a:defRPr>
            </a:pPr>
            <a:r>
              <a:rPr sz="900" b="0">
                <a:solidFill>
                  <a:srgbClr val="35D4B5"/>
                </a:solidFill>
                <a:latin typeface="Cascadia Mono"/>
                <a:ea typeface="Cascadia Mono"/>
                <a:cs typeface="Cascadia Mono"/>
              </a:rPr>
              <a:t>01</a:t>
            </a:r>
          </a:p>
        </p:txBody>
      </p:sp>
      <p:sp>
        <p:nvSpPr>
          <p:cNvPr id="6" name="">
            <a:extLst xmlns:a="http://schemas.openxmlformats.org/drawingml/2006/main">
              <a:ext uri="{FF2B5EF4-FFF2-40B4-BE49-F238E27FC236}">
                <a16:creationId xmlns:a16="http://schemas.microsoft.com/office/drawing/2014/main" id="{6BCFBD24-23FB-4376-84E9-E7CFFC8A0825}"/>
              </a:ext>
            </a:extLst>
          </p:cNvPr>
          <p:cNvSpPr>
            <a:spLocks xmlns:a="http://schemas.openxmlformats.org/drawingml/2006/main" noGrp="1"/>
          </p:cNvSpPr>
          <p:nvPr/>
        </p:nvSpPr>
        <p:spPr>
          <a:xfrm xmlns:a="http://schemas.openxmlformats.org/drawingml/2006/main">
            <a:off x="1200150" y="19145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F8FBFF"/>
                </a:solidFill>
                <a:latin typeface="Cascadia Mono"/>
                <a:ea typeface="Cascadia Mono"/>
                <a:cs typeface="Cascadia Mono"/>
              </a:defRPr>
            </a:pPr>
            <a:r>
              <a:rPr sz="1800" b="1">
                <a:solidFill>
                  <a:srgbClr val="F8FBFF"/>
                </a:solidFill>
                <a:latin typeface="Cascadia Mono"/>
                <a:ea typeface="Cascadia Mono"/>
                <a:cs typeface="Cascadia Mono"/>
              </a:rPr>
              <a:t>LIVE</a:t>
            </a:r>
          </a:p>
        </p:txBody>
      </p:sp>
      <p:sp>
        <p:nvSpPr>
          <p:cNvPr id="7" name="">
            <a:extLst xmlns:a="http://schemas.openxmlformats.org/drawingml/2006/main">
              <a:ext uri="{FF2B5EF4-FFF2-40B4-BE49-F238E27FC236}">
                <a16:creationId xmlns:a16="http://schemas.microsoft.com/office/drawing/2014/main" id="{FDE02050-0C3B-47A7-BCC7-4F5B938CA2AB}"/>
              </a:ext>
            </a:extLst>
          </p:cNvPr>
          <p:cNvSpPr>
            <a:spLocks xmlns:a="http://schemas.openxmlformats.org/drawingml/2006/main" noGrp="1"/>
          </p:cNvSpPr>
          <p:nvPr/>
        </p:nvSpPr>
        <p:spPr>
          <a:xfrm xmlns:a="http://schemas.openxmlformats.org/drawingml/2006/main">
            <a:off x="1200150" y="22860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275" b="0" lang="he-IL">
                <a:solidFill>
                  <a:srgbClr val="9AB1C5"/>
                </a:solidFill>
                <a:latin typeface="Arial"/>
                <a:ea typeface="Arial"/>
                <a:cs typeface="Arial"/>
              </a:defRPr>
            </a:pPr>
            <a:r>
              <a:rPr sz="1275" b="0" lang="he-IL">
                <a:solidFill>
                  <a:srgbClr val="9AB1C5"/>
                </a:solidFill>
                <a:latin typeface="Arial"/>
                <a:ea typeface="Arial"/>
                <a:cs typeface="Arial"/>
              </a:rPr>
              <a:t>מה קורה עכשיו</a:t>
            </a:r>
          </a:p>
        </p:txBody>
      </p:sp>
      <p:sp>
        <p:nvSpPr>
          <p:cNvPr id="8" name="">
            <a:extLst xmlns:a="http://schemas.openxmlformats.org/drawingml/2006/main">
              <a:ext uri="{FF2B5EF4-FFF2-40B4-BE49-F238E27FC236}">
                <a16:creationId xmlns:a16="http://schemas.microsoft.com/office/drawing/2014/main" id="{66254A54-ACA6-4E2B-84E9-D07B519A0600}"/>
              </a:ext>
            </a:extLst>
          </p:cNvPr>
          <p:cNvSpPr>
            <a:spLocks xmlns:a="http://schemas.openxmlformats.org/drawingml/2006/main" noGrp="1"/>
          </p:cNvSpPr>
          <p:nvPr/>
        </p:nvSpPr>
        <p:spPr>
          <a:xfrm xmlns:a="http://schemas.openxmlformats.org/drawingml/2006/main">
            <a:off x="742950" y="2724150"/>
            <a:ext cx="314325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9" name="">
            <a:extLst xmlns:a="http://schemas.openxmlformats.org/drawingml/2006/main">
              <a:ext uri="{FF2B5EF4-FFF2-40B4-BE49-F238E27FC236}">
                <a16:creationId xmlns:a16="http://schemas.microsoft.com/office/drawing/2014/main" id="{06B20F59-1D0A-4BB5-ABCF-5AC4ED500E9F}"/>
              </a:ext>
            </a:extLst>
          </p:cNvPr>
          <p:cNvSpPr>
            <a:spLocks xmlns:a="http://schemas.openxmlformats.org/drawingml/2006/main" noGrp="1"/>
          </p:cNvSpPr>
          <p:nvPr/>
        </p:nvSpPr>
        <p:spPr>
          <a:xfrm xmlns:a="http://schemas.openxmlformats.org/drawingml/2006/main">
            <a:off x="742950" y="30099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35D4B5"/>
                </a:solidFill>
                <a:latin typeface="Cascadia Mono"/>
                <a:ea typeface="Cascadia Mono"/>
                <a:cs typeface="Cascadia Mono"/>
              </a:defRPr>
            </a:pPr>
            <a:r>
              <a:rPr sz="900" b="0">
                <a:solidFill>
                  <a:srgbClr val="35D4B5"/>
                </a:solidFill>
                <a:latin typeface="Cascadia Mono"/>
                <a:ea typeface="Cascadia Mono"/>
                <a:cs typeface="Cascadia Mono"/>
              </a:rPr>
              <a:t>02</a:t>
            </a:r>
          </a:p>
        </p:txBody>
      </p:sp>
      <p:sp>
        <p:nvSpPr>
          <p:cNvPr id="10" name="">
            <a:extLst xmlns:a="http://schemas.openxmlformats.org/drawingml/2006/main">
              <a:ext uri="{FF2B5EF4-FFF2-40B4-BE49-F238E27FC236}">
                <a16:creationId xmlns:a16="http://schemas.microsoft.com/office/drawing/2014/main" id="{8F5C1467-1DC2-43AC-98E4-C093E6D99601}"/>
              </a:ext>
            </a:extLst>
          </p:cNvPr>
          <p:cNvSpPr>
            <a:spLocks xmlns:a="http://schemas.openxmlformats.org/drawingml/2006/main" noGrp="1"/>
          </p:cNvSpPr>
          <p:nvPr/>
        </p:nvSpPr>
        <p:spPr>
          <a:xfrm xmlns:a="http://schemas.openxmlformats.org/drawingml/2006/main">
            <a:off x="1200150" y="29432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F8FBFF"/>
                </a:solidFill>
                <a:latin typeface="Cascadia Mono"/>
                <a:ea typeface="Cascadia Mono"/>
                <a:cs typeface="Cascadia Mono"/>
              </a:defRPr>
            </a:pPr>
            <a:r>
              <a:rPr sz="1800" b="1">
                <a:solidFill>
                  <a:srgbClr val="F8FBFF"/>
                </a:solidFill>
                <a:latin typeface="Cascadia Mono"/>
                <a:ea typeface="Cascadia Mono"/>
                <a:cs typeface="Cascadia Mono"/>
              </a:rPr>
              <a:t>CERTIFIED</a:t>
            </a:r>
          </a:p>
        </p:txBody>
      </p:sp>
      <p:sp>
        <p:nvSpPr>
          <p:cNvPr id="11" name="">
            <a:extLst xmlns:a="http://schemas.openxmlformats.org/drawingml/2006/main">
              <a:ext uri="{FF2B5EF4-FFF2-40B4-BE49-F238E27FC236}">
                <a16:creationId xmlns:a16="http://schemas.microsoft.com/office/drawing/2014/main" id="{0C52351E-6728-421F-930B-79E98B086A45}"/>
              </a:ext>
            </a:extLst>
          </p:cNvPr>
          <p:cNvSpPr>
            <a:spLocks xmlns:a="http://schemas.openxmlformats.org/drawingml/2006/main" noGrp="1"/>
          </p:cNvSpPr>
          <p:nvPr/>
        </p:nvSpPr>
        <p:spPr>
          <a:xfrm xmlns:a="http://schemas.openxmlformats.org/drawingml/2006/main">
            <a:off x="1200150" y="3314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275" b="0" lang="he-IL">
                <a:solidFill>
                  <a:srgbClr val="9AB1C5"/>
                </a:solidFill>
                <a:latin typeface="Arial"/>
                <a:ea typeface="Arial"/>
                <a:cs typeface="Arial"/>
              </a:defRPr>
            </a:pPr>
            <a:r>
              <a:rPr sz="1275" b="0" lang="he-IL">
                <a:solidFill>
                  <a:srgbClr val="9AB1C5"/>
                </a:solidFill>
                <a:latin typeface="Arial"/>
                <a:ea typeface="Arial"/>
                <a:cs typeface="Arial"/>
              </a:rPr>
              <a:t>מה עבר בדיקה</a:t>
            </a:r>
          </a:p>
        </p:txBody>
      </p:sp>
      <p:sp>
        <p:nvSpPr>
          <p:cNvPr id="12" name="">
            <a:extLst xmlns:a="http://schemas.openxmlformats.org/drawingml/2006/main">
              <a:ext uri="{FF2B5EF4-FFF2-40B4-BE49-F238E27FC236}">
                <a16:creationId xmlns:a16="http://schemas.microsoft.com/office/drawing/2014/main" id="{4889C63A-231F-48E8-9C66-DF51E0158265}"/>
              </a:ext>
            </a:extLst>
          </p:cNvPr>
          <p:cNvSpPr>
            <a:spLocks xmlns:a="http://schemas.openxmlformats.org/drawingml/2006/main" noGrp="1"/>
          </p:cNvSpPr>
          <p:nvPr/>
        </p:nvSpPr>
        <p:spPr>
          <a:xfrm xmlns:a="http://schemas.openxmlformats.org/drawingml/2006/main">
            <a:off x="742950" y="3752850"/>
            <a:ext cx="314325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13" name="">
            <a:extLst xmlns:a="http://schemas.openxmlformats.org/drawingml/2006/main">
              <a:ext uri="{FF2B5EF4-FFF2-40B4-BE49-F238E27FC236}">
                <a16:creationId xmlns:a16="http://schemas.microsoft.com/office/drawing/2014/main" id="{64B1EF7C-223F-43D1-B51D-B313AB856391}"/>
              </a:ext>
            </a:extLst>
          </p:cNvPr>
          <p:cNvSpPr>
            <a:spLocks xmlns:a="http://schemas.openxmlformats.org/drawingml/2006/main" noGrp="1"/>
          </p:cNvSpPr>
          <p:nvPr/>
        </p:nvSpPr>
        <p:spPr>
          <a:xfrm xmlns:a="http://schemas.openxmlformats.org/drawingml/2006/main">
            <a:off x="742950" y="40386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35D4B5"/>
                </a:solidFill>
                <a:latin typeface="Cascadia Mono"/>
                <a:ea typeface="Cascadia Mono"/>
                <a:cs typeface="Cascadia Mono"/>
              </a:defRPr>
            </a:pPr>
            <a:r>
              <a:rPr sz="900" b="0">
                <a:solidFill>
                  <a:srgbClr val="35D4B5"/>
                </a:solidFill>
                <a:latin typeface="Cascadia Mono"/>
                <a:ea typeface="Cascadia Mono"/>
                <a:cs typeface="Cascadia Mono"/>
              </a:rPr>
              <a:t>03</a:t>
            </a:r>
          </a:p>
        </p:txBody>
      </p:sp>
      <p:sp>
        <p:nvSpPr>
          <p:cNvPr id="14" name="">
            <a:extLst xmlns:a="http://schemas.openxmlformats.org/drawingml/2006/main">
              <a:ext uri="{FF2B5EF4-FFF2-40B4-BE49-F238E27FC236}">
                <a16:creationId xmlns:a16="http://schemas.microsoft.com/office/drawing/2014/main" id="{AA134EEA-3F1F-48CA-AF00-675BE9314462}"/>
              </a:ext>
            </a:extLst>
          </p:cNvPr>
          <p:cNvSpPr>
            <a:spLocks xmlns:a="http://schemas.openxmlformats.org/drawingml/2006/main" noGrp="1"/>
          </p:cNvSpPr>
          <p:nvPr/>
        </p:nvSpPr>
        <p:spPr>
          <a:xfrm xmlns:a="http://schemas.openxmlformats.org/drawingml/2006/main">
            <a:off x="1200150" y="39719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F8FBFF"/>
                </a:solidFill>
                <a:latin typeface="Cascadia Mono"/>
                <a:ea typeface="Cascadia Mono"/>
                <a:cs typeface="Cascadia Mono"/>
              </a:defRPr>
            </a:pPr>
            <a:r>
              <a:rPr sz="1800" b="1">
                <a:solidFill>
                  <a:srgbClr val="F8FBFF"/>
                </a:solidFill>
                <a:latin typeface="Cascadia Mono"/>
                <a:ea typeface="Cascadia Mono"/>
                <a:cs typeface="Cascadia Mono"/>
              </a:rPr>
              <a:t>EXPLAINED</a:t>
            </a:r>
          </a:p>
        </p:txBody>
      </p:sp>
      <p:sp>
        <p:nvSpPr>
          <p:cNvPr id="15" name="">
            <a:extLst xmlns:a="http://schemas.openxmlformats.org/drawingml/2006/main">
              <a:ext uri="{FF2B5EF4-FFF2-40B4-BE49-F238E27FC236}">
                <a16:creationId xmlns:a16="http://schemas.microsoft.com/office/drawing/2014/main" id="{E4152517-98BB-4794-B56B-948C91221054}"/>
              </a:ext>
            </a:extLst>
          </p:cNvPr>
          <p:cNvSpPr>
            <a:spLocks xmlns:a="http://schemas.openxmlformats.org/drawingml/2006/main" noGrp="1"/>
          </p:cNvSpPr>
          <p:nvPr/>
        </p:nvSpPr>
        <p:spPr>
          <a:xfrm xmlns:a="http://schemas.openxmlformats.org/drawingml/2006/main">
            <a:off x="1200150" y="43434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275" b="0" lang="he-IL">
                <a:solidFill>
                  <a:srgbClr val="9AB1C5"/>
                </a:solidFill>
                <a:latin typeface="Arial"/>
                <a:ea typeface="Arial"/>
                <a:cs typeface="Arial"/>
              </a:defRPr>
            </a:pPr>
            <a:r>
              <a:rPr sz="1275" b="0" lang="he-IL">
                <a:solidFill>
                  <a:srgbClr val="9AB1C5"/>
                </a:solidFill>
                <a:latin typeface="Arial"/>
                <a:ea typeface="Arial"/>
                <a:cs typeface="Arial"/>
              </a:rPr>
              <a:t>למה התקבלה התוצאה</a:t>
            </a:r>
          </a:p>
        </p:txBody>
      </p:sp>
      <p:sp>
        <p:nvSpPr>
          <p:cNvPr id="16" name="">
            <a:extLst xmlns:a="http://schemas.openxmlformats.org/drawingml/2006/main">
              <a:ext uri="{FF2B5EF4-FFF2-40B4-BE49-F238E27FC236}">
                <a16:creationId xmlns:a16="http://schemas.microsoft.com/office/drawing/2014/main" id="{1874E966-DB6B-4FBA-8027-57C2135F5056}"/>
              </a:ext>
            </a:extLst>
          </p:cNvPr>
          <p:cNvSpPr>
            <a:spLocks xmlns:a="http://schemas.openxmlformats.org/drawingml/2006/main" noGrp="1"/>
          </p:cNvSpPr>
          <p:nvPr/>
        </p:nvSpPr>
        <p:spPr>
          <a:xfrm xmlns:a="http://schemas.openxmlformats.org/drawingml/2006/main">
            <a:off x="647700" y="613410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050" b="0" lang="he-IL">
                <a:solidFill>
                  <a:srgbClr val="9AB1C5"/>
                </a:solidFill>
                <a:latin typeface="Arial"/>
                <a:ea typeface="Arial"/>
                <a:cs typeface="Arial"/>
              </a:defRPr>
            </a:pPr>
            <a:r>
              <a:rPr sz="1050" b="0" lang="he-IL">
                <a:solidFill>
                  <a:srgbClr val="9AB1C5"/>
                </a:solidFill>
                <a:latin typeface="Arial"/>
                <a:ea typeface="Arial"/>
                <a:cs typeface="Arial"/>
              </a:rPr>
              <a:t>עמיחי · פרויקט גמר · הנדסת נתונים</a:t>
            </a:r>
          </a:p>
        </p:txBody>
      </p:sp>
    </p:spTree>
    <p:extLst>
      <p:ext uri="{BB962C8B-B14F-4D97-AF65-F5344CB8AC3E}">
        <p14:creationId xmlns:p14="http://schemas.microsoft.com/office/powerpoint/2010/main" val="1068682869"/>
      </p:ext>
    </p:extLst>
  </p:cSld>
</p:sld>
</file>

<file path=ppt/slides/slide2.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A7E0155-B18B-407E-968F-A2E7049C432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D25ECC-BBE9-458C-9E48-232C14E89990}"/>
              </a:ext>
            </a:extLst>
          </p:cNvPr>
          <p:cNvSpPr>
            <a:spLocks xmlns:a="http://schemas.openxmlformats.org/drawingml/2006/main" noGrp="1"/>
          </p:cNvSpPr>
          <p:nvPr/>
        </p:nvSpPr>
        <p:spPr>
          <a:xfrm xmlns:a="http://schemas.openxmlformats.org/drawingml/2006/main">
            <a:off x="609600" y="4000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THE PROBLEM</a:t>
            </a:r>
          </a:p>
        </p:txBody>
      </p:sp>
      <p:sp>
        <p:nvSpPr>
          <p:cNvPr id="3" name="">
            <a:extLst xmlns:a="http://schemas.openxmlformats.org/drawingml/2006/main">
              <a:ext uri="{FF2B5EF4-FFF2-40B4-BE49-F238E27FC236}">
                <a16:creationId xmlns:a16="http://schemas.microsoft.com/office/drawing/2014/main" id="{B89CF861-2EEE-428C-ABBD-C562212A61FF}"/>
              </a:ext>
            </a:extLst>
          </p:cNvPr>
          <p:cNvSpPr>
            <a:spLocks xmlns:a="http://schemas.openxmlformats.org/drawingml/2006/main" noGrp="1"/>
          </p:cNvSpPr>
          <p:nvPr/>
        </p:nvSpPr>
        <p:spPr>
          <a:xfrm xmlns:a="http://schemas.openxmlformats.org/drawingml/2006/main">
            <a:off x="4000500" y="781050"/>
            <a:ext cx="752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3300" b="1" lang="he-IL">
                <a:solidFill>
                  <a:srgbClr val="F8FBFF"/>
                </a:solidFill>
                <a:latin typeface="Arial"/>
                <a:ea typeface="Arial"/>
                <a:cs typeface="Arial"/>
              </a:defRPr>
            </a:pPr>
            <a:r>
              <a:rPr sz="3300" b="1" lang="he-IL">
                <a:solidFill>
                  <a:srgbClr val="F8FBFF"/>
                </a:solidFill>
                <a:latin typeface="Arial"/>
                <a:ea typeface="Arial"/>
                <a:cs typeface="Arial"/>
              </a:rPr>
              <a:t>המחיר הוא רק תחילת השאלה</a:t>
            </a:r>
          </a:p>
        </p:txBody>
      </p:sp>
      <p:sp>
        <p:nvSpPr>
          <p:cNvPr id="4" name="">
            <a:extLst xmlns:a="http://schemas.openxmlformats.org/drawingml/2006/main">
              <a:ext uri="{FF2B5EF4-FFF2-40B4-BE49-F238E27FC236}">
                <a16:creationId xmlns:a16="http://schemas.microsoft.com/office/drawing/2014/main" id="{9C54001B-7962-437D-90CA-FD091561E4AE}"/>
              </a:ext>
            </a:extLst>
          </p:cNvPr>
          <p:cNvSpPr>
            <a:spLocks xmlns:a="http://schemas.openxmlformats.org/drawingml/2006/main" noGrp="1"/>
          </p:cNvSpPr>
          <p:nvPr/>
        </p:nvSpPr>
        <p:spPr>
          <a:xfrm xmlns:a="http://schemas.openxmlformats.org/drawingml/2006/main">
            <a:off x="5048250" y="1676400"/>
            <a:ext cx="647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648"/>
          </a:bodyPr>
          <a:lstStyle xmlns:a="http://schemas.openxmlformats.org/drawingml/2006/main"/>
          <a:p xmlns:a="http://schemas.openxmlformats.org/drawingml/2006/main">
            <a:pPr algn="r" rtl="1">
              <a:lnSpc>
                <a:spcPct val="100000"/>
              </a:lnSpc>
              <a:buNone/>
              <a:defRPr sz="1800" b="0" lang="he-IL">
                <a:solidFill>
                  <a:srgbClr val="9AB1C5"/>
                </a:solidFill>
                <a:latin typeface="Arial"/>
                <a:ea typeface="Arial"/>
                <a:cs typeface="Arial"/>
              </a:defRPr>
            </a:pPr>
            <a:r>
              <a:rPr sz="1800" b="0" lang="he-IL">
                <a:solidFill>
                  <a:srgbClr val="9AB1C5"/>
                </a:solidFill>
                <a:latin typeface="Arial"/>
                <a:ea typeface="Arial"/>
                <a:cs typeface="Arial"/>
              </a:rPr>
              <a:t>האתגר אינו מחסור במידע.</a:t>
            </a:r>
          </a:p>
          <a:p xmlns:a="http://schemas.openxmlformats.org/drawingml/2006/main">
            <a:pPr algn="r" rtl="1">
              <a:lnSpc>
                <a:spcPct val="100000"/>
              </a:lnSpc>
              <a:buNone/>
              <a:defRPr sz="1800" b="0" lang="he-IL">
                <a:solidFill>
                  <a:srgbClr val="9AB1C5"/>
                </a:solidFill>
                <a:latin typeface="Arial"/>
                <a:ea typeface="Arial"/>
                <a:cs typeface="Arial"/>
              </a:defRPr>
            </a:pPr>
            <a:r>
              <a:rPr sz="1800" b="0" lang="he-IL">
                <a:solidFill>
                  <a:srgbClr val="9AB1C5"/>
                </a:solidFill>
                <a:latin typeface="Arial"/>
                <a:ea typeface="Arial"/>
                <a:cs typeface="Arial"/>
              </a:rPr>
              <a:t>האתגר הוא לחבר מחיר, איכות, מצב החברה וסיכון</a:t>
            </a:r>
          </a:p>
          <a:p xmlns:a="http://schemas.openxmlformats.org/drawingml/2006/main">
            <a:pPr algn="r" rtl="1">
              <a:lnSpc>
                <a:spcPct val="100000"/>
              </a:lnSpc>
              <a:buNone/>
              <a:defRPr sz="1800" b="0" lang="he-IL">
                <a:solidFill>
                  <a:srgbClr val="9AB1C5"/>
                </a:solidFill>
                <a:latin typeface="Arial"/>
                <a:ea typeface="Arial"/>
                <a:cs typeface="Arial"/>
              </a:defRPr>
            </a:pPr>
            <a:r>
              <a:rPr sz="1800" b="0" lang="he-IL">
                <a:solidFill>
                  <a:srgbClr val="9AB1C5"/>
                </a:solidFill>
                <a:latin typeface="Arial"/>
                <a:ea typeface="Arial"/>
                <a:cs typeface="Arial"/>
              </a:rPr>
              <a:t>לתמונה אחת שאפשר להסביר.</a:t>
            </a:r>
          </a:p>
        </p:txBody>
      </p:sp>
      <p:sp>
        <p:nvSpPr>
          <p:cNvPr id="5" name="">
            <a:extLst xmlns:a="http://schemas.openxmlformats.org/drawingml/2006/main">
              <a:ext uri="{FF2B5EF4-FFF2-40B4-BE49-F238E27FC236}">
                <a16:creationId xmlns:a16="http://schemas.microsoft.com/office/drawing/2014/main" id="{88F6D627-73D3-448D-98BA-E648FB719C7F}"/>
              </a:ext>
            </a:extLst>
          </p:cNvPr>
          <p:cNvSpPr>
            <a:spLocks xmlns:a="http://schemas.openxmlformats.org/drawingml/2006/main" noGrp="1"/>
          </p:cNvSpPr>
          <p:nvPr/>
        </p:nvSpPr>
        <p:spPr>
          <a:xfrm xmlns:a="http://schemas.openxmlformats.org/drawingml/2006/main">
            <a:off x="9010650" y="3943350"/>
            <a:ext cx="9525" cy="1447800"/>
          </a:xfrm>
          <a:prstGeom xmlns:a="http://schemas.openxmlformats.org/drawingml/2006/main" prst="rect">
            <a:avLst/>
          </a:prstGeom>
          <a:solidFill xmlns:a="http://schemas.openxmlformats.org/drawingml/2006/main">
            <a:srgbClr val="29415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E11C455-94A0-46CE-95FF-B448F3BFACAB}"/>
              </a:ext>
            </a:extLst>
          </p:cNvPr>
          <p:cNvSpPr>
            <a:spLocks xmlns:a="http://schemas.openxmlformats.org/drawingml/2006/main" noGrp="1"/>
          </p:cNvSpPr>
          <p:nvPr/>
        </p:nvSpPr>
        <p:spPr>
          <a:xfrm xmlns:a="http://schemas.openxmlformats.org/drawingml/2006/main">
            <a:off x="9182100" y="37909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35D4B5"/>
                </a:solidFill>
                <a:latin typeface="Cascadia Mono"/>
                <a:ea typeface="Cascadia Mono"/>
                <a:cs typeface="Cascadia Mono"/>
              </a:defRPr>
            </a:pPr>
            <a:r>
              <a:rPr sz="900" b="0">
                <a:solidFill>
                  <a:srgbClr val="35D4B5"/>
                </a:solidFill>
                <a:latin typeface="Cascadia Mono"/>
                <a:ea typeface="Cascadia Mono"/>
                <a:cs typeface="Cascadia Mono"/>
              </a:rPr>
              <a:t>01</a:t>
            </a:r>
          </a:p>
        </p:txBody>
      </p:sp>
      <p:sp>
        <p:nvSpPr>
          <p:cNvPr id="7" name="">
            <a:extLst xmlns:a="http://schemas.openxmlformats.org/drawingml/2006/main">
              <a:ext uri="{FF2B5EF4-FFF2-40B4-BE49-F238E27FC236}">
                <a16:creationId xmlns:a16="http://schemas.microsoft.com/office/drawing/2014/main" id="{C4D9AE2D-37F0-4373-BD3D-66716B60F5FE}"/>
              </a:ext>
            </a:extLst>
          </p:cNvPr>
          <p:cNvSpPr>
            <a:spLocks xmlns:a="http://schemas.openxmlformats.org/drawingml/2006/main" noGrp="1"/>
          </p:cNvSpPr>
          <p:nvPr/>
        </p:nvSpPr>
        <p:spPr>
          <a:xfrm xmlns:a="http://schemas.openxmlformats.org/drawingml/2006/main">
            <a:off x="9182100" y="4152900"/>
            <a:ext cx="2400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F8FBFF"/>
                </a:solidFill>
                <a:latin typeface="Arial"/>
                <a:ea typeface="Arial"/>
                <a:cs typeface="Arial"/>
              </a:defRPr>
            </a:pPr>
            <a:r>
              <a:rPr sz="1875" b="1" lang="he-IL">
                <a:solidFill>
                  <a:srgbClr val="F8FBFF"/>
                </a:solidFill>
                <a:latin typeface="Arial"/>
                <a:ea typeface="Arial"/>
                <a:cs typeface="Arial"/>
              </a:rPr>
              <a:t>מה קורה עכשיו?</a:t>
            </a:r>
          </a:p>
        </p:txBody>
      </p:sp>
      <p:sp>
        <p:nvSpPr>
          <p:cNvPr id="8" name="">
            <a:extLst xmlns:a="http://schemas.openxmlformats.org/drawingml/2006/main">
              <a:ext uri="{FF2B5EF4-FFF2-40B4-BE49-F238E27FC236}">
                <a16:creationId xmlns:a16="http://schemas.microsoft.com/office/drawing/2014/main" id="{A6C70DDA-1BB0-4124-85F1-C6454B6F9BE8}"/>
              </a:ext>
            </a:extLst>
          </p:cNvPr>
          <p:cNvSpPr>
            <a:spLocks xmlns:a="http://schemas.openxmlformats.org/drawingml/2006/main" noGrp="1"/>
          </p:cNvSpPr>
          <p:nvPr/>
        </p:nvSpPr>
        <p:spPr>
          <a:xfrm xmlns:a="http://schemas.openxmlformats.org/drawingml/2006/main">
            <a:off x="9182100" y="4810125"/>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00" b="0" lang="he-IL">
                <a:solidFill>
                  <a:srgbClr val="9AB1C5"/>
                </a:solidFill>
                <a:latin typeface="Arial"/>
                <a:ea typeface="Arial"/>
                <a:cs typeface="Arial"/>
              </a:defRPr>
            </a:pPr>
            <a:r>
              <a:rPr sz="1500" b="0" lang="he-IL">
                <a:solidFill>
                  <a:srgbClr val="9AB1C5"/>
                </a:solidFill>
                <a:latin typeface="Arial"/>
                <a:ea typeface="Arial"/>
                <a:cs typeface="Arial"/>
              </a:rPr>
              <a:t>מחיר, נפח ומגמה</a:t>
            </a:r>
          </a:p>
        </p:txBody>
      </p:sp>
      <p:sp>
        <p:nvSpPr>
          <p:cNvPr id="9" name="">
            <a:extLst xmlns:a="http://schemas.openxmlformats.org/drawingml/2006/main">
              <a:ext uri="{FF2B5EF4-FFF2-40B4-BE49-F238E27FC236}">
                <a16:creationId xmlns:a16="http://schemas.microsoft.com/office/drawing/2014/main" id="{70E42688-5C15-4E56-8D92-F3418CFA0600}"/>
              </a:ext>
            </a:extLst>
          </p:cNvPr>
          <p:cNvSpPr>
            <a:spLocks xmlns:a="http://schemas.openxmlformats.org/drawingml/2006/main" noGrp="1"/>
          </p:cNvSpPr>
          <p:nvPr/>
        </p:nvSpPr>
        <p:spPr>
          <a:xfrm xmlns:a="http://schemas.openxmlformats.org/drawingml/2006/main">
            <a:off x="6134100" y="3943350"/>
            <a:ext cx="9525" cy="1447800"/>
          </a:xfrm>
          <a:prstGeom xmlns:a="http://schemas.openxmlformats.org/drawingml/2006/main" prst="rect">
            <a:avLst/>
          </a:prstGeom>
          <a:solidFill xmlns:a="http://schemas.openxmlformats.org/drawingml/2006/main">
            <a:srgbClr val="29415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BD0FFF0-87F8-44A0-BB44-41AC672E77FD}"/>
              </a:ext>
            </a:extLst>
          </p:cNvPr>
          <p:cNvSpPr>
            <a:spLocks xmlns:a="http://schemas.openxmlformats.org/drawingml/2006/main" noGrp="1"/>
          </p:cNvSpPr>
          <p:nvPr/>
        </p:nvSpPr>
        <p:spPr>
          <a:xfrm xmlns:a="http://schemas.openxmlformats.org/drawingml/2006/main">
            <a:off x="6305550" y="37909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35D4B5"/>
                </a:solidFill>
                <a:latin typeface="Cascadia Mono"/>
                <a:ea typeface="Cascadia Mono"/>
                <a:cs typeface="Cascadia Mono"/>
              </a:defRPr>
            </a:pPr>
            <a:r>
              <a:rPr sz="900" b="0">
                <a:solidFill>
                  <a:srgbClr val="35D4B5"/>
                </a:solidFill>
                <a:latin typeface="Cascadia Mono"/>
                <a:ea typeface="Cascadia Mono"/>
                <a:cs typeface="Cascadia Mono"/>
              </a:rPr>
              <a:t>02</a:t>
            </a:r>
          </a:p>
        </p:txBody>
      </p:sp>
      <p:sp>
        <p:nvSpPr>
          <p:cNvPr id="11" name="">
            <a:extLst xmlns:a="http://schemas.openxmlformats.org/drawingml/2006/main">
              <a:ext uri="{FF2B5EF4-FFF2-40B4-BE49-F238E27FC236}">
                <a16:creationId xmlns:a16="http://schemas.microsoft.com/office/drawing/2014/main" id="{2C1DBED1-F96E-45A6-9069-4FB371BC0A79}"/>
              </a:ext>
            </a:extLst>
          </p:cNvPr>
          <p:cNvSpPr>
            <a:spLocks xmlns:a="http://schemas.openxmlformats.org/drawingml/2006/main" noGrp="1"/>
          </p:cNvSpPr>
          <p:nvPr/>
        </p:nvSpPr>
        <p:spPr>
          <a:xfrm xmlns:a="http://schemas.openxmlformats.org/drawingml/2006/main">
            <a:off x="6305550" y="4152900"/>
            <a:ext cx="2400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F8FBFF"/>
                </a:solidFill>
                <a:latin typeface="Arial"/>
                <a:ea typeface="Arial"/>
                <a:cs typeface="Arial"/>
              </a:defRPr>
            </a:pPr>
            <a:r>
              <a:rPr sz="1875" b="1" lang="he-IL">
                <a:solidFill>
                  <a:srgbClr val="F8FBFF"/>
                </a:solidFill>
                <a:latin typeface="Arial"/>
                <a:ea typeface="Arial"/>
                <a:cs typeface="Arial"/>
              </a:rPr>
              <a:t>האם הנתון אמין?</a:t>
            </a:r>
          </a:p>
        </p:txBody>
      </p:sp>
      <p:sp>
        <p:nvSpPr>
          <p:cNvPr id="12" name="">
            <a:extLst xmlns:a="http://schemas.openxmlformats.org/drawingml/2006/main">
              <a:ext uri="{FF2B5EF4-FFF2-40B4-BE49-F238E27FC236}">
                <a16:creationId xmlns:a16="http://schemas.microsoft.com/office/drawing/2014/main" id="{55851126-791E-48D9-B303-E2BDB3C5A4C9}"/>
              </a:ext>
            </a:extLst>
          </p:cNvPr>
          <p:cNvSpPr>
            <a:spLocks xmlns:a="http://schemas.openxmlformats.org/drawingml/2006/main" noGrp="1"/>
          </p:cNvSpPr>
          <p:nvPr/>
        </p:nvSpPr>
        <p:spPr>
          <a:xfrm xmlns:a="http://schemas.openxmlformats.org/drawingml/2006/main">
            <a:off x="6305550" y="4810125"/>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00" b="0" lang="he-IL">
                <a:solidFill>
                  <a:srgbClr val="9AB1C5"/>
                </a:solidFill>
                <a:latin typeface="Arial"/>
                <a:ea typeface="Arial"/>
                <a:cs typeface="Arial"/>
              </a:defRPr>
            </a:pPr>
            <a:r>
              <a:rPr sz="1500" b="0" lang="he-IL">
                <a:solidFill>
                  <a:srgbClr val="9AB1C5"/>
                </a:solidFill>
                <a:latin typeface="Arial"/>
                <a:ea typeface="Arial"/>
                <a:cs typeface="Arial"/>
              </a:rPr>
              <a:t>טריות, איכות ומקור</a:t>
            </a:r>
          </a:p>
        </p:txBody>
      </p:sp>
      <p:sp>
        <p:nvSpPr>
          <p:cNvPr id="13" name="">
            <a:extLst xmlns:a="http://schemas.openxmlformats.org/drawingml/2006/main">
              <a:ext uri="{FF2B5EF4-FFF2-40B4-BE49-F238E27FC236}">
                <a16:creationId xmlns:a16="http://schemas.microsoft.com/office/drawing/2014/main" id="{EF95438C-A737-4673-B816-7008E5F8B34A}"/>
              </a:ext>
            </a:extLst>
          </p:cNvPr>
          <p:cNvSpPr>
            <a:spLocks xmlns:a="http://schemas.openxmlformats.org/drawingml/2006/main" noGrp="1"/>
          </p:cNvSpPr>
          <p:nvPr/>
        </p:nvSpPr>
        <p:spPr>
          <a:xfrm xmlns:a="http://schemas.openxmlformats.org/drawingml/2006/main">
            <a:off x="3257550" y="3943350"/>
            <a:ext cx="9525" cy="1447800"/>
          </a:xfrm>
          <a:prstGeom xmlns:a="http://schemas.openxmlformats.org/drawingml/2006/main" prst="rect">
            <a:avLst/>
          </a:prstGeom>
          <a:solidFill xmlns:a="http://schemas.openxmlformats.org/drawingml/2006/main">
            <a:srgbClr val="29415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3EFCA48-F92B-4DBD-A023-08A6DBD6B174}"/>
              </a:ext>
            </a:extLst>
          </p:cNvPr>
          <p:cNvSpPr>
            <a:spLocks xmlns:a="http://schemas.openxmlformats.org/drawingml/2006/main" noGrp="1"/>
          </p:cNvSpPr>
          <p:nvPr/>
        </p:nvSpPr>
        <p:spPr>
          <a:xfrm xmlns:a="http://schemas.openxmlformats.org/drawingml/2006/main">
            <a:off x="3429000" y="37909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35D4B5"/>
                </a:solidFill>
                <a:latin typeface="Cascadia Mono"/>
                <a:ea typeface="Cascadia Mono"/>
                <a:cs typeface="Cascadia Mono"/>
              </a:defRPr>
            </a:pPr>
            <a:r>
              <a:rPr sz="900" b="0">
                <a:solidFill>
                  <a:srgbClr val="35D4B5"/>
                </a:solidFill>
                <a:latin typeface="Cascadia Mono"/>
                <a:ea typeface="Cascadia Mono"/>
                <a:cs typeface="Cascadia Mono"/>
              </a:rPr>
              <a:t>03</a:t>
            </a:r>
          </a:p>
        </p:txBody>
      </p:sp>
      <p:sp>
        <p:nvSpPr>
          <p:cNvPr id="15" name="">
            <a:extLst xmlns:a="http://schemas.openxmlformats.org/drawingml/2006/main">
              <a:ext uri="{FF2B5EF4-FFF2-40B4-BE49-F238E27FC236}">
                <a16:creationId xmlns:a16="http://schemas.microsoft.com/office/drawing/2014/main" id="{9CA6D2C8-43E7-4892-83EB-754CA5628939}"/>
              </a:ext>
            </a:extLst>
          </p:cNvPr>
          <p:cNvSpPr>
            <a:spLocks xmlns:a="http://schemas.openxmlformats.org/drawingml/2006/main" noGrp="1"/>
          </p:cNvSpPr>
          <p:nvPr/>
        </p:nvSpPr>
        <p:spPr>
          <a:xfrm xmlns:a="http://schemas.openxmlformats.org/drawingml/2006/main">
            <a:off x="3429000" y="4152900"/>
            <a:ext cx="2400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F8FBFF"/>
                </a:solidFill>
                <a:latin typeface="Arial"/>
                <a:ea typeface="Arial"/>
                <a:cs typeface="Arial"/>
              </a:defRPr>
            </a:pPr>
            <a:r>
              <a:rPr sz="1875" b="1" lang="he-IL">
                <a:solidFill>
                  <a:srgbClr val="F8FBFF"/>
                </a:solidFill>
                <a:latin typeface="Arial"/>
                <a:ea typeface="Arial"/>
                <a:cs typeface="Arial"/>
              </a:rPr>
              <a:t>מה השתנה בחברה?</a:t>
            </a:r>
          </a:p>
        </p:txBody>
      </p:sp>
      <p:sp>
        <p:nvSpPr>
          <p:cNvPr id="16" name="">
            <a:extLst xmlns:a="http://schemas.openxmlformats.org/drawingml/2006/main">
              <a:ext uri="{FF2B5EF4-FFF2-40B4-BE49-F238E27FC236}">
                <a16:creationId xmlns:a16="http://schemas.microsoft.com/office/drawing/2014/main" id="{ABE97E76-F755-4516-8FE2-3F265742A75C}"/>
              </a:ext>
            </a:extLst>
          </p:cNvPr>
          <p:cNvSpPr>
            <a:spLocks xmlns:a="http://schemas.openxmlformats.org/drawingml/2006/main" noGrp="1"/>
          </p:cNvSpPr>
          <p:nvPr/>
        </p:nvSpPr>
        <p:spPr>
          <a:xfrm xmlns:a="http://schemas.openxmlformats.org/drawingml/2006/main">
            <a:off x="3429000" y="4810125"/>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00" b="0" lang="he-IL">
                <a:solidFill>
                  <a:srgbClr val="9AB1C5"/>
                </a:solidFill>
                <a:latin typeface="Arial"/>
                <a:ea typeface="Arial"/>
                <a:cs typeface="Arial"/>
              </a:defRPr>
            </a:pPr>
            <a:r>
              <a:rPr sz="1500" b="0" lang="he-IL">
                <a:solidFill>
                  <a:srgbClr val="9AB1C5"/>
                </a:solidFill>
                <a:latin typeface="Arial"/>
                <a:ea typeface="Arial"/>
                <a:cs typeface="Arial"/>
              </a:rPr>
              <a:t>דיווחים רשמיים של החברה</a:t>
            </a:r>
          </a:p>
        </p:txBody>
      </p:sp>
      <p:sp>
        <p:nvSpPr>
          <p:cNvPr id="17" name="">
            <a:extLst xmlns:a="http://schemas.openxmlformats.org/drawingml/2006/main">
              <a:ext uri="{FF2B5EF4-FFF2-40B4-BE49-F238E27FC236}">
                <a16:creationId xmlns:a16="http://schemas.microsoft.com/office/drawing/2014/main" id="{3C2171E5-8E88-47A2-AA56-E4BD6915F714}"/>
              </a:ext>
            </a:extLst>
          </p:cNvPr>
          <p:cNvSpPr>
            <a:spLocks xmlns:a="http://schemas.openxmlformats.org/drawingml/2006/main" noGrp="1"/>
          </p:cNvSpPr>
          <p:nvPr/>
        </p:nvSpPr>
        <p:spPr>
          <a:xfrm xmlns:a="http://schemas.openxmlformats.org/drawingml/2006/main">
            <a:off x="552450" y="37909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35D4B5"/>
                </a:solidFill>
                <a:latin typeface="Cascadia Mono"/>
                <a:ea typeface="Cascadia Mono"/>
                <a:cs typeface="Cascadia Mono"/>
              </a:defRPr>
            </a:pPr>
            <a:r>
              <a:rPr sz="900" b="0">
                <a:solidFill>
                  <a:srgbClr val="35D4B5"/>
                </a:solidFill>
                <a:latin typeface="Cascadia Mono"/>
                <a:ea typeface="Cascadia Mono"/>
                <a:cs typeface="Cascadia Mono"/>
              </a:rPr>
              <a:t>04</a:t>
            </a:r>
          </a:p>
        </p:txBody>
      </p:sp>
      <p:sp>
        <p:nvSpPr>
          <p:cNvPr id="18" name="">
            <a:extLst xmlns:a="http://schemas.openxmlformats.org/drawingml/2006/main">
              <a:ext uri="{FF2B5EF4-FFF2-40B4-BE49-F238E27FC236}">
                <a16:creationId xmlns:a16="http://schemas.microsoft.com/office/drawing/2014/main" id="{34131537-61CF-45A2-B407-12A3F2AC78B7}"/>
              </a:ext>
            </a:extLst>
          </p:cNvPr>
          <p:cNvSpPr>
            <a:spLocks xmlns:a="http://schemas.openxmlformats.org/drawingml/2006/main" noGrp="1"/>
          </p:cNvSpPr>
          <p:nvPr/>
        </p:nvSpPr>
        <p:spPr>
          <a:xfrm xmlns:a="http://schemas.openxmlformats.org/drawingml/2006/main">
            <a:off x="552450" y="4152900"/>
            <a:ext cx="2400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F8FBFF"/>
                </a:solidFill>
                <a:latin typeface="Arial"/>
                <a:ea typeface="Arial"/>
                <a:cs typeface="Arial"/>
              </a:defRPr>
            </a:pPr>
            <a:r>
              <a:rPr sz="1875" b="1" lang="he-IL">
                <a:solidFill>
                  <a:srgbClr val="F8FBFF"/>
                </a:solidFill>
                <a:latin typeface="Arial"/>
                <a:ea typeface="Arial"/>
                <a:cs typeface="Arial"/>
              </a:rPr>
              <a:t>האם הרעיון עבד בעבר?</a:t>
            </a:r>
          </a:p>
        </p:txBody>
      </p:sp>
      <p:sp>
        <p:nvSpPr>
          <p:cNvPr id="19" name="">
            <a:extLst xmlns:a="http://schemas.openxmlformats.org/drawingml/2006/main">
              <a:ext uri="{FF2B5EF4-FFF2-40B4-BE49-F238E27FC236}">
                <a16:creationId xmlns:a16="http://schemas.microsoft.com/office/drawing/2014/main" id="{A78959AB-8CC8-47F1-9D25-CE8383D9AD6D}"/>
              </a:ext>
            </a:extLst>
          </p:cNvPr>
          <p:cNvSpPr>
            <a:spLocks xmlns:a="http://schemas.openxmlformats.org/drawingml/2006/main" noGrp="1"/>
          </p:cNvSpPr>
          <p:nvPr/>
        </p:nvSpPr>
        <p:spPr>
          <a:xfrm xmlns:a="http://schemas.openxmlformats.org/drawingml/2006/main">
            <a:off x="552450" y="4810125"/>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00" b="0" lang="he-IL">
                <a:solidFill>
                  <a:srgbClr val="9AB1C5"/>
                </a:solidFill>
                <a:latin typeface="Arial"/>
                <a:ea typeface="Arial"/>
                <a:cs typeface="Arial"/>
              </a:defRPr>
            </a:pPr>
            <a:r>
              <a:rPr sz="1500" b="0" lang="he-IL">
                <a:solidFill>
                  <a:srgbClr val="9AB1C5"/>
                </a:solidFill>
                <a:latin typeface="Arial"/>
                <a:ea typeface="Arial"/>
                <a:cs typeface="Arial"/>
              </a:rPr>
              <a:t>השוואה למדד השוק ועלויות</a:t>
            </a:r>
          </a:p>
        </p:txBody>
      </p:sp>
      <p:sp>
        <p:nvSpPr>
          <p:cNvPr id="20" name="">
            <a:extLst xmlns:a="http://schemas.openxmlformats.org/drawingml/2006/main">
              <a:ext uri="{FF2B5EF4-FFF2-40B4-BE49-F238E27FC236}">
                <a16:creationId xmlns:a16="http://schemas.microsoft.com/office/drawing/2014/main" id="{6614E49B-B69F-4D0A-8D24-727A2FD4683A}"/>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02</a:t>
            </a:r>
          </a:p>
        </p:txBody>
      </p:sp>
      <p:sp>
        <p:nvSpPr>
          <p:cNvPr id="21" name="">
            <a:extLst xmlns:a="http://schemas.openxmlformats.org/drawingml/2006/main">
              <a:ext uri="{FF2B5EF4-FFF2-40B4-BE49-F238E27FC236}">
                <a16:creationId xmlns:a16="http://schemas.microsoft.com/office/drawing/2014/main" id="{3D0C16E1-77E5-4BC9-BFE9-A66CC9EE6EE5}"/>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Tree>
    <p:extLst>
      <p:ext uri="{BB962C8B-B14F-4D97-AF65-F5344CB8AC3E}">
        <p14:creationId xmlns:p14="http://schemas.microsoft.com/office/powerpoint/2010/main" val="695903740"/>
      </p:ext>
    </p:extLst>
  </p:cSld>
</p:sld>
</file>

<file path=ppt/slides/slide3.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1DB20077-640E-47D8-B132-421F572DEB6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9E3EB69-DC52-408B-B456-4D4860A34C56}"/>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PRODUCT VALUE</a:t>
            </a:r>
          </a:p>
        </p:txBody>
      </p:sp>
      <p:sp>
        <p:nvSpPr>
          <p:cNvPr id="3" name="">
            <a:extLst xmlns:a="http://schemas.openxmlformats.org/drawingml/2006/main">
              <a:ext uri="{FF2B5EF4-FFF2-40B4-BE49-F238E27FC236}">
                <a16:creationId xmlns:a16="http://schemas.microsoft.com/office/drawing/2014/main" id="{42F3ABB2-A707-4B83-A80A-09250C3C4E63}"/>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F8FBFF"/>
                </a:solidFill>
                <a:latin typeface="Arial"/>
                <a:ea typeface="Arial"/>
                <a:cs typeface="Arial"/>
              </a:defRPr>
            </a:pPr>
            <a:r>
              <a:rPr sz="2400" b="1" lang="he-IL">
                <a:solidFill>
                  <a:srgbClr val="F8FBFF"/>
                </a:solidFill>
                <a:latin typeface="Arial"/>
                <a:ea typeface="Arial"/>
                <a:cs typeface="Arial"/>
              </a:rPr>
              <a:t>ממערכת נתונים לכלי מחקר לסוחר</a:t>
            </a:r>
          </a:p>
        </p:txBody>
      </p:sp>
      <p:sp>
        <p:nvSpPr>
          <p:cNvPr id="4" name="">
            <a:extLst xmlns:a="http://schemas.openxmlformats.org/drawingml/2006/main">
              <a:ext uri="{FF2B5EF4-FFF2-40B4-BE49-F238E27FC236}">
                <a16:creationId xmlns:a16="http://schemas.microsoft.com/office/drawing/2014/main" id="{E0F13781-997E-4DBE-AF97-DD638802C9D5}"/>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03</a:t>
            </a:r>
          </a:p>
        </p:txBody>
      </p:sp>
      <p:sp>
        <p:nvSpPr>
          <p:cNvPr id="5" name="">
            <a:extLst xmlns:a="http://schemas.openxmlformats.org/drawingml/2006/main">
              <a:ext uri="{FF2B5EF4-FFF2-40B4-BE49-F238E27FC236}">
                <a16:creationId xmlns:a16="http://schemas.microsoft.com/office/drawing/2014/main" id="{19ED5FE9-2E9E-42ED-89B7-F235A279F9AE}"/>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6" name="">
            <a:extLst xmlns:a="http://schemas.openxmlformats.org/drawingml/2006/main">
              <a:ext uri="{FF2B5EF4-FFF2-40B4-BE49-F238E27FC236}">
                <a16:creationId xmlns:a16="http://schemas.microsoft.com/office/drawing/2014/main" id="{CD30DE93-4D67-4C34-AD2A-539C7B2B77E0}"/>
              </a:ext>
            </a:extLst>
          </p:cNvPr>
          <p:cNvSpPr>
            <a:spLocks xmlns:a="http://schemas.openxmlformats.org/drawingml/2006/main" noGrp="1"/>
          </p:cNvSpPr>
          <p:nvPr/>
        </p:nvSpPr>
        <p:spPr>
          <a:xfrm xmlns:a="http://schemas.openxmlformats.org/drawingml/2006/main">
            <a:off x="647700" y="16764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F4B94F"/>
                </a:solidFill>
                <a:latin typeface="Cascadia Mono"/>
                <a:ea typeface="Cascadia Mono"/>
                <a:cs typeface="Cascadia Mono"/>
              </a:defRPr>
            </a:pPr>
            <a:r>
              <a:rPr sz="900" b="1">
                <a:solidFill>
                  <a:srgbClr val="F4B94F"/>
                </a:solidFill>
                <a:latin typeface="Cascadia Mono"/>
                <a:ea typeface="Cascadia Mono"/>
                <a:cs typeface="Cascadia Mono"/>
              </a:rPr>
              <a:t>04</a:t>
            </a:r>
          </a:p>
        </p:txBody>
      </p:sp>
      <p:sp>
        <p:nvSpPr>
          <p:cNvPr id="7" name="">
            <a:extLst xmlns:a="http://schemas.openxmlformats.org/drawingml/2006/main">
              <a:ext uri="{FF2B5EF4-FFF2-40B4-BE49-F238E27FC236}">
                <a16:creationId xmlns:a16="http://schemas.microsoft.com/office/drawing/2014/main" id="{4CE305BA-B575-472D-B2D1-FC4651966522}"/>
              </a:ext>
            </a:extLst>
          </p:cNvPr>
          <p:cNvSpPr>
            <a:spLocks xmlns:a="http://schemas.openxmlformats.org/drawingml/2006/main" noGrp="1"/>
          </p:cNvSpPr>
          <p:nvPr/>
        </p:nvSpPr>
        <p:spPr>
          <a:xfrm xmlns:a="http://schemas.openxmlformats.org/drawingml/2006/main">
            <a:off x="647700" y="2019300"/>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850" b="1" lang="he-IL">
                <a:solidFill>
                  <a:srgbClr val="F8FBFF"/>
                </a:solidFill>
                <a:latin typeface="Arial"/>
                <a:ea typeface="Arial"/>
                <a:cs typeface="Arial"/>
              </a:defRPr>
            </a:pPr>
            <a:r>
              <a:rPr sz="2850" b="1" lang="he-IL">
                <a:solidFill>
                  <a:srgbClr val="F8FBFF"/>
                </a:solidFill>
                <a:latin typeface="Arial"/>
                <a:ea typeface="Arial"/>
                <a:cs typeface="Arial"/>
              </a:rPr>
              <a:t>מסבירה</a:t>
            </a:r>
          </a:p>
        </p:txBody>
      </p:sp>
      <p:sp>
        <p:nvSpPr>
          <p:cNvPr id="8" name="">
            <a:extLst xmlns:a="http://schemas.openxmlformats.org/drawingml/2006/main">
              <a:ext uri="{FF2B5EF4-FFF2-40B4-BE49-F238E27FC236}">
                <a16:creationId xmlns:a16="http://schemas.microsoft.com/office/drawing/2014/main" id="{FA7A8E99-A253-4D7E-B31F-8B8750EE8661}"/>
              </a:ext>
            </a:extLst>
          </p:cNvPr>
          <p:cNvSpPr>
            <a:spLocks xmlns:a="http://schemas.openxmlformats.org/drawingml/2006/main" noGrp="1"/>
          </p:cNvSpPr>
          <p:nvPr/>
        </p:nvSpPr>
        <p:spPr>
          <a:xfrm xmlns:a="http://schemas.openxmlformats.org/drawingml/2006/main">
            <a:off x="647700" y="2695575"/>
            <a:ext cx="238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725" b="0" lang="he-IL">
                <a:solidFill>
                  <a:srgbClr val="9AB1C5"/>
                </a:solidFill>
                <a:latin typeface="Arial"/>
                <a:ea typeface="Arial"/>
                <a:cs typeface="Arial"/>
              </a:defRPr>
            </a:pPr>
            <a:r>
              <a:rPr sz="1725" b="0" lang="he-IL">
                <a:solidFill>
                  <a:srgbClr val="9AB1C5"/>
                </a:solidFill>
                <a:latin typeface="Arial"/>
                <a:ea typeface="Arial"/>
                <a:cs typeface="Arial"/>
              </a:rPr>
              <a:t>תרחיש החלטה</a:t>
            </a:r>
          </a:p>
          <a:p xmlns:a="http://schemas.openxmlformats.org/drawingml/2006/main">
            <a:pPr algn="r" rtl="1">
              <a:lnSpc>
                <a:spcPct val="100000"/>
              </a:lnSpc>
              <a:buNone/>
              <a:defRPr sz="1725" b="0" lang="he-IL">
                <a:solidFill>
                  <a:srgbClr val="9AB1C5"/>
                </a:solidFill>
                <a:latin typeface="Arial"/>
                <a:ea typeface="Arial"/>
                <a:cs typeface="Arial"/>
              </a:defRPr>
            </a:pPr>
            <a:r>
              <a:rPr sz="1725" b="0" lang="he-IL">
                <a:solidFill>
                  <a:srgbClr val="9AB1C5"/>
                </a:solidFill>
                <a:latin typeface="Arial"/>
                <a:ea typeface="Arial"/>
                <a:cs typeface="Arial"/>
              </a:rPr>
              <a:t>עם סיכון והקשר</a:t>
            </a:r>
          </a:p>
        </p:txBody>
      </p:sp>
      <p:sp>
        <p:nvSpPr>
          <p:cNvPr id="9" name="">
            <a:extLst xmlns:a="http://schemas.openxmlformats.org/drawingml/2006/main">
              <a:ext uri="{FF2B5EF4-FFF2-40B4-BE49-F238E27FC236}">
                <a16:creationId xmlns:a16="http://schemas.microsoft.com/office/drawing/2014/main" id="{3BA1C8A9-A952-4C97-8559-829A41FEEC9D}"/>
              </a:ext>
            </a:extLst>
          </p:cNvPr>
          <p:cNvSpPr>
            <a:spLocks xmlns:a="http://schemas.openxmlformats.org/drawingml/2006/main" noGrp="1"/>
          </p:cNvSpPr>
          <p:nvPr/>
        </p:nvSpPr>
        <p:spPr>
          <a:xfrm xmlns:a="http://schemas.openxmlformats.org/drawingml/2006/main">
            <a:off x="647700" y="3581400"/>
            <a:ext cx="171450" cy="171450"/>
          </a:xfrm>
          <a:prstGeom xmlns:a="http://schemas.openxmlformats.org/drawingml/2006/main" prst="roundRect">
            <a:avLst>
              <a:gd name="adj" fmla="val 50000"/>
            </a:avLst>
          </a:prstGeom>
          <a:solidFill xmlns:a="http://schemas.openxmlformats.org/drawingml/2006/main">
            <a:srgbClr val="F4B94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8857F9D-488C-48C5-978D-B9A8FC1B0672}"/>
              </a:ext>
            </a:extLst>
          </p:cNvPr>
          <p:cNvSpPr>
            <a:spLocks xmlns:a="http://schemas.openxmlformats.org/drawingml/2006/main" noGrp="1"/>
          </p:cNvSpPr>
          <p:nvPr/>
        </p:nvSpPr>
        <p:spPr>
          <a:xfrm xmlns:a="http://schemas.openxmlformats.org/drawingml/2006/main">
            <a:off x="819150" y="3667125"/>
            <a:ext cx="2638425" cy="0"/>
          </a:xfrm>
          <a:prstGeom xmlns:a="http://schemas.openxmlformats.org/drawingml/2006/main" prst="line">
            <a:avLst/>
          </a:prstGeom>
          <a:noFill xmlns:a="http://schemas.openxmlformats.org/drawingml/2006/main"/>
          <a:ln xmlns:a="http://schemas.openxmlformats.org/drawingml/2006/main" w="19050">
            <a:solidFill>
              <a:srgbClr val="294157"/>
            </a:solidFill>
            <a:prstDash val="solid"/>
          </a:ln>
        </p:spPr>
      </p:sp>
      <p:sp>
        <p:nvSpPr>
          <p:cNvPr id="11" name="">
            <a:extLst xmlns:a="http://schemas.openxmlformats.org/drawingml/2006/main">
              <a:ext uri="{FF2B5EF4-FFF2-40B4-BE49-F238E27FC236}">
                <a16:creationId xmlns:a16="http://schemas.microsoft.com/office/drawing/2014/main" id="{94A8B976-1925-414A-8F3F-C58EF6E31127}"/>
              </a:ext>
            </a:extLst>
          </p:cNvPr>
          <p:cNvSpPr>
            <a:spLocks xmlns:a="http://schemas.openxmlformats.org/drawingml/2006/main" noGrp="1"/>
          </p:cNvSpPr>
          <p:nvPr/>
        </p:nvSpPr>
        <p:spPr>
          <a:xfrm xmlns:a="http://schemas.openxmlformats.org/drawingml/2006/main">
            <a:off x="3457575" y="16764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5B91FF"/>
                </a:solidFill>
                <a:latin typeface="Cascadia Mono"/>
                <a:ea typeface="Cascadia Mono"/>
                <a:cs typeface="Cascadia Mono"/>
              </a:defRPr>
            </a:pPr>
            <a:r>
              <a:rPr sz="900" b="1">
                <a:solidFill>
                  <a:srgbClr val="5B91FF"/>
                </a:solidFill>
                <a:latin typeface="Cascadia Mono"/>
                <a:ea typeface="Cascadia Mono"/>
                <a:cs typeface="Cascadia Mono"/>
              </a:rPr>
              <a:t>03</a:t>
            </a:r>
          </a:p>
        </p:txBody>
      </p:sp>
      <p:sp>
        <p:nvSpPr>
          <p:cNvPr id="12" name="">
            <a:extLst xmlns:a="http://schemas.openxmlformats.org/drawingml/2006/main">
              <a:ext uri="{FF2B5EF4-FFF2-40B4-BE49-F238E27FC236}">
                <a16:creationId xmlns:a16="http://schemas.microsoft.com/office/drawing/2014/main" id="{3BBBC687-78E7-43B8-A85D-65DCB4EC70F8}"/>
              </a:ext>
            </a:extLst>
          </p:cNvPr>
          <p:cNvSpPr>
            <a:spLocks xmlns:a="http://schemas.openxmlformats.org/drawingml/2006/main" noGrp="1"/>
          </p:cNvSpPr>
          <p:nvPr/>
        </p:nvSpPr>
        <p:spPr>
          <a:xfrm xmlns:a="http://schemas.openxmlformats.org/drawingml/2006/main">
            <a:off x="3457575" y="2019300"/>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850" b="1" lang="he-IL">
                <a:solidFill>
                  <a:srgbClr val="F8FBFF"/>
                </a:solidFill>
                <a:latin typeface="Arial"/>
                <a:ea typeface="Arial"/>
                <a:cs typeface="Arial"/>
              </a:defRPr>
            </a:pPr>
            <a:r>
              <a:rPr sz="2850" b="1" lang="he-IL">
                <a:solidFill>
                  <a:srgbClr val="F8FBFF"/>
                </a:solidFill>
                <a:latin typeface="Arial"/>
                <a:ea typeface="Arial"/>
                <a:cs typeface="Arial"/>
              </a:rPr>
              <a:t>בודקת</a:t>
            </a:r>
          </a:p>
        </p:txBody>
      </p:sp>
      <p:sp>
        <p:nvSpPr>
          <p:cNvPr id="13" name="">
            <a:extLst xmlns:a="http://schemas.openxmlformats.org/drawingml/2006/main">
              <a:ext uri="{FF2B5EF4-FFF2-40B4-BE49-F238E27FC236}">
                <a16:creationId xmlns:a16="http://schemas.microsoft.com/office/drawing/2014/main" id="{A43103FC-25FB-4356-9EB7-F189FFFE5818}"/>
              </a:ext>
            </a:extLst>
          </p:cNvPr>
          <p:cNvSpPr>
            <a:spLocks xmlns:a="http://schemas.openxmlformats.org/drawingml/2006/main" noGrp="1"/>
          </p:cNvSpPr>
          <p:nvPr/>
        </p:nvSpPr>
        <p:spPr>
          <a:xfrm xmlns:a="http://schemas.openxmlformats.org/drawingml/2006/main">
            <a:off x="3457575" y="2695575"/>
            <a:ext cx="238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725" b="0" lang="he-IL">
                <a:solidFill>
                  <a:srgbClr val="9AB1C5"/>
                </a:solidFill>
                <a:latin typeface="Arial"/>
                <a:ea typeface="Arial"/>
                <a:cs typeface="Arial"/>
              </a:defRPr>
            </a:pPr>
            <a:r>
              <a:rPr sz="1725" b="0" lang="he-IL">
                <a:solidFill>
                  <a:srgbClr val="9AB1C5"/>
                </a:solidFill>
                <a:latin typeface="Arial"/>
                <a:ea typeface="Arial"/>
                <a:cs typeface="Arial"/>
              </a:rPr>
              <a:t>איכות נתונים</a:t>
            </a:r>
          </a:p>
          <a:p xmlns:a="http://schemas.openxmlformats.org/drawingml/2006/main">
            <a:pPr algn="r" rtl="1">
              <a:lnSpc>
                <a:spcPct val="100000"/>
              </a:lnSpc>
              <a:buNone/>
              <a:defRPr sz="1725" b="0" lang="he-IL">
                <a:solidFill>
                  <a:srgbClr val="9AB1C5"/>
                </a:solidFill>
                <a:latin typeface="Arial"/>
                <a:ea typeface="Arial"/>
                <a:cs typeface="Arial"/>
              </a:defRPr>
            </a:pPr>
            <a:r>
              <a:rPr sz="1725" b="0" lang="he-IL">
                <a:solidFill>
                  <a:srgbClr val="9AB1C5"/>
                </a:solidFill>
                <a:latin typeface="Arial"/>
                <a:ea typeface="Arial"/>
                <a:cs typeface="Arial"/>
              </a:rPr>
              <a:t>והיסטוריה</a:t>
            </a:r>
          </a:p>
        </p:txBody>
      </p:sp>
      <p:sp>
        <p:nvSpPr>
          <p:cNvPr id="14" name="">
            <a:extLst xmlns:a="http://schemas.openxmlformats.org/drawingml/2006/main">
              <a:ext uri="{FF2B5EF4-FFF2-40B4-BE49-F238E27FC236}">
                <a16:creationId xmlns:a16="http://schemas.microsoft.com/office/drawing/2014/main" id="{1040F55D-7716-4EB0-A578-E311EC938F4E}"/>
              </a:ext>
            </a:extLst>
          </p:cNvPr>
          <p:cNvSpPr>
            <a:spLocks xmlns:a="http://schemas.openxmlformats.org/drawingml/2006/main" noGrp="1"/>
          </p:cNvSpPr>
          <p:nvPr/>
        </p:nvSpPr>
        <p:spPr>
          <a:xfrm xmlns:a="http://schemas.openxmlformats.org/drawingml/2006/main">
            <a:off x="3457575" y="3581400"/>
            <a:ext cx="171450" cy="171450"/>
          </a:xfrm>
          <a:prstGeom xmlns:a="http://schemas.openxmlformats.org/drawingml/2006/main" prst="roundRect">
            <a:avLst>
              <a:gd name="adj" fmla="val 50000"/>
            </a:avLst>
          </a:prstGeom>
          <a:solidFill xmlns:a="http://schemas.openxmlformats.org/drawingml/2006/main">
            <a:srgbClr val="5B91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CF48745-BAD4-49FA-9993-D2AD612FEAF5}"/>
              </a:ext>
            </a:extLst>
          </p:cNvPr>
          <p:cNvSpPr>
            <a:spLocks xmlns:a="http://schemas.openxmlformats.org/drawingml/2006/main" noGrp="1"/>
          </p:cNvSpPr>
          <p:nvPr/>
        </p:nvSpPr>
        <p:spPr>
          <a:xfrm xmlns:a="http://schemas.openxmlformats.org/drawingml/2006/main">
            <a:off x="3629025" y="3667125"/>
            <a:ext cx="2638425" cy="0"/>
          </a:xfrm>
          <a:prstGeom xmlns:a="http://schemas.openxmlformats.org/drawingml/2006/main" prst="line">
            <a:avLst/>
          </a:prstGeom>
          <a:noFill xmlns:a="http://schemas.openxmlformats.org/drawingml/2006/main"/>
          <a:ln xmlns:a="http://schemas.openxmlformats.org/drawingml/2006/main" w="19050">
            <a:solidFill>
              <a:srgbClr val="294157"/>
            </a:solidFill>
            <a:prstDash val="solid"/>
          </a:ln>
        </p:spPr>
      </p:sp>
      <p:sp>
        <p:nvSpPr>
          <p:cNvPr id="16" name="">
            <a:extLst xmlns:a="http://schemas.openxmlformats.org/drawingml/2006/main">
              <a:ext uri="{FF2B5EF4-FFF2-40B4-BE49-F238E27FC236}">
                <a16:creationId xmlns:a16="http://schemas.microsoft.com/office/drawing/2014/main" id="{FED67B19-C1D9-426C-83C4-AB1A7BFBE029}"/>
              </a:ext>
            </a:extLst>
          </p:cNvPr>
          <p:cNvSpPr>
            <a:spLocks xmlns:a="http://schemas.openxmlformats.org/drawingml/2006/main" noGrp="1"/>
          </p:cNvSpPr>
          <p:nvPr/>
        </p:nvSpPr>
        <p:spPr>
          <a:xfrm xmlns:a="http://schemas.openxmlformats.org/drawingml/2006/main">
            <a:off x="6267450" y="16764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35D4B5"/>
                </a:solidFill>
                <a:latin typeface="Cascadia Mono"/>
                <a:ea typeface="Cascadia Mono"/>
                <a:cs typeface="Cascadia Mono"/>
              </a:defRPr>
            </a:pPr>
            <a:r>
              <a:rPr sz="900" b="1">
                <a:solidFill>
                  <a:srgbClr val="35D4B5"/>
                </a:solidFill>
                <a:latin typeface="Cascadia Mono"/>
                <a:ea typeface="Cascadia Mono"/>
                <a:cs typeface="Cascadia Mono"/>
              </a:rPr>
              <a:t>02</a:t>
            </a:r>
          </a:p>
        </p:txBody>
      </p:sp>
      <p:sp>
        <p:nvSpPr>
          <p:cNvPr id="17" name="">
            <a:extLst xmlns:a="http://schemas.openxmlformats.org/drawingml/2006/main">
              <a:ext uri="{FF2B5EF4-FFF2-40B4-BE49-F238E27FC236}">
                <a16:creationId xmlns:a16="http://schemas.microsoft.com/office/drawing/2014/main" id="{C8A6F82C-E69B-4CB8-AB4F-02070883E002}"/>
              </a:ext>
            </a:extLst>
          </p:cNvPr>
          <p:cNvSpPr>
            <a:spLocks xmlns:a="http://schemas.openxmlformats.org/drawingml/2006/main" noGrp="1"/>
          </p:cNvSpPr>
          <p:nvPr/>
        </p:nvSpPr>
        <p:spPr>
          <a:xfrm xmlns:a="http://schemas.openxmlformats.org/drawingml/2006/main">
            <a:off x="6267450" y="2019300"/>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850" b="1" lang="he-IL">
                <a:solidFill>
                  <a:srgbClr val="F8FBFF"/>
                </a:solidFill>
                <a:latin typeface="Arial"/>
                <a:ea typeface="Arial"/>
                <a:cs typeface="Arial"/>
              </a:defRPr>
            </a:pPr>
            <a:r>
              <a:rPr sz="2850" b="1" lang="he-IL">
                <a:solidFill>
                  <a:srgbClr val="F8FBFF"/>
                </a:solidFill>
                <a:latin typeface="Arial"/>
                <a:ea typeface="Arial"/>
                <a:cs typeface="Arial"/>
              </a:rPr>
              <a:t>מבינה</a:t>
            </a:r>
          </a:p>
        </p:txBody>
      </p:sp>
      <p:sp>
        <p:nvSpPr>
          <p:cNvPr id="18" name="">
            <a:extLst xmlns:a="http://schemas.openxmlformats.org/drawingml/2006/main">
              <a:ext uri="{FF2B5EF4-FFF2-40B4-BE49-F238E27FC236}">
                <a16:creationId xmlns:a16="http://schemas.microsoft.com/office/drawing/2014/main" id="{6589774C-344A-49E2-A8E3-67727A7E5402}"/>
              </a:ext>
            </a:extLst>
          </p:cNvPr>
          <p:cNvSpPr>
            <a:spLocks xmlns:a="http://schemas.openxmlformats.org/drawingml/2006/main" noGrp="1"/>
          </p:cNvSpPr>
          <p:nvPr/>
        </p:nvSpPr>
        <p:spPr>
          <a:xfrm xmlns:a="http://schemas.openxmlformats.org/drawingml/2006/main">
            <a:off x="6267450" y="2695575"/>
            <a:ext cx="238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725" b="0" lang="he-IL">
                <a:solidFill>
                  <a:srgbClr val="9AB1C5"/>
                </a:solidFill>
                <a:latin typeface="Arial"/>
                <a:ea typeface="Arial"/>
                <a:cs typeface="Arial"/>
              </a:defRPr>
            </a:pPr>
            <a:r>
              <a:rPr sz="1725" b="0" lang="he-IL">
                <a:solidFill>
                  <a:srgbClr val="9AB1C5"/>
                </a:solidFill>
                <a:latin typeface="Arial"/>
                <a:ea typeface="Arial"/>
                <a:cs typeface="Arial"/>
              </a:rPr>
              <a:t>מגמה, תנודתיות</a:t>
            </a:r>
          </a:p>
          <a:p xmlns:a="http://schemas.openxmlformats.org/drawingml/2006/main">
            <a:pPr algn="r" rtl="1">
              <a:lnSpc>
                <a:spcPct val="100000"/>
              </a:lnSpc>
              <a:buNone/>
              <a:defRPr sz="1725" b="0" lang="he-IL">
                <a:solidFill>
                  <a:srgbClr val="9AB1C5"/>
                </a:solidFill>
                <a:latin typeface="Arial"/>
                <a:ea typeface="Arial"/>
                <a:cs typeface="Arial"/>
              </a:defRPr>
            </a:pPr>
            <a:r>
              <a:rPr sz="1725" b="0" lang="he-IL">
                <a:solidFill>
                  <a:srgbClr val="9AB1C5"/>
                </a:solidFill>
                <a:latin typeface="Arial"/>
                <a:ea typeface="Arial"/>
                <a:cs typeface="Arial"/>
              </a:rPr>
              <a:t>ודיווחי חברה</a:t>
            </a:r>
          </a:p>
        </p:txBody>
      </p:sp>
      <p:sp>
        <p:nvSpPr>
          <p:cNvPr id="19" name="">
            <a:extLst xmlns:a="http://schemas.openxmlformats.org/drawingml/2006/main">
              <a:ext uri="{FF2B5EF4-FFF2-40B4-BE49-F238E27FC236}">
                <a16:creationId xmlns:a16="http://schemas.microsoft.com/office/drawing/2014/main" id="{209027AB-5323-44D5-BAE3-57C0A934F206}"/>
              </a:ext>
            </a:extLst>
          </p:cNvPr>
          <p:cNvSpPr>
            <a:spLocks xmlns:a="http://schemas.openxmlformats.org/drawingml/2006/main" noGrp="1"/>
          </p:cNvSpPr>
          <p:nvPr/>
        </p:nvSpPr>
        <p:spPr>
          <a:xfrm xmlns:a="http://schemas.openxmlformats.org/drawingml/2006/main">
            <a:off x="6267450" y="3581400"/>
            <a:ext cx="171450" cy="171450"/>
          </a:xfrm>
          <a:prstGeom xmlns:a="http://schemas.openxmlformats.org/drawingml/2006/main" prst="roundRect">
            <a:avLst>
              <a:gd name="adj" fmla="val 50000"/>
            </a:avLst>
          </a:prstGeom>
          <a:solidFill xmlns:a="http://schemas.openxmlformats.org/drawingml/2006/main">
            <a:srgbClr val="35D4B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D9AFBB0-566B-4CF9-BEE9-3EC3803F3F63}"/>
              </a:ext>
            </a:extLst>
          </p:cNvPr>
          <p:cNvSpPr>
            <a:spLocks xmlns:a="http://schemas.openxmlformats.org/drawingml/2006/main" noGrp="1"/>
          </p:cNvSpPr>
          <p:nvPr/>
        </p:nvSpPr>
        <p:spPr>
          <a:xfrm xmlns:a="http://schemas.openxmlformats.org/drawingml/2006/main">
            <a:off x="6438900" y="3667125"/>
            <a:ext cx="2638425" cy="0"/>
          </a:xfrm>
          <a:prstGeom xmlns:a="http://schemas.openxmlformats.org/drawingml/2006/main" prst="line">
            <a:avLst/>
          </a:prstGeom>
          <a:noFill xmlns:a="http://schemas.openxmlformats.org/drawingml/2006/main"/>
          <a:ln xmlns:a="http://schemas.openxmlformats.org/drawingml/2006/main" w="19050">
            <a:solidFill>
              <a:srgbClr val="294157"/>
            </a:solidFill>
            <a:prstDash val="solid"/>
          </a:ln>
        </p:spPr>
      </p:sp>
      <p:sp>
        <p:nvSpPr>
          <p:cNvPr id="21" name="">
            <a:extLst xmlns:a="http://schemas.openxmlformats.org/drawingml/2006/main">
              <a:ext uri="{FF2B5EF4-FFF2-40B4-BE49-F238E27FC236}">
                <a16:creationId xmlns:a16="http://schemas.microsoft.com/office/drawing/2014/main" id="{3C29B6F0-52FE-43F3-925B-15B83D55DF18}"/>
              </a:ext>
            </a:extLst>
          </p:cNvPr>
          <p:cNvSpPr>
            <a:spLocks xmlns:a="http://schemas.openxmlformats.org/drawingml/2006/main" noGrp="1"/>
          </p:cNvSpPr>
          <p:nvPr/>
        </p:nvSpPr>
        <p:spPr>
          <a:xfrm xmlns:a="http://schemas.openxmlformats.org/drawingml/2006/main">
            <a:off x="9077325" y="16764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35D4B5"/>
                </a:solidFill>
                <a:latin typeface="Cascadia Mono"/>
                <a:ea typeface="Cascadia Mono"/>
                <a:cs typeface="Cascadia Mono"/>
              </a:defRPr>
            </a:pPr>
            <a:r>
              <a:rPr sz="900" b="1">
                <a:solidFill>
                  <a:srgbClr val="35D4B5"/>
                </a:solidFill>
                <a:latin typeface="Cascadia Mono"/>
                <a:ea typeface="Cascadia Mono"/>
                <a:cs typeface="Cascadia Mono"/>
              </a:rPr>
              <a:t>01</a:t>
            </a:r>
          </a:p>
        </p:txBody>
      </p:sp>
      <p:sp>
        <p:nvSpPr>
          <p:cNvPr id="22" name="">
            <a:extLst xmlns:a="http://schemas.openxmlformats.org/drawingml/2006/main">
              <a:ext uri="{FF2B5EF4-FFF2-40B4-BE49-F238E27FC236}">
                <a16:creationId xmlns:a16="http://schemas.microsoft.com/office/drawing/2014/main" id="{01025CB3-542D-49AF-94EF-7E7FA68E8563}"/>
              </a:ext>
            </a:extLst>
          </p:cNvPr>
          <p:cNvSpPr>
            <a:spLocks xmlns:a="http://schemas.openxmlformats.org/drawingml/2006/main" noGrp="1"/>
          </p:cNvSpPr>
          <p:nvPr/>
        </p:nvSpPr>
        <p:spPr>
          <a:xfrm xmlns:a="http://schemas.openxmlformats.org/drawingml/2006/main">
            <a:off x="9077325" y="2019300"/>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850" b="1" lang="he-IL">
                <a:solidFill>
                  <a:srgbClr val="F8FBFF"/>
                </a:solidFill>
                <a:latin typeface="Arial"/>
                <a:ea typeface="Arial"/>
                <a:cs typeface="Arial"/>
              </a:defRPr>
            </a:pPr>
            <a:r>
              <a:rPr sz="2850" b="1" lang="he-IL">
                <a:solidFill>
                  <a:srgbClr val="F8FBFF"/>
                </a:solidFill>
                <a:latin typeface="Arial"/>
                <a:ea typeface="Arial"/>
                <a:cs typeface="Arial"/>
              </a:rPr>
              <a:t>אוספת</a:t>
            </a:r>
          </a:p>
        </p:txBody>
      </p:sp>
      <p:sp>
        <p:nvSpPr>
          <p:cNvPr id="23" name="">
            <a:extLst xmlns:a="http://schemas.openxmlformats.org/drawingml/2006/main">
              <a:ext uri="{FF2B5EF4-FFF2-40B4-BE49-F238E27FC236}">
                <a16:creationId xmlns:a16="http://schemas.microsoft.com/office/drawing/2014/main" id="{8D4F5FD8-B505-4D31-AD31-B481DBBBA7C5}"/>
              </a:ext>
            </a:extLst>
          </p:cNvPr>
          <p:cNvSpPr>
            <a:spLocks xmlns:a="http://schemas.openxmlformats.org/drawingml/2006/main" noGrp="1"/>
          </p:cNvSpPr>
          <p:nvPr/>
        </p:nvSpPr>
        <p:spPr>
          <a:xfrm xmlns:a="http://schemas.openxmlformats.org/drawingml/2006/main">
            <a:off x="9077325" y="2695575"/>
            <a:ext cx="238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725" b="0" lang="he-IL">
                <a:solidFill>
                  <a:srgbClr val="9AB1C5"/>
                </a:solidFill>
                <a:latin typeface="Arial"/>
                <a:ea typeface="Arial"/>
                <a:cs typeface="Arial"/>
              </a:defRPr>
            </a:pPr>
            <a:r>
              <a:rPr sz="1725" b="0" lang="he-IL">
                <a:solidFill>
                  <a:srgbClr val="9AB1C5"/>
                </a:solidFill>
                <a:latin typeface="Arial"/>
                <a:ea typeface="Arial"/>
                <a:cs typeface="Arial"/>
              </a:rPr>
              <a:t>שוק חי ומידע</a:t>
            </a:r>
          </a:p>
          <a:p xmlns:a="http://schemas.openxmlformats.org/drawingml/2006/main">
            <a:pPr algn="r" rtl="1">
              <a:lnSpc>
                <a:spcPct val="100000"/>
              </a:lnSpc>
              <a:buNone/>
              <a:defRPr sz="1725" b="0" lang="he-IL">
                <a:solidFill>
                  <a:srgbClr val="9AB1C5"/>
                </a:solidFill>
                <a:latin typeface="Arial"/>
                <a:ea typeface="Arial"/>
                <a:cs typeface="Arial"/>
              </a:defRPr>
            </a:pPr>
            <a:r>
              <a:rPr sz="1725" b="0" lang="he-IL">
                <a:solidFill>
                  <a:srgbClr val="9AB1C5"/>
                </a:solidFill>
                <a:latin typeface="Arial"/>
                <a:ea typeface="Arial"/>
                <a:cs typeface="Arial"/>
              </a:rPr>
              <a:t>רשמי</a:t>
            </a:r>
          </a:p>
        </p:txBody>
      </p:sp>
      <p:sp>
        <p:nvSpPr>
          <p:cNvPr id="24" name="">
            <a:extLst xmlns:a="http://schemas.openxmlformats.org/drawingml/2006/main">
              <a:ext uri="{FF2B5EF4-FFF2-40B4-BE49-F238E27FC236}">
                <a16:creationId xmlns:a16="http://schemas.microsoft.com/office/drawing/2014/main" id="{477CAE97-929D-4659-937F-51B8FC7F3780}"/>
              </a:ext>
            </a:extLst>
          </p:cNvPr>
          <p:cNvSpPr>
            <a:spLocks xmlns:a="http://schemas.openxmlformats.org/drawingml/2006/main" noGrp="1"/>
          </p:cNvSpPr>
          <p:nvPr/>
        </p:nvSpPr>
        <p:spPr>
          <a:xfrm xmlns:a="http://schemas.openxmlformats.org/drawingml/2006/main">
            <a:off x="9077325" y="3581400"/>
            <a:ext cx="171450" cy="171450"/>
          </a:xfrm>
          <a:prstGeom xmlns:a="http://schemas.openxmlformats.org/drawingml/2006/main" prst="roundRect">
            <a:avLst>
              <a:gd name="adj" fmla="val 50000"/>
            </a:avLst>
          </a:prstGeom>
          <a:solidFill xmlns:a="http://schemas.openxmlformats.org/drawingml/2006/main">
            <a:srgbClr val="35D4B5"/>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32BFB40F-CF78-40F4-9E5D-51146DEBA2B6}"/>
              </a:ext>
            </a:extLst>
          </p:cNvPr>
          <p:cNvSpPr>
            <a:spLocks xmlns:a="http://schemas.openxmlformats.org/drawingml/2006/main" noGrp="1"/>
          </p:cNvSpPr>
          <p:nvPr/>
        </p:nvSpPr>
        <p:spPr>
          <a:xfrm xmlns:a="http://schemas.openxmlformats.org/drawingml/2006/main">
            <a:off x="2266950" y="4381500"/>
            <a:ext cx="93154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95000"/>
              </a:lnSpc>
              <a:buNone/>
              <a:defRPr sz="2550" b="1" lang="he-IL">
                <a:solidFill>
                  <a:srgbClr val="F8FBFF"/>
                </a:solidFill>
                <a:latin typeface="Arial"/>
                <a:ea typeface="Arial"/>
                <a:cs typeface="Arial"/>
              </a:defRPr>
            </a:pPr>
            <a:r>
              <a:rPr sz="2550" b="1" lang="he-IL">
                <a:solidFill>
                  <a:srgbClr val="F8FBFF"/>
                </a:solidFill>
                <a:latin typeface="Arial"/>
                <a:ea typeface="Arial"/>
                <a:cs typeface="Arial"/>
              </a:rPr>
              <a:t>התוצאה: פחות זמן בחיפוש ובהצלבת מסכים, ויותר זמן בהבנת ההזדמנות, הסיכון והסיבה להחלטה.</a:t>
            </a:r>
          </a:p>
        </p:txBody>
      </p:sp>
      <p:sp>
        <p:nvSpPr>
          <p:cNvPr id="26" name="">
            <a:extLst xmlns:a="http://schemas.openxmlformats.org/drawingml/2006/main">
              <a:ext uri="{FF2B5EF4-FFF2-40B4-BE49-F238E27FC236}">
                <a16:creationId xmlns:a16="http://schemas.microsoft.com/office/drawing/2014/main" id="{A097C915-444C-40B1-9054-0137527C5081}"/>
              </a:ext>
            </a:extLst>
          </p:cNvPr>
          <p:cNvSpPr>
            <a:spLocks xmlns:a="http://schemas.openxmlformats.org/drawingml/2006/main" noGrp="1"/>
          </p:cNvSpPr>
          <p:nvPr/>
        </p:nvSpPr>
        <p:spPr>
          <a:xfrm xmlns:a="http://schemas.openxmlformats.org/drawingml/2006/main">
            <a:off x="4953000" y="5486400"/>
            <a:ext cx="662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00" b="0" lang="he-IL">
                <a:solidFill>
                  <a:srgbClr val="EF7484"/>
                </a:solidFill>
                <a:latin typeface="Arial"/>
                <a:ea typeface="Arial"/>
                <a:cs typeface="Arial"/>
              </a:defRPr>
            </a:pPr>
            <a:r>
              <a:rPr sz="1500" b="0" lang="he-IL">
                <a:solidFill>
                  <a:srgbClr val="EF7484"/>
                </a:solidFill>
                <a:latin typeface="Arial"/>
                <a:ea typeface="Arial"/>
                <a:cs typeface="Arial"/>
              </a:rPr>
              <a:t>המערכת תומכת בהחלטה בלבד. ההחלטה והביצוע נשארים בידי המשתמש.</a:t>
            </a:r>
          </a:p>
        </p:txBody>
      </p:sp>
    </p:spTree>
    <p:extLst>
      <p:ext uri="{BB962C8B-B14F-4D97-AF65-F5344CB8AC3E}">
        <p14:creationId xmlns:p14="http://schemas.microsoft.com/office/powerpoint/2010/main" val="1878064113"/>
      </p:ext>
    </p:extLst>
  </p:cSld>
</p:sld>
</file>

<file path=ppt/slides/slide4.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7B722D90-0EAC-4408-81B9-D441DDBDE42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AB8317F-5B1B-4346-9EDF-A5AE49552B1E}"/>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SYSTEM ARCHITECTURE</a:t>
            </a:r>
          </a:p>
        </p:txBody>
      </p:sp>
      <p:sp>
        <p:nvSpPr>
          <p:cNvPr id="3" name="">
            <a:extLst xmlns:a="http://schemas.openxmlformats.org/drawingml/2006/main">
              <a:ext uri="{FF2B5EF4-FFF2-40B4-BE49-F238E27FC236}">
                <a16:creationId xmlns:a16="http://schemas.microsoft.com/office/drawing/2014/main" id="{8814B686-32AB-4AE2-9F2C-28A197F9C36B}"/>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F8FBFF"/>
                </a:solidFill>
                <a:latin typeface="Arial"/>
                <a:ea typeface="Arial"/>
                <a:cs typeface="Arial"/>
              </a:defRPr>
            </a:pPr>
            <a:r>
              <a:rPr sz="2400" b="1" lang="he-IL">
                <a:solidFill>
                  <a:srgbClr val="F8FBFF"/>
                </a:solidFill>
                <a:latin typeface="Arial"/>
                <a:ea typeface="Arial"/>
                <a:cs typeface="Arial"/>
              </a:rPr>
              <a:t>איך הנתון עובר מהמקור למסך</a:t>
            </a:r>
          </a:p>
        </p:txBody>
      </p:sp>
      <p:sp>
        <p:nvSpPr>
          <p:cNvPr id="4" name="">
            <a:extLst xmlns:a="http://schemas.openxmlformats.org/drawingml/2006/main">
              <a:ext uri="{FF2B5EF4-FFF2-40B4-BE49-F238E27FC236}">
                <a16:creationId xmlns:a16="http://schemas.microsoft.com/office/drawing/2014/main" id="{CE4A0715-08CE-4680-8888-13B62578BCD7}"/>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04</a:t>
            </a:r>
          </a:p>
        </p:txBody>
      </p:sp>
      <p:sp>
        <p:nvSpPr>
          <p:cNvPr id="5" name="">
            <a:extLst xmlns:a="http://schemas.openxmlformats.org/drawingml/2006/main">
              <a:ext uri="{FF2B5EF4-FFF2-40B4-BE49-F238E27FC236}">
                <a16:creationId xmlns:a16="http://schemas.microsoft.com/office/drawing/2014/main" id="{10808284-0F65-4A0C-BD22-40CF4AA1DFE6}"/>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6" name="">
            <a:extLst xmlns:a="http://schemas.openxmlformats.org/drawingml/2006/main">
              <a:ext uri="{FF2B5EF4-FFF2-40B4-BE49-F238E27FC236}">
                <a16:creationId xmlns:a16="http://schemas.microsoft.com/office/drawing/2014/main" id="{674052CA-179D-48D9-B51D-C5D4CF314C9B}"/>
              </a:ext>
            </a:extLst>
          </p:cNvPr>
          <p:cNvSpPr>
            <a:spLocks xmlns:a="http://schemas.openxmlformats.org/drawingml/2006/main" noGrp="1"/>
          </p:cNvSpPr>
          <p:nvPr/>
        </p:nvSpPr>
        <p:spPr>
          <a:xfrm xmlns:a="http://schemas.openxmlformats.org/drawingml/2006/main">
            <a:off x="5429250" y="1066800"/>
            <a:ext cx="6153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00" b="0" lang="he-IL">
                <a:solidFill>
                  <a:srgbClr val="9AB1C5"/>
                </a:solidFill>
                <a:latin typeface="Arial"/>
                <a:ea typeface="Arial"/>
                <a:cs typeface="Arial"/>
              </a:defRPr>
            </a:pPr>
            <a:r>
              <a:rPr sz="1500" b="0" lang="he-IL">
                <a:solidFill>
                  <a:srgbClr val="9AB1C5"/>
                </a:solidFill>
                <a:latin typeface="Arial"/>
                <a:ea typeface="Arial"/>
                <a:cs typeface="Arial"/>
              </a:rPr>
              <a:t>מסלולים נפרדים למהירות, ראיה גולמית ואישור — ושכבת החלטה מעליהם</a:t>
            </a:r>
          </a:p>
        </p:txBody>
      </p:sp>
      <p:sp>
        <p:nvSpPr>
          <p:cNvPr id="7" name="">
            <a:extLst xmlns:a="http://schemas.openxmlformats.org/drawingml/2006/main">
              <a:ext uri="{FF2B5EF4-FFF2-40B4-BE49-F238E27FC236}">
                <a16:creationId xmlns:a16="http://schemas.microsoft.com/office/drawing/2014/main" id="{2A234097-E3DC-4C7E-9F4B-360B07F90D1D}"/>
              </a:ext>
            </a:extLst>
          </p:cNvPr>
          <p:cNvSpPr>
            <a:spLocks xmlns:a="http://schemas.openxmlformats.org/drawingml/2006/main" noGrp="1"/>
          </p:cNvSpPr>
          <p:nvPr/>
        </p:nvSpPr>
        <p:spPr>
          <a:xfrm xmlns:a="http://schemas.openxmlformats.org/drawingml/2006/main">
            <a:off x="10344150" y="16573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LIVE PATH</a:t>
            </a:r>
          </a:p>
        </p:txBody>
      </p:sp>
      <p:sp>
        <p:nvSpPr>
          <p:cNvPr id="8" name="">
            <a:extLst xmlns:a="http://schemas.openxmlformats.org/drawingml/2006/main">
              <a:ext uri="{FF2B5EF4-FFF2-40B4-BE49-F238E27FC236}">
                <a16:creationId xmlns:a16="http://schemas.microsoft.com/office/drawing/2014/main" id="{723B9F9B-780E-42C7-9562-CC1A39CCAD04}"/>
              </a:ext>
            </a:extLst>
          </p:cNvPr>
          <p:cNvSpPr>
            <a:spLocks xmlns:a="http://schemas.openxmlformats.org/drawingml/2006/main" noGrp="1"/>
          </p:cNvSpPr>
          <p:nvPr/>
        </p:nvSpPr>
        <p:spPr>
          <a:xfrm xmlns:a="http://schemas.openxmlformats.org/drawingml/2006/main">
            <a:off x="9925050" y="2038350"/>
            <a:ext cx="156210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35D4B5"/>
            </a:solidFill>
            <a:prstDash val="solid"/>
          </a:ln>
        </p:spPr>
      </p:sp>
      <p:sp>
        <p:nvSpPr>
          <p:cNvPr id="9" name="">
            <a:extLst xmlns:a="http://schemas.openxmlformats.org/drawingml/2006/main">
              <a:ext uri="{FF2B5EF4-FFF2-40B4-BE49-F238E27FC236}">
                <a16:creationId xmlns:a16="http://schemas.microsoft.com/office/drawing/2014/main" id="{D5235689-98BB-4F39-B970-852702A94D2B}"/>
              </a:ext>
            </a:extLst>
          </p:cNvPr>
          <p:cNvSpPr>
            <a:spLocks xmlns:a="http://schemas.openxmlformats.org/drawingml/2006/main" noGrp="1"/>
          </p:cNvSpPr>
          <p:nvPr/>
        </p:nvSpPr>
        <p:spPr>
          <a:xfrm xmlns:a="http://schemas.openxmlformats.org/drawingml/2006/main">
            <a:off x="10020300" y="2200275"/>
            <a:ext cx="1371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Alpaca</a:t>
            </a:r>
          </a:p>
        </p:txBody>
      </p:sp>
      <p:sp>
        <p:nvSpPr>
          <p:cNvPr id="10" name="">
            <a:extLst xmlns:a="http://schemas.openxmlformats.org/drawingml/2006/main">
              <a:ext uri="{FF2B5EF4-FFF2-40B4-BE49-F238E27FC236}">
                <a16:creationId xmlns:a16="http://schemas.microsoft.com/office/drawing/2014/main" id="{D49290A3-E204-47C0-8A16-6A56E98F8311}"/>
              </a:ext>
            </a:extLst>
          </p:cNvPr>
          <p:cNvSpPr>
            <a:spLocks xmlns:a="http://schemas.openxmlformats.org/drawingml/2006/main" noGrp="1"/>
          </p:cNvSpPr>
          <p:nvPr/>
        </p:nvSpPr>
        <p:spPr>
          <a:xfrm xmlns:a="http://schemas.openxmlformats.org/drawingml/2006/main">
            <a:off x="10001250" y="2514600"/>
            <a:ext cx="1409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נתוני שוק</a:t>
            </a:r>
          </a:p>
        </p:txBody>
      </p:sp>
      <p:sp>
        <p:nvSpPr>
          <p:cNvPr id="11" name="">
            <a:extLst xmlns:a="http://schemas.openxmlformats.org/drawingml/2006/main">
              <a:ext uri="{FF2B5EF4-FFF2-40B4-BE49-F238E27FC236}">
                <a16:creationId xmlns:a16="http://schemas.microsoft.com/office/drawing/2014/main" id="{49330905-83DA-4F11-A099-B028FDA03998}"/>
              </a:ext>
            </a:extLst>
          </p:cNvPr>
          <p:cNvSpPr>
            <a:spLocks xmlns:a="http://schemas.openxmlformats.org/drawingml/2006/main" noGrp="1"/>
          </p:cNvSpPr>
          <p:nvPr/>
        </p:nvSpPr>
        <p:spPr>
          <a:xfrm xmlns:a="http://schemas.openxmlformats.org/drawingml/2006/main">
            <a:off x="8048625" y="2038350"/>
            <a:ext cx="150495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35D4B5"/>
            </a:solidFill>
            <a:prstDash val="solid"/>
          </a:ln>
        </p:spPr>
      </p:sp>
      <p:sp>
        <p:nvSpPr>
          <p:cNvPr id="12" name="">
            <a:extLst xmlns:a="http://schemas.openxmlformats.org/drawingml/2006/main">
              <a:ext uri="{FF2B5EF4-FFF2-40B4-BE49-F238E27FC236}">
                <a16:creationId xmlns:a16="http://schemas.microsoft.com/office/drawing/2014/main" id="{A7F03EA3-0C89-4BE0-81BC-CEF713F42388}"/>
              </a:ext>
            </a:extLst>
          </p:cNvPr>
          <p:cNvSpPr>
            <a:spLocks xmlns:a="http://schemas.openxmlformats.org/drawingml/2006/main" noGrp="1"/>
          </p:cNvSpPr>
          <p:nvPr/>
        </p:nvSpPr>
        <p:spPr>
          <a:xfrm xmlns:a="http://schemas.openxmlformats.org/drawingml/2006/main">
            <a:off x="8143875" y="2200275"/>
            <a:ext cx="1314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Python</a:t>
            </a:r>
          </a:p>
        </p:txBody>
      </p:sp>
      <p:sp>
        <p:nvSpPr>
          <p:cNvPr id="13" name="">
            <a:extLst xmlns:a="http://schemas.openxmlformats.org/drawingml/2006/main">
              <a:ext uri="{FF2B5EF4-FFF2-40B4-BE49-F238E27FC236}">
                <a16:creationId xmlns:a16="http://schemas.microsoft.com/office/drawing/2014/main" id="{41CDE7F4-450C-465C-9E45-D62655F48D60}"/>
              </a:ext>
            </a:extLst>
          </p:cNvPr>
          <p:cNvSpPr>
            <a:spLocks xmlns:a="http://schemas.openxmlformats.org/drawingml/2006/main" noGrp="1"/>
          </p:cNvSpPr>
          <p:nvPr/>
        </p:nvSpPr>
        <p:spPr>
          <a:xfrm xmlns:a="http://schemas.openxmlformats.org/drawingml/2006/main">
            <a:off x="8124825" y="251460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קליטה וחוזי מידע</a:t>
            </a:r>
          </a:p>
        </p:txBody>
      </p:sp>
      <p:sp>
        <p:nvSpPr>
          <p:cNvPr id="14" name="">
            <a:extLst xmlns:a="http://schemas.openxmlformats.org/drawingml/2006/main">
              <a:ext uri="{FF2B5EF4-FFF2-40B4-BE49-F238E27FC236}">
                <a16:creationId xmlns:a16="http://schemas.microsoft.com/office/drawing/2014/main" id="{C854425E-8C07-4FB5-99ED-D423783C669F}"/>
              </a:ext>
            </a:extLst>
          </p:cNvPr>
          <p:cNvSpPr>
            <a:spLocks xmlns:a="http://schemas.openxmlformats.org/drawingml/2006/main" noGrp="1"/>
          </p:cNvSpPr>
          <p:nvPr/>
        </p:nvSpPr>
        <p:spPr>
          <a:xfrm xmlns:a="http://schemas.openxmlformats.org/drawingml/2006/main">
            <a:off x="6172200" y="2038350"/>
            <a:ext cx="150495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5B91FF"/>
            </a:solidFill>
            <a:prstDash val="solid"/>
          </a:ln>
        </p:spPr>
      </p:sp>
      <p:sp>
        <p:nvSpPr>
          <p:cNvPr id="15" name="">
            <a:extLst xmlns:a="http://schemas.openxmlformats.org/drawingml/2006/main">
              <a:ext uri="{FF2B5EF4-FFF2-40B4-BE49-F238E27FC236}">
                <a16:creationId xmlns:a16="http://schemas.microsoft.com/office/drawing/2014/main" id="{584EFBC1-8886-45ED-9724-2C962E870711}"/>
              </a:ext>
            </a:extLst>
          </p:cNvPr>
          <p:cNvSpPr>
            <a:spLocks xmlns:a="http://schemas.openxmlformats.org/drawingml/2006/main" noGrp="1"/>
          </p:cNvSpPr>
          <p:nvPr/>
        </p:nvSpPr>
        <p:spPr>
          <a:xfrm xmlns:a="http://schemas.openxmlformats.org/drawingml/2006/main">
            <a:off x="6267450" y="2200275"/>
            <a:ext cx="1314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Kafka</a:t>
            </a:r>
          </a:p>
        </p:txBody>
      </p:sp>
      <p:sp>
        <p:nvSpPr>
          <p:cNvPr id="16" name="">
            <a:extLst xmlns:a="http://schemas.openxmlformats.org/drawingml/2006/main">
              <a:ext uri="{FF2B5EF4-FFF2-40B4-BE49-F238E27FC236}">
                <a16:creationId xmlns:a16="http://schemas.microsoft.com/office/drawing/2014/main" id="{255101E2-84B9-4B6A-B592-F1D8FBE434BB}"/>
              </a:ext>
            </a:extLst>
          </p:cNvPr>
          <p:cNvSpPr>
            <a:spLocks xmlns:a="http://schemas.openxmlformats.org/drawingml/2006/main" noGrp="1"/>
          </p:cNvSpPr>
          <p:nvPr/>
        </p:nvSpPr>
        <p:spPr>
          <a:xfrm xmlns:a="http://schemas.openxmlformats.org/drawingml/2006/main">
            <a:off x="6248400" y="251460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תעבורה ו־Replay</a:t>
            </a:r>
          </a:p>
        </p:txBody>
      </p:sp>
      <p:sp>
        <p:nvSpPr>
          <p:cNvPr id="17" name="">
            <a:extLst xmlns:a="http://schemas.openxmlformats.org/drawingml/2006/main">
              <a:ext uri="{FF2B5EF4-FFF2-40B4-BE49-F238E27FC236}">
                <a16:creationId xmlns:a16="http://schemas.microsoft.com/office/drawing/2014/main" id="{5457C834-8814-4C8F-96A6-07DB5D9CC6BE}"/>
              </a:ext>
            </a:extLst>
          </p:cNvPr>
          <p:cNvSpPr>
            <a:spLocks xmlns:a="http://schemas.openxmlformats.org/drawingml/2006/main" noGrp="1"/>
          </p:cNvSpPr>
          <p:nvPr/>
        </p:nvSpPr>
        <p:spPr>
          <a:xfrm xmlns:a="http://schemas.openxmlformats.org/drawingml/2006/main">
            <a:off x="4295775" y="2038350"/>
            <a:ext cx="150495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5B91FF"/>
            </a:solidFill>
            <a:prstDash val="solid"/>
          </a:ln>
        </p:spPr>
      </p:sp>
      <p:sp>
        <p:nvSpPr>
          <p:cNvPr id="18" name="">
            <a:extLst xmlns:a="http://schemas.openxmlformats.org/drawingml/2006/main">
              <a:ext uri="{FF2B5EF4-FFF2-40B4-BE49-F238E27FC236}">
                <a16:creationId xmlns:a16="http://schemas.microsoft.com/office/drawing/2014/main" id="{511F9D5E-F25D-4340-A285-55BADFDC0CD3}"/>
              </a:ext>
            </a:extLst>
          </p:cNvPr>
          <p:cNvSpPr>
            <a:spLocks xmlns:a="http://schemas.openxmlformats.org/drawingml/2006/main" noGrp="1"/>
          </p:cNvSpPr>
          <p:nvPr/>
        </p:nvSpPr>
        <p:spPr>
          <a:xfrm xmlns:a="http://schemas.openxmlformats.org/drawingml/2006/main">
            <a:off x="4391025" y="2200275"/>
            <a:ext cx="1314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Spark</a:t>
            </a:r>
          </a:p>
        </p:txBody>
      </p:sp>
      <p:sp>
        <p:nvSpPr>
          <p:cNvPr id="19" name="">
            <a:extLst xmlns:a="http://schemas.openxmlformats.org/drawingml/2006/main">
              <a:ext uri="{FF2B5EF4-FFF2-40B4-BE49-F238E27FC236}">
                <a16:creationId xmlns:a16="http://schemas.microsoft.com/office/drawing/2014/main" id="{4E0F5F27-5D4E-4065-9205-B547DF102BBD}"/>
              </a:ext>
            </a:extLst>
          </p:cNvPr>
          <p:cNvSpPr>
            <a:spLocks xmlns:a="http://schemas.openxmlformats.org/drawingml/2006/main" noGrp="1"/>
          </p:cNvSpPr>
          <p:nvPr/>
        </p:nvSpPr>
        <p:spPr>
          <a:xfrm xmlns:a="http://schemas.openxmlformats.org/drawingml/2006/main">
            <a:off x="4371975" y="251460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a:solidFill>
                  <a:srgbClr val="9AB1C5"/>
                </a:solidFill>
                <a:latin typeface="Arial"/>
                <a:ea typeface="Arial"/>
                <a:cs typeface="Arial"/>
              </a:defRPr>
            </a:pPr>
            <a:r>
              <a:rPr sz="1125" b="0">
                <a:solidFill>
                  <a:srgbClr val="9AB1C5"/>
                </a:solidFill>
                <a:latin typeface="Arial"/>
                <a:ea typeface="Arial"/>
                <a:cs typeface="Arial"/>
              </a:rPr>
              <a:t>Streaming + Batch</a:t>
            </a:r>
          </a:p>
        </p:txBody>
      </p:sp>
      <p:sp>
        <p:nvSpPr>
          <p:cNvPr id="20" name="">
            <a:extLst xmlns:a="http://schemas.openxmlformats.org/drawingml/2006/main">
              <a:ext uri="{FF2B5EF4-FFF2-40B4-BE49-F238E27FC236}">
                <a16:creationId xmlns:a16="http://schemas.microsoft.com/office/drawing/2014/main" id="{625311D5-016E-4E2C-8F56-2989D7BA6663}"/>
              </a:ext>
            </a:extLst>
          </p:cNvPr>
          <p:cNvSpPr>
            <a:spLocks xmlns:a="http://schemas.openxmlformats.org/drawingml/2006/main" noGrp="1"/>
          </p:cNvSpPr>
          <p:nvPr/>
        </p:nvSpPr>
        <p:spPr>
          <a:xfrm xmlns:a="http://schemas.openxmlformats.org/drawingml/2006/main">
            <a:off x="2324100" y="2038350"/>
            <a:ext cx="160020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F4B94F"/>
            </a:solidFill>
            <a:prstDash val="solid"/>
          </a:ln>
        </p:spPr>
      </p:sp>
      <p:sp>
        <p:nvSpPr>
          <p:cNvPr id="21" name="">
            <a:extLst xmlns:a="http://schemas.openxmlformats.org/drawingml/2006/main">
              <a:ext uri="{FF2B5EF4-FFF2-40B4-BE49-F238E27FC236}">
                <a16:creationId xmlns:a16="http://schemas.microsoft.com/office/drawing/2014/main" id="{DF8BCCC5-CD52-4AB5-82BA-57BCE3189ACE}"/>
              </a:ext>
            </a:extLst>
          </p:cNvPr>
          <p:cNvSpPr>
            <a:spLocks xmlns:a="http://schemas.openxmlformats.org/drawingml/2006/main" noGrp="1"/>
          </p:cNvSpPr>
          <p:nvPr/>
        </p:nvSpPr>
        <p:spPr>
          <a:xfrm xmlns:a="http://schemas.openxmlformats.org/drawingml/2006/main">
            <a:off x="2419350" y="2200275"/>
            <a:ext cx="1409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MariaDB Gold</a:t>
            </a:r>
          </a:p>
        </p:txBody>
      </p:sp>
      <p:sp>
        <p:nvSpPr>
          <p:cNvPr id="22" name="">
            <a:extLst xmlns:a="http://schemas.openxmlformats.org/drawingml/2006/main">
              <a:ext uri="{FF2B5EF4-FFF2-40B4-BE49-F238E27FC236}">
                <a16:creationId xmlns:a16="http://schemas.microsoft.com/office/drawing/2014/main" id="{0E77B536-A299-431A-8B36-F30CCD424E96}"/>
              </a:ext>
            </a:extLst>
          </p:cNvPr>
          <p:cNvSpPr>
            <a:spLocks xmlns:a="http://schemas.openxmlformats.org/drawingml/2006/main" noGrp="1"/>
          </p:cNvSpPr>
          <p:nvPr/>
        </p:nvSpPr>
        <p:spPr>
          <a:xfrm xmlns:a="http://schemas.openxmlformats.org/drawingml/2006/main">
            <a:off x="2400300" y="2514600"/>
            <a:ext cx="1447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מידע מוכן למוצר</a:t>
            </a:r>
          </a:p>
        </p:txBody>
      </p:sp>
      <p:sp>
        <p:nvSpPr>
          <p:cNvPr id="23" name="">
            <a:extLst xmlns:a="http://schemas.openxmlformats.org/drawingml/2006/main">
              <a:ext uri="{FF2B5EF4-FFF2-40B4-BE49-F238E27FC236}">
                <a16:creationId xmlns:a16="http://schemas.microsoft.com/office/drawing/2014/main" id="{1CBF602D-5FD7-4880-81F4-2F68B61E9630}"/>
              </a:ext>
            </a:extLst>
          </p:cNvPr>
          <p:cNvSpPr>
            <a:spLocks xmlns:a="http://schemas.openxmlformats.org/drawingml/2006/main" noGrp="1"/>
          </p:cNvSpPr>
          <p:nvPr/>
        </p:nvSpPr>
        <p:spPr>
          <a:xfrm xmlns:a="http://schemas.openxmlformats.org/drawingml/2006/main">
            <a:off x="457200" y="2038350"/>
            <a:ext cx="150495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35D4B5"/>
            </a:solidFill>
            <a:prstDash val="solid"/>
          </a:ln>
        </p:spPr>
      </p:sp>
      <p:sp>
        <p:nvSpPr>
          <p:cNvPr id="24" name="">
            <a:extLst xmlns:a="http://schemas.openxmlformats.org/drawingml/2006/main">
              <a:ext uri="{FF2B5EF4-FFF2-40B4-BE49-F238E27FC236}">
                <a16:creationId xmlns:a16="http://schemas.microsoft.com/office/drawing/2014/main" id="{A7E0D2E1-A54F-4283-A6B9-3F1C90E2DEBE}"/>
              </a:ext>
            </a:extLst>
          </p:cNvPr>
          <p:cNvSpPr>
            <a:spLocks xmlns:a="http://schemas.openxmlformats.org/drawingml/2006/main" noGrp="1"/>
          </p:cNvSpPr>
          <p:nvPr/>
        </p:nvSpPr>
        <p:spPr>
          <a:xfrm xmlns:a="http://schemas.openxmlformats.org/drawingml/2006/main">
            <a:off x="552450" y="2200275"/>
            <a:ext cx="1314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API + Web</a:t>
            </a:r>
          </a:p>
        </p:txBody>
      </p:sp>
      <p:sp>
        <p:nvSpPr>
          <p:cNvPr id="25" name="">
            <a:extLst xmlns:a="http://schemas.openxmlformats.org/drawingml/2006/main">
              <a:ext uri="{FF2B5EF4-FFF2-40B4-BE49-F238E27FC236}">
                <a16:creationId xmlns:a16="http://schemas.microsoft.com/office/drawing/2014/main" id="{40B5D9C6-3DC6-47E7-813B-F8692C750985}"/>
              </a:ext>
            </a:extLst>
          </p:cNvPr>
          <p:cNvSpPr>
            <a:spLocks xmlns:a="http://schemas.openxmlformats.org/drawingml/2006/main" noGrp="1"/>
          </p:cNvSpPr>
          <p:nvPr/>
        </p:nvSpPr>
        <p:spPr>
          <a:xfrm xmlns:a="http://schemas.openxmlformats.org/drawingml/2006/main">
            <a:off x="533400" y="251460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החוויה למשתמש</a:t>
            </a:r>
          </a:p>
        </p:txBody>
      </p:sp>
      <p:cxnSp>
        <p:nvCxnSpPr>
          <p:cNvPr id="74" name=""/>
          <p:cNvCxnSpPr>
            <a:stCxn xmlns:a="http://schemas.openxmlformats.org/drawingml/2006/main" id="8" idx="1"/>
            <a:endCxn xmlns:a="http://schemas.openxmlformats.org/drawingml/2006/main" id="11" idx="3"/>
          </p:cNvCxnSpPr>
          <p:nvPr/>
        </p:nvCxnSpPr>
        <p:spPr>
          <a:xfrm xmlns:a="http://schemas.openxmlformats.org/drawingml/2006/main" flipH="1">
            <a:off x="9553575" y="2457450"/>
            <a:ext cx="371475"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cxnSp>
        <p:nvCxnSpPr>
          <p:cNvPr id="75" name=""/>
          <p:cNvCxnSpPr>
            <a:stCxn xmlns:a="http://schemas.openxmlformats.org/drawingml/2006/main" id="11" idx="1"/>
            <a:endCxn xmlns:a="http://schemas.openxmlformats.org/drawingml/2006/main" id="14" idx="3"/>
          </p:cNvCxnSpPr>
          <p:nvPr/>
        </p:nvCxnSpPr>
        <p:spPr>
          <a:xfrm xmlns:a="http://schemas.openxmlformats.org/drawingml/2006/main" flipH="1">
            <a:off x="7677150" y="2457450"/>
            <a:ext cx="371475"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cxnSp>
        <p:nvCxnSpPr>
          <p:cNvPr id="76" name=""/>
          <p:cNvCxnSpPr>
            <a:stCxn xmlns:a="http://schemas.openxmlformats.org/drawingml/2006/main" id="14" idx="1"/>
            <a:endCxn xmlns:a="http://schemas.openxmlformats.org/drawingml/2006/main" id="17" idx="3"/>
          </p:cNvCxnSpPr>
          <p:nvPr/>
        </p:nvCxnSpPr>
        <p:spPr>
          <a:xfrm xmlns:a="http://schemas.openxmlformats.org/drawingml/2006/main" flipH="1">
            <a:off x="5800725" y="2457450"/>
            <a:ext cx="371475" cy="0"/>
          </a:xfrm>
          <a:prstGeom xmlns:a="http://schemas.openxmlformats.org/drawingml/2006/main" prst="straightConnector1">
            <a:avLst/>
          </a:prstGeom>
          <a:ln xmlns:a="http://schemas.openxmlformats.org/drawingml/2006/main" w="19050">
            <a:solidFill>
              <a:srgbClr val="5B91FF"/>
            </a:solidFill>
            <a:prstDash val="solid"/>
            <a:tailEnd type="triangle" w="sm" len="sm"/>
          </a:ln>
        </p:spPr>
      </p:cxnSp>
      <p:cxnSp>
        <p:nvCxnSpPr>
          <p:cNvPr id="77" name=""/>
          <p:cNvCxnSpPr>
            <a:stCxn xmlns:a="http://schemas.openxmlformats.org/drawingml/2006/main" id="17" idx="1"/>
            <a:endCxn xmlns:a="http://schemas.openxmlformats.org/drawingml/2006/main" id="20" idx="3"/>
          </p:cNvCxnSpPr>
          <p:nvPr/>
        </p:nvCxnSpPr>
        <p:spPr>
          <a:xfrm xmlns:a="http://schemas.openxmlformats.org/drawingml/2006/main" flipH="1">
            <a:off x="3924300" y="2457450"/>
            <a:ext cx="371475" cy="0"/>
          </a:xfrm>
          <a:prstGeom xmlns:a="http://schemas.openxmlformats.org/drawingml/2006/main" prst="straightConnector1">
            <a:avLst/>
          </a:prstGeom>
          <a:ln xmlns:a="http://schemas.openxmlformats.org/drawingml/2006/main" w="19050">
            <a:solidFill>
              <a:srgbClr val="F4B94F"/>
            </a:solidFill>
            <a:prstDash val="solid"/>
            <a:tailEnd type="triangle" w="sm" len="sm"/>
          </a:ln>
        </p:spPr>
      </p:cxnSp>
      <p:cxnSp>
        <p:nvCxnSpPr>
          <p:cNvPr id="78" name=""/>
          <p:cNvCxnSpPr>
            <a:stCxn xmlns:a="http://schemas.openxmlformats.org/drawingml/2006/main" id="20" idx="1"/>
            <a:endCxn xmlns:a="http://schemas.openxmlformats.org/drawingml/2006/main" id="23" idx="3"/>
          </p:cNvCxnSpPr>
          <p:nvPr/>
        </p:nvCxnSpPr>
        <p:spPr>
          <a:xfrm xmlns:a="http://schemas.openxmlformats.org/drawingml/2006/main" flipH="1">
            <a:off x="1962150" y="2457450"/>
            <a:ext cx="361950"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sp>
        <p:nvSpPr>
          <p:cNvPr id="31" name="">
            <a:extLst xmlns:a="http://schemas.openxmlformats.org/drawingml/2006/main">
              <a:ext uri="{FF2B5EF4-FFF2-40B4-BE49-F238E27FC236}">
                <a16:creationId xmlns:a16="http://schemas.microsoft.com/office/drawing/2014/main" id="{6202982F-C6B7-49C2-8E7E-878DE103A8C0}"/>
              </a:ext>
            </a:extLst>
          </p:cNvPr>
          <p:cNvSpPr>
            <a:spLocks xmlns:a="http://schemas.openxmlformats.org/drawingml/2006/main" noGrp="1"/>
          </p:cNvSpPr>
          <p:nvPr/>
        </p:nvSpPr>
        <p:spPr>
          <a:xfrm xmlns:a="http://schemas.openxmlformats.org/drawingml/2006/main">
            <a:off x="9810750" y="3714750"/>
            <a:ext cx="1676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975" b="1">
                <a:solidFill>
                  <a:srgbClr val="5B91FF"/>
                </a:solidFill>
                <a:latin typeface="Cascadia Mono"/>
                <a:ea typeface="Cascadia Mono"/>
                <a:cs typeface="Cascadia Mono"/>
              </a:defRPr>
            </a:pPr>
            <a:r>
              <a:rPr sz="975" b="1">
                <a:solidFill>
                  <a:srgbClr val="5B91FF"/>
                </a:solidFill>
                <a:latin typeface="Cascadia Mono"/>
                <a:ea typeface="Cascadia Mono"/>
                <a:cs typeface="Cascadia Mono"/>
              </a:rPr>
              <a:t>CERTIFIED PATH</a:t>
            </a:r>
          </a:p>
        </p:txBody>
      </p:sp>
      <p:sp>
        <p:nvSpPr>
          <p:cNvPr id="32" name="">
            <a:extLst xmlns:a="http://schemas.openxmlformats.org/drawingml/2006/main">
              <a:ext uri="{FF2B5EF4-FFF2-40B4-BE49-F238E27FC236}">
                <a16:creationId xmlns:a16="http://schemas.microsoft.com/office/drawing/2014/main" id="{BBF898C3-B6B5-4F6C-94B7-94D451CC1C6B}"/>
              </a:ext>
            </a:extLst>
          </p:cNvPr>
          <p:cNvSpPr>
            <a:spLocks xmlns:a="http://schemas.openxmlformats.org/drawingml/2006/main" noGrp="1"/>
          </p:cNvSpPr>
          <p:nvPr/>
        </p:nvSpPr>
        <p:spPr>
          <a:xfrm xmlns:a="http://schemas.openxmlformats.org/drawingml/2006/main">
            <a:off x="6686550" y="4019550"/>
            <a:ext cx="200025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35D4B5"/>
            </a:solidFill>
            <a:prstDash val="solid"/>
          </a:ln>
        </p:spPr>
      </p:sp>
      <p:sp>
        <p:nvSpPr>
          <p:cNvPr id="33" name="">
            <a:extLst xmlns:a="http://schemas.openxmlformats.org/drawingml/2006/main">
              <a:ext uri="{FF2B5EF4-FFF2-40B4-BE49-F238E27FC236}">
                <a16:creationId xmlns:a16="http://schemas.microsoft.com/office/drawing/2014/main" id="{21B99974-3307-47DD-AFE3-00D58AA5BBBE}"/>
              </a:ext>
            </a:extLst>
          </p:cNvPr>
          <p:cNvSpPr>
            <a:spLocks xmlns:a="http://schemas.openxmlformats.org/drawingml/2006/main" noGrp="1"/>
          </p:cNvSpPr>
          <p:nvPr/>
        </p:nvSpPr>
        <p:spPr>
          <a:xfrm xmlns:a="http://schemas.openxmlformats.org/drawingml/2006/main">
            <a:off x="6781800" y="41814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MinIO Bronze</a:t>
            </a:r>
          </a:p>
        </p:txBody>
      </p:sp>
      <p:sp>
        <p:nvSpPr>
          <p:cNvPr id="34" name="">
            <a:extLst xmlns:a="http://schemas.openxmlformats.org/drawingml/2006/main">
              <a:ext uri="{FF2B5EF4-FFF2-40B4-BE49-F238E27FC236}">
                <a16:creationId xmlns:a16="http://schemas.microsoft.com/office/drawing/2014/main" id="{8FCD4FB5-C0EC-40C3-B333-9233BF78069E}"/>
              </a:ext>
            </a:extLst>
          </p:cNvPr>
          <p:cNvSpPr>
            <a:spLocks xmlns:a="http://schemas.openxmlformats.org/drawingml/2006/main" noGrp="1"/>
          </p:cNvSpPr>
          <p:nvPr/>
        </p:nvSpPr>
        <p:spPr>
          <a:xfrm xmlns:a="http://schemas.openxmlformats.org/drawingml/2006/main">
            <a:off x="6762750" y="4495800"/>
            <a:ext cx="1847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מקור גולמי ובלתי משתנה</a:t>
            </a:r>
          </a:p>
        </p:txBody>
      </p:sp>
      <p:sp>
        <p:nvSpPr>
          <p:cNvPr id="35" name="">
            <a:extLst xmlns:a="http://schemas.openxmlformats.org/drawingml/2006/main">
              <a:ext uri="{FF2B5EF4-FFF2-40B4-BE49-F238E27FC236}">
                <a16:creationId xmlns:a16="http://schemas.microsoft.com/office/drawing/2014/main" id="{2F5EACF6-3203-48BA-A6F8-AA4727A48237}"/>
              </a:ext>
            </a:extLst>
          </p:cNvPr>
          <p:cNvSpPr>
            <a:spLocks xmlns:a="http://schemas.openxmlformats.org/drawingml/2006/main" noGrp="1"/>
          </p:cNvSpPr>
          <p:nvPr/>
        </p:nvSpPr>
        <p:spPr>
          <a:xfrm xmlns:a="http://schemas.openxmlformats.org/drawingml/2006/main">
            <a:off x="4286250" y="4019550"/>
            <a:ext cx="200025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5B91FF"/>
            </a:solidFill>
            <a:prstDash val="solid"/>
          </a:ln>
        </p:spPr>
      </p:sp>
      <p:sp>
        <p:nvSpPr>
          <p:cNvPr id="36" name="">
            <a:extLst xmlns:a="http://schemas.openxmlformats.org/drawingml/2006/main">
              <a:ext uri="{FF2B5EF4-FFF2-40B4-BE49-F238E27FC236}">
                <a16:creationId xmlns:a16="http://schemas.microsoft.com/office/drawing/2014/main" id="{9FCB886E-DA06-4A72-859C-E807B25A7067}"/>
              </a:ext>
            </a:extLst>
          </p:cNvPr>
          <p:cNvSpPr>
            <a:spLocks xmlns:a="http://schemas.openxmlformats.org/drawingml/2006/main" noGrp="1"/>
          </p:cNvSpPr>
          <p:nvPr/>
        </p:nvSpPr>
        <p:spPr>
          <a:xfrm xmlns:a="http://schemas.openxmlformats.org/drawingml/2006/main">
            <a:off x="4381500" y="41814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MinIO Silver</a:t>
            </a:r>
          </a:p>
        </p:txBody>
      </p:sp>
      <p:sp>
        <p:nvSpPr>
          <p:cNvPr id="37" name="">
            <a:extLst xmlns:a="http://schemas.openxmlformats.org/drawingml/2006/main">
              <a:ext uri="{FF2B5EF4-FFF2-40B4-BE49-F238E27FC236}">
                <a16:creationId xmlns:a16="http://schemas.microsoft.com/office/drawing/2014/main" id="{5FA9BBD1-A05E-44FC-9254-906D80D0E1DB}"/>
              </a:ext>
            </a:extLst>
          </p:cNvPr>
          <p:cNvSpPr>
            <a:spLocks xmlns:a="http://schemas.openxmlformats.org/drawingml/2006/main" noGrp="1"/>
          </p:cNvSpPr>
          <p:nvPr/>
        </p:nvSpPr>
        <p:spPr>
          <a:xfrm xmlns:a="http://schemas.openxmlformats.org/drawingml/2006/main">
            <a:off x="4362450" y="4495800"/>
            <a:ext cx="1847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Parquet נקי וקנוני</a:t>
            </a:r>
          </a:p>
        </p:txBody>
      </p:sp>
      <p:sp>
        <p:nvSpPr>
          <p:cNvPr id="38" name="">
            <a:extLst xmlns:a="http://schemas.openxmlformats.org/drawingml/2006/main">
              <a:ext uri="{FF2B5EF4-FFF2-40B4-BE49-F238E27FC236}">
                <a16:creationId xmlns:a16="http://schemas.microsoft.com/office/drawing/2014/main" id="{809BD5D7-ECC8-430B-8EF0-99DD8DC7842E}"/>
              </a:ext>
            </a:extLst>
          </p:cNvPr>
          <p:cNvSpPr>
            <a:spLocks xmlns:a="http://schemas.openxmlformats.org/drawingml/2006/main" noGrp="1"/>
          </p:cNvSpPr>
          <p:nvPr/>
        </p:nvSpPr>
        <p:spPr>
          <a:xfrm xmlns:a="http://schemas.openxmlformats.org/drawingml/2006/main">
            <a:off x="457200" y="4019550"/>
            <a:ext cx="200025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F4B94F"/>
            </a:solidFill>
            <a:prstDash val="solid"/>
          </a:ln>
        </p:spPr>
      </p:sp>
      <p:sp>
        <p:nvSpPr>
          <p:cNvPr id="39" name="">
            <a:extLst xmlns:a="http://schemas.openxmlformats.org/drawingml/2006/main">
              <a:ext uri="{FF2B5EF4-FFF2-40B4-BE49-F238E27FC236}">
                <a16:creationId xmlns:a16="http://schemas.microsoft.com/office/drawing/2014/main" id="{D9988921-D916-4BAA-A727-D5B8E7397F34}"/>
              </a:ext>
            </a:extLst>
          </p:cNvPr>
          <p:cNvSpPr>
            <a:spLocks xmlns:a="http://schemas.openxmlformats.org/drawingml/2006/main" noGrp="1"/>
          </p:cNvSpPr>
          <p:nvPr/>
        </p:nvSpPr>
        <p:spPr>
          <a:xfrm xmlns:a="http://schemas.openxmlformats.org/drawingml/2006/main">
            <a:off x="552450" y="41814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Airflow</a:t>
            </a:r>
          </a:p>
        </p:txBody>
      </p:sp>
      <p:sp>
        <p:nvSpPr>
          <p:cNvPr id="40" name="">
            <a:extLst xmlns:a="http://schemas.openxmlformats.org/drawingml/2006/main">
              <a:ext uri="{FF2B5EF4-FFF2-40B4-BE49-F238E27FC236}">
                <a16:creationId xmlns:a16="http://schemas.microsoft.com/office/drawing/2014/main" id="{D0130A7F-4EBD-458A-99F8-8A1A03BFEAC5}"/>
              </a:ext>
            </a:extLst>
          </p:cNvPr>
          <p:cNvSpPr>
            <a:spLocks xmlns:a="http://schemas.openxmlformats.org/drawingml/2006/main" noGrp="1"/>
          </p:cNvSpPr>
          <p:nvPr/>
        </p:nvSpPr>
        <p:spPr>
          <a:xfrm xmlns:a="http://schemas.openxmlformats.org/drawingml/2006/main">
            <a:off x="533400" y="4495800"/>
            <a:ext cx="1847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תזמון ובקרה בלבד</a:t>
            </a:r>
          </a:p>
        </p:txBody>
      </p:sp>
      <p:cxnSp>
        <p:nvCxnSpPr>
          <p:cNvPr id="89" name=""/>
          <p:cNvCxnSpPr>
            <a:stCxn xmlns:a="http://schemas.openxmlformats.org/drawingml/2006/main" id="14" idx="2"/>
            <a:endCxn xmlns:a="http://schemas.openxmlformats.org/drawingml/2006/main" id="32" idx="0"/>
          </p:cNvCxnSpPr>
          <p:nvPr/>
        </p:nvCxnSpPr>
        <p:spPr>
          <a:xfrm xmlns:a="http://schemas.openxmlformats.org/drawingml/2006/main">
            <a:off x="6924675" y="2876550"/>
            <a:ext cx="762000" cy="1143000"/>
          </a:xfrm>
          <a:prstGeom xmlns:a="http://schemas.openxmlformats.org/drawingml/2006/main" prst="bentConnector4">
            <a:avLst>
              <a:gd name="adj1" fmla="val 0"/>
              <a:gd name="adj2" fmla="val 50000"/>
            </a:avLst>
          </a:prstGeom>
          <a:ln xmlns:a="http://schemas.openxmlformats.org/drawingml/2006/main" w="19050">
            <a:solidFill>
              <a:srgbClr val="35D4B5"/>
            </a:solidFill>
            <a:prstDash val="dash"/>
            <a:tailEnd type="triangle" w="sm" len="sm"/>
          </a:ln>
        </p:spPr>
      </p:cxnSp>
      <p:cxnSp>
        <p:nvCxnSpPr>
          <p:cNvPr id="90" name=""/>
          <p:cNvCxnSpPr>
            <a:stCxn xmlns:a="http://schemas.openxmlformats.org/drawingml/2006/main" id="32" idx="1"/>
            <a:endCxn xmlns:a="http://schemas.openxmlformats.org/drawingml/2006/main" id="35" idx="3"/>
          </p:cNvCxnSpPr>
          <p:nvPr/>
        </p:nvCxnSpPr>
        <p:spPr>
          <a:xfrm xmlns:a="http://schemas.openxmlformats.org/drawingml/2006/main" flipH="1">
            <a:off x="6286500" y="4438650"/>
            <a:ext cx="400050" cy="0"/>
          </a:xfrm>
          <a:prstGeom xmlns:a="http://schemas.openxmlformats.org/drawingml/2006/main" prst="straightConnector1">
            <a:avLst/>
          </a:prstGeom>
          <a:ln xmlns:a="http://schemas.openxmlformats.org/drawingml/2006/main" w="19050">
            <a:solidFill>
              <a:srgbClr val="5B91FF"/>
            </a:solidFill>
            <a:prstDash val="solid"/>
            <a:tailEnd type="triangle" w="sm" len="sm"/>
          </a:ln>
        </p:spPr>
      </p:cxnSp>
      <p:cxnSp>
        <p:nvCxnSpPr>
          <p:cNvPr id="91" name=""/>
          <p:cNvCxnSpPr>
            <a:stCxn xmlns:a="http://schemas.openxmlformats.org/drawingml/2006/main" id="35" idx="0"/>
            <a:endCxn xmlns:a="http://schemas.openxmlformats.org/drawingml/2006/main" id="20" idx="2"/>
          </p:cNvCxnSpPr>
          <p:nvPr/>
        </p:nvCxnSpPr>
        <p:spPr>
          <a:xfrm xmlns:a="http://schemas.openxmlformats.org/drawingml/2006/main" flipH="1" flipV="1">
            <a:off x="3124200" y="2876550"/>
            <a:ext cx="2162175" cy="1143000"/>
          </a:xfrm>
          <a:prstGeom xmlns:a="http://schemas.openxmlformats.org/drawingml/2006/main" prst="bentConnector4">
            <a:avLst>
              <a:gd name="adj1" fmla="val 0"/>
              <a:gd name="adj2" fmla="val 50000"/>
            </a:avLst>
          </a:prstGeom>
          <a:ln xmlns:a="http://schemas.openxmlformats.org/drawingml/2006/main" w="19050">
            <a:solidFill>
              <a:srgbClr val="F4B94F"/>
            </a:solidFill>
            <a:prstDash val="dash"/>
            <a:tailEnd type="triangle" w="sm" len="sm"/>
          </a:ln>
        </p:spPr>
      </p:cxnSp>
      <p:cxnSp>
        <p:nvCxnSpPr>
          <p:cNvPr id="92" name=""/>
          <p:cNvCxnSpPr>
            <a:stCxn xmlns:a="http://schemas.openxmlformats.org/drawingml/2006/main" id="38" idx="3"/>
            <a:endCxn xmlns:a="http://schemas.openxmlformats.org/drawingml/2006/main" id="35" idx="1"/>
          </p:cNvCxnSpPr>
          <p:nvPr/>
        </p:nvCxnSpPr>
        <p:spPr>
          <a:xfrm xmlns:a="http://schemas.openxmlformats.org/drawingml/2006/main">
            <a:off x="2457450" y="4438650"/>
            <a:ext cx="1828800" cy="0"/>
          </a:xfrm>
          <a:prstGeom xmlns:a="http://schemas.openxmlformats.org/drawingml/2006/main" prst="straightConnector1">
            <a:avLst/>
          </a:prstGeom>
          <a:ln xmlns:a="http://schemas.openxmlformats.org/drawingml/2006/main" w="19050">
            <a:solidFill>
              <a:srgbClr val="F4B94F"/>
            </a:solidFill>
            <a:prstDash val="dash"/>
            <a:tailEnd type="triangle" w="sm" len="sm"/>
          </a:ln>
        </p:spPr>
      </p:cxnSp>
      <p:sp>
        <p:nvSpPr>
          <p:cNvPr id="45" name="">
            <a:extLst xmlns:a="http://schemas.openxmlformats.org/drawingml/2006/main">
              <a:ext uri="{FF2B5EF4-FFF2-40B4-BE49-F238E27FC236}">
                <a16:creationId xmlns:a16="http://schemas.microsoft.com/office/drawing/2014/main" id="{39E154C0-7DDA-4DF2-B333-53B3C0873C0D}"/>
              </a:ext>
            </a:extLst>
          </p:cNvPr>
          <p:cNvSpPr>
            <a:spLocks xmlns:a="http://schemas.openxmlformats.org/drawingml/2006/main" noGrp="1"/>
          </p:cNvSpPr>
          <p:nvPr/>
        </p:nvSpPr>
        <p:spPr>
          <a:xfrm xmlns:a="http://schemas.openxmlformats.org/drawingml/2006/main">
            <a:off x="457200" y="3143250"/>
            <a:ext cx="200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BROWSER BOUNDARY</a:t>
            </a:r>
          </a:p>
        </p:txBody>
      </p:sp>
      <p:sp>
        <p:nvSpPr>
          <p:cNvPr id="46" name="">
            <a:extLst xmlns:a="http://schemas.openxmlformats.org/drawingml/2006/main">
              <a:ext uri="{FF2B5EF4-FFF2-40B4-BE49-F238E27FC236}">
                <a16:creationId xmlns:a16="http://schemas.microsoft.com/office/drawing/2014/main" id="{2F265310-474E-4356-B736-D05C298AFFD6}"/>
              </a:ext>
            </a:extLst>
          </p:cNvPr>
          <p:cNvSpPr>
            <a:spLocks xmlns:a="http://schemas.openxmlformats.org/drawingml/2006/main" noGrp="1"/>
          </p:cNvSpPr>
          <p:nvPr/>
        </p:nvSpPr>
        <p:spPr>
          <a:xfrm xmlns:a="http://schemas.openxmlformats.org/drawingml/2006/main">
            <a:off x="457200" y="33718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350" b="0" lang="he-IL">
                <a:solidFill>
                  <a:srgbClr val="9AB1C5"/>
                </a:solidFill>
                <a:latin typeface="Arial"/>
                <a:ea typeface="Arial"/>
                <a:cs typeface="Arial"/>
              </a:defRPr>
            </a:pPr>
            <a:r>
              <a:rPr sz="1350" b="0" lang="he-IL">
                <a:solidFill>
                  <a:srgbClr val="9AB1C5"/>
                </a:solidFill>
                <a:latin typeface="Arial"/>
                <a:ea typeface="Arial"/>
                <a:cs typeface="Arial"/>
              </a:rPr>
              <a:t>הדפדפן מתקשר רק עם שכבת ה־API</a:t>
            </a:r>
          </a:p>
        </p:txBody>
      </p:sp>
      <p:sp>
        <p:nvSpPr>
          <p:cNvPr id="47" name="">
            <a:extLst xmlns:a="http://schemas.openxmlformats.org/drawingml/2006/main">
              <a:ext uri="{FF2B5EF4-FFF2-40B4-BE49-F238E27FC236}">
                <a16:creationId xmlns:a16="http://schemas.microsoft.com/office/drawing/2014/main" id="{6DAAAB4B-44FF-4699-BE70-92CE486CD245}"/>
              </a:ext>
            </a:extLst>
          </p:cNvPr>
          <p:cNvSpPr>
            <a:spLocks xmlns:a="http://schemas.openxmlformats.org/drawingml/2006/main" noGrp="1"/>
          </p:cNvSpPr>
          <p:nvPr/>
        </p:nvSpPr>
        <p:spPr>
          <a:xfrm xmlns:a="http://schemas.openxmlformats.org/drawingml/2006/main">
            <a:off x="457200" y="5105400"/>
            <a:ext cx="5829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350" b="0" lang="he-IL">
                <a:solidFill>
                  <a:srgbClr val="9AB1C5"/>
                </a:solidFill>
                <a:latin typeface="Arial"/>
                <a:ea typeface="Arial"/>
                <a:cs typeface="Arial"/>
              </a:defRPr>
            </a:pPr>
            <a:r>
              <a:rPr sz="1350" b="0" lang="he-IL">
                <a:solidFill>
                  <a:srgbClr val="9AB1C5"/>
                </a:solidFill>
                <a:latin typeface="Arial"/>
                <a:ea typeface="Arial"/>
                <a:cs typeface="Arial"/>
              </a:rPr>
              <a:t>התזמור אינו מפעיל עיבוד רציף. הוא מנהל רק עבודות תחומות, לרבות דיווחי חברות ונתוני עבר.</a:t>
            </a:r>
          </a:p>
        </p:txBody>
      </p:sp>
      <p:sp>
        <p:nvSpPr>
          <p:cNvPr id="48" name="">
            <a:extLst xmlns:a="http://schemas.openxmlformats.org/drawingml/2006/main">
              <a:ext uri="{FF2B5EF4-FFF2-40B4-BE49-F238E27FC236}">
                <a16:creationId xmlns:a16="http://schemas.microsoft.com/office/drawing/2014/main" id="{82F139EE-599A-47B3-8438-A31CED37D236}"/>
              </a:ext>
            </a:extLst>
          </p:cNvPr>
          <p:cNvSpPr>
            <a:spLocks xmlns:a="http://schemas.openxmlformats.org/drawingml/2006/main" noGrp="1"/>
          </p:cNvSpPr>
          <p:nvPr/>
        </p:nvSpPr>
        <p:spPr>
          <a:xfrm xmlns:a="http://schemas.openxmlformats.org/drawingml/2006/main">
            <a:off x="6686550" y="5105400"/>
            <a:ext cx="4800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350" b="0" lang="he-IL">
                <a:solidFill>
                  <a:srgbClr val="9AB1C5"/>
                </a:solidFill>
                <a:latin typeface="Arial"/>
                <a:ea typeface="Arial"/>
                <a:cs typeface="Arial"/>
              </a:defRPr>
            </a:pPr>
            <a:r>
              <a:rPr sz="1350" b="0" lang="he-IL">
                <a:solidFill>
                  <a:srgbClr val="9AB1C5"/>
                </a:solidFill>
                <a:latin typeface="Arial"/>
                <a:ea typeface="Arial"/>
                <a:cs typeface="Arial"/>
              </a:rPr>
              <a:t>השכבה הגולמית שומרת ראיה; השכבה הנקייה מנרמלת; שכבת ההגשה מזינה כללים ומודל.</a:t>
            </a:r>
          </a:p>
        </p:txBody>
      </p:sp>
    </p:spTree>
    <p:extLst>
      <p:ext uri="{BB962C8B-B14F-4D97-AF65-F5344CB8AC3E}">
        <p14:creationId xmlns:p14="http://schemas.microsoft.com/office/powerpoint/2010/main" val="1625394252"/>
      </p:ext>
    </p:extLst>
  </p:cSld>
</p:sld>
</file>

<file path=ppt/slides/slide5.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D67B86DD-6833-4170-BE6C-725A92746E8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5CB359D-A504-40AA-BC63-E156E7C0DCBB}"/>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LIVE VS CERTIFIED</a:t>
            </a:r>
          </a:p>
        </p:txBody>
      </p:sp>
      <p:sp>
        <p:nvSpPr>
          <p:cNvPr id="3" name="">
            <a:extLst xmlns:a="http://schemas.openxmlformats.org/drawingml/2006/main">
              <a:ext uri="{FF2B5EF4-FFF2-40B4-BE49-F238E27FC236}">
                <a16:creationId xmlns:a16="http://schemas.microsoft.com/office/drawing/2014/main" id="{0C4BFB19-C626-43A0-A71D-FAC2713F8C98}"/>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F8FBFF"/>
                </a:solidFill>
                <a:latin typeface="Arial"/>
                <a:ea typeface="Arial"/>
                <a:cs typeface="Arial"/>
              </a:defRPr>
            </a:pPr>
            <a:r>
              <a:rPr sz="2400" b="1" lang="he-IL">
                <a:solidFill>
                  <a:srgbClr val="F8FBFF"/>
                </a:solidFill>
                <a:latin typeface="Arial"/>
                <a:ea typeface="Arial"/>
                <a:cs typeface="Arial"/>
              </a:rPr>
              <a:t>מהיר בזמן אמת, מאושר אחרי בדיקה</a:t>
            </a:r>
          </a:p>
        </p:txBody>
      </p:sp>
      <p:sp>
        <p:nvSpPr>
          <p:cNvPr id="4" name="">
            <a:extLst xmlns:a="http://schemas.openxmlformats.org/drawingml/2006/main">
              <a:ext uri="{FF2B5EF4-FFF2-40B4-BE49-F238E27FC236}">
                <a16:creationId xmlns:a16="http://schemas.microsoft.com/office/drawing/2014/main" id="{C213719B-67BF-4372-AE83-9F86D39DFD85}"/>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05</a:t>
            </a:r>
          </a:p>
        </p:txBody>
      </p:sp>
      <p:sp>
        <p:nvSpPr>
          <p:cNvPr id="5" name="">
            <a:extLst xmlns:a="http://schemas.openxmlformats.org/drawingml/2006/main">
              <a:ext uri="{FF2B5EF4-FFF2-40B4-BE49-F238E27FC236}">
                <a16:creationId xmlns:a16="http://schemas.microsoft.com/office/drawing/2014/main" id="{CA06BC3F-ECAE-4C96-8770-C309E1FC1F2C}"/>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6" name="">
            <a:extLst xmlns:a="http://schemas.openxmlformats.org/drawingml/2006/main">
              <a:ext uri="{FF2B5EF4-FFF2-40B4-BE49-F238E27FC236}">
                <a16:creationId xmlns:a16="http://schemas.microsoft.com/office/drawing/2014/main" id="{B84C5600-3E8C-45EB-A6BD-14C4223E611B}"/>
              </a:ext>
            </a:extLst>
          </p:cNvPr>
          <p:cNvSpPr>
            <a:spLocks xmlns:a="http://schemas.openxmlformats.org/drawingml/2006/main" noGrp="1"/>
          </p:cNvSpPr>
          <p:nvPr/>
        </p:nvSpPr>
        <p:spPr>
          <a:xfrm xmlns:a="http://schemas.openxmlformats.org/drawingml/2006/main">
            <a:off x="8953500" y="1352550"/>
            <a:ext cx="2609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250" b="1" lang="he-IL">
                <a:solidFill>
                  <a:srgbClr val="35D4B5"/>
                </a:solidFill>
                <a:latin typeface="Arial"/>
                <a:ea typeface="Arial"/>
                <a:cs typeface="Arial"/>
              </a:defRPr>
            </a:pPr>
            <a:r>
              <a:rPr sz="2250" b="1" lang="he-IL">
                <a:solidFill>
                  <a:srgbClr val="35D4B5"/>
                </a:solidFill>
                <a:latin typeface="Arial"/>
                <a:ea typeface="Arial"/>
                <a:cs typeface="Arial"/>
              </a:rPr>
              <a:t>מהיר עכשיו</a:t>
            </a:r>
          </a:p>
        </p:txBody>
      </p:sp>
      <p:sp>
        <p:nvSpPr>
          <p:cNvPr id="7" name="">
            <a:extLst xmlns:a="http://schemas.openxmlformats.org/drawingml/2006/main">
              <a:ext uri="{FF2B5EF4-FFF2-40B4-BE49-F238E27FC236}">
                <a16:creationId xmlns:a16="http://schemas.microsoft.com/office/drawing/2014/main" id="{ABC45591-1718-400E-9D0B-3A9DE1E81B0D}"/>
              </a:ext>
            </a:extLst>
          </p:cNvPr>
          <p:cNvSpPr>
            <a:spLocks xmlns:a="http://schemas.openxmlformats.org/drawingml/2006/main" noGrp="1"/>
          </p:cNvSpPr>
          <p:nvPr/>
        </p:nvSpPr>
        <p:spPr>
          <a:xfrm xmlns:a="http://schemas.openxmlformats.org/drawingml/2006/main">
            <a:off x="6286500" y="1771650"/>
            <a:ext cx="5276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9AB1C5"/>
                </a:solidFill>
                <a:latin typeface="Arial"/>
                <a:ea typeface="Arial"/>
                <a:cs typeface="Arial"/>
              </a:defRPr>
            </a:pPr>
            <a:r>
              <a:rPr sz="1650" b="0" lang="he-IL">
                <a:solidFill>
                  <a:srgbClr val="9AB1C5"/>
                </a:solidFill>
                <a:latin typeface="Arial"/>
                <a:ea typeface="Arial"/>
                <a:cs typeface="Arial"/>
              </a:rPr>
              <a:t>המסלול החי מספק תמונת מצב בזמן שהשוק פעיל</a:t>
            </a:r>
          </a:p>
        </p:txBody>
      </p:sp>
      <p:sp>
        <p:nvSpPr>
          <p:cNvPr id="8" name="">
            <a:extLst xmlns:a="http://schemas.openxmlformats.org/drawingml/2006/main">
              <a:ext uri="{FF2B5EF4-FFF2-40B4-BE49-F238E27FC236}">
                <a16:creationId xmlns:a16="http://schemas.microsoft.com/office/drawing/2014/main" id="{5DC5BA81-D722-43C4-90C4-E22D16F8D8CA}"/>
              </a:ext>
            </a:extLst>
          </p:cNvPr>
          <p:cNvSpPr>
            <a:spLocks xmlns:a="http://schemas.openxmlformats.org/drawingml/2006/main" noGrp="1"/>
          </p:cNvSpPr>
          <p:nvPr/>
        </p:nvSpPr>
        <p:spPr>
          <a:xfrm xmlns:a="http://schemas.openxmlformats.org/drawingml/2006/main">
            <a:off x="685800" y="2247900"/>
            <a:ext cx="2238375"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35D4B5"/>
            </a:solidFill>
            <a:prstDash val="solid"/>
          </a:ln>
        </p:spPr>
      </p:sp>
      <p:sp>
        <p:nvSpPr>
          <p:cNvPr id="9" name="">
            <a:extLst xmlns:a="http://schemas.openxmlformats.org/drawingml/2006/main">
              <a:ext uri="{FF2B5EF4-FFF2-40B4-BE49-F238E27FC236}">
                <a16:creationId xmlns:a16="http://schemas.microsoft.com/office/drawing/2014/main" id="{E4D74A06-36EE-4E8B-A0B4-119687162AF3}"/>
              </a:ext>
            </a:extLst>
          </p:cNvPr>
          <p:cNvSpPr>
            <a:spLocks xmlns:a="http://schemas.openxmlformats.org/drawingml/2006/main" noGrp="1"/>
          </p:cNvSpPr>
          <p:nvPr/>
        </p:nvSpPr>
        <p:spPr>
          <a:xfrm xmlns:a="http://schemas.openxmlformats.org/drawingml/2006/main">
            <a:off x="781050" y="2409825"/>
            <a:ext cx="2047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Gold PROVISIONAL</a:t>
            </a:r>
          </a:p>
        </p:txBody>
      </p:sp>
      <p:sp>
        <p:nvSpPr>
          <p:cNvPr id="10" name="">
            <a:extLst xmlns:a="http://schemas.openxmlformats.org/drawingml/2006/main">
              <a:ext uri="{FF2B5EF4-FFF2-40B4-BE49-F238E27FC236}">
                <a16:creationId xmlns:a16="http://schemas.microsoft.com/office/drawing/2014/main" id="{DCA5AB2B-0161-4F92-B43D-B1EC912BD876}"/>
              </a:ext>
            </a:extLst>
          </p:cNvPr>
          <p:cNvSpPr>
            <a:spLocks xmlns:a="http://schemas.openxmlformats.org/drawingml/2006/main" noGrp="1"/>
          </p:cNvSpPr>
          <p:nvPr/>
        </p:nvSpPr>
        <p:spPr>
          <a:xfrm xmlns:a="http://schemas.openxmlformats.org/drawingml/2006/main">
            <a:off x="762000" y="2724150"/>
            <a:ext cx="20859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מוכן לתצוגה</a:t>
            </a:r>
          </a:p>
        </p:txBody>
      </p:sp>
      <p:sp>
        <p:nvSpPr>
          <p:cNvPr id="11" name="">
            <a:extLst xmlns:a="http://schemas.openxmlformats.org/drawingml/2006/main">
              <a:ext uri="{FF2B5EF4-FFF2-40B4-BE49-F238E27FC236}">
                <a16:creationId xmlns:a16="http://schemas.microsoft.com/office/drawing/2014/main" id="{2C75F63F-9C85-4654-BEED-8A161FCDE6F3}"/>
              </a:ext>
            </a:extLst>
          </p:cNvPr>
          <p:cNvSpPr>
            <a:spLocks xmlns:a="http://schemas.openxmlformats.org/drawingml/2006/main" noGrp="1"/>
          </p:cNvSpPr>
          <p:nvPr/>
        </p:nvSpPr>
        <p:spPr>
          <a:xfrm xmlns:a="http://schemas.openxmlformats.org/drawingml/2006/main">
            <a:off x="3419475" y="2247900"/>
            <a:ext cx="2238375"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35D4B5"/>
            </a:solidFill>
            <a:prstDash val="solid"/>
          </a:ln>
        </p:spPr>
      </p:sp>
      <p:sp>
        <p:nvSpPr>
          <p:cNvPr id="12" name="">
            <a:extLst xmlns:a="http://schemas.openxmlformats.org/drawingml/2006/main">
              <a:ext uri="{FF2B5EF4-FFF2-40B4-BE49-F238E27FC236}">
                <a16:creationId xmlns:a16="http://schemas.microsoft.com/office/drawing/2014/main" id="{8B4A0536-3D2E-41AA-8847-84B81E20F7B5}"/>
              </a:ext>
            </a:extLst>
          </p:cNvPr>
          <p:cNvSpPr>
            <a:spLocks xmlns:a="http://schemas.openxmlformats.org/drawingml/2006/main" noGrp="1"/>
          </p:cNvSpPr>
          <p:nvPr/>
        </p:nvSpPr>
        <p:spPr>
          <a:xfrm xmlns:a="http://schemas.openxmlformats.org/drawingml/2006/main">
            <a:off x="3514725" y="2409825"/>
            <a:ext cx="2047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Spark Streaming</a:t>
            </a:r>
          </a:p>
        </p:txBody>
      </p:sp>
      <p:sp>
        <p:nvSpPr>
          <p:cNvPr id="13" name="">
            <a:extLst xmlns:a="http://schemas.openxmlformats.org/drawingml/2006/main">
              <a:ext uri="{FF2B5EF4-FFF2-40B4-BE49-F238E27FC236}">
                <a16:creationId xmlns:a16="http://schemas.microsoft.com/office/drawing/2014/main" id="{A773194D-B8E8-4040-8AA8-C69166AB7EDD}"/>
              </a:ext>
            </a:extLst>
          </p:cNvPr>
          <p:cNvSpPr>
            <a:spLocks xmlns:a="http://schemas.openxmlformats.org/drawingml/2006/main" noGrp="1"/>
          </p:cNvSpPr>
          <p:nvPr/>
        </p:nvSpPr>
        <p:spPr>
          <a:xfrm xmlns:a="http://schemas.openxmlformats.org/drawingml/2006/main">
            <a:off x="3495675" y="2724150"/>
            <a:ext cx="20859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14" name="">
            <a:extLst xmlns:a="http://schemas.openxmlformats.org/drawingml/2006/main">
              <a:ext uri="{FF2B5EF4-FFF2-40B4-BE49-F238E27FC236}">
                <a16:creationId xmlns:a16="http://schemas.microsoft.com/office/drawing/2014/main" id="{66C07C95-04A7-4808-BF1F-735FAB1B9D93}"/>
              </a:ext>
            </a:extLst>
          </p:cNvPr>
          <p:cNvSpPr>
            <a:spLocks xmlns:a="http://schemas.openxmlformats.org/drawingml/2006/main" noGrp="1"/>
          </p:cNvSpPr>
          <p:nvPr/>
        </p:nvSpPr>
        <p:spPr>
          <a:xfrm xmlns:a="http://schemas.openxmlformats.org/drawingml/2006/main">
            <a:off x="6153150" y="2247900"/>
            <a:ext cx="2238375"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35D4B5"/>
            </a:solidFill>
            <a:prstDash val="solid"/>
          </a:ln>
        </p:spPr>
      </p:sp>
      <p:sp>
        <p:nvSpPr>
          <p:cNvPr id="15" name="">
            <a:extLst xmlns:a="http://schemas.openxmlformats.org/drawingml/2006/main">
              <a:ext uri="{FF2B5EF4-FFF2-40B4-BE49-F238E27FC236}">
                <a16:creationId xmlns:a16="http://schemas.microsoft.com/office/drawing/2014/main" id="{5184EB5B-48E3-445A-AE25-431FCB7ED277}"/>
              </a:ext>
            </a:extLst>
          </p:cNvPr>
          <p:cNvSpPr>
            <a:spLocks xmlns:a="http://schemas.openxmlformats.org/drawingml/2006/main" noGrp="1"/>
          </p:cNvSpPr>
          <p:nvPr/>
        </p:nvSpPr>
        <p:spPr>
          <a:xfrm xmlns:a="http://schemas.openxmlformats.org/drawingml/2006/main">
            <a:off x="6248400" y="2409825"/>
            <a:ext cx="2047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Kafka</a:t>
            </a:r>
          </a:p>
        </p:txBody>
      </p:sp>
      <p:sp>
        <p:nvSpPr>
          <p:cNvPr id="16" name="">
            <a:extLst xmlns:a="http://schemas.openxmlformats.org/drawingml/2006/main">
              <a:ext uri="{FF2B5EF4-FFF2-40B4-BE49-F238E27FC236}">
                <a16:creationId xmlns:a16="http://schemas.microsoft.com/office/drawing/2014/main" id="{01B2A27B-4EBA-4ACF-BDD0-DC4026FDA993}"/>
              </a:ext>
            </a:extLst>
          </p:cNvPr>
          <p:cNvSpPr>
            <a:spLocks xmlns:a="http://schemas.openxmlformats.org/drawingml/2006/main" noGrp="1"/>
          </p:cNvSpPr>
          <p:nvPr/>
        </p:nvSpPr>
        <p:spPr>
          <a:xfrm xmlns:a="http://schemas.openxmlformats.org/drawingml/2006/main">
            <a:off x="6229350" y="2724150"/>
            <a:ext cx="20859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17" name="">
            <a:extLst xmlns:a="http://schemas.openxmlformats.org/drawingml/2006/main">
              <a:ext uri="{FF2B5EF4-FFF2-40B4-BE49-F238E27FC236}">
                <a16:creationId xmlns:a16="http://schemas.microsoft.com/office/drawing/2014/main" id="{B0E157CB-48B8-4986-BC3C-F4238E2151DB}"/>
              </a:ext>
            </a:extLst>
          </p:cNvPr>
          <p:cNvSpPr>
            <a:spLocks xmlns:a="http://schemas.openxmlformats.org/drawingml/2006/main" noGrp="1"/>
          </p:cNvSpPr>
          <p:nvPr/>
        </p:nvSpPr>
        <p:spPr>
          <a:xfrm xmlns:a="http://schemas.openxmlformats.org/drawingml/2006/main">
            <a:off x="8886825" y="2247900"/>
            <a:ext cx="2238375"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35D4B5"/>
            </a:solidFill>
            <a:prstDash val="solid"/>
          </a:ln>
        </p:spPr>
      </p:sp>
      <p:sp>
        <p:nvSpPr>
          <p:cNvPr id="18" name="">
            <a:extLst xmlns:a="http://schemas.openxmlformats.org/drawingml/2006/main">
              <a:ext uri="{FF2B5EF4-FFF2-40B4-BE49-F238E27FC236}">
                <a16:creationId xmlns:a16="http://schemas.microsoft.com/office/drawing/2014/main" id="{4E661456-998F-451D-9325-41190E628911}"/>
              </a:ext>
            </a:extLst>
          </p:cNvPr>
          <p:cNvSpPr>
            <a:spLocks xmlns:a="http://schemas.openxmlformats.org/drawingml/2006/main" noGrp="1"/>
          </p:cNvSpPr>
          <p:nvPr/>
        </p:nvSpPr>
        <p:spPr>
          <a:xfrm xmlns:a="http://schemas.openxmlformats.org/drawingml/2006/main">
            <a:off x="8982075" y="2409825"/>
            <a:ext cx="2047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Alpaca</a:t>
            </a:r>
          </a:p>
        </p:txBody>
      </p:sp>
      <p:sp>
        <p:nvSpPr>
          <p:cNvPr id="19" name="">
            <a:extLst xmlns:a="http://schemas.openxmlformats.org/drawingml/2006/main">
              <a:ext uri="{FF2B5EF4-FFF2-40B4-BE49-F238E27FC236}">
                <a16:creationId xmlns:a16="http://schemas.microsoft.com/office/drawing/2014/main" id="{2A7DF634-2FBC-4FA4-ADD4-4D60F36F17C9}"/>
              </a:ext>
            </a:extLst>
          </p:cNvPr>
          <p:cNvSpPr>
            <a:spLocks xmlns:a="http://schemas.openxmlformats.org/drawingml/2006/main" noGrp="1"/>
          </p:cNvSpPr>
          <p:nvPr/>
        </p:nvSpPr>
        <p:spPr>
          <a:xfrm xmlns:a="http://schemas.openxmlformats.org/drawingml/2006/main">
            <a:off x="8963025" y="2724150"/>
            <a:ext cx="20859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cxnSp>
        <p:nvCxnSpPr>
          <p:cNvPr id="66" name=""/>
          <p:cNvCxnSpPr>
            <a:stCxn xmlns:a="http://schemas.openxmlformats.org/drawingml/2006/main" id="17" idx="1"/>
            <a:endCxn xmlns:a="http://schemas.openxmlformats.org/drawingml/2006/main" id="14" idx="3"/>
          </p:cNvCxnSpPr>
          <p:nvPr/>
        </p:nvCxnSpPr>
        <p:spPr>
          <a:xfrm xmlns:a="http://schemas.openxmlformats.org/drawingml/2006/main" flipH="1">
            <a:off x="8391525" y="2667000"/>
            <a:ext cx="495300"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cxnSp>
        <p:nvCxnSpPr>
          <p:cNvPr id="67" name=""/>
          <p:cNvCxnSpPr>
            <a:stCxn xmlns:a="http://schemas.openxmlformats.org/drawingml/2006/main" id="14" idx="1"/>
            <a:endCxn xmlns:a="http://schemas.openxmlformats.org/drawingml/2006/main" id="11" idx="3"/>
          </p:cNvCxnSpPr>
          <p:nvPr/>
        </p:nvCxnSpPr>
        <p:spPr>
          <a:xfrm xmlns:a="http://schemas.openxmlformats.org/drawingml/2006/main" flipH="1">
            <a:off x="5657850" y="2667000"/>
            <a:ext cx="495300"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cxnSp>
        <p:nvCxnSpPr>
          <p:cNvPr id="68" name=""/>
          <p:cNvCxnSpPr>
            <a:stCxn xmlns:a="http://schemas.openxmlformats.org/drawingml/2006/main" id="11" idx="1"/>
            <a:endCxn xmlns:a="http://schemas.openxmlformats.org/drawingml/2006/main" id="8" idx="3"/>
          </p:cNvCxnSpPr>
          <p:nvPr/>
        </p:nvCxnSpPr>
        <p:spPr>
          <a:xfrm xmlns:a="http://schemas.openxmlformats.org/drawingml/2006/main" flipH="1">
            <a:off x="2924175" y="2667000"/>
            <a:ext cx="495300"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sp>
        <p:nvSpPr>
          <p:cNvPr id="23" name="">
            <a:extLst xmlns:a="http://schemas.openxmlformats.org/drawingml/2006/main">
              <a:ext uri="{FF2B5EF4-FFF2-40B4-BE49-F238E27FC236}">
                <a16:creationId xmlns:a16="http://schemas.microsoft.com/office/drawing/2014/main" id="{D7DB36C7-447A-4052-BC01-CADF05FE9260}"/>
              </a:ext>
            </a:extLst>
          </p:cNvPr>
          <p:cNvSpPr>
            <a:spLocks xmlns:a="http://schemas.openxmlformats.org/drawingml/2006/main" noGrp="1"/>
          </p:cNvSpPr>
          <p:nvPr/>
        </p:nvSpPr>
        <p:spPr>
          <a:xfrm xmlns:a="http://schemas.openxmlformats.org/drawingml/2006/main">
            <a:off x="685800" y="3200400"/>
            <a:ext cx="457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DOCKER COMPOSE OWNS THE LIFECYCLE</a:t>
            </a:r>
          </a:p>
        </p:txBody>
      </p:sp>
      <p:sp>
        <p:nvSpPr>
          <p:cNvPr id="24" name="">
            <a:extLst xmlns:a="http://schemas.openxmlformats.org/drawingml/2006/main">
              <a:ext uri="{FF2B5EF4-FFF2-40B4-BE49-F238E27FC236}">
                <a16:creationId xmlns:a16="http://schemas.microsoft.com/office/drawing/2014/main" id="{4C94934B-3835-4725-AB43-A8515ECF92E1}"/>
              </a:ext>
            </a:extLst>
          </p:cNvPr>
          <p:cNvSpPr>
            <a:spLocks xmlns:a="http://schemas.openxmlformats.org/drawingml/2006/main" noGrp="1"/>
          </p:cNvSpPr>
          <p:nvPr/>
        </p:nvSpPr>
        <p:spPr>
          <a:xfrm xmlns:a="http://schemas.openxmlformats.org/drawingml/2006/main">
            <a:off x="609600" y="3600450"/>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25" name="">
            <a:extLst xmlns:a="http://schemas.openxmlformats.org/drawingml/2006/main">
              <a:ext uri="{FF2B5EF4-FFF2-40B4-BE49-F238E27FC236}">
                <a16:creationId xmlns:a16="http://schemas.microsoft.com/office/drawing/2014/main" id="{8A782D1A-4417-40ED-BFB2-B3C719FC921E}"/>
              </a:ext>
            </a:extLst>
          </p:cNvPr>
          <p:cNvSpPr>
            <a:spLocks xmlns:a="http://schemas.openxmlformats.org/drawingml/2006/main" noGrp="1"/>
          </p:cNvSpPr>
          <p:nvPr/>
        </p:nvSpPr>
        <p:spPr>
          <a:xfrm xmlns:a="http://schemas.openxmlformats.org/drawingml/2006/main">
            <a:off x="8210550" y="3886200"/>
            <a:ext cx="335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250" b="1" lang="he-IL">
                <a:solidFill>
                  <a:srgbClr val="5B91FF"/>
                </a:solidFill>
                <a:latin typeface="Arial"/>
                <a:ea typeface="Arial"/>
                <a:cs typeface="Arial"/>
              </a:defRPr>
            </a:pPr>
            <a:r>
              <a:rPr sz="2250" b="1" lang="he-IL">
                <a:solidFill>
                  <a:srgbClr val="5B91FF"/>
                </a:solidFill>
                <a:latin typeface="Arial"/>
                <a:ea typeface="Arial"/>
                <a:cs typeface="Arial"/>
              </a:rPr>
              <a:t>אמין לאחר הסגירה</a:t>
            </a:r>
          </a:p>
        </p:txBody>
      </p:sp>
      <p:sp>
        <p:nvSpPr>
          <p:cNvPr id="26" name="">
            <a:extLst xmlns:a="http://schemas.openxmlformats.org/drawingml/2006/main">
              <a:ext uri="{FF2B5EF4-FFF2-40B4-BE49-F238E27FC236}">
                <a16:creationId xmlns:a16="http://schemas.microsoft.com/office/drawing/2014/main" id="{4E48FC53-8B9E-4B5E-85F6-E532502DF0DA}"/>
              </a:ext>
            </a:extLst>
          </p:cNvPr>
          <p:cNvSpPr>
            <a:spLocks xmlns:a="http://schemas.openxmlformats.org/drawingml/2006/main" noGrp="1"/>
          </p:cNvSpPr>
          <p:nvPr/>
        </p:nvSpPr>
        <p:spPr>
          <a:xfrm xmlns:a="http://schemas.openxmlformats.org/drawingml/2006/main">
            <a:off x="5391150" y="4305300"/>
            <a:ext cx="6172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9AB1C5"/>
                </a:solidFill>
                <a:latin typeface="Arial"/>
                <a:ea typeface="Arial"/>
                <a:cs typeface="Arial"/>
              </a:defRPr>
            </a:pPr>
            <a:r>
              <a:rPr sz="1650" b="0" lang="he-IL">
                <a:solidFill>
                  <a:srgbClr val="9AB1C5"/>
                </a:solidFill>
                <a:latin typeface="Arial"/>
                <a:ea typeface="Arial"/>
                <a:cs typeface="Arial"/>
              </a:rPr>
              <a:t>המסלול המאושר בונה מחדש את היום מן המקור ומפעיל שערי איכות</a:t>
            </a:r>
          </a:p>
        </p:txBody>
      </p:sp>
      <p:sp>
        <p:nvSpPr>
          <p:cNvPr id="27" name="">
            <a:extLst xmlns:a="http://schemas.openxmlformats.org/drawingml/2006/main">
              <a:ext uri="{FF2B5EF4-FFF2-40B4-BE49-F238E27FC236}">
                <a16:creationId xmlns:a16="http://schemas.microsoft.com/office/drawing/2014/main" id="{2FF63020-E441-46A7-B370-2E3363651DDE}"/>
              </a:ext>
            </a:extLst>
          </p:cNvPr>
          <p:cNvSpPr>
            <a:spLocks xmlns:a="http://schemas.openxmlformats.org/drawingml/2006/main" noGrp="1"/>
          </p:cNvSpPr>
          <p:nvPr/>
        </p:nvSpPr>
        <p:spPr>
          <a:xfrm xmlns:a="http://schemas.openxmlformats.org/drawingml/2006/main">
            <a:off x="609600" y="4810125"/>
            <a:ext cx="175260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5B91FF"/>
            </a:solidFill>
            <a:prstDash val="solid"/>
          </a:ln>
        </p:spPr>
      </p:sp>
      <p:sp>
        <p:nvSpPr>
          <p:cNvPr id="28" name="">
            <a:extLst xmlns:a="http://schemas.openxmlformats.org/drawingml/2006/main">
              <a:ext uri="{FF2B5EF4-FFF2-40B4-BE49-F238E27FC236}">
                <a16:creationId xmlns:a16="http://schemas.microsoft.com/office/drawing/2014/main" id="{4F43C237-E1F6-4D82-8953-46890832A821}"/>
              </a:ext>
            </a:extLst>
          </p:cNvPr>
          <p:cNvSpPr>
            <a:spLocks xmlns:a="http://schemas.openxmlformats.org/drawingml/2006/main" noGrp="1"/>
          </p:cNvSpPr>
          <p:nvPr/>
        </p:nvSpPr>
        <p:spPr>
          <a:xfrm xmlns:a="http://schemas.openxmlformats.org/drawingml/2006/main">
            <a:off x="704850" y="497205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Gold CERTIFIED</a:t>
            </a:r>
          </a:p>
        </p:txBody>
      </p:sp>
      <p:sp>
        <p:nvSpPr>
          <p:cNvPr id="29" name="">
            <a:extLst xmlns:a="http://schemas.openxmlformats.org/drawingml/2006/main">
              <a:ext uri="{FF2B5EF4-FFF2-40B4-BE49-F238E27FC236}">
                <a16:creationId xmlns:a16="http://schemas.microsoft.com/office/drawing/2014/main" id="{313BD3B4-A446-4304-914C-73B5DFEEC4E0}"/>
              </a:ext>
            </a:extLst>
          </p:cNvPr>
          <p:cNvSpPr>
            <a:spLocks xmlns:a="http://schemas.openxmlformats.org/drawingml/2006/main" noGrp="1"/>
          </p:cNvSpPr>
          <p:nvPr/>
        </p:nvSpPr>
        <p:spPr>
          <a:xfrm xmlns:a="http://schemas.openxmlformats.org/drawingml/2006/main">
            <a:off x="685800" y="5286375"/>
            <a:ext cx="1600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30" name="">
            <a:extLst xmlns:a="http://schemas.openxmlformats.org/drawingml/2006/main">
              <a:ext uri="{FF2B5EF4-FFF2-40B4-BE49-F238E27FC236}">
                <a16:creationId xmlns:a16="http://schemas.microsoft.com/office/drawing/2014/main" id="{DB40E47C-86BA-42C6-8903-874128EED022}"/>
              </a:ext>
            </a:extLst>
          </p:cNvPr>
          <p:cNvSpPr>
            <a:spLocks xmlns:a="http://schemas.openxmlformats.org/drawingml/2006/main" noGrp="1"/>
          </p:cNvSpPr>
          <p:nvPr/>
        </p:nvSpPr>
        <p:spPr>
          <a:xfrm xmlns:a="http://schemas.openxmlformats.org/drawingml/2006/main">
            <a:off x="2800350" y="4810125"/>
            <a:ext cx="175260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5B91FF"/>
            </a:solidFill>
            <a:prstDash val="solid"/>
          </a:ln>
        </p:spPr>
      </p:sp>
      <p:sp>
        <p:nvSpPr>
          <p:cNvPr id="31" name="">
            <a:extLst xmlns:a="http://schemas.openxmlformats.org/drawingml/2006/main">
              <a:ext uri="{FF2B5EF4-FFF2-40B4-BE49-F238E27FC236}">
                <a16:creationId xmlns:a16="http://schemas.microsoft.com/office/drawing/2014/main" id="{15C637C9-7D31-4CA8-A91E-4EE63B47121D}"/>
              </a:ext>
            </a:extLst>
          </p:cNvPr>
          <p:cNvSpPr>
            <a:spLocks xmlns:a="http://schemas.openxmlformats.org/drawingml/2006/main" noGrp="1"/>
          </p:cNvSpPr>
          <p:nvPr/>
        </p:nvSpPr>
        <p:spPr>
          <a:xfrm xmlns:a="http://schemas.openxmlformats.org/drawingml/2006/main">
            <a:off x="2895600" y="497205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Data Quality</a:t>
            </a:r>
          </a:p>
        </p:txBody>
      </p:sp>
      <p:sp>
        <p:nvSpPr>
          <p:cNvPr id="32" name="">
            <a:extLst xmlns:a="http://schemas.openxmlformats.org/drawingml/2006/main">
              <a:ext uri="{FF2B5EF4-FFF2-40B4-BE49-F238E27FC236}">
                <a16:creationId xmlns:a16="http://schemas.microsoft.com/office/drawing/2014/main" id="{C69A4FEC-0211-41F3-AC73-42DA76BAF232}"/>
              </a:ext>
            </a:extLst>
          </p:cNvPr>
          <p:cNvSpPr>
            <a:spLocks xmlns:a="http://schemas.openxmlformats.org/drawingml/2006/main" noGrp="1"/>
          </p:cNvSpPr>
          <p:nvPr/>
        </p:nvSpPr>
        <p:spPr>
          <a:xfrm xmlns:a="http://schemas.openxmlformats.org/drawingml/2006/main">
            <a:off x="2876550" y="5286375"/>
            <a:ext cx="1600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33" name="">
            <a:extLst xmlns:a="http://schemas.openxmlformats.org/drawingml/2006/main">
              <a:ext uri="{FF2B5EF4-FFF2-40B4-BE49-F238E27FC236}">
                <a16:creationId xmlns:a16="http://schemas.microsoft.com/office/drawing/2014/main" id="{745B0282-303D-405B-A927-800CD80EAEA9}"/>
              </a:ext>
            </a:extLst>
          </p:cNvPr>
          <p:cNvSpPr>
            <a:spLocks xmlns:a="http://schemas.openxmlformats.org/drawingml/2006/main" noGrp="1"/>
          </p:cNvSpPr>
          <p:nvPr/>
        </p:nvSpPr>
        <p:spPr>
          <a:xfrm xmlns:a="http://schemas.openxmlformats.org/drawingml/2006/main">
            <a:off x="4991100" y="4810125"/>
            <a:ext cx="175260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5B91FF"/>
            </a:solidFill>
            <a:prstDash val="solid"/>
          </a:ln>
        </p:spPr>
      </p:sp>
      <p:sp>
        <p:nvSpPr>
          <p:cNvPr id="34" name="">
            <a:extLst xmlns:a="http://schemas.openxmlformats.org/drawingml/2006/main">
              <a:ext uri="{FF2B5EF4-FFF2-40B4-BE49-F238E27FC236}">
                <a16:creationId xmlns:a16="http://schemas.microsoft.com/office/drawing/2014/main" id="{7A5F911B-6004-474B-8FE0-B4CA775B562C}"/>
              </a:ext>
            </a:extLst>
          </p:cNvPr>
          <p:cNvSpPr>
            <a:spLocks xmlns:a="http://schemas.openxmlformats.org/drawingml/2006/main" noGrp="1"/>
          </p:cNvSpPr>
          <p:nvPr/>
        </p:nvSpPr>
        <p:spPr>
          <a:xfrm xmlns:a="http://schemas.openxmlformats.org/drawingml/2006/main">
            <a:off x="5086350" y="497205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Silver</a:t>
            </a:r>
          </a:p>
        </p:txBody>
      </p:sp>
      <p:sp>
        <p:nvSpPr>
          <p:cNvPr id="35" name="">
            <a:extLst xmlns:a="http://schemas.openxmlformats.org/drawingml/2006/main">
              <a:ext uri="{FF2B5EF4-FFF2-40B4-BE49-F238E27FC236}">
                <a16:creationId xmlns:a16="http://schemas.microsoft.com/office/drawing/2014/main" id="{57FFEA74-2E78-46E4-94EE-7D2B1944D766}"/>
              </a:ext>
            </a:extLst>
          </p:cNvPr>
          <p:cNvSpPr>
            <a:spLocks xmlns:a="http://schemas.openxmlformats.org/drawingml/2006/main" noGrp="1"/>
          </p:cNvSpPr>
          <p:nvPr/>
        </p:nvSpPr>
        <p:spPr>
          <a:xfrm xmlns:a="http://schemas.openxmlformats.org/drawingml/2006/main">
            <a:off x="5067300" y="5286375"/>
            <a:ext cx="1600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36" name="">
            <a:extLst xmlns:a="http://schemas.openxmlformats.org/drawingml/2006/main">
              <a:ext uri="{FF2B5EF4-FFF2-40B4-BE49-F238E27FC236}">
                <a16:creationId xmlns:a16="http://schemas.microsoft.com/office/drawing/2014/main" id="{6933CC96-DDAE-443B-B4DA-D98E362F987C}"/>
              </a:ext>
            </a:extLst>
          </p:cNvPr>
          <p:cNvSpPr>
            <a:spLocks xmlns:a="http://schemas.openxmlformats.org/drawingml/2006/main" noGrp="1"/>
          </p:cNvSpPr>
          <p:nvPr/>
        </p:nvSpPr>
        <p:spPr>
          <a:xfrm xmlns:a="http://schemas.openxmlformats.org/drawingml/2006/main">
            <a:off x="7181850" y="4810125"/>
            <a:ext cx="175260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5B91FF"/>
            </a:solidFill>
            <a:prstDash val="solid"/>
          </a:ln>
        </p:spPr>
      </p:sp>
      <p:sp>
        <p:nvSpPr>
          <p:cNvPr id="37" name="">
            <a:extLst xmlns:a="http://schemas.openxmlformats.org/drawingml/2006/main">
              <a:ext uri="{FF2B5EF4-FFF2-40B4-BE49-F238E27FC236}">
                <a16:creationId xmlns:a16="http://schemas.microsoft.com/office/drawing/2014/main" id="{7C23A044-5BCE-4896-BB90-4C3E35A19F0C}"/>
              </a:ext>
            </a:extLst>
          </p:cNvPr>
          <p:cNvSpPr>
            <a:spLocks xmlns:a="http://schemas.openxmlformats.org/drawingml/2006/main" noGrp="1"/>
          </p:cNvSpPr>
          <p:nvPr/>
        </p:nvSpPr>
        <p:spPr>
          <a:xfrm xmlns:a="http://schemas.openxmlformats.org/drawingml/2006/main">
            <a:off x="7277100" y="497205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Spark Batch</a:t>
            </a:r>
          </a:p>
        </p:txBody>
      </p:sp>
      <p:sp>
        <p:nvSpPr>
          <p:cNvPr id="38" name="">
            <a:extLst xmlns:a="http://schemas.openxmlformats.org/drawingml/2006/main">
              <a:ext uri="{FF2B5EF4-FFF2-40B4-BE49-F238E27FC236}">
                <a16:creationId xmlns:a16="http://schemas.microsoft.com/office/drawing/2014/main" id="{04666E74-BA3E-46AB-82A6-75088FE7A92B}"/>
              </a:ext>
            </a:extLst>
          </p:cNvPr>
          <p:cNvSpPr>
            <a:spLocks xmlns:a="http://schemas.openxmlformats.org/drawingml/2006/main" noGrp="1"/>
          </p:cNvSpPr>
          <p:nvPr/>
        </p:nvSpPr>
        <p:spPr>
          <a:xfrm xmlns:a="http://schemas.openxmlformats.org/drawingml/2006/main">
            <a:off x="7258050" y="5286375"/>
            <a:ext cx="1600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39" name="">
            <a:extLst xmlns:a="http://schemas.openxmlformats.org/drawingml/2006/main">
              <a:ext uri="{FF2B5EF4-FFF2-40B4-BE49-F238E27FC236}">
                <a16:creationId xmlns:a16="http://schemas.microsoft.com/office/drawing/2014/main" id="{03CC2C9C-979A-4461-9D80-7D97E4A486B7}"/>
              </a:ext>
            </a:extLst>
          </p:cNvPr>
          <p:cNvSpPr>
            <a:spLocks xmlns:a="http://schemas.openxmlformats.org/drawingml/2006/main" noGrp="1"/>
          </p:cNvSpPr>
          <p:nvPr/>
        </p:nvSpPr>
        <p:spPr>
          <a:xfrm xmlns:a="http://schemas.openxmlformats.org/drawingml/2006/main">
            <a:off x="9372600" y="4810125"/>
            <a:ext cx="175260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5B91FF"/>
            </a:solidFill>
            <a:prstDash val="solid"/>
          </a:ln>
        </p:spPr>
      </p:sp>
      <p:sp>
        <p:nvSpPr>
          <p:cNvPr id="40" name="">
            <a:extLst xmlns:a="http://schemas.openxmlformats.org/drawingml/2006/main">
              <a:ext uri="{FF2B5EF4-FFF2-40B4-BE49-F238E27FC236}">
                <a16:creationId xmlns:a16="http://schemas.microsoft.com/office/drawing/2014/main" id="{90B28BB4-F53F-421A-820B-59CB1336388C}"/>
              </a:ext>
            </a:extLst>
          </p:cNvPr>
          <p:cNvSpPr>
            <a:spLocks xmlns:a="http://schemas.openxmlformats.org/drawingml/2006/main" noGrp="1"/>
          </p:cNvSpPr>
          <p:nvPr/>
        </p:nvSpPr>
        <p:spPr>
          <a:xfrm xmlns:a="http://schemas.openxmlformats.org/drawingml/2006/main">
            <a:off x="9467850" y="497205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Bronze</a:t>
            </a:r>
          </a:p>
        </p:txBody>
      </p:sp>
      <p:sp>
        <p:nvSpPr>
          <p:cNvPr id="41" name="">
            <a:extLst xmlns:a="http://schemas.openxmlformats.org/drawingml/2006/main">
              <a:ext uri="{FF2B5EF4-FFF2-40B4-BE49-F238E27FC236}">
                <a16:creationId xmlns:a16="http://schemas.microsoft.com/office/drawing/2014/main" id="{A1EAFF10-ADE9-4F62-980C-453EFCC0B112}"/>
              </a:ext>
            </a:extLst>
          </p:cNvPr>
          <p:cNvSpPr>
            <a:spLocks xmlns:a="http://schemas.openxmlformats.org/drawingml/2006/main" noGrp="1"/>
          </p:cNvSpPr>
          <p:nvPr/>
        </p:nvSpPr>
        <p:spPr>
          <a:xfrm xmlns:a="http://schemas.openxmlformats.org/drawingml/2006/main">
            <a:off x="9448800" y="5286375"/>
            <a:ext cx="1600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cxnSp>
        <p:nvCxnSpPr>
          <p:cNvPr id="88" name=""/>
          <p:cNvCxnSpPr>
            <a:stCxn xmlns:a="http://schemas.openxmlformats.org/drawingml/2006/main" id="39" idx="1"/>
            <a:endCxn xmlns:a="http://schemas.openxmlformats.org/drawingml/2006/main" id="36" idx="3"/>
          </p:cNvCxnSpPr>
          <p:nvPr/>
        </p:nvCxnSpPr>
        <p:spPr>
          <a:xfrm xmlns:a="http://schemas.openxmlformats.org/drawingml/2006/main" flipH="1">
            <a:off x="8934450" y="5229225"/>
            <a:ext cx="438150" cy="0"/>
          </a:xfrm>
          <a:prstGeom xmlns:a="http://schemas.openxmlformats.org/drawingml/2006/main" prst="straightConnector1">
            <a:avLst/>
          </a:prstGeom>
          <a:ln xmlns:a="http://schemas.openxmlformats.org/drawingml/2006/main" w="19050">
            <a:solidFill>
              <a:srgbClr val="5B91FF"/>
            </a:solidFill>
            <a:prstDash val="solid"/>
            <a:tailEnd type="triangle" w="sm" len="sm"/>
          </a:ln>
        </p:spPr>
      </p:cxnSp>
      <p:cxnSp>
        <p:nvCxnSpPr>
          <p:cNvPr id="89" name=""/>
          <p:cNvCxnSpPr>
            <a:stCxn xmlns:a="http://schemas.openxmlformats.org/drawingml/2006/main" id="36" idx="1"/>
            <a:endCxn xmlns:a="http://schemas.openxmlformats.org/drawingml/2006/main" id="33" idx="3"/>
          </p:cNvCxnSpPr>
          <p:nvPr/>
        </p:nvCxnSpPr>
        <p:spPr>
          <a:xfrm xmlns:a="http://schemas.openxmlformats.org/drawingml/2006/main" flipH="1">
            <a:off x="6743700" y="5229225"/>
            <a:ext cx="438150" cy="0"/>
          </a:xfrm>
          <a:prstGeom xmlns:a="http://schemas.openxmlformats.org/drawingml/2006/main" prst="straightConnector1">
            <a:avLst/>
          </a:prstGeom>
          <a:ln xmlns:a="http://schemas.openxmlformats.org/drawingml/2006/main" w="19050">
            <a:solidFill>
              <a:srgbClr val="5B91FF"/>
            </a:solidFill>
            <a:prstDash val="solid"/>
            <a:tailEnd type="triangle" w="sm" len="sm"/>
          </a:ln>
        </p:spPr>
      </p:cxnSp>
      <p:cxnSp>
        <p:nvCxnSpPr>
          <p:cNvPr id="90" name=""/>
          <p:cNvCxnSpPr>
            <a:stCxn xmlns:a="http://schemas.openxmlformats.org/drawingml/2006/main" id="33" idx="1"/>
            <a:endCxn xmlns:a="http://schemas.openxmlformats.org/drawingml/2006/main" id="30" idx="3"/>
          </p:cNvCxnSpPr>
          <p:nvPr/>
        </p:nvCxnSpPr>
        <p:spPr>
          <a:xfrm xmlns:a="http://schemas.openxmlformats.org/drawingml/2006/main" flipH="1">
            <a:off x="4552950" y="5229225"/>
            <a:ext cx="438150" cy="0"/>
          </a:xfrm>
          <a:prstGeom xmlns:a="http://schemas.openxmlformats.org/drawingml/2006/main" prst="straightConnector1">
            <a:avLst/>
          </a:prstGeom>
          <a:ln xmlns:a="http://schemas.openxmlformats.org/drawingml/2006/main" w="19050">
            <a:solidFill>
              <a:srgbClr val="5B91FF"/>
            </a:solidFill>
            <a:prstDash val="solid"/>
            <a:tailEnd type="triangle" w="sm" len="sm"/>
          </a:ln>
        </p:spPr>
      </p:cxnSp>
      <p:cxnSp>
        <p:nvCxnSpPr>
          <p:cNvPr id="91" name=""/>
          <p:cNvCxnSpPr>
            <a:stCxn xmlns:a="http://schemas.openxmlformats.org/drawingml/2006/main" id="30" idx="1"/>
            <a:endCxn xmlns:a="http://schemas.openxmlformats.org/drawingml/2006/main" id="27" idx="3"/>
          </p:cNvCxnSpPr>
          <p:nvPr/>
        </p:nvCxnSpPr>
        <p:spPr>
          <a:xfrm xmlns:a="http://schemas.openxmlformats.org/drawingml/2006/main" flipH="1">
            <a:off x="2362200" y="5229225"/>
            <a:ext cx="438150" cy="0"/>
          </a:xfrm>
          <a:prstGeom xmlns:a="http://schemas.openxmlformats.org/drawingml/2006/main" prst="straightConnector1">
            <a:avLst/>
          </a:prstGeom>
          <a:ln xmlns:a="http://schemas.openxmlformats.org/drawingml/2006/main" w="19050">
            <a:solidFill>
              <a:srgbClr val="5B91FF"/>
            </a:solidFill>
            <a:prstDash val="solid"/>
            <a:tailEnd type="triangle" w="sm" len="sm"/>
          </a:ln>
        </p:spPr>
      </p:cxnSp>
      <p:sp>
        <p:nvSpPr>
          <p:cNvPr id="46" name="">
            <a:extLst xmlns:a="http://schemas.openxmlformats.org/drawingml/2006/main">
              <a:ext uri="{FF2B5EF4-FFF2-40B4-BE49-F238E27FC236}">
                <a16:creationId xmlns:a16="http://schemas.microsoft.com/office/drawing/2014/main" id="{57AC2D64-A599-4EA2-9FC1-4E3D20C13B52}"/>
              </a:ext>
            </a:extLst>
          </p:cNvPr>
          <p:cNvSpPr>
            <a:spLocks xmlns:a="http://schemas.openxmlformats.org/drawingml/2006/main" noGrp="1"/>
          </p:cNvSpPr>
          <p:nvPr/>
        </p:nvSpPr>
        <p:spPr>
          <a:xfrm xmlns:a="http://schemas.openxmlformats.org/drawingml/2006/main">
            <a:off x="609600" y="5848350"/>
            <a:ext cx="3714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5B91FF"/>
                </a:solidFill>
                <a:latin typeface="Cascadia Mono"/>
                <a:ea typeface="Cascadia Mono"/>
                <a:cs typeface="Cascadia Mono"/>
              </a:defRPr>
            </a:pPr>
            <a:r>
              <a:rPr sz="975" b="1">
                <a:solidFill>
                  <a:srgbClr val="5B91FF"/>
                </a:solidFill>
                <a:latin typeface="Cascadia Mono"/>
                <a:ea typeface="Cascadia Mono"/>
                <a:cs typeface="Cascadia Mono"/>
              </a:rPr>
              <a:t>AIRFLOW SCHEDULES AND MONITORS</a:t>
            </a:r>
          </a:p>
        </p:txBody>
      </p:sp>
    </p:spTree>
    <p:extLst>
      <p:ext uri="{BB962C8B-B14F-4D97-AF65-F5344CB8AC3E}">
        <p14:creationId xmlns:p14="http://schemas.microsoft.com/office/powerpoint/2010/main" val="482803751"/>
      </p:ext>
    </p:extLst>
  </p:cSld>
</p:sld>
</file>

<file path=ppt/slides/slide6.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4D797930-9D09-48EA-BBBD-97BA6424311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D659C84-62A1-493B-B34B-8698A763F4C6}"/>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TECHNOLOGY CHOICES</a:t>
            </a:r>
          </a:p>
        </p:txBody>
      </p:sp>
      <p:sp>
        <p:nvSpPr>
          <p:cNvPr id="3" name="">
            <a:extLst xmlns:a="http://schemas.openxmlformats.org/drawingml/2006/main">
              <a:ext uri="{FF2B5EF4-FFF2-40B4-BE49-F238E27FC236}">
                <a16:creationId xmlns:a16="http://schemas.microsoft.com/office/drawing/2014/main" id="{84FB3995-B6BD-438A-9489-C23EEE11991C}"/>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F8FBFF"/>
                </a:solidFill>
                <a:latin typeface="Arial"/>
                <a:ea typeface="Arial"/>
                <a:cs typeface="Arial"/>
              </a:defRPr>
            </a:pPr>
            <a:r>
              <a:rPr sz="2400" b="1" lang="he-IL">
                <a:solidFill>
                  <a:srgbClr val="F8FBFF"/>
                </a:solidFill>
                <a:latin typeface="Arial"/>
                <a:ea typeface="Arial"/>
                <a:cs typeface="Arial"/>
              </a:rPr>
              <a:t>בחירה מודעת: כלי מתאים לכל אחריות</a:t>
            </a:r>
          </a:p>
        </p:txBody>
      </p:sp>
      <p:sp>
        <p:nvSpPr>
          <p:cNvPr id="4" name="">
            <a:extLst xmlns:a="http://schemas.openxmlformats.org/drawingml/2006/main">
              <a:ext uri="{FF2B5EF4-FFF2-40B4-BE49-F238E27FC236}">
                <a16:creationId xmlns:a16="http://schemas.microsoft.com/office/drawing/2014/main" id="{D72C4C09-AF3D-45B8-B264-01C1B97102B2}"/>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06</a:t>
            </a:r>
          </a:p>
        </p:txBody>
      </p:sp>
      <p:sp>
        <p:nvSpPr>
          <p:cNvPr id="5" name="">
            <a:extLst xmlns:a="http://schemas.openxmlformats.org/drawingml/2006/main">
              <a:ext uri="{FF2B5EF4-FFF2-40B4-BE49-F238E27FC236}">
                <a16:creationId xmlns:a16="http://schemas.microsoft.com/office/drawing/2014/main" id="{5EBC0BB8-0E8B-48D6-A6BB-63D553D14A07}"/>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6" name="">
            <a:extLst xmlns:a="http://schemas.openxmlformats.org/drawingml/2006/main">
              <a:ext uri="{FF2B5EF4-FFF2-40B4-BE49-F238E27FC236}">
                <a16:creationId xmlns:a16="http://schemas.microsoft.com/office/drawing/2014/main" id="{02C8AD41-9287-4793-BD16-AB3920483602}"/>
              </a:ext>
            </a:extLst>
          </p:cNvPr>
          <p:cNvSpPr>
            <a:spLocks xmlns:a="http://schemas.openxmlformats.org/drawingml/2006/main" noGrp="1"/>
          </p:cNvSpPr>
          <p:nvPr/>
        </p:nvSpPr>
        <p:spPr>
          <a:xfrm xmlns:a="http://schemas.openxmlformats.org/drawingml/2006/main">
            <a:off x="7239000" y="125730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275" b="1" lang="he-IL">
                <a:solidFill>
                  <a:srgbClr val="9AB1C5"/>
                </a:solidFill>
                <a:latin typeface="Arial"/>
                <a:ea typeface="Arial"/>
                <a:cs typeface="Arial"/>
              </a:defRPr>
            </a:pPr>
            <a:r>
              <a:rPr sz="1275" b="1" lang="he-IL">
                <a:solidFill>
                  <a:srgbClr val="9AB1C5"/>
                </a:solidFill>
                <a:latin typeface="Arial"/>
                <a:ea typeface="Arial"/>
                <a:cs typeface="Arial"/>
              </a:rPr>
              <a:t>למה היא, ולא החלופה</a:t>
            </a:r>
          </a:p>
        </p:txBody>
      </p:sp>
      <p:sp>
        <p:nvSpPr>
          <p:cNvPr id="7" name="">
            <a:extLst xmlns:a="http://schemas.openxmlformats.org/drawingml/2006/main">
              <a:ext uri="{FF2B5EF4-FFF2-40B4-BE49-F238E27FC236}">
                <a16:creationId xmlns:a16="http://schemas.microsoft.com/office/drawing/2014/main" id="{2917EA90-0B79-4F85-971E-073D53636ADA}"/>
              </a:ext>
            </a:extLst>
          </p:cNvPr>
          <p:cNvSpPr>
            <a:spLocks xmlns:a="http://schemas.openxmlformats.org/drawingml/2006/main" noGrp="1"/>
          </p:cNvSpPr>
          <p:nvPr/>
        </p:nvSpPr>
        <p:spPr>
          <a:xfrm xmlns:a="http://schemas.openxmlformats.org/drawingml/2006/main">
            <a:off x="3429000" y="1257300"/>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275" b="1" lang="he-IL">
                <a:solidFill>
                  <a:srgbClr val="9AB1C5"/>
                </a:solidFill>
                <a:latin typeface="Arial"/>
                <a:ea typeface="Arial"/>
                <a:cs typeface="Arial"/>
              </a:defRPr>
            </a:pPr>
            <a:r>
              <a:rPr sz="1275" b="1" lang="he-IL">
                <a:solidFill>
                  <a:srgbClr val="9AB1C5"/>
                </a:solidFill>
                <a:latin typeface="Arial"/>
                <a:ea typeface="Arial"/>
                <a:cs typeface="Arial"/>
              </a:rPr>
              <a:t>התפקיד במערכת</a:t>
            </a:r>
          </a:p>
        </p:txBody>
      </p:sp>
      <p:sp>
        <p:nvSpPr>
          <p:cNvPr id="8" name="">
            <a:extLst xmlns:a="http://schemas.openxmlformats.org/drawingml/2006/main">
              <a:ext uri="{FF2B5EF4-FFF2-40B4-BE49-F238E27FC236}">
                <a16:creationId xmlns:a16="http://schemas.microsoft.com/office/drawing/2014/main" id="{615C8287-FCD9-49E3-A905-7DA08CC69D9E}"/>
              </a:ext>
            </a:extLst>
          </p:cNvPr>
          <p:cNvSpPr>
            <a:spLocks xmlns:a="http://schemas.openxmlformats.org/drawingml/2006/main" noGrp="1"/>
          </p:cNvSpPr>
          <p:nvPr/>
        </p:nvSpPr>
        <p:spPr>
          <a:xfrm xmlns:a="http://schemas.openxmlformats.org/drawingml/2006/main">
            <a:off x="685800" y="12573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9AB1C5"/>
                </a:solidFill>
                <a:latin typeface="Cascadia Mono"/>
                <a:ea typeface="Cascadia Mono"/>
                <a:cs typeface="Cascadia Mono"/>
              </a:defRPr>
            </a:pPr>
            <a:r>
              <a:rPr sz="1050" b="1">
                <a:solidFill>
                  <a:srgbClr val="9AB1C5"/>
                </a:solidFill>
                <a:latin typeface="Cascadia Mono"/>
                <a:ea typeface="Cascadia Mono"/>
                <a:cs typeface="Cascadia Mono"/>
              </a:rPr>
              <a:t>TECHNOLOGY</a:t>
            </a:r>
          </a:p>
        </p:txBody>
      </p:sp>
      <p:sp>
        <p:nvSpPr>
          <p:cNvPr id="9" name="">
            <a:extLst xmlns:a="http://schemas.openxmlformats.org/drawingml/2006/main">
              <a:ext uri="{FF2B5EF4-FFF2-40B4-BE49-F238E27FC236}">
                <a16:creationId xmlns:a16="http://schemas.microsoft.com/office/drawing/2014/main" id="{83BE4B84-2830-4517-9E44-391E5ABE47D5}"/>
              </a:ext>
            </a:extLst>
          </p:cNvPr>
          <p:cNvSpPr>
            <a:spLocks xmlns:a="http://schemas.openxmlformats.org/drawingml/2006/main" noGrp="1"/>
          </p:cNvSpPr>
          <p:nvPr/>
        </p:nvSpPr>
        <p:spPr>
          <a:xfrm xmlns:a="http://schemas.openxmlformats.org/drawingml/2006/main">
            <a:off x="609600" y="1657350"/>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10" name="">
            <a:extLst xmlns:a="http://schemas.openxmlformats.org/drawingml/2006/main">
              <a:ext uri="{FF2B5EF4-FFF2-40B4-BE49-F238E27FC236}">
                <a16:creationId xmlns:a16="http://schemas.microsoft.com/office/drawing/2014/main" id="{7DE0538D-FBB5-4523-AB21-5CD52E0640E7}"/>
              </a:ext>
            </a:extLst>
          </p:cNvPr>
          <p:cNvSpPr>
            <a:spLocks xmlns:a="http://schemas.openxmlformats.org/drawingml/2006/main" noGrp="1"/>
          </p:cNvSpPr>
          <p:nvPr/>
        </p:nvSpPr>
        <p:spPr>
          <a:xfrm xmlns:a="http://schemas.openxmlformats.org/drawingml/2006/main">
            <a:off x="685800" y="18669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1">
                <a:solidFill>
                  <a:srgbClr val="35D4B5"/>
                </a:solidFill>
                <a:latin typeface="Cascadia Mono"/>
                <a:ea typeface="Cascadia Mono"/>
                <a:cs typeface="Cascadia Mono"/>
              </a:defRPr>
            </a:pPr>
            <a:r>
              <a:rPr sz="1575" b="1">
                <a:solidFill>
                  <a:srgbClr val="35D4B5"/>
                </a:solidFill>
                <a:latin typeface="Cascadia Mono"/>
                <a:ea typeface="Cascadia Mono"/>
                <a:cs typeface="Cascadia Mono"/>
              </a:rPr>
              <a:t>Kafka</a:t>
            </a:r>
          </a:p>
        </p:txBody>
      </p:sp>
      <p:sp>
        <p:nvSpPr>
          <p:cNvPr id="11" name="">
            <a:extLst xmlns:a="http://schemas.openxmlformats.org/drawingml/2006/main">
              <a:ext uri="{FF2B5EF4-FFF2-40B4-BE49-F238E27FC236}">
                <a16:creationId xmlns:a16="http://schemas.microsoft.com/office/drawing/2014/main" id="{9707DC8A-055A-491E-8DEE-1C2C17C14A3F}"/>
              </a:ext>
            </a:extLst>
          </p:cNvPr>
          <p:cNvSpPr>
            <a:spLocks xmlns:a="http://schemas.openxmlformats.org/drawingml/2006/main" noGrp="1"/>
          </p:cNvSpPr>
          <p:nvPr/>
        </p:nvSpPr>
        <p:spPr>
          <a:xfrm xmlns:a="http://schemas.openxmlformats.org/drawingml/2006/main">
            <a:off x="3143250" y="1790700"/>
            <a:ext cx="371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350" b="0" lang="he-IL">
                <a:solidFill>
                  <a:srgbClr val="F8FBFF"/>
                </a:solidFill>
                <a:latin typeface="Arial"/>
                <a:ea typeface="Arial"/>
                <a:cs typeface="Arial"/>
              </a:defRPr>
            </a:pPr>
            <a:r>
              <a:rPr sz="1350" b="0" lang="he-IL">
                <a:solidFill>
                  <a:srgbClr val="F8FBFF"/>
                </a:solidFill>
                <a:latin typeface="Arial"/>
                <a:ea typeface="Arial"/>
                <a:cs typeface="Arial"/>
              </a:rPr>
              <a:t>יומן אירועים בין המקור לצרכנים</a:t>
            </a:r>
          </a:p>
        </p:txBody>
      </p:sp>
      <p:sp>
        <p:nvSpPr>
          <p:cNvPr id="12" name="">
            <a:extLst xmlns:a="http://schemas.openxmlformats.org/drawingml/2006/main">
              <a:ext uri="{FF2B5EF4-FFF2-40B4-BE49-F238E27FC236}">
                <a16:creationId xmlns:a16="http://schemas.microsoft.com/office/drawing/2014/main" id="{CE5F10C6-9E7E-49E4-8116-69BD2407BF08}"/>
              </a:ext>
            </a:extLst>
          </p:cNvPr>
          <p:cNvSpPr>
            <a:spLocks xmlns:a="http://schemas.openxmlformats.org/drawingml/2006/main" noGrp="1"/>
          </p:cNvSpPr>
          <p:nvPr/>
        </p:nvSpPr>
        <p:spPr>
          <a:xfrm xmlns:a="http://schemas.openxmlformats.org/drawingml/2006/main">
            <a:off x="7143750" y="1790700"/>
            <a:ext cx="438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275" b="0" lang="he-IL">
                <a:solidFill>
                  <a:srgbClr val="9AB1C5"/>
                </a:solidFill>
                <a:latin typeface="Arial"/>
                <a:ea typeface="Arial"/>
                <a:cs typeface="Arial"/>
              </a:defRPr>
            </a:pPr>
            <a:r>
              <a:rPr sz="1275" b="0" lang="he-IL">
                <a:solidFill>
                  <a:srgbClr val="9AB1C5"/>
                </a:solidFill>
                <a:latin typeface="Arial"/>
                <a:ea typeface="Arial"/>
                <a:cs typeface="Arial"/>
              </a:rPr>
              <a:t>מפריד בין רכיבים ושומר היסטוריה; לא חיבור ישיר</a:t>
            </a:r>
          </a:p>
        </p:txBody>
      </p:sp>
      <p:sp>
        <p:nvSpPr>
          <p:cNvPr id="13" name="">
            <a:extLst xmlns:a="http://schemas.openxmlformats.org/drawingml/2006/main">
              <a:ext uri="{FF2B5EF4-FFF2-40B4-BE49-F238E27FC236}">
                <a16:creationId xmlns:a16="http://schemas.microsoft.com/office/drawing/2014/main" id="{DD707F7A-1D32-465D-8C7C-7D7AA0639E81}"/>
              </a:ext>
            </a:extLst>
          </p:cNvPr>
          <p:cNvSpPr>
            <a:spLocks xmlns:a="http://schemas.openxmlformats.org/drawingml/2006/main" noGrp="1"/>
          </p:cNvSpPr>
          <p:nvPr/>
        </p:nvSpPr>
        <p:spPr>
          <a:xfrm xmlns:a="http://schemas.openxmlformats.org/drawingml/2006/main">
            <a:off x="609600" y="2343150"/>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14" name="">
            <a:extLst xmlns:a="http://schemas.openxmlformats.org/drawingml/2006/main">
              <a:ext uri="{FF2B5EF4-FFF2-40B4-BE49-F238E27FC236}">
                <a16:creationId xmlns:a16="http://schemas.microsoft.com/office/drawing/2014/main" id="{D3C1A0B5-CEA7-4A77-B91A-3A1685733B23}"/>
              </a:ext>
            </a:extLst>
          </p:cNvPr>
          <p:cNvSpPr>
            <a:spLocks xmlns:a="http://schemas.openxmlformats.org/drawingml/2006/main" noGrp="1"/>
          </p:cNvSpPr>
          <p:nvPr/>
        </p:nvSpPr>
        <p:spPr>
          <a:xfrm xmlns:a="http://schemas.openxmlformats.org/drawingml/2006/main">
            <a:off x="685800" y="25527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1">
                <a:solidFill>
                  <a:srgbClr val="5B91FF"/>
                </a:solidFill>
                <a:latin typeface="Cascadia Mono"/>
                <a:ea typeface="Cascadia Mono"/>
                <a:cs typeface="Cascadia Mono"/>
              </a:defRPr>
            </a:pPr>
            <a:r>
              <a:rPr sz="1575" b="1">
                <a:solidFill>
                  <a:srgbClr val="5B91FF"/>
                </a:solidFill>
                <a:latin typeface="Cascadia Mono"/>
                <a:ea typeface="Cascadia Mono"/>
                <a:cs typeface="Cascadia Mono"/>
              </a:rPr>
              <a:t>Spark</a:t>
            </a:r>
          </a:p>
        </p:txBody>
      </p:sp>
      <p:sp>
        <p:nvSpPr>
          <p:cNvPr id="15" name="">
            <a:extLst xmlns:a="http://schemas.openxmlformats.org/drawingml/2006/main">
              <a:ext uri="{FF2B5EF4-FFF2-40B4-BE49-F238E27FC236}">
                <a16:creationId xmlns:a16="http://schemas.microsoft.com/office/drawing/2014/main" id="{C4100845-8DC2-48DF-BE94-1DB94D5E3405}"/>
              </a:ext>
            </a:extLst>
          </p:cNvPr>
          <p:cNvSpPr>
            <a:spLocks xmlns:a="http://schemas.openxmlformats.org/drawingml/2006/main" noGrp="1"/>
          </p:cNvSpPr>
          <p:nvPr/>
        </p:nvSpPr>
        <p:spPr>
          <a:xfrm xmlns:a="http://schemas.openxmlformats.org/drawingml/2006/main">
            <a:off x="3143250" y="2476500"/>
            <a:ext cx="371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350" b="0" lang="he-IL">
                <a:solidFill>
                  <a:srgbClr val="F8FBFF"/>
                </a:solidFill>
                <a:latin typeface="Arial"/>
                <a:ea typeface="Arial"/>
                <a:cs typeface="Arial"/>
              </a:defRPr>
            </a:pPr>
            <a:r>
              <a:rPr sz="1350" b="0" lang="he-IL">
                <a:solidFill>
                  <a:srgbClr val="F8FBFF"/>
                </a:solidFill>
                <a:latin typeface="Arial"/>
                <a:ea typeface="Arial"/>
                <a:cs typeface="Arial"/>
              </a:rPr>
              <a:t>מנוע אחד לעיבוד רציף ולעבודות אצווה</a:t>
            </a:r>
          </a:p>
        </p:txBody>
      </p:sp>
      <p:sp>
        <p:nvSpPr>
          <p:cNvPr id="16" name="">
            <a:extLst xmlns:a="http://schemas.openxmlformats.org/drawingml/2006/main">
              <a:ext uri="{FF2B5EF4-FFF2-40B4-BE49-F238E27FC236}">
                <a16:creationId xmlns:a16="http://schemas.microsoft.com/office/drawing/2014/main" id="{686CDFCE-2AD8-4BAC-887A-24B85119459D}"/>
              </a:ext>
            </a:extLst>
          </p:cNvPr>
          <p:cNvSpPr>
            <a:spLocks xmlns:a="http://schemas.openxmlformats.org/drawingml/2006/main" noGrp="1"/>
          </p:cNvSpPr>
          <p:nvPr/>
        </p:nvSpPr>
        <p:spPr>
          <a:xfrm xmlns:a="http://schemas.openxmlformats.org/drawingml/2006/main">
            <a:off x="7143750" y="2476500"/>
            <a:ext cx="438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275" b="0" lang="he-IL">
                <a:solidFill>
                  <a:srgbClr val="9AB1C5"/>
                </a:solidFill>
                <a:latin typeface="Arial"/>
                <a:ea typeface="Arial"/>
                <a:cs typeface="Arial"/>
              </a:defRPr>
            </a:pPr>
            <a:r>
              <a:rPr sz="1275" b="0" lang="he-IL">
                <a:solidFill>
                  <a:srgbClr val="9AB1C5"/>
                </a:solidFill>
                <a:latin typeface="Arial"/>
                <a:ea typeface="Arial"/>
                <a:cs typeface="Arial"/>
              </a:rPr>
              <a:t>אותו מנוע לשני מסלולים; לא שתי לוגיקות נפרדות</a:t>
            </a:r>
          </a:p>
        </p:txBody>
      </p:sp>
      <p:sp>
        <p:nvSpPr>
          <p:cNvPr id="17" name="">
            <a:extLst xmlns:a="http://schemas.openxmlformats.org/drawingml/2006/main">
              <a:ext uri="{FF2B5EF4-FFF2-40B4-BE49-F238E27FC236}">
                <a16:creationId xmlns:a16="http://schemas.microsoft.com/office/drawing/2014/main" id="{77FE06C6-C4F4-4A66-AEDF-8640C2B19F09}"/>
              </a:ext>
            </a:extLst>
          </p:cNvPr>
          <p:cNvSpPr>
            <a:spLocks xmlns:a="http://schemas.openxmlformats.org/drawingml/2006/main" noGrp="1"/>
          </p:cNvSpPr>
          <p:nvPr/>
        </p:nvSpPr>
        <p:spPr>
          <a:xfrm xmlns:a="http://schemas.openxmlformats.org/drawingml/2006/main">
            <a:off x="609600" y="3028950"/>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18" name="">
            <a:extLst xmlns:a="http://schemas.openxmlformats.org/drawingml/2006/main">
              <a:ext uri="{FF2B5EF4-FFF2-40B4-BE49-F238E27FC236}">
                <a16:creationId xmlns:a16="http://schemas.microsoft.com/office/drawing/2014/main" id="{9E0CEA4A-582F-4502-95B4-D0A34A7DC59F}"/>
              </a:ext>
            </a:extLst>
          </p:cNvPr>
          <p:cNvSpPr>
            <a:spLocks xmlns:a="http://schemas.openxmlformats.org/drawingml/2006/main" noGrp="1"/>
          </p:cNvSpPr>
          <p:nvPr/>
        </p:nvSpPr>
        <p:spPr>
          <a:xfrm xmlns:a="http://schemas.openxmlformats.org/drawingml/2006/main">
            <a:off x="685800" y="32385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1">
                <a:solidFill>
                  <a:srgbClr val="F4B94F"/>
                </a:solidFill>
                <a:latin typeface="Cascadia Mono"/>
                <a:ea typeface="Cascadia Mono"/>
                <a:cs typeface="Cascadia Mono"/>
              </a:defRPr>
            </a:pPr>
            <a:r>
              <a:rPr sz="1575" b="1">
                <a:solidFill>
                  <a:srgbClr val="F4B94F"/>
                </a:solidFill>
                <a:latin typeface="Cascadia Mono"/>
                <a:ea typeface="Cascadia Mono"/>
                <a:cs typeface="Cascadia Mono"/>
              </a:rPr>
              <a:t>Airflow</a:t>
            </a:r>
          </a:p>
        </p:txBody>
      </p:sp>
      <p:sp>
        <p:nvSpPr>
          <p:cNvPr id="19" name="">
            <a:extLst xmlns:a="http://schemas.openxmlformats.org/drawingml/2006/main">
              <a:ext uri="{FF2B5EF4-FFF2-40B4-BE49-F238E27FC236}">
                <a16:creationId xmlns:a16="http://schemas.microsoft.com/office/drawing/2014/main" id="{9D0BA45C-96D6-4B0A-804C-6F8B75973264}"/>
              </a:ext>
            </a:extLst>
          </p:cNvPr>
          <p:cNvSpPr>
            <a:spLocks xmlns:a="http://schemas.openxmlformats.org/drawingml/2006/main" noGrp="1"/>
          </p:cNvSpPr>
          <p:nvPr/>
        </p:nvSpPr>
        <p:spPr>
          <a:xfrm xmlns:a="http://schemas.openxmlformats.org/drawingml/2006/main">
            <a:off x="3143250" y="3162300"/>
            <a:ext cx="371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350" b="0" lang="he-IL">
                <a:solidFill>
                  <a:srgbClr val="F8FBFF"/>
                </a:solidFill>
                <a:latin typeface="Arial"/>
                <a:ea typeface="Arial"/>
                <a:cs typeface="Arial"/>
              </a:defRPr>
            </a:pPr>
            <a:r>
              <a:rPr sz="1350" b="0" lang="he-IL">
                <a:solidFill>
                  <a:srgbClr val="F8FBFF"/>
                </a:solidFill>
                <a:latin typeface="Arial"/>
                <a:ea typeface="Arial"/>
                <a:cs typeface="Arial"/>
              </a:rPr>
              <a:t>תזמון ותלות בין עבודות שמסתיימות</a:t>
            </a:r>
          </a:p>
        </p:txBody>
      </p:sp>
      <p:sp>
        <p:nvSpPr>
          <p:cNvPr id="20" name="">
            <a:extLst xmlns:a="http://schemas.openxmlformats.org/drawingml/2006/main">
              <a:ext uri="{FF2B5EF4-FFF2-40B4-BE49-F238E27FC236}">
                <a16:creationId xmlns:a16="http://schemas.microsoft.com/office/drawing/2014/main" id="{1CAA4362-62EA-47B5-972E-5F4820520831}"/>
              </a:ext>
            </a:extLst>
          </p:cNvPr>
          <p:cNvSpPr>
            <a:spLocks xmlns:a="http://schemas.openxmlformats.org/drawingml/2006/main" noGrp="1"/>
          </p:cNvSpPr>
          <p:nvPr/>
        </p:nvSpPr>
        <p:spPr>
          <a:xfrm xmlns:a="http://schemas.openxmlformats.org/drawingml/2006/main">
            <a:off x="7143750" y="3162300"/>
            <a:ext cx="438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275" b="0" lang="he-IL">
                <a:solidFill>
                  <a:srgbClr val="9AB1C5"/>
                </a:solidFill>
                <a:latin typeface="Arial"/>
                <a:ea typeface="Arial"/>
                <a:cs typeface="Arial"/>
              </a:defRPr>
            </a:pPr>
            <a:r>
              <a:rPr sz="1275" b="0" lang="he-IL">
                <a:solidFill>
                  <a:srgbClr val="9AB1C5"/>
                </a:solidFill>
                <a:latin typeface="Arial"/>
                <a:ea typeface="Arial"/>
                <a:cs typeface="Arial"/>
              </a:rPr>
              <a:t>סטטוס, לוגים וניסיון חוזר; לא תזמון ידני</a:t>
            </a:r>
          </a:p>
        </p:txBody>
      </p:sp>
      <p:sp>
        <p:nvSpPr>
          <p:cNvPr id="21" name="">
            <a:extLst xmlns:a="http://schemas.openxmlformats.org/drawingml/2006/main">
              <a:ext uri="{FF2B5EF4-FFF2-40B4-BE49-F238E27FC236}">
                <a16:creationId xmlns:a16="http://schemas.microsoft.com/office/drawing/2014/main" id="{4A97391C-8D54-4D96-9E2E-9EB25B965998}"/>
              </a:ext>
            </a:extLst>
          </p:cNvPr>
          <p:cNvSpPr>
            <a:spLocks xmlns:a="http://schemas.openxmlformats.org/drawingml/2006/main" noGrp="1"/>
          </p:cNvSpPr>
          <p:nvPr/>
        </p:nvSpPr>
        <p:spPr>
          <a:xfrm xmlns:a="http://schemas.openxmlformats.org/drawingml/2006/main">
            <a:off x="609600" y="3714750"/>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22" name="">
            <a:extLst xmlns:a="http://schemas.openxmlformats.org/drawingml/2006/main">
              <a:ext uri="{FF2B5EF4-FFF2-40B4-BE49-F238E27FC236}">
                <a16:creationId xmlns:a16="http://schemas.microsoft.com/office/drawing/2014/main" id="{496B88BA-DDEB-47E4-83B5-82F279062BF8}"/>
              </a:ext>
            </a:extLst>
          </p:cNvPr>
          <p:cNvSpPr>
            <a:spLocks xmlns:a="http://schemas.openxmlformats.org/drawingml/2006/main" noGrp="1"/>
          </p:cNvSpPr>
          <p:nvPr/>
        </p:nvSpPr>
        <p:spPr>
          <a:xfrm xmlns:a="http://schemas.openxmlformats.org/drawingml/2006/main">
            <a:off x="685800" y="39243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1">
                <a:solidFill>
                  <a:srgbClr val="35D4B5"/>
                </a:solidFill>
                <a:latin typeface="Cascadia Mono"/>
                <a:ea typeface="Cascadia Mono"/>
                <a:cs typeface="Cascadia Mono"/>
              </a:defRPr>
            </a:pPr>
            <a:r>
              <a:rPr sz="1575" b="1">
                <a:solidFill>
                  <a:srgbClr val="35D4B5"/>
                </a:solidFill>
                <a:latin typeface="Cascadia Mono"/>
                <a:ea typeface="Cascadia Mono"/>
                <a:cs typeface="Cascadia Mono"/>
              </a:rPr>
              <a:t>MinIO</a:t>
            </a:r>
          </a:p>
        </p:txBody>
      </p:sp>
      <p:sp>
        <p:nvSpPr>
          <p:cNvPr id="23" name="">
            <a:extLst xmlns:a="http://schemas.openxmlformats.org/drawingml/2006/main">
              <a:ext uri="{FF2B5EF4-FFF2-40B4-BE49-F238E27FC236}">
                <a16:creationId xmlns:a16="http://schemas.microsoft.com/office/drawing/2014/main" id="{A12F2F78-8634-44EA-8B03-B48BD251C7A9}"/>
              </a:ext>
            </a:extLst>
          </p:cNvPr>
          <p:cNvSpPr>
            <a:spLocks xmlns:a="http://schemas.openxmlformats.org/drawingml/2006/main" noGrp="1"/>
          </p:cNvSpPr>
          <p:nvPr/>
        </p:nvSpPr>
        <p:spPr>
          <a:xfrm xmlns:a="http://schemas.openxmlformats.org/drawingml/2006/main">
            <a:off x="3143250" y="3848100"/>
            <a:ext cx="371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350" b="0" lang="he-IL">
                <a:solidFill>
                  <a:srgbClr val="F8FBFF"/>
                </a:solidFill>
                <a:latin typeface="Arial"/>
                <a:ea typeface="Arial"/>
                <a:cs typeface="Arial"/>
              </a:defRPr>
            </a:pPr>
            <a:r>
              <a:rPr sz="1350" b="0" lang="he-IL">
                <a:solidFill>
                  <a:srgbClr val="F8FBFF"/>
                </a:solidFill>
                <a:latin typeface="Arial"/>
                <a:ea typeface="Arial"/>
                <a:cs typeface="Arial"/>
              </a:rPr>
              <a:t>אחסון גולמי וקבצים אנליטיים</a:t>
            </a:r>
          </a:p>
        </p:txBody>
      </p:sp>
      <p:sp>
        <p:nvSpPr>
          <p:cNvPr id="24" name="">
            <a:extLst xmlns:a="http://schemas.openxmlformats.org/drawingml/2006/main">
              <a:ext uri="{FF2B5EF4-FFF2-40B4-BE49-F238E27FC236}">
                <a16:creationId xmlns:a16="http://schemas.microsoft.com/office/drawing/2014/main" id="{4003AEF4-1B68-498E-98E6-3EBB466E774F}"/>
              </a:ext>
            </a:extLst>
          </p:cNvPr>
          <p:cNvSpPr>
            <a:spLocks xmlns:a="http://schemas.openxmlformats.org/drawingml/2006/main" noGrp="1"/>
          </p:cNvSpPr>
          <p:nvPr/>
        </p:nvSpPr>
        <p:spPr>
          <a:xfrm xmlns:a="http://schemas.openxmlformats.org/drawingml/2006/main">
            <a:off x="7143750" y="3848100"/>
            <a:ext cx="438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275" b="0" lang="he-IL">
                <a:solidFill>
                  <a:srgbClr val="9AB1C5"/>
                </a:solidFill>
                <a:latin typeface="Arial"/>
                <a:ea typeface="Arial"/>
                <a:cs typeface="Arial"/>
              </a:defRPr>
            </a:pPr>
            <a:r>
              <a:rPr sz="1275" b="0" lang="he-IL">
                <a:solidFill>
                  <a:srgbClr val="9AB1C5"/>
                </a:solidFill>
                <a:latin typeface="Arial"/>
                <a:ea typeface="Arial"/>
                <a:cs typeface="Arial"/>
              </a:rPr>
              <a:t>מותאם לקבצים ולארכיון; לא תיקייה מקומית או מסד הגשה</a:t>
            </a:r>
          </a:p>
        </p:txBody>
      </p:sp>
      <p:sp>
        <p:nvSpPr>
          <p:cNvPr id="25" name="">
            <a:extLst xmlns:a="http://schemas.openxmlformats.org/drawingml/2006/main">
              <a:ext uri="{FF2B5EF4-FFF2-40B4-BE49-F238E27FC236}">
                <a16:creationId xmlns:a16="http://schemas.microsoft.com/office/drawing/2014/main" id="{8DA22A3C-A598-4053-A7CD-332C575CF37D}"/>
              </a:ext>
            </a:extLst>
          </p:cNvPr>
          <p:cNvSpPr>
            <a:spLocks xmlns:a="http://schemas.openxmlformats.org/drawingml/2006/main" noGrp="1"/>
          </p:cNvSpPr>
          <p:nvPr/>
        </p:nvSpPr>
        <p:spPr>
          <a:xfrm xmlns:a="http://schemas.openxmlformats.org/drawingml/2006/main">
            <a:off x="609600" y="4400550"/>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26" name="">
            <a:extLst xmlns:a="http://schemas.openxmlformats.org/drawingml/2006/main">
              <a:ext uri="{FF2B5EF4-FFF2-40B4-BE49-F238E27FC236}">
                <a16:creationId xmlns:a16="http://schemas.microsoft.com/office/drawing/2014/main" id="{A6D54BD9-2F9C-454D-85BD-21D57C5AE0E4}"/>
              </a:ext>
            </a:extLst>
          </p:cNvPr>
          <p:cNvSpPr>
            <a:spLocks xmlns:a="http://schemas.openxmlformats.org/drawingml/2006/main" noGrp="1"/>
          </p:cNvSpPr>
          <p:nvPr/>
        </p:nvSpPr>
        <p:spPr>
          <a:xfrm xmlns:a="http://schemas.openxmlformats.org/drawingml/2006/main">
            <a:off x="685800" y="46101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1">
                <a:solidFill>
                  <a:srgbClr val="5B91FF"/>
                </a:solidFill>
                <a:latin typeface="Cascadia Mono"/>
                <a:ea typeface="Cascadia Mono"/>
                <a:cs typeface="Cascadia Mono"/>
              </a:defRPr>
            </a:pPr>
            <a:r>
              <a:rPr sz="1575" b="1">
                <a:solidFill>
                  <a:srgbClr val="5B91FF"/>
                </a:solidFill>
                <a:latin typeface="Cascadia Mono"/>
                <a:ea typeface="Cascadia Mono"/>
                <a:cs typeface="Cascadia Mono"/>
              </a:rPr>
              <a:t>MariaDB</a:t>
            </a:r>
          </a:p>
        </p:txBody>
      </p:sp>
      <p:sp>
        <p:nvSpPr>
          <p:cNvPr id="27" name="">
            <a:extLst xmlns:a="http://schemas.openxmlformats.org/drawingml/2006/main">
              <a:ext uri="{FF2B5EF4-FFF2-40B4-BE49-F238E27FC236}">
                <a16:creationId xmlns:a16="http://schemas.microsoft.com/office/drawing/2014/main" id="{6BC9CA48-2622-438E-8158-6B923D10D441}"/>
              </a:ext>
            </a:extLst>
          </p:cNvPr>
          <p:cNvSpPr>
            <a:spLocks xmlns:a="http://schemas.openxmlformats.org/drawingml/2006/main" noGrp="1"/>
          </p:cNvSpPr>
          <p:nvPr/>
        </p:nvSpPr>
        <p:spPr>
          <a:xfrm xmlns:a="http://schemas.openxmlformats.org/drawingml/2006/main">
            <a:off x="3143250" y="4533900"/>
            <a:ext cx="371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350" b="0" lang="he-IL">
                <a:solidFill>
                  <a:srgbClr val="F8FBFF"/>
                </a:solidFill>
                <a:latin typeface="Arial"/>
                <a:ea typeface="Arial"/>
                <a:cs typeface="Arial"/>
              </a:defRPr>
            </a:pPr>
            <a:r>
              <a:rPr sz="1350" b="0" lang="he-IL">
                <a:solidFill>
                  <a:srgbClr val="F8FBFF"/>
                </a:solidFill>
                <a:latin typeface="Arial"/>
                <a:ea typeface="Arial"/>
                <a:cs typeface="Arial"/>
              </a:rPr>
              <a:t>שכבת נתונים מוכנה לאפליקציה</a:t>
            </a:r>
          </a:p>
        </p:txBody>
      </p:sp>
      <p:sp>
        <p:nvSpPr>
          <p:cNvPr id="28" name="">
            <a:extLst xmlns:a="http://schemas.openxmlformats.org/drawingml/2006/main">
              <a:ext uri="{FF2B5EF4-FFF2-40B4-BE49-F238E27FC236}">
                <a16:creationId xmlns:a16="http://schemas.microsoft.com/office/drawing/2014/main" id="{513DC519-E2F5-4CE0-9126-A313558A35A4}"/>
              </a:ext>
            </a:extLst>
          </p:cNvPr>
          <p:cNvSpPr>
            <a:spLocks xmlns:a="http://schemas.openxmlformats.org/drawingml/2006/main" noGrp="1"/>
          </p:cNvSpPr>
          <p:nvPr/>
        </p:nvSpPr>
        <p:spPr>
          <a:xfrm xmlns:a="http://schemas.openxmlformats.org/drawingml/2006/main">
            <a:off x="7143750" y="4533900"/>
            <a:ext cx="438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275" b="0" lang="he-IL">
                <a:solidFill>
                  <a:srgbClr val="9AB1C5"/>
                </a:solidFill>
                <a:latin typeface="Arial"/>
                <a:ea typeface="Arial"/>
                <a:cs typeface="Arial"/>
              </a:defRPr>
            </a:pPr>
            <a:r>
              <a:rPr sz="1275" b="0" lang="he-IL">
                <a:solidFill>
                  <a:srgbClr val="9AB1C5"/>
                </a:solidFill>
                <a:latin typeface="Arial"/>
                <a:ea typeface="Arial"/>
                <a:cs typeface="Arial"/>
              </a:rPr>
              <a:t>שאילתות ואינדקסים מהירים; לא אחסון קבצים</a:t>
            </a:r>
          </a:p>
        </p:txBody>
      </p:sp>
      <p:sp>
        <p:nvSpPr>
          <p:cNvPr id="29" name="">
            <a:extLst xmlns:a="http://schemas.openxmlformats.org/drawingml/2006/main">
              <a:ext uri="{FF2B5EF4-FFF2-40B4-BE49-F238E27FC236}">
                <a16:creationId xmlns:a16="http://schemas.microsoft.com/office/drawing/2014/main" id="{A730E0AF-251E-4E2A-B7B6-F8C5F2CECC06}"/>
              </a:ext>
            </a:extLst>
          </p:cNvPr>
          <p:cNvSpPr>
            <a:spLocks xmlns:a="http://schemas.openxmlformats.org/drawingml/2006/main" noGrp="1"/>
          </p:cNvSpPr>
          <p:nvPr/>
        </p:nvSpPr>
        <p:spPr>
          <a:xfrm xmlns:a="http://schemas.openxmlformats.org/drawingml/2006/main">
            <a:off x="609600" y="5086350"/>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30" name="">
            <a:extLst xmlns:a="http://schemas.openxmlformats.org/drawingml/2006/main">
              <a:ext uri="{FF2B5EF4-FFF2-40B4-BE49-F238E27FC236}">
                <a16:creationId xmlns:a16="http://schemas.microsoft.com/office/drawing/2014/main" id="{297741D5-41C9-441D-BF2D-A3E128E81185}"/>
              </a:ext>
            </a:extLst>
          </p:cNvPr>
          <p:cNvSpPr>
            <a:spLocks xmlns:a="http://schemas.openxmlformats.org/drawingml/2006/main" noGrp="1"/>
          </p:cNvSpPr>
          <p:nvPr/>
        </p:nvSpPr>
        <p:spPr>
          <a:xfrm xmlns:a="http://schemas.openxmlformats.org/drawingml/2006/main">
            <a:off x="685800" y="52959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1">
                <a:solidFill>
                  <a:srgbClr val="F4B94F"/>
                </a:solidFill>
                <a:latin typeface="Cascadia Mono"/>
                <a:ea typeface="Cascadia Mono"/>
                <a:cs typeface="Cascadia Mono"/>
              </a:defRPr>
            </a:pPr>
            <a:r>
              <a:rPr sz="1575" b="1">
                <a:solidFill>
                  <a:srgbClr val="F4B94F"/>
                </a:solidFill>
                <a:latin typeface="Cascadia Mono"/>
                <a:ea typeface="Cascadia Mono"/>
                <a:cs typeface="Cascadia Mono"/>
              </a:rPr>
              <a:t>Docker Compose</a:t>
            </a:r>
          </a:p>
        </p:txBody>
      </p:sp>
      <p:sp>
        <p:nvSpPr>
          <p:cNvPr id="31" name="">
            <a:extLst xmlns:a="http://schemas.openxmlformats.org/drawingml/2006/main">
              <a:ext uri="{FF2B5EF4-FFF2-40B4-BE49-F238E27FC236}">
                <a16:creationId xmlns:a16="http://schemas.microsoft.com/office/drawing/2014/main" id="{5EF87B73-71F7-4395-9D10-034DCB235F10}"/>
              </a:ext>
            </a:extLst>
          </p:cNvPr>
          <p:cNvSpPr>
            <a:spLocks xmlns:a="http://schemas.openxmlformats.org/drawingml/2006/main" noGrp="1"/>
          </p:cNvSpPr>
          <p:nvPr/>
        </p:nvSpPr>
        <p:spPr>
          <a:xfrm xmlns:a="http://schemas.openxmlformats.org/drawingml/2006/main">
            <a:off x="3143250" y="5219700"/>
            <a:ext cx="371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350" b="0" lang="he-IL">
                <a:solidFill>
                  <a:srgbClr val="F8FBFF"/>
                </a:solidFill>
                <a:latin typeface="Arial"/>
                <a:ea typeface="Arial"/>
                <a:cs typeface="Arial"/>
              </a:defRPr>
            </a:pPr>
            <a:r>
              <a:rPr sz="1350" b="0" lang="he-IL">
                <a:solidFill>
                  <a:srgbClr val="F8FBFF"/>
                </a:solidFill>
                <a:latin typeface="Arial"/>
                <a:ea typeface="Arial"/>
                <a:cs typeface="Arial"/>
              </a:rPr>
              <a:t>מחזור החיים של השירותים המקומיים</a:t>
            </a:r>
          </a:p>
        </p:txBody>
      </p:sp>
      <p:sp>
        <p:nvSpPr>
          <p:cNvPr id="32" name="">
            <a:extLst xmlns:a="http://schemas.openxmlformats.org/drawingml/2006/main">
              <a:ext uri="{FF2B5EF4-FFF2-40B4-BE49-F238E27FC236}">
                <a16:creationId xmlns:a16="http://schemas.microsoft.com/office/drawing/2014/main" id="{3F3AEADD-EBCA-4836-A23C-4C9C04754FA8}"/>
              </a:ext>
            </a:extLst>
          </p:cNvPr>
          <p:cNvSpPr>
            <a:spLocks xmlns:a="http://schemas.openxmlformats.org/drawingml/2006/main" noGrp="1"/>
          </p:cNvSpPr>
          <p:nvPr/>
        </p:nvSpPr>
        <p:spPr>
          <a:xfrm xmlns:a="http://schemas.openxmlformats.org/drawingml/2006/main">
            <a:off x="7143750" y="5219700"/>
            <a:ext cx="438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275" b="0" lang="he-IL">
                <a:solidFill>
                  <a:srgbClr val="9AB1C5"/>
                </a:solidFill>
                <a:latin typeface="Arial"/>
                <a:ea typeface="Arial"/>
                <a:cs typeface="Arial"/>
              </a:defRPr>
            </a:pPr>
            <a:r>
              <a:rPr sz="1275" b="0" lang="he-IL">
                <a:solidFill>
                  <a:srgbClr val="9AB1C5"/>
                </a:solidFill>
                <a:latin typeface="Arial"/>
                <a:ea typeface="Arial"/>
                <a:cs typeface="Arial"/>
              </a:rPr>
              <a:t>פשוט לשחזור מקומי; לא הפעלה ידנית או תשתית כבדה</a:t>
            </a:r>
          </a:p>
        </p:txBody>
      </p:sp>
      <p:sp>
        <p:nvSpPr>
          <p:cNvPr id="33" name="">
            <a:extLst xmlns:a="http://schemas.openxmlformats.org/drawingml/2006/main">
              <a:ext uri="{FF2B5EF4-FFF2-40B4-BE49-F238E27FC236}">
                <a16:creationId xmlns:a16="http://schemas.microsoft.com/office/drawing/2014/main" id="{F14244F6-15AA-4A2C-A45A-8762756D3C42}"/>
              </a:ext>
            </a:extLst>
          </p:cNvPr>
          <p:cNvSpPr>
            <a:spLocks xmlns:a="http://schemas.openxmlformats.org/drawingml/2006/main" noGrp="1"/>
          </p:cNvSpPr>
          <p:nvPr/>
        </p:nvSpPr>
        <p:spPr>
          <a:xfrm xmlns:a="http://schemas.openxmlformats.org/drawingml/2006/main">
            <a:off x="2857500" y="6000750"/>
            <a:ext cx="866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275" b="0" lang="he-IL">
                <a:solidFill>
                  <a:srgbClr val="35D4B5"/>
                </a:solidFill>
                <a:latin typeface="Arial"/>
                <a:ea typeface="Arial"/>
                <a:cs typeface="Arial"/>
              </a:defRPr>
            </a:pPr>
            <a:r>
              <a:rPr sz="1275" b="0" lang="he-IL">
                <a:solidFill>
                  <a:srgbClr val="35D4B5"/>
                </a:solidFill>
                <a:latin typeface="Arial"/>
                <a:ea typeface="Arial"/>
                <a:cs typeface="Arial"/>
              </a:rPr>
              <a:t>בחרתי בכוונה בכלים שלמדנו ונחשפנו אליהם בקורס, ואז חיברתי ביניהם לפי גבולות אחריות ברורים.</a:t>
            </a:r>
          </a:p>
        </p:txBody>
      </p:sp>
    </p:spTree>
    <p:extLst>
      <p:ext uri="{BB962C8B-B14F-4D97-AF65-F5344CB8AC3E}">
        <p14:creationId xmlns:p14="http://schemas.microsoft.com/office/powerpoint/2010/main" val="691260585"/>
      </p:ext>
    </p:extLst>
  </p:cSld>
</p:sld>
</file>

<file path=ppt/slides/slide7.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036BFF0-CBDC-4DD3-A6BB-2422A637FBB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CB46549-98A3-4184-BEE9-A66A18E864D0}"/>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PRODUCT EVIDENCE</a:t>
            </a:r>
          </a:p>
        </p:txBody>
      </p:sp>
      <p:sp>
        <p:nvSpPr>
          <p:cNvPr id="3" name="">
            <a:extLst xmlns:a="http://schemas.openxmlformats.org/drawingml/2006/main">
              <a:ext uri="{FF2B5EF4-FFF2-40B4-BE49-F238E27FC236}">
                <a16:creationId xmlns:a16="http://schemas.microsoft.com/office/drawing/2014/main" id="{B0E08833-5718-4376-8934-14D6D71247AF}"/>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F8FBFF"/>
                </a:solidFill>
                <a:latin typeface="Arial"/>
                <a:ea typeface="Arial"/>
                <a:cs typeface="Arial"/>
              </a:defRPr>
            </a:pPr>
            <a:r>
              <a:rPr sz="2400" b="1" lang="he-IL">
                <a:solidFill>
                  <a:srgbClr val="F8FBFF"/>
                </a:solidFill>
                <a:latin typeface="Arial"/>
                <a:ea typeface="Arial"/>
                <a:cs typeface="Arial"/>
              </a:rPr>
              <a:t>מסך אחד, עם יכולת לרדת עד המקור</a:t>
            </a:r>
          </a:p>
        </p:txBody>
      </p:sp>
      <p:sp>
        <p:nvSpPr>
          <p:cNvPr id="4" name="">
            <a:extLst xmlns:a="http://schemas.openxmlformats.org/drawingml/2006/main">
              <a:ext uri="{FF2B5EF4-FFF2-40B4-BE49-F238E27FC236}">
                <a16:creationId xmlns:a16="http://schemas.microsoft.com/office/drawing/2014/main" id="{87B58F21-3D0D-4DFA-A3B0-DB5227FE51F4}"/>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07</a:t>
            </a:r>
          </a:p>
        </p:txBody>
      </p:sp>
      <p:sp>
        <p:nvSpPr>
          <p:cNvPr id="5" name="">
            <a:extLst xmlns:a="http://schemas.openxmlformats.org/drawingml/2006/main">
              <a:ext uri="{FF2B5EF4-FFF2-40B4-BE49-F238E27FC236}">
                <a16:creationId xmlns:a16="http://schemas.microsoft.com/office/drawing/2014/main" id="{FCE554A5-D350-4DB0-9024-AD5ECC2DD8A3}"/>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90d1c04bab8f48df"/>
          <a:srcRect xmlns:a="http://schemas.openxmlformats.org/drawingml/2006/main" l="0" t="4036" r="0" b="4036"/>
          <a:stretch xmlns:a="http://schemas.openxmlformats.org/drawingml/2006/main">
            <a:fillRect l="0" t="0" r="0" b="0"/>
          </a:stretch>
        </p:blipFill>
        <p:spPr>
          <a:xfrm xmlns:a="http://schemas.openxmlformats.org/drawingml/2006/main">
            <a:off x="552450" y="1428750"/>
            <a:ext cx="7858125" cy="4514850"/>
          </a:xfrm>
          <a:prstGeom xmlns:a="http://schemas.openxmlformats.org/drawingml/2006/main" prst="roundRect">
            <a:avLst>
              <a:gd name="adj" fmla="val 2954"/>
            </a:avLst>
          </a:prstGeom>
        </p:spPr>
      </p:pic>
      <p:sp>
        <p:nvSpPr>
          <p:cNvPr id="7" name="">
            <a:extLst xmlns:a="http://schemas.openxmlformats.org/drawingml/2006/main">
              <a:ext uri="{FF2B5EF4-FFF2-40B4-BE49-F238E27FC236}">
                <a16:creationId xmlns:a16="http://schemas.microsoft.com/office/drawing/2014/main" id="{4BA9AFBF-7793-41E6-A29C-65CB8F6331F0}"/>
              </a:ext>
            </a:extLst>
          </p:cNvPr>
          <p:cNvSpPr>
            <a:spLocks xmlns:a="http://schemas.openxmlformats.org/drawingml/2006/main" noGrp="1"/>
          </p:cNvSpPr>
          <p:nvPr/>
        </p:nvSpPr>
        <p:spPr>
          <a:xfrm xmlns:a="http://schemas.openxmlformats.org/drawingml/2006/main">
            <a:off x="8743950" y="1524000"/>
            <a:ext cx="2838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250" b="1" lang="he-IL">
                <a:solidFill>
                  <a:srgbClr val="F8FBFF"/>
                </a:solidFill>
                <a:latin typeface="Arial"/>
                <a:ea typeface="Arial"/>
                <a:cs typeface="Arial"/>
              </a:defRPr>
            </a:pPr>
            <a:r>
              <a:rPr sz="2250" b="1" lang="he-IL">
                <a:solidFill>
                  <a:srgbClr val="F8FBFF"/>
                </a:solidFill>
                <a:latin typeface="Arial"/>
                <a:ea typeface="Arial"/>
                <a:cs typeface="Arial"/>
              </a:rPr>
              <a:t>מסך המחקר הראשי</a:t>
            </a:r>
          </a:p>
        </p:txBody>
      </p:sp>
      <p:sp>
        <p:nvSpPr>
          <p:cNvPr id="8" name="">
            <a:extLst xmlns:a="http://schemas.openxmlformats.org/drawingml/2006/main">
              <a:ext uri="{FF2B5EF4-FFF2-40B4-BE49-F238E27FC236}">
                <a16:creationId xmlns:a16="http://schemas.microsoft.com/office/drawing/2014/main" id="{53D0F816-7EAB-44FE-8FFB-153DF104263A}"/>
              </a:ext>
            </a:extLst>
          </p:cNvPr>
          <p:cNvSpPr>
            <a:spLocks xmlns:a="http://schemas.openxmlformats.org/drawingml/2006/main" noGrp="1"/>
          </p:cNvSpPr>
          <p:nvPr/>
        </p:nvSpPr>
        <p:spPr>
          <a:xfrm xmlns:a="http://schemas.openxmlformats.org/drawingml/2006/main">
            <a:off x="8743950" y="2114550"/>
            <a:ext cx="2838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9AB1C5"/>
                </a:solidFill>
                <a:latin typeface="Arial"/>
                <a:ea typeface="Arial"/>
                <a:cs typeface="Arial"/>
              </a:defRPr>
            </a:pPr>
            <a:r>
              <a:rPr sz="1650" b="0" lang="he-IL">
                <a:solidFill>
                  <a:srgbClr val="9AB1C5"/>
                </a:solidFill>
                <a:latin typeface="Arial"/>
                <a:ea typeface="Arial"/>
                <a:cs typeface="Arial"/>
              </a:rPr>
              <a:t>מחיר, נפח, Indicators, דיווחי חברה וטריות נתונים במקום אחד.</a:t>
            </a:r>
          </a:p>
        </p:txBody>
      </p:sp>
      <p:sp>
        <p:nvSpPr>
          <p:cNvPr id="9" name="">
            <a:extLst xmlns:a="http://schemas.openxmlformats.org/drawingml/2006/main">
              <a:ext uri="{FF2B5EF4-FFF2-40B4-BE49-F238E27FC236}">
                <a16:creationId xmlns:a16="http://schemas.microsoft.com/office/drawing/2014/main" id="{E02B0106-C9C1-4617-B1AD-CDD9599B83DE}"/>
              </a:ext>
            </a:extLst>
          </p:cNvPr>
          <p:cNvSpPr>
            <a:spLocks xmlns:a="http://schemas.openxmlformats.org/drawingml/2006/main" noGrp="1"/>
          </p:cNvSpPr>
          <p:nvPr/>
        </p:nvSpPr>
        <p:spPr>
          <a:xfrm xmlns:a="http://schemas.openxmlformats.org/drawingml/2006/main">
            <a:off x="8743950" y="3143250"/>
            <a:ext cx="283845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10" name="">
            <a:extLst xmlns:a="http://schemas.openxmlformats.org/drawingml/2006/main">
              <a:ext uri="{FF2B5EF4-FFF2-40B4-BE49-F238E27FC236}">
                <a16:creationId xmlns:a16="http://schemas.microsoft.com/office/drawing/2014/main" id="{89FF6839-AB57-4EA0-801B-F0B555EFB531}"/>
              </a:ext>
            </a:extLst>
          </p:cNvPr>
          <p:cNvSpPr>
            <a:spLocks xmlns:a="http://schemas.openxmlformats.org/drawingml/2006/main" noGrp="1"/>
          </p:cNvSpPr>
          <p:nvPr/>
        </p:nvSpPr>
        <p:spPr>
          <a:xfrm xmlns:a="http://schemas.openxmlformats.org/drawingml/2006/main">
            <a:off x="8743950" y="331470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35D4B5"/>
                </a:solidFill>
                <a:latin typeface="Cascadia Mono"/>
                <a:ea typeface="Cascadia Mono"/>
                <a:cs typeface="Cascadia Mono"/>
              </a:defRPr>
            </a:pPr>
            <a:r>
              <a:rPr sz="1800" b="1">
                <a:solidFill>
                  <a:srgbClr val="35D4B5"/>
                </a:solidFill>
                <a:latin typeface="Cascadia Mono"/>
                <a:ea typeface="Cascadia Mono"/>
                <a:cs typeface="Cascadia Mono"/>
              </a:rPr>
              <a:t>11</a:t>
            </a:r>
          </a:p>
        </p:txBody>
      </p:sp>
      <p:sp>
        <p:nvSpPr>
          <p:cNvPr id="11" name="">
            <a:extLst xmlns:a="http://schemas.openxmlformats.org/drawingml/2006/main">
              <a:ext uri="{FF2B5EF4-FFF2-40B4-BE49-F238E27FC236}">
                <a16:creationId xmlns:a16="http://schemas.microsoft.com/office/drawing/2014/main" id="{06F64E7C-5252-4D7F-9059-B1AC4FE1F0DA}"/>
              </a:ext>
            </a:extLst>
          </p:cNvPr>
          <p:cNvSpPr>
            <a:spLocks xmlns:a="http://schemas.openxmlformats.org/drawingml/2006/main" noGrp="1"/>
          </p:cNvSpPr>
          <p:nvPr/>
        </p:nvSpPr>
        <p:spPr>
          <a:xfrm xmlns:a="http://schemas.openxmlformats.org/drawingml/2006/main">
            <a:off x="10001250" y="3352800"/>
            <a:ext cx="1581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425" b="0" lang="he-IL">
                <a:solidFill>
                  <a:srgbClr val="9AB1C5"/>
                </a:solidFill>
                <a:latin typeface="Arial"/>
                <a:ea typeface="Arial"/>
                <a:cs typeface="Arial"/>
              </a:defRPr>
            </a:pPr>
            <a:r>
              <a:rPr sz="1425" b="0" lang="he-IL">
                <a:solidFill>
                  <a:srgbClr val="9AB1C5"/>
                </a:solidFill>
                <a:latin typeface="Arial"/>
                <a:ea typeface="Arial"/>
                <a:cs typeface="Arial"/>
              </a:rPr>
              <a:t>נכסים במעקב</a:t>
            </a:r>
          </a:p>
        </p:txBody>
      </p:sp>
      <p:sp>
        <p:nvSpPr>
          <p:cNvPr id="12" name="">
            <a:extLst xmlns:a="http://schemas.openxmlformats.org/drawingml/2006/main">
              <a:ext uri="{FF2B5EF4-FFF2-40B4-BE49-F238E27FC236}">
                <a16:creationId xmlns:a16="http://schemas.microsoft.com/office/drawing/2014/main" id="{C78F558F-AC1A-455E-ADAE-449B37E466EA}"/>
              </a:ext>
            </a:extLst>
          </p:cNvPr>
          <p:cNvSpPr>
            <a:spLocks xmlns:a="http://schemas.openxmlformats.org/drawingml/2006/main" noGrp="1"/>
          </p:cNvSpPr>
          <p:nvPr/>
        </p:nvSpPr>
        <p:spPr>
          <a:xfrm xmlns:a="http://schemas.openxmlformats.org/drawingml/2006/main">
            <a:off x="8743950" y="392430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5B91FF"/>
                </a:solidFill>
                <a:latin typeface="Cascadia Mono"/>
                <a:ea typeface="Cascadia Mono"/>
                <a:cs typeface="Cascadia Mono"/>
              </a:defRPr>
            </a:pPr>
            <a:r>
              <a:rPr sz="1800" b="1">
                <a:solidFill>
                  <a:srgbClr val="5B91FF"/>
                </a:solidFill>
                <a:latin typeface="Cascadia Mono"/>
                <a:ea typeface="Cascadia Mono"/>
                <a:cs typeface="Cascadia Mono"/>
              </a:rPr>
              <a:t>72,850</a:t>
            </a:r>
          </a:p>
        </p:txBody>
      </p:sp>
      <p:sp>
        <p:nvSpPr>
          <p:cNvPr id="13" name="">
            <a:extLst xmlns:a="http://schemas.openxmlformats.org/drawingml/2006/main">
              <a:ext uri="{FF2B5EF4-FFF2-40B4-BE49-F238E27FC236}">
                <a16:creationId xmlns:a16="http://schemas.microsoft.com/office/drawing/2014/main" id="{4325FBFA-8781-48F5-8887-7689B55C849D}"/>
              </a:ext>
            </a:extLst>
          </p:cNvPr>
          <p:cNvSpPr>
            <a:spLocks xmlns:a="http://schemas.openxmlformats.org/drawingml/2006/main" noGrp="1"/>
          </p:cNvSpPr>
          <p:nvPr/>
        </p:nvSpPr>
        <p:spPr>
          <a:xfrm xmlns:a="http://schemas.openxmlformats.org/drawingml/2006/main">
            <a:off x="10001250" y="3962400"/>
            <a:ext cx="1581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425" b="0" lang="he-IL">
                <a:solidFill>
                  <a:srgbClr val="9AB1C5"/>
                </a:solidFill>
                <a:latin typeface="Arial"/>
                <a:ea typeface="Arial"/>
                <a:cs typeface="Arial"/>
              </a:defRPr>
            </a:pPr>
            <a:r>
              <a:rPr sz="1425" b="0" lang="he-IL">
                <a:solidFill>
                  <a:srgbClr val="9AB1C5"/>
                </a:solidFill>
                <a:latin typeface="Arial"/>
                <a:ea typeface="Arial"/>
                <a:cs typeface="Arial"/>
              </a:rPr>
              <a:t>נרות Gold</a:t>
            </a:r>
          </a:p>
        </p:txBody>
      </p:sp>
      <p:sp>
        <p:nvSpPr>
          <p:cNvPr id="14" name="">
            <a:extLst xmlns:a="http://schemas.openxmlformats.org/drawingml/2006/main">
              <a:ext uri="{FF2B5EF4-FFF2-40B4-BE49-F238E27FC236}">
                <a16:creationId xmlns:a16="http://schemas.microsoft.com/office/drawing/2014/main" id="{F26D2D24-B63A-407F-9E65-B70BCE92C8A4}"/>
              </a:ext>
            </a:extLst>
          </p:cNvPr>
          <p:cNvSpPr>
            <a:spLocks xmlns:a="http://schemas.openxmlformats.org/drawingml/2006/main" noGrp="1"/>
          </p:cNvSpPr>
          <p:nvPr/>
        </p:nvSpPr>
        <p:spPr>
          <a:xfrm xmlns:a="http://schemas.openxmlformats.org/drawingml/2006/main">
            <a:off x="8743950" y="453390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5B91FF"/>
                </a:solidFill>
                <a:latin typeface="Cascadia Mono"/>
                <a:ea typeface="Cascadia Mono"/>
                <a:cs typeface="Cascadia Mono"/>
              </a:defRPr>
            </a:pPr>
            <a:r>
              <a:rPr sz="1800" b="1">
                <a:solidFill>
                  <a:srgbClr val="5B91FF"/>
                </a:solidFill>
                <a:latin typeface="Cascadia Mono"/>
                <a:ea typeface="Cascadia Mono"/>
                <a:cs typeface="Cascadia Mono"/>
              </a:rPr>
              <a:t>65,616</a:t>
            </a:r>
          </a:p>
        </p:txBody>
      </p:sp>
      <p:sp>
        <p:nvSpPr>
          <p:cNvPr id="15" name="">
            <a:extLst xmlns:a="http://schemas.openxmlformats.org/drawingml/2006/main">
              <a:ext uri="{FF2B5EF4-FFF2-40B4-BE49-F238E27FC236}">
                <a16:creationId xmlns:a16="http://schemas.microsoft.com/office/drawing/2014/main" id="{6B22A782-8F70-4EF5-B56F-49377671F4AC}"/>
              </a:ext>
            </a:extLst>
          </p:cNvPr>
          <p:cNvSpPr>
            <a:spLocks xmlns:a="http://schemas.openxmlformats.org/drawingml/2006/main" noGrp="1"/>
          </p:cNvSpPr>
          <p:nvPr/>
        </p:nvSpPr>
        <p:spPr>
          <a:xfrm xmlns:a="http://schemas.openxmlformats.org/drawingml/2006/main">
            <a:off x="10001250" y="4572000"/>
            <a:ext cx="1581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425" b="0" lang="he-IL">
                <a:solidFill>
                  <a:srgbClr val="9AB1C5"/>
                </a:solidFill>
                <a:latin typeface="Arial"/>
                <a:ea typeface="Arial"/>
                <a:cs typeface="Arial"/>
              </a:defRPr>
            </a:pPr>
            <a:r>
              <a:rPr sz="1425" b="0" lang="he-IL">
                <a:solidFill>
                  <a:srgbClr val="9AB1C5"/>
                </a:solidFill>
                <a:latin typeface="Arial"/>
                <a:ea typeface="Arial"/>
                <a:cs typeface="Arial"/>
              </a:rPr>
              <a:t>נרות Certified</a:t>
            </a:r>
          </a:p>
        </p:txBody>
      </p:sp>
      <p:sp>
        <p:nvSpPr>
          <p:cNvPr id="16" name="">
            <a:extLst xmlns:a="http://schemas.openxmlformats.org/drawingml/2006/main">
              <a:ext uri="{FF2B5EF4-FFF2-40B4-BE49-F238E27FC236}">
                <a16:creationId xmlns:a16="http://schemas.microsoft.com/office/drawing/2014/main" id="{D0C06A59-14F5-4BC5-AB43-BA4A7DDDB894}"/>
              </a:ext>
            </a:extLst>
          </p:cNvPr>
          <p:cNvSpPr>
            <a:spLocks xmlns:a="http://schemas.openxmlformats.org/drawingml/2006/main" noGrp="1"/>
          </p:cNvSpPr>
          <p:nvPr/>
        </p:nvSpPr>
        <p:spPr>
          <a:xfrm xmlns:a="http://schemas.openxmlformats.org/drawingml/2006/main">
            <a:off x="8743950" y="514350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35D4B5"/>
                </a:solidFill>
                <a:latin typeface="Cascadia Mono"/>
                <a:ea typeface="Cascadia Mono"/>
                <a:cs typeface="Cascadia Mono"/>
              </a:defRPr>
            </a:pPr>
            <a:r>
              <a:rPr sz="1800" b="1">
                <a:solidFill>
                  <a:srgbClr val="35D4B5"/>
                </a:solidFill>
                <a:latin typeface="Cascadia Mono"/>
                <a:ea typeface="Cascadia Mono"/>
                <a:cs typeface="Cascadia Mono"/>
              </a:rPr>
              <a:t>937</a:t>
            </a:r>
          </a:p>
        </p:txBody>
      </p:sp>
      <p:sp>
        <p:nvSpPr>
          <p:cNvPr id="17" name="">
            <a:extLst xmlns:a="http://schemas.openxmlformats.org/drawingml/2006/main">
              <a:ext uri="{FF2B5EF4-FFF2-40B4-BE49-F238E27FC236}">
                <a16:creationId xmlns:a16="http://schemas.microsoft.com/office/drawing/2014/main" id="{57BBA33D-6A3A-4EB0-B60C-BB850670E5FE}"/>
              </a:ext>
            </a:extLst>
          </p:cNvPr>
          <p:cNvSpPr>
            <a:spLocks xmlns:a="http://schemas.openxmlformats.org/drawingml/2006/main" noGrp="1"/>
          </p:cNvSpPr>
          <p:nvPr/>
        </p:nvSpPr>
        <p:spPr>
          <a:xfrm xmlns:a="http://schemas.openxmlformats.org/drawingml/2006/main">
            <a:off x="10001250" y="5181600"/>
            <a:ext cx="1581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425" b="0" lang="he-IL">
                <a:solidFill>
                  <a:srgbClr val="9AB1C5"/>
                </a:solidFill>
                <a:latin typeface="Arial"/>
                <a:ea typeface="Arial"/>
                <a:cs typeface="Arial"/>
              </a:defRPr>
            </a:pPr>
            <a:r>
              <a:rPr sz="1425" b="0" lang="he-IL">
                <a:solidFill>
                  <a:srgbClr val="9AB1C5"/>
                </a:solidFill>
                <a:latin typeface="Arial"/>
                <a:ea typeface="Arial"/>
                <a:cs typeface="Arial"/>
              </a:rPr>
              <a:t>רשומות SEC</a:t>
            </a:r>
          </a:p>
        </p:txBody>
      </p:sp>
    </p:spTree>
    <p:extLst>
      <p:ext uri="{BB962C8B-B14F-4D97-AF65-F5344CB8AC3E}">
        <p14:creationId xmlns:p14="http://schemas.microsoft.com/office/powerpoint/2010/main" val="468008539"/>
      </p:ext>
    </p:extLst>
  </p:cSld>
</p:sld>
</file>

<file path=ppt/slides/slide8.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120A499-3116-4FE3-AFB3-71CCEDCFC31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C578608-7826-41A1-85CA-3FB48971EE2A}"/>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DECISION INTELLIGENCE</a:t>
            </a:r>
          </a:p>
        </p:txBody>
      </p:sp>
      <p:sp>
        <p:nvSpPr>
          <p:cNvPr id="3" name="">
            <a:extLst xmlns:a="http://schemas.openxmlformats.org/drawingml/2006/main">
              <a:ext uri="{FF2B5EF4-FFF2-40B4-BE49-F238E27FC236}">
                <a16:creationId xmlns:a16="http://schemas.microsoft.com/office/drawing/2014/main" id="{A81E865C-D7D7-43F0-9044-13F63A20CC16}"/>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F8FBFF"/>
                </a:solidFill>
                <a:latin typeface="Arial"/>
                <a:ea typeface="Arial"/>
                <a:cs typeface="Arial"/>
              </a:defRPr>
            </a:pPr>
            <a:r>
              <a:rPr sz="2400" b="1" lang="he-IL">
                <a:solidFill>
                  <a:srgbClr val="F8FBFF"/>
                </a:solidFill>
                <a:latin typeface="Arial"/>
                <a:ea typeface="Arial"/>
                <a:cs typeface="Arial"/>
              </a:rPr>
              <a:t>החלטה שמפרידה בין ראיה, הסתברות וסיכון</a:t>
            </a:r>
          </a:p>
        </p:txBody>
      </p:sp>
      <p:sp>
        <p:nvSpPr>
          <p:cNvPr id="4" name="">
            <a:extLst xmlns:a="http://schemas.openxmlformats.org/drawingml/2006/main">
              <a:ext uri="{FF2B5EF4-FFF2-40B4-BE49-F238E27FC236}">
                <a16:creationId xmlns:a16="http://schemas.microsoft.com/office/drawing/2014/main" id="{06D79530-B2AC-449D-BF8F-7F41385FFDA8}"/>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08</a:t>
            </a:r>
          </a:p>
        </p:txBody>
      </p:sp>
      <p:sp>
        <p:nvSpPr>
          <p:cNvPr id="5" name="">
            <a:extLst xmlns:a="http://schemas.openxmlformats.org/drawingml/2006/main">
              <a:ext uri="{FF2B5EF4-FFF2-40B4-BE49-F238E27FC236}">
                <a16:creationId xmlns:a16="http://schemas.microsoft.com/office/drawing/2014/main" id="{AA5F0764-2FE6-4DBE-9222-256766FC04AF}"/>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eab10b23189f4080"/>
          <a:srcRect xmlns:a="http://schemas.openxmlformats.org/drawingml/2006/main" l="0" t="2578" r="0" b="2578"/>
          <a:stretch xmlns:a="http://schemas.openxmlformats.org/drawingml/2006/main">
            <a:fillRect l="0" t="0" r="0" b="0"/>
          </a:stretch>
        </p:blipFill>
        <p:spPr>
          <a:xfrm xmlns:a="http://schemas.openxmlformats.org/drawingml/2006/main">
            <a:off x="457200" y="1352550"/>
            <a:ext cx="7905750" cy="4686300"/>
          </a:xfrm>
          <a:prstGeom xmlns:a="http://schemas.openxmlformats.org/drawingml/2006/main" prst="roundRect">
            <a:avLst>
              <a:gd name="adj" fmla="val 2846"/>
            </a:avLst>
          </a:prstGeom>
        </p:spPr>
      </p:pic>
      <p:sp>
        <p:nvSpPr>
          <p:cNvPr id="7" name="">
            <a:extLst xmlns:a="http://schemas.openxmlformats.org/drawingml/2006/main">
              <a:ext uri="{FF2B5EF4-FFF2-40B4-BE49-F238E27FC236}">
                <a16:creationId xmlns:a16="http://schemas.microsoft.com/office/drawing/2014/main" id="{4F38D792-F814-47BF-A12A-858C8ACDF96B}"/>
              </a:ext>
            </a:extLst>
          </p:cNvPr>
          <p:cNvSpPr>
            <a:spLocks xmlns:a="http://schemas.openxmlformats.org/drawingml/2006/main" noGrp="1"/>
          </p:cNvSpPr>
          <p:nvPr/>
        </p:nvSpPr>
        <p:spPr>
          <a:xfrm xmlns:a="http://schemas.openxmlformats.org/drawingml/2006/main">
            <a:off x="8763000" y="1466850"/>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100" b="1" lang="he-IL">
                <a:solidFill>
                  <a:srgbClr val="F8FBFF"/>
                </a:solidFill>
                <a:latin typeface="Arial"/>
                <a:ea typeface="Arial"/>
                <a:cs typeface="Arial"/>
              </a:defRPr>
            </a:pPr>
            <a:r>
              <a:rPr sz="2100" b="1" lang="he-IL">
                <a:solidFill>
                  <a:srgbClr val="F8FBFF"/>
                </a:solidFill>
                <a:latin typeface="Arial"/>
                <a:ea typeface="Arial"/>
                <a:cs typeface="Arial"/>
              </a:rPr>
              <a:t>שלוש שכבות שונות</a:t>
            </a:r>
          </a:p>
        </p:txBody>
      </p:sp>
      <p:sp>
        <p:nvSpPr>
          <p:cNvPr id="8" name="">
            <a:extLst xmlns:a="http://schemas.openxmlformats.org/drawingml/2006/main">
              <a:ext uri="{FF2B5EF4-FFF2-40B4-BE49-F238E27FC236}">
                <a16:creationId xmlns:a16="http://schemas.microsoft.com/office/drawing/2014/main" id="{827B9068-C3A7-4525-8E3E-CE6F11DF2799}"/>
              </a:ext>
            </a:extLst>
          </p:cNvPr>
          <p:cNvSpPr>
            <a:spLocks xmlns:a="http://schemas.openxmlformats.org/drawingml/2006/main" noGrp="1"/>
          </p:cNvSpPr>
          <p:nvPr/>
        </p:nvSpPr>
        <p:spPr>
          <a:xfrm xmlns:a="http://schemas.openxmlformats.org/drawingml/2006/main">
            <a:off x="8763000" y="2114550"/>
            <a:ext cx="2686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35D4B5"/>
                </a:solidFill>
                <a:latin typeface="Cascadia Mono"/>
                <a:ea typeface="Cascadia Mono"/>
                <a:cs typeface="Cascadia Mono"/>
              </a:defRPr>
            </a:pPr>
            <a:r>
              <a:rPr sz="1050" b="1">
                <a:solidFill>
                  <a:srgbClr val="35D4B5"/>
                </a:solidFill>
                <a:latin typeface="Cascadia Mono"/>
                <a:ea typeface="Cascadia Mono"/>
                <a:cs typeface="Cascadia Mono"/>
              </a:rPr>
              <a:t>RULE SCORE</a:t>
            </a:r>
          </a:p>
        </p:txBody>
      </p:sp>
      <p:sp>
        <p:nvSpPr>
          <p:cNvPr id="9" name="">
            <a:extLst xmlns:a="http://schemas.openxmlformats.org/drawingml/2006/main">
              <a:ext uri="{FF2B5EF4-FFF2-40B4-BE49-F238E27FC236}">
                <a16:creationId xmlns:a16="http://schemas.microsoft.com/office/drawing/2014/main" id="{94B84358-1F5C-4AAB-87AE-AF90222D892C}"/>
              </a:ext>
            </a:extLst>
          </p:cNvPr>
          <p:cNvSpPr>
            <a:spLocks xmlns:a="http://schemas.openxmlformats.org/drawingml/2006/main" noGrp="1"/>
          </p:cNvSpPr>
          <p:nvPr/>
        </p:nvSpPr>
        <p:spPr>
          <a:xfrm xmlns:a="http://schemas.openxmlformats.org/drawingml/2006/main">
            <a:off x="8763000" y="2381250"/>
            <a:ext cx="2686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F8FBFF"/>
                </a:solidFill>
                <a:latin typeface="Arial"/>
                <a:ea typeface="Arial"/>
                <a:cs typeface="Arial"/>
              </a:defRPr>
            </a:pPr>
            <a:r>
              <a:rPr sz="1650" b="0" lang="he-IL">
                <a:solidFill>
                  <a:srgbClr val="F8FBFF"/>
                </a:solidFill>
                <a:latin typeface="Arial"/>
                <a:ea typeface="Arial"/>
                <a:cs typeface="Arial"/>
              </a:rPr>
              <a:t>מה הכללים תומכים</a:t>
            </a:r>
          </a:p>
        </p:txBody>
      </p:sp>
      <p:sp>
        <p:nvSpPr>
          <p:cNvPr id="10" name="">
            <a:extLst xmlns:a="http://schemas.openxmlformats.org/drawingml/2006/main">
              <a:ext uri="{FF2B5EF4-FFF2-40B4-BE49-F238E27FC236}">
                <a16:creationId xmlns:a16="http://schemas.microsoft.com/office/drawing/2014/main" id="{61C57D3C-72B7-41F9-8377-4B65081AD0E5}"/>
              </a:ext>
            </a:extLst>
          </p:cNvPr>
          <p:cNvSpPr>
            <a:spLocks xmlns:a="http://schemas.openxmlformats.org/drawingml/2006/main" noGrp="1"/>
          </p:cNvSpPr>
          <p:nvPr/>
        </p:nvSpPr>
        <p:spPr>
          <a:xfrm xmlns:a="http://schemas.openxmlformats.org/drawingml/2006/main">
            <a:off x="8763000" y="2800350"/>
            <a:ext cx="2686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EF7484"/>
                </a:solidFill>
                <a:latin typeface="Cascadia Mono"/>
                <a:ea typeface="Cascadia Mono"/>
                <a:cs typeface="Cascadia Mono"/>
              </a:defRPr>
            </a:pPr>
            <a:r>
              <a:rPr sz="1050" b="1">
                <a:solidFill>
                  <a:srgbClr val="EF7484"/>
                </a:solidFill>
                <a:latin typeface="Cascadia Mono"/>
                <a:ea typeface="Cascadia Mono"/>
                <a:cs typeface="Cascadia Mono"/>
              </a:rPr>
              <a:t>MODEL PROBABILITY</a:t>
            </a:r>
          </a:p>
        </p:txBody>
      </p:sp>
      <p:sp>
        <p:nvSpPr>
          <p:cNvPr id="11" name="">
            <a:extLst xmlns:a="http://schemas.openxmlformats.org/drawingml/2006/main">
              <a:ext uri="{FF2B5EF4-FFF2-40B4-BE49-F238E27FC236}">
                <a16:creationId xmlns:a16="http://schemas.microsoft.com/office/drawing/2014/main" id="{DEFDB20B-9F36-4091-B9A7-34C2D16BB90F}"/>
              </a:ext>
            </a:extLst>
          </p:cNvPr>
          <p:cNvSpPr>
            <a:spLocks xmlns:a="http://schemas.openxmlformats.org/drawingml/2006/main" noGrp="1"/>
          </p:cNvSpPr>
          <p:nvPr/>
        </p:nvSpPr>
        <p:spPr>
          <a:xfrm xmlns:a="http://schemas.openxmlformats.org/drawingml/2006/main">
            <a:off x="8763000" y="3067050"/>
            <a:ext cx="2686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F8FBFF"/>
                </a:solidFill>
                <a:latin typeface="Arial"/>
                <a:ea typeface="Arial"/>
                <a:cs typeface="Arial"/>
              </a:defRPr>
            </a:pPr>
            <a:r>
              <a:rPr sz="1650" b="0" lang="he-IL">
                <a:solidFill>
                  <a:srgbClr val="F8FBFF"/>
                </a:solidFill>
                <a:latin typeface="Arial"/>
                <a:ea typeface="Arial"/>
                <a:cs typeface="Arial"/>
              </a:rPr>
              <a:t>רק לאחר אימון ואימות</a:t>
            </a:r>
          </a:p>
        </p:txBody>
      </p:sp>
      <p:sp>
        <p:nvSpPr>
          <p:cNvPr id="12" name="">
            <a:extLst xmlns:a="http://schemas.openxmlformats.org/drawingml/2006/main">
              <a:ext uri="{FF2B5EF4-FFF2-40B4-BE49-F238E27FC236}">
                <a16:creationId xmlns:a16="http://schemas.microsoft.com/office/drawing/2014/main" id="{B80A0973-5478-456D-914D-1DABE6F48871}"/>
              </a:ext>
            </a:extLst>
          </p:cNvPr>
          <p:cNvSpPr>
            <a:spLocks xmlns:a="http://schemas.openxmlformats.org/drawingml/2006/main" noGrp="1"/>
          </p:cNvSpPr>
          <p:nvPr/>
        </p:nvSpPr>
        <p:spPr>
          <a:xfrm xmlns:a="http://schemas.openxmlformats.org/drawingml/2006/main">
            <a:off x="8763000" y="3486150"/>
            <a:ext cx="2686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35D4B5"/>
                </a:solidFill>
                <a:latin typeface="Cascadia Mono"/>
                <a:ea typeface="Cascadia Mono"/>
                <a:cs typeface="Cascadia Mono"/>
              </a:defRPr>
            </a:pPr>
            <a:r>
              <a:rPr sz="1050" b="1">
                <a:solidFill>
                  <a:srgbClr val="35D4B5"/>
                </a:solidFill>
                <a:latin typeface="Cascadia Mono"/>
                <a:ea typeface="Cascadia Mono"/>
                <a:cs typeface="Cascadia Mono"/>
              </a:rPr>
              <a:t>DATA CONFIDENCE</a:t>
            </a:r>
          </a:p>
        </p:txBody>
      </p:sp>
      <p:sp>
        <p:nvSpPr>
          <p:cNvPr id="13" name="">
            <a:extLst xmlns:a="http://schemas.openxmlformats.org/drawingml/2006/main">
              <a:ext uri="{FF2B5EF4-FFF2-40B4-BE49-F238E27FC236}">
                <a16:creationId xmlns:a16="http://schemas.microsoft.com/office/drawing/2014/main" id="{C00A22B0-DF40-4F1E-9FAD-F1ACC1D02C1E}"/>
              </a:ext>
            </a:extLst>
          </p:cNvPr>
          <p:cNvSpPr>
            <a:spLocks xmlns:a="http://schemas.openxmlformats.org/drawingml/2006/main" noGrp="1"/>
          </p:cNvSpPr>
          <p:nvPr/>
        </p:nvSpPr>
        <p:spPr>
          <a:xfrm xmlns:a="http://schemas.openxmlformats.org/drawingml/2006/main">
            <a:off x="8763000" y="3752850"/>
            <a:ext cx="2686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F8FBFF"/>
                </a:solidFill>
                <a:latin typeface="Arial"/>
                <a:ea typeface="Arial"/>
                <a:cs typeface="Arial"/>
              </a:defRPr>
            </a:pPr>
            <a:r>
              <a:rPr sz="1650" b="0" lang="he-IL">
                <a:solidFill>
                  <a:srgbClr val="F8FBFF"/>
                </a:solidFill>
                <a:latin typeface="Arial"/>
                <a:ea typeface="Arial"/>
                <a:cs typeface="Arial"/>
              </a:rPr>
              <a:t>איכות, כיסוי וטריות</a:t>
            </a:r>
          </a:p>
        </p:txBody>
      </p:sp>
      <p:sp>
        <p:nvSpPr>
          <p:cNvPr id="14" name="">
            <a:extLst xmlns:a="http://schemas.openxmlformats.org/drawingml/2006/main">
              <a:ext uri="{FF2B5EF4-FFF2-40B4-BE49-F238E27FC236}">
                <a16:creationId xmlns:a16="http://schemas.microsoft.com/office/drawing/2014/main" id="{AFA73872-C3A2-4DAF-B153-00C1FA50B44D}"/>
              </a:ext>
            </a:extLst>
          </p:cNvPr>
          <p:cNvSpPr>
            <a:spLocks xmlns:a="http://schemas.openxmlformats.org/drawingml/2006/main" noGrp="1"/>
          </p:cNvSpPr>
          <p:nvPr/>
        </p:nvSpPr>
        <p:spPr>
          <a:xfrm xmlns:a="http://schemas.openxmlformats.org/drawingml/2006/main">
            <a:off x="8763000" y="4171950"/>
            <a:ext cx="2686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35D4B5"/>
                </a:solidFill>
                <a:latin typeface="Cascadia Mono"/>
                <a:ea typeface="Cascadia Mono"/>
                <a:cs typeface="Cascadia Mono"/>
              </a:defRPr>
            </a:pPr>
            <a:r>
              <a:rPr sz="1050" b="1">
                <a:solidFill>
                  <a:srgbClr val="35D4B5"/>
                </a:solidFill>
                <a:latin typeface="Cascadia Mono"/>
                <a:ea typeface="Cascadia Mono"/>
                <a:cs typeface="Cascadia Mono"/>
              </a:rPr>
              <a:t>LEVELS + RISK</a:t>
            </a:r>
          </a:p>
        </p:txBody>
      </p:sp>
      <p:sp>
        <p:nvSpPr>
          <p:cNvPr id="15" name="">
            <a:extLst xmlns:a="http://schemas.openxmlformats.org/drawingml/2006/main">
              <a:ext uri="{FF2B5EF4-FFF2-40B4-BE49-F238E27FC236}">
                <a16:creationId xmlns:a16="http://schemas.microsoft.com/office/drawing/2014/main" id="{466123D5-AD74-4065-988E-DF00956E5A54}"/>
              </a:ext>
            </a:extLst>
          </p:cNvPr>
          <p:cNvSpPr>
            <a:spLocks xmlns:a="http://schemas.openxmlformats.org/drawingml/2006/main" noGrp="1"/>
          </p:cNvSpPr>
          <p:nvPr/>
        </p:nvSpPr>
        <p:spPr>
          <a:xfrm xmlns:a="http://schemas.openxmlformats.org/drawingml/2006/main">
            <a:off x="8763000" y="4438650"/>
            <a:ext cx="2686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F8FBFF"/>
                </a:solidFill>
                <a:latin typeface="Arial"/>
                <a:ea typeface="Arial"/>
                <a:cs typeface="Arial"/>
              </a:defRPr>
            </a:pPr>
            <a:r>
              <a:rPr sz="1650" b="0" lang="he-IL">
                <a:solidFill>
                  <a:srgbClr val="F8FBFF"/>
                </a:solidFill>
                <a:latin typeface="Arial"/>
                <a:ea typeface="Arial"/>
                <a:cs typeface="Arial"/>
              </a:rPr>
              <a:t>כניסה, ביטול ויעדים</a:t>
            </a:r>
          </a:p>
        </p:txBody>
      </p:sp>
      <p:sp>
        <p:nvSpPr>
          <p:cNvPr id="16" name="">
            <a:extLst xmlns:a="http://schemas.openxmlformats.org/drawingml/2006/main">
              <a:ext uri="{FF2B5EF4-FFF2-40B4-BE49-F238E27FC236}">
                <a16:creationId xmlns:a16="http://schemas.microsoft.com/office/drawing/2014/main" id="{096A507A-D13D-4CC6-9DDD-B3744DC9CF1D}"/>
              </a:ext>
            </a:extLst>
          </p:cNvPr>
          <p:cNvSpPr>
            <a:spLocks xmlns:a="http://schemas.openxmlformats.org/drawingml/2006/main" noGrp="1"/>
          </p:cNvSpPr>
          <p:nvPr/>
        </p:nvSpPr>
        <p:spPr>
          <a:xfrm xmlns:a="http://schemas.openxmlformats.org/drawingml/2006/main">
            <a:off x="8763000" y="4953000"/>
            <a:ext cx="2762250" cy="19050"/>
          </a:xfrm>
          <a:prstGeom xmlns:a="http://schemas.openxmlformats.org/drawingml/2006/main" prst="rect">
            <a:avLst/>
          </a:prstGeom>
          <a:solidFill xmlns:a="http://schemas.openxmlformats.org/drawingml/2006/main">
            <a:srgbClr val="29415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349B7E0-BB12-464E-BAD0-B8E3F4ABBF42}"/>
              </a:ext>
            </a:extLst>
          </p:cNvPr>
          <p:cNvSpPr>
            <a:spLocks xmlns:a="http://schemas.openxmlformats.org/drawingml/2006/main" noGrp="1"/>
          </p:cNvSpPr>
          <p:nvPr/>
        </p:nvSpPr>
        <p:spPr>
          <a:xfrm xmlns:a="http://schemas.openxmlformats.org/drawingml/2006/main">
            <a:off x="8763000" y="5200650"/>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F4B94F"/>
                </a:solidFill>
                <a:latin typeface="Cascadia Mono"/>
                <a:ea typeface="Cascadia Mono"/>
                <a:cs typeface="Cascadia Mono"/>
              </a:defRPr>
            </a:pPr>
            <a:r>
              <a:rPr sz="1800" b="1">
                <a:solidFill>
                  <a:srgbClr val="F4B94F"/>
                </a:solidFill>
                <a:latin typeface="Cascadia Mono"/>
                <a:ea typeface="Cascadia Mono"/>
                <a:cs typeface="Cascadia Mono"/>
              </a:rPr>
              <a:t>2 / 20</a:t>
            </a:r>
          </a:p>
        </p:txBody>
      </p:sp>
      <p:sp>
        <p:nvSpPr>
          <p:cNvPr id="18" name="">
            <a:extLst xmlns:a="http://schemas.openxmlformats.org/drawingml/2006/main">
              <a:ext uri="{FF2B5EF4-FFF2-40B4-BE49-F238E27FC236}">
                <a16:creationId xmlns:a16="http://schemas.microsoft.com/office/drawing/2014/main" id="{F662E5D9-2A51-4A98-B250-22847001FCD8}"/>
              </a:ext>
            </a:extLst>
          </p:cNvPr>
          <p:cNvSpPr>
            <a:spLocks xmlns:a="http://schemas.openxmlformats.org/drawingml/2006/main" noGrp="1"/>
          </p:cNvSpPr>
          <p:nvPr/>
        </p:nvSpPr>
        <p:spPr>
          <a:xfrm xmlns:a="http://schemas.openxmlformats.org/drawingml/2006/main">
            <a:off x="9791700" y="5238750"/>
            <a:ext cx="1733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350" b="0" lang="he-IL">
                <a:solidFill>
                  <a:srgbClr val="9AB1C5"/>
                </a:solidFill>
                <a:latin typeface="Arial"/>
                <a:ea typeface="Arial"/>
                <a:cs typeface="Arial"/>
              </a:defRPr>
            </a:pPr>
            <a:r>
              <a:rPr sz="1350" b="0" lang="he-IL">
                <a:solidFill>
                  <a:srgbClr val="9AB1C5"/>
                </a:solidFill>
                <a:latin typeface="Arial"/>
                <a:ea typeface="Arial"/>
                <a:cs typeface="Arial"/>
              </a:rPr>
              <a:t>ימי Shadow Mode חיים</a:t>
            </a:r>
          </a:p>
        </p:txBody>
      </p:sp>
      <p:sp>
        <p:nvSpPr>
          <p:cNvPr id="19" name="">
            <a:extLst xmlns:a="http://schemas.openxmlformats.org/drawingml/2006/main">
              <a:ext uri="{FF2B5EF4-FFF2-40B4-BE49-F238E27FC236}">
                <a16:creationId xmlns:a16="http://schemas.microsoft.com/office/drawing/2014/main" id="{C325848E-2CEB-4B8D-837F-96B2A0136459}"/>
              </a:ext>
            </a:extLst>
          </p:cNvPr>
          <p:cNvSpPr>
            <a:spLocks xmlns:a="http://schemas.openxmlformats.org/drawingml/2006/main" noGrp="1"/>
          </p:cNvSpPr>
          <p:nvPr/>
        </p:nvSpPr>
        <p:spPr>
          <a:xfrm xmlns:a="http://schemas.openxmlformats.org/drawingml/2006/main">
            <a:off x="8763000" y="5543550"/>
            <a:ext cx="276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EF7484"/>
                </a:solidFill>
                <a:latin typeface="Cascadia Mono"/>
                <a:ea typeface="Cascadia Mono"/>
                <a:cs typeface="Cascadia Mono"/>
              </a:defRPr>
            </a:pPr>
            <a:r>
              <a:rPr sz="1125" b="1">
                <a:solidFill>
                  <a:srgbClr val="EF7484"/>
                </a:solidFill>
                <a:latin typeface="Cascadia Mono"/>
                <a:ea typeface="Cascadia Mono"/>
                <a:cs typeface="Cascadia Mono"/>
              </a:rPr>
              <a:t>V2 FALLBACK</a:t>
            </a:r>
          </a:p>
        </p:txBody>
      </p:sp>
      <p:sp>
        <p:nvSpPr>
          <p:cNvPr id="20" name="">
            <a:extLst xmlns:a="http://schemas.openxmlformats.org/drawingml/2006/main">
              <a:ext uri="{FF2B5EF4-FFF2-40B4-BE49-F238E27FC236}">
                <a16:creationId xmlns:a16="http://schemas.microsoft.com/office/drawing/2014/main" id="{DFE4F297-C310-4516-8287-77BB6C718A05}"/>
              </a:ext>
            </a:extLst>
          </p:cNvPr>
          <p:cNvSpPr>
            <a:spLocks xmlns:a="http://schemas.openxmlformats.org/drawingml/2006/main" noGrp="1"/>
          </p:cNvSpPr>
          <p:nvPr/>
        </p:nvSpPr>
        <p:spPr>
          <a:xfrm xmlns:a="http://schemas.openxmlformats.org/drawingml/2006/main">
            <a:off x="8763000" y="5810250"/>
            <a:ext cx="276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275" b="0" lang="he-IL">
                <a:solidFill>
                  <a:srgbClr val="EF7484"/>
                </a:solidFill>
                <a:latin typeface="Arial"/>
                <a:ea typeface="Arial"/>
                <a:cs typeface="Arial"/>
              </a:defRPr>
            </a:pPr>
            <a:r>
              <a:rPr sz="1275" b="0" lang="he-IL">
                <a:solidFill>
                  <a:srgbClr val="EF7484"/>
                </a:solidFill>
                <a:latin typeface="Arial"/>
                <a:ea typeface="Arial"/>
                <a:cs typeface="Arial"/>
              </a:rPr>
              <a:t>אין הסתברות מומצאת</a:t>
            </a:r>
          </a:p>
        </p:txBody>
      </p:sp>
    </p:spTree>
    <p:extLst>
      <p:ext uri="{BB962C8B-B14F-4D97-AF65-F5344CB8AC3E}">
        <p14:creationId xmlns:p14="http://schemas.microsoft.com/office/powerpoint/2010/main" val="272530501"/>
      </p:ext>
    </p:extLst>
  </p:cSld>
</p:sld>
</file>

<file path=ppt/slides/slide9.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0C6383D-675F-4247-AE05-A0B61C98B5E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A902CA8-F3E1-4A2E-9320-56FA184F0AB3}"/>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HISTORICAL VALIDATION</a:t>
            </a:r>
          </a:p>
        </p:txBody>
      </p:sp>
      <p:sp>
        <p:nvSpPr>
          <p:cNvPr id="3" name="">
            <a:extLst xmlns:a="http://schemas.openxmlformats.org/drawingml/2006/main">
              <a:ext uri="{FF2B5EF4-FFF2-40B4-BE49-F238E27FC236}">
                <a16:creationId xmlns:a16="http://schemas.microsoft.com/office/drawing/2014/main" id="{EBDC10C3-50F0-4C78-A2B1-CD7DEF08778F}"/>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F8FBFF"/>
                </a:solidFill>
                <a:latin typeface="Arial"/>
                <a:ea typeface="Arial"/>
                <a:cs typeface="Arial"/>
              </a:defRPr>
            </a:pPr>
            <a:r>
              <a:rPr sz="2400" b="1" lang="he-IL">
                <a:solidFill>
                  <a:srgbClr val="F8FBFF"/>
                </a:solidFill>
                <a:latin typeface="Arial"/>
                <a:ea typeface="Arial"/>
                <a:cs typeface="Arial"/>
              </a:rPr>
              <a:t>בדיקה היסטורית שלא מסתירה חיכוך</a:t>
            </a:r>
          </a:p>
        </p:txBody>
      </p:sp>
      <p:sp>
        <p:nvSpPr>
          <p:cNvPr id="4" name="">
            <a:extLst xmlns:a="http://schemas.openxmlformats.org/drawingml/2006/main">
              <a:ext uri="{FF2B5EF4-FFF2-40B4-BE49-F238E27FC236}">
                <a16:creationId xmlns:a16="http://schemas.microsoft.com/office/drawing/2014/main" id="{DD88123C-639D-4EF2-94C0-E90C6859F195}"/>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09</a:t>
            </a:r>
          </a:p>
        </p:txBody>
      </p:sp>
      <p:sp>
        <p:nvSpPr>
          <p:cNvPr id="5" name="">
            <a:extLst xmlns:a="http://schemas.openxmlformats.org/drawingml/2006/main">
              <a:ext uri="{FF2B5EF4-FFF2-40B4-BE49-F238E27FC236}">
                <a16:creationId xmlns:a16="http://schemas.microsoft.com/office/drawing/2014/main" id="{D7B3513E-0B5F-4471-AD5B-ED5FC69EC23B}"/>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32f8972aab244bc2"/>
          <a:srcRect xmlns:a="http://schemas.openxmlformats.org/drawingml/2006/main" l="0" t="3714" r="0" b="3714"/>
          <a:stretch xmlns:a="http://schemas.openxmlformats.org/drawingml/2006/main">
            <a:fillRect l="0" t="0" r="0" b="0"/>
          </a:stretch>
        </p:blipFill>
        <p:spPr>
          <a:xfrm xmlns:a="http://schemas.openxmlformats.org/drawingml/2006/main">
            <a:off x="495300" y="1276350"/>
            <a:ext cx="8001000" cy="4629150"/>
          </a:xfrm>
          <a:prstGeom xmlns:a="http://schemas.openxmlformats.org/drawingml/2006/main" prst="roundRect">
            <a:avLst>
              <a:gd name="adj" fmla="val 2881"/>
            </a:avLst>
          </a:prstGeom>
        </p:spPr>
      </p:pic>
      <p:sp>
        <p:nvSpPr>
          <p:cNvPr id="7" name="">
            <a:extLst xmlns:a="http://schemas.openxmlformats.org/drawingml/2006/main">
              <a:ext uri="{FF2B5EF4-FFF2-40B4-BE49-F238E27FC236}">
                <a16:creationId xmlns:a16="http://schemas.microsoft.com/office/drawing/2014/main" id="{8C4C001B-6341-45A4-BF8C-53BCF241AB1D}"/>
              </a:ext>
            </a:extLst>
          </p:cNvPr>
          <p:cNvSpPr>
            <a:spLocks xmlns:a="http://schemas.openxmlformats.org/drawingml/2006/main" noGrp="1"/>
          </p:cNvSpPr>
          <p:nvPr/>
        </p:nvSpPr>
        <p:spPr>
          <a:xfrm xmlns:a="http://schemas.openxmlformats.org/drawingml/2006/main">
            <a:off x="8858250" y="1409700"/>
            <a:ext cx="266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950" b="1" lang="he-IL">
                <a:solidFill>
                  <a:srgbClr val="F8FBFF"/>
                </a:solidFill>
                <a:latin typeface="Arial"/>
                <a:ea typeface="Arial"/>
                <a:cs typeface="Arial"/>
              </a:defRPr>
            </a:pPr>
            <a:r>
              <a:rPr sz="1950" b="1" lang="he-IL">
                <a:solidFill>
                  <a:srgbClr val="F8FBFF"/>
                </a:solidFill>
                <a:latin typeface="Arial"/>
                <a:ea typeface="Arial"/>
                <a:cs typeface="Arial"/>
              </a:rPr>
              <a:t>ריצה מאושרת</a:t>
            </a:r>
          </a:p>
        </p:txBody>
      </p:sp>
      <p:sp>
        <p:nvSpPr>
          <p:cNvPr id="8" name="">
            <a:extLst xmlns:a="http://schemas.openxmlformats.org/drawingml/2006/main">
              <a:ext uri="{FF2B5EF4-FFF2-40B4-BE49-F238E27FC236}">
                <a16:creationId xmlns:a16="http://schemas.microsoft.com/office/drawing/2014/main" id="{3BCA77FC-DDC7-4B16-8806-637B5CF1A78F}"/>
              </a:ext>
            </a:extLst>
          </p:cNvPr>
          <p:cNvSpPr>
            <a:spLocks xmlns:a="http://schemas.openxmlformats.org/drawingml/2006/main" noGrp="1"/>
          </p:cNvSpPr>
          <p:nvPr/>
        </p:nvSpPr>
        <p:spPr>
          <a:xfrm xmlns:a="http://schemas.openxmlformats.org/drawingml/2006/main">
            <a:off x="8858250" y="2057400"/>
            <a:ext cx="266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400" b="1">
                <a:solidFill>
                  <a:srgbClr val="35D4B5"/>
                </a:solidFill>
                <a:latin typeface="Cascadia Mono"/>
                <a:ea typeface="Cascadia Mono"/>
                <a:cs typeface="Cascadia Mono"/>
              </a:defRPr>
            </a:pPr>
            <a:r>
              <a:rPr sz="2400" b="1">
                <a:solidFill>
                  <a:srgbClr val="35D4B5"/>
                </a:solidFill>
                <a:latin typeface="Cascadia Mono"/>
                <a:ea typeface="Cascadia Mono"/>
                <a:cs typeface="Cascadia Mono"/>
              </a:rPr>
              <a:t>53</a:t>
            </a:r>
          </a:p>
        </p:txBody>
      </p:sp>
      <p:sp>
        <p:nvSpPr>
          <p:cNvPr id="9" name="">
            <a:extLst xmlns:a="http://schemas.openxmlformats.org/drawingml/2006/main">
              <a:ext uri="{FF2B5EF4-FFF2-40B4-BE49-F238E27FC236}">
                <a16:creationId xmlns:a16="http://schemas.microsoft.com/office/drawing/2014/main" id="{462375A7-B04F-44B2-8949-F17F6F3F78B0}"/>
              </a:ext>
            </a:extLst>
          </p:cNvPr>
          <p:cNvSpPr>
            <a:spLocks xmlns:a="http://schemas.openxmlformats.org/drawingml/2006/main" noGrp="1"/>
          </p:cNvSpPr>
          <p:nvPr/>
        </p:nvSpPr>
        <p:spPr>
          <a:xfrm xmlns:a="http://schemas.openxmlformats.org/drawingml/2006/main">
            <a:off x="8858250" y="248602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75" b="0" lang="he-IL">
                <a:solidFill>
                  <a:srgbClr val="9AB1C5"/>
                </a:solidFill>
                <a:latin typeface="Arial"/>
                <a:ea typeface="Arial"/>
                <a:cs typeface="Arial"/>
              </a:defRPr>
            </a:pPr>
            <a:r>
              <a:rPr sz="1575" b="0" lang="he-IL">
                <a:solidFill>
                  <a:srgbClr val="9AB1C5"/>
                </a:solidFill>
                <a:latin typeface="Arial"/>
                <a:ea typeface="Arial"/>
                <a:cs typeface="Arial"/>
              </a:rPr>
              <a:t>ימי מסחר מאושרים</a:t>
            </a:r>
          </a:p>
        </p:txBody>
      </p:sp>
      <p:sp>
        <p:nvSpPr>
          <p:cNvPr id="10" name="">
            <a:extLst xmlns:a="http://schemas.openxmlformats.org/drawingml/2006/main">
              <a:ext uri="{FF2B5EF4-FFF2-40B4-BE49-F238E27FC236}">
                <a16:creationId xmlns:a16="http://schemas.microsoft.com/office/drawing/2014/main" id="{C894581B-2156-4BD0-A3B8-2079AAEB3110}"/>
              </a:ext>
            </a:extLst>
          </p:cNvPr>
          <p:cNvSpPr>
            <a:spLocks xmlns:a="http://schemas.openxmlformats.org/drawingml/2006/main" noGrp="1"/>
          </p:cNvSpPr>
          <p:nvPr/>
        </p:nvSpPr>
        <p:spPr>
          <a:xfrm xmlns:a="http://schemas.openxmlformats.org/drawingml/2006/main">
            <a:off x="8858250" y="2952750"/>
            <a:ext cx="266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400" b="1">
                <a:solidFill>
                  <a:srgbClr val="5B91FF"/>
                </a:solidFill>
                <a:latin typeface="Cascadia Mono"/>
                <a:ea typeface="Cascadia Mono"/>
                <a:cs typeface="Cascadia Mono"/>
              </a:defRPr>
            </a:pPr>
            <a:r>
              <a:rPr sz="2400" b="1">
                <a:solidFill>
                  <a:srgbClr val="5B91FF"/>
                </a:solidFill>
                <a:latin typeface="Cascadia Mono"/>
                <a:ea typeface="Cascadia Mono"/>
                <a:cs typeface="Cascadia Mono"/>
              </a:rPr>
              <a:t>11</a:t>
            </a:r>
          </a:p>
        </p:txBody>
      </p:sp>
      <p:sp>
        <p:nvSpPr>
          <p:cNvPr id="11" name="">
            <a:extLst xmlns:a="http://schemas.openxmlformats.org/drawingml/2006/main">
              <a:ext uri="{FF2B5EF4-FFF2-40B4-BE49-F238E27FC236}">
                <a16:creationId xmlns:a16="http://schemas.microsoft.com/office/drawing/2014/main" id="{A298CEC2-1DAE-4E1A-9569-A1C1BC372010}"/>
              </a:ext>
            </a:extLst>
          </p:cNvPr>
          <p:cNvSpPr>
            <a:spLocks xmlns:a="http://schemas.openxmlformats.org/drawingml/2006/main" noGrp="1"/>
          </p:cNvSpPr>
          <p:nvPr/>
        </p:nvSpPr>
        <p:spPr>
          <a:xfrm xmlns:a="http://schemas.openxmlformats.org/drawingml/2006/main">
            <a:off x="8858250" y="338137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75" b="0" lang="he-IL">
                <a:solidFill>
                  <a:srgbClr val="9AB1C5"/>
                </a:solidFill>
                <a:latin typeface="Arial"/>
                <a:ea typeface="Arial"/>
                <a:cs typeface="Arial"/>
              </a:defRPr>
            </a:pPr>
            <a:r>
              <a:rPr sz="1575" b="0" lang="he-IL">
                <a:solidFill>
                  <a:srgbClr val="9AB1C5"/>
                </a:solidFill>
                <a:latin typeface="Arial"/>
                <a:ea typeface="Arial"/>
                <a:cs typeface="Arial"/>
              </a:rPr>
              <a:t>ריצות מפורסמות</a:t>
            </a:r>
          </a:p>
        </p:txBody>
      </p:sp>
      <p:sp>
        <p:nvSpPr>
          <p:cNvPr id="12" name="">
            <a:extLst xmlns:a="http://schemas.openxmlformats.org/drawingml/2006/main">
              <a:ext uri="{FF2B5EF4-FFF2-40B4-BE49-F238E27FC236}">
                <a16:creationId xmlns:a16="http://schemas.microsoft.com/office/drawing/2014/main" id="{F10A1566-AC06-4A56-B74C-515BBADA9E21}"/>
              </a:ext>
            </a:extLst>
          </p:cNvPr>
          <p:cNvSpPr>
            <a:spLocks xmlns:a="http://schemas.openxmlformats.org/drawingml/2006/main" noGrp="1"/>
          </p:cNvSpPr>
          <p:nvPr/>
        </p:nvSpPr>
        <p:spPr>
          <a:xfrm xmlns:a="http://schemas.openxmlformats.org/drawingml/2006/main">
            <a:off x="8858250" y="3848100"/>
            <a:ext cx="266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400" b="1">
                <a:solidFill>
                  <a:srgbClr val="F4B94F"/>
                </a:solidFill>
                <a:latin typeface="Cascadia Mono"/>
                <a:ea typeface="Cascadia Mono"/>
                <a:cs typeface="Cascadia Mono"/>
              </a:defRPr>
            </a:pPr>
            <a:r>
              <a:rPr sz="2400" b="1">
                <a:solidFill>
                  <a:srgbClr val="F4B94F"/>
                </a:solidFill>
                <a:latin typeface="Cascadia Mono"/>
                <a:ea typeface="Cascadia Mono"/>
                <a:cs typeface="Cascadia Mono"/>
              </a:rPr>
              <a:t>65,616</a:t>
            </a:r>
          </a:p>
        </p:txBody>
      </p:sp>
      <p:sp>
        <p:nvSpPr>
          <p:cNvPr id="13" name="">
            <a:extLst xmlns:a="http://schemas.openxmlformats.org/drawingml/2006/main">
              <a:ext uri="{FF2B5EF4-FFF2-40B4-BE49-F238E27FC236}">
                <a16:creationId xmlns:a16="http://schemas.microsoft.com/office/drawing/2014/main" id="{9782E964-4AAC-42A2-8DAE-A84563F6B710}"/>
              </a:ext>
            </a:extLst>
          </p:cNvPr>
          <p:cNvSpPr>
            <a:spLocks xmlns:a="http://schemas.openxmlformats.org/drawingml/2006/main" noGrp="1"/>
          </p:cNvSpPr>
          <p:nvPr/>
        </p:nvSpPr>
        <p:spPr>
          <a:xfrm xmlns:a="http://schemas.openxmlformats.org/drawingml/2006/main">
            <a:off x="8858250" y="427672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75" b="0" lang="he-IL">
                <a:solidFill>
                  <a:srgbClr val="9AB1C5"/>
                </a:solidFill>
                <a:latin typeface="Arial"/>
                <a:ea typeface="Arial"/>
                <a:cs typeface="Arial"/>
              </a:defRPr>
            </a:pPr>
            <a:r>
              <a:rPr sz="1575" b="0" lang="he-IL">
                <a:solidFill>
                  <a:srgbClr val="9AB1C5"/>
                </a:solidFill>
                <a:latin typeface="Arial"/>
                <a:ea typeface="Arial"/>
                <a:cs typeface="Arial"/>
              </a:rPr>
              <a:t>נרות Certified</a:t>
            </a:r>
          </a:p>
        </p:txBody>
      </p:sp>
      <p:sp>
        <p:nvSpPr>
          <p:cNvPr id="14" name="">
            <a:extLst xmlns:a="http://schemas.openxmlformats.org/drawingml/2006/main">
              <a:ext uri="{FF2B5EF4-FFF2-40B4-BE49-F238E27FC236}">
                <a16:creationId xmlns:a16="http://schemas.microsoft.com/office/drawing/2014/main" id="{29452129-7D1D-4F7F-BC48-22F213AAEFD5}"/>
              </a:ext>
            </a:extLst>
          </p:cNvPr>
          <p:cNvSpPr>
            <a:spLocks xmlns:a="http://schemas.openxmlformats.org/drawingml/2006/main" noGrp="1"/>
          </p:cNvSpPr>
          <p:nvPr/>
        </p:nvSpPr>
        <p:spPr>
          <a:xfrm xmlns:a="http://schemas.openxmlformats.org/drawingml/2006/main">
            <a:off x="8858250" y="4819650"/>
            <a:ext cx="26670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15" name="">
            <a:extLst xmlns:a="http://schemas.openxmlformats.org/drawingml/2006/main">
              <a:ext uri="{FF2B5EF4-FFF2-40B4-BE49-F238E27FC236}">
                <a16:creationId xmlns:a16="http://schemas.microsoft.com/office/drawing/2014/main" id="{C5905195-8407-495A-A3E6-5EB4EC4DEC0D}"/>
              </a:ext>
            </a:extLst>
          </p:cNvPr>
          <p:cNvSpPr>
            <a:spLocks xmlns:a="http://schemas.openxmlformats.org/drawingml/2006/main" noGrp="1"/>
          </p:cNvSpPr>
          <p:nvPr/>
        </p:nvSpPr>
        <p:spPr>
          <a:xfrm xmlns:a="http://schemas.openxmlformats.org/drawingml/2006/main">
            <a:off x="8858250" y="5048250"/>
            <a:ext cx="266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00" b="0" lang="he-IL">
                <a:solidFill>
                  <a:srgbClr val="9AB1C5"/>
                </a:solidFill>
                <a:latin typeface="Arial"/>
                <a:ea typeface="Arial"/>
                <a:cs typeface="Arial"/>
              </a:defRPr>
            </a:pPr>
            <a:r>
              <a:rPr sz="1500" b="0" lang="he-IL">
                <a:solidFill>
                  <a:srgbClr val="9AB1C5"/>
                </a:solidFill>
                <a:latin typeface="Arial"/>
                <a:ea typeface="Arial"/>
                <a:cs typeface="Arial"/>
              </a:rPr>
              <a:t>האות של נר t משפיע רק על הנר הבא, והחישוב כולל עלויות והחלקת מחיר.</a:t>
            </a:r>
          </a:p>
        </p:txBody>
      </p:sp>
    </p:spTree>
    <p:extLst>
      <p:ext uri="{BB962C8B-B14F-4D97-AF65-F5344CB8AC3E}">
        <p14:creationId xmlns:p14="http://schemas.microsoft.com/office/powerpoint/2010/main" val="1133595536"/>
      </p:ext>
    </p:extLst>
  </p:cSld>
</p:sld>
</file>

<file path=ppt/slides/slide10.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24099B59-C743-4E1A-846B-27586EB479F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04EEFB3-F661-4FEC-A00D-540B797C8D9C}"/>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ENGINEERING CHALLENGES</a:t>
            </a:r>
          </a:p>
        </p:txBody>
      </p:sp>
      <p:sp>
        <p:nvSpPr>
          <p:cNvPr id="3" name="">
            <a:extLst xmlns:a="http://schemas.openxmlformats.org/drawingml/2006/main">
              <a:ext uri="{FF2B5EF4-FFF2-40B4-BE49-F238E27FC236}">
                <a16:creationId xmlns:a16="http://schemas.microsoft.com/office/drawing/2014/main" id="{96D88EA8-8049-4397-860E-07ABB10065A6}"/>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F8FBFF"/>
                </a:solidFill>
                <a:latin typeface="Arial"/>
                <a:ea typeface="Arial"/>
                <a:cs typeface="Arial"/>
              </a:defRPr>
            </a:pPr>
            <a:r>
              <a:rPr sz="2400" b="1" lang="he-IL">
                <a:solidFill>
                  <a:srgbClr val="F8FBFF"/>
                </a:solidFill>
                <a:latin typeface="Arial"/>
                <a:ea typeface="Arial"/>
                <a:cs typeface="Arial"/>
              </a:rPr>
              <a:t>האתגרים שהפכו לעקרונות תכנון</a:t>
            </a:r>
          </a:p>
        </p:txBody>
      </p:sp>
      <p:sp>
        <p:nvSpPr>
          <p:cNvPr id="4" name="">
            <a:extLst xmlns:a="http://schemas.openxmlformats.org/drawingml/2006/main">
              <a:ext uri="{FF2B5EF4-FFF2-40B4-BE49-F238E27FC236}">
                <a16:creationId xmlns:a16="http://schemas.microsoft.com/office/drawing/2014/main" id="{1419F467-65CC-403D-BD5A-AA8AAAA3512F}"/>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10</a:t>
            </a:r>
          </a:p>
        </p:txBody>
      </p:sp>
      <p:sp>
        <p:nvSpPr>
          <p:cNvPr id="5" name="">
            <a:extLst xmlns:a="http://schemas.openxmlformats.org/drawingml/2006/main">
              <a:ext uri="{FF2B5EF4-FFF2-40B4-BE49-F238E27FC236}">
                <a16:creationId xmlns:a16="http://schemas.microsoft.com/office/drawing/2014/main" id="{9EF9ED4B-FE5C-4CE6-B501-C7A3F6518521}"/>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6" name="">
            <a:extLst xmlns:a="http://schemas.openxmlformats.org/drawingml/2006/main">
              <a:ext uri="{FF2B5EF4-FFF2-40B4-BE49-F238E27FC236}">
                <a16:creationId xmlns:a16="http://schemas.microsoft.com/office/drawing/2014/main" id="{750238A9-FC5B-4522-A6B2-4ECFF73B48B7}"/>
              </a:ext>
            </a:extLst>
          </p:cNvPr>
          <p:cNvSpPr>
            <a:spLocks xmlns:a="http://schemas.openxmlformats.org/drawingml/2006/main" noGrp="1"/>
          </p:cNvSpPr>
          <p:nvPr/>
        </p:nvSpPr>
        <p:spPr>
          <a:xfrm xmlns:a="http://schemas.openxmlformats.org/drawingml/2006/main">
            <a:off x="8763000" y="1257300"/>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200" b="1" lang="he-IL">
                <a:solidFill>
                  <a:srgbClr val="9AB1C5"/>
                </a:solidFill>
                <a:latin typeface="Arial"/>
                <a:ea typeface="Arial"/>
                <a:cs typeface="Arial"/>
              </a:defRPr>
            </a:pPr>
            <a:r>
              <a:rPr sz="1200" b="1" lang="he-IL">
                <a:solidFill>
                  <a:srgbClr val="9AB1C5"/>
                </a:solidFill>
                <a:latin typeface="Arial"/>
                <a:ea typeface="Arial"/>
                <a:cs typeface="Arial"/>
              </a:rPr>
              <a:t>המתח</a:t>
            </a:r>
          </a:p>
        </p:txBody>
      </p:sp>
      <p:sp>
        <p:nvSpPr>
          <p:cNvPr id="7" name="">
            <a:extLst xmlns:a="http://schemas.openxmlformats.org/drawingml/2006/main">
              <a:ext uri="{FF2B5EF4-FFF2-40B4-BE49-F238E27FC236}">
                <a16:creationId xmlns:a16="http://schemas.microsoft.com/office/drawing/2014/main" id="{D6BFBF3B-AF3C-415A-846D-924F89BCD510}"/>
              </a:ext>
            </a:extLst>
          </p:cNvPr>
          <p:cNvSpPr>
            <a:spLocks xmlns:a="http://schemas.openxmlformats.org/drawingml/2006/main" noGrp="1"/>
          </p:cNvSpPr>
          <p:nvPr/>
        </p:nvSpPr>
        <p:spPr>
          <a:xfrm xmlns:a="http://schemas.openxmlformats.org/drawingml/2006/main">
            <a:off x="1047750" y="1257300"/>
            <a:ext cx="647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200" b="1" lang="he-IL">
                <a:solidFill>
                  <a:srgbClr val="9AB1C5"/>
                </a:solidFill>
                <a:latin typeface="Arial"/>
                <a:ea typeface="Arial"/>
                <a:cs typeface="Arial"/>
              </a:defRPr>
            </a:pPr>
            <a:r>
              <a:rPr sz="1200" b="1" lang="he-IL">
                <a:solidFill>
                  <a:srgbClr val="9AB1C5"/>
                </a:solidFill>
                <a:latin typeface="Arial"/>
                <a:ea typeface="Arial"/>
                <a:cs typeface="Arial"/>
              </a:rPr>
              <a:t>ההחלטה</a:t>
            </a:r>
          </a:p>
        </p:txBody>
      </p:sp>
      <p:sp>
        <p:nvSpPr>
          <p:cNvPr id="8" name="">
            <a:extLst xmlns:a="http://schemas.openxmlformats.org/drawingml/2006/main">
              <a:ext uri="{FF2B5EF4-FFF2-40B4-BE49-F238E27FC236}">
                <a16:creationId xmlns:a16="http://schemas.microsoft.com/office/drawing/2014/main" id="{9F98B46E-1903-486A-8A6A-B6114BB8E4BB}"/>
              </a:ext>
            </a:extLst>
          </p:cNvPr>
          <p:cNvSpPr>
            <a:spLocks xmlns:a="http://schemas.openxmlformats.org/drawingml/2006/main" noGrp="1"/>
          </p:cNvSpPr>
          <p:nvPr/>
        </p:nvSpPr>
        <p:spPr>
          <a:xfrm xmlns:a="http://schemas.openxmlformats.org/drawingml/2006/main">
            <a:off x="609600" y="1619250"/>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9" name="">
            <a:extLst xmlns:a="http://schemas.openxmlformats.org/drawingml/2006/main">
              <a:ext uri="{FF2B5EF4-FFF2-40B4-BE49-F238E27FC236}">
                <a16:creationId xmlns:a16="http://schemas.microsoft.com/office/drawing/2014/main" id="{5ED94049-F882-44D1-AECE-8F54D409D46D}"/>
              </a:ext>
            </a:extLst>
          </p:cNvPr>
          <p:cNvSpPr>
            <a:spLocks xmlns:a="http://schemas.openxmlformats.org/drawingml/2006/main" noGrp="1"/>
          </p:cNvSpPr>
          <p:nvPr/>
        </p:nvSpPr>
        <p:spPr>
          <a:xfrm xmlns:a="http://schemas.openxmlformats.org/drawingml/2006/main">
            <a:off x="8305800" y="1847850"/>
            <a:ext cx="321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F8FBFF"/>
                </a:solidFill>
                <a:latin typeface="Arial"/>
                <a:ea typeface="Arial"/>
                <a:cs typeface="Arial"/>
              </a:defRPr>
            </a:pPr>
            <a:r>
              <a:rPr sz="1875" b="1" lang="he-IL">
                <a:solidFill>
                  <a:srgbClr val="F8FBFF"/>
                </a:solidFill>
                <a:latin typeface="Arial"/>
                <a:ea typeface="Arial"/>
                <a:cs typeface="Arial"/>
              </a:rPr>
              <a:t>מהירות מול אמינות</a:t>
            </a:r>
          </a:p>
        </p:txBody>
      </p:sp>
      <p:sp>
        <p:nvSpPr>
          <p:cNvPr id="10" name="">
            <a:extLst xmlns:a="http://schemas.openxmlformats.org/drawingml/2006/main">
              <a:ext uri="{FF2B5EF4-FFF2-40B4-BE49-F238E27FC236}">
                <a16:creationId xmlns:a16="http://schemas.microsoft.com/office/drawing/2014/main" id="{C393061D-1D9E-44E9-9AF3-647961E8472A}"/>
              </a:ext>
            </a:extLst>
          </p:cNvPr>
          <p:cNvSpPr>
            <a:spLocks xmlns:a="http://schemas.openxmlformats.org/drawingml/2006/main" noGrp="1"/>
          </p:cNvSpPr>
          <p:nvPr/>
        </p:nvSpPr>
        <p:spPr>
          <a:xfrm xmlns:a="http://schemas.openxmlformats.org/drawingml/2006/main">
            <a:off x="7886700" y="1866900"/>
            <a:ext cx="38100" cy="55245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D3ADFDE-5629-4412-BF00-EF7C47541BCA}"/>
              </a:ext>
            </a:extLst>
          </p:cNvPr>
          <p:cNvSpPr>
            <a:spLocks xmlns:a="http://schemas.openxmlformats.org/drawingml/2006/main" noGrp="1"/>
          </p:cNvSpPr>
          <p:nvPr/>
        </p:nvSpPr>
        <p:spPr>
          <a:xfrm xmlns:a="http://schemas.openxmlformats.org/drawingml/2006/main">
            <a:off x="1047750" y="1828800"/>
            <a:ext cx="642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F8FBFF"/>
                </a:solidFill>
                <a:latin typeface="Arial"/>
                <a:ea typeface="Arial"/>
                <a:cs typeface="Arial"/>
              </a:defRPr>
            </a:pPr>
            <a:r>
              <a:rPr sz="1650" b="0" lang="he-IL">
                <a:solidFill>
                  <a:srgbClr val="F8FBFF"/>
                </a:solidFill>
                <a:latin typeface="Arial"/>
                <a:ea typeface="Arial"/>
                <a:cs typeface="Arial"/>
              </a:rPr>
              <a:t>נתון חי מוצג מיד. יום סגור נבנה מחדש ונבדק.</a:t>
            </a:r>
          </a:p>
        </p:txBody>
      </p:sp>
      <p:sp>
        <p:nvSpPr>
          <p:cNvPr id="12" name="">
            <a:extLst xmlns:a="http://schemas.openxmlformats.org/drawingml/2006/main">
              <a:ext uri="{FF2B5EF4-FFF2-40B4-BE49-F238E27FC236}">
                <a16:creationId xmlns:a16="http://schemas.microsoft.com/office/drawing/2014/main" id="{756484A6-4381-4832-B80D-86E76D794E86}"/>
              </a:ext>
            </a:extLst>
          </p:cNvPr>
          <p:cNvSpPr>
            <a:spLocks xmlns:a="http://schemas.openxmlformats.org/drawingml/2006/main" noGrp="1"/>
          </p:cNvSpPr>
          <p:nvPr/>
        </p:nvSpPr>
        <p:spPr>
          <a:xfrm xmlns:a="http://schemas.openxmlformats.org/drawingml/2006/main">
            <a:off x="1047750" y="2228850"/>
            <a:ext cx="6429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35D4B5"/>
                </a:solidFill>
                <a:latin typeface="Cascadia Mono"/>
                <a:ea typeface="Cascadia Mono"/>
                <a:cs typeface="Cascadia Mono"/>
              </a:defRPr>
            </a:pPr>
            <a:r>
              <a:rPr sz="1050" b="1">
                <a:solidFill>
                  <a:srgbClr val="35D4B5"/>
                </a:solidFill>
                <a:latin typeface="Cascadia Mono"/>
                <a:ea typeface="Cascadia Mono"/>
                <a:cs typeface="Cascadia Mono"/>
              </a:rPr>
              <a:t>PROVISIONAL / CERTIFIED</a:t>
            </a:r>
          </a:p>
        </p:txBody>
      </p:sp>
      <p:sp>
        <p:nvSpPr>
          <p:cNvPr id="13" name="">
            <a:extLst xmlns:a="http://schemas.openxmlformats.org/drawingml/2006/main">
              <a:ext uri="{FF2B5EF4-FFF2-40B4-BE49-F238E27FC236}">
                <a16:creationId xmlns:a16="http://schemas.microsoft.com/office/drawing/2014/main" id="{FA30FF6E-6DD4-4EA8-B646-5948BE991738}"/>
              </a:ext>
            </a:extLst>
          </p:cNvPr>
          <p:cNvSpPr>
            <a:spLocks xmlns:a="http://schemas.openxmlformats.org/drawingml/2006/main" noGrp="1"/>
          </p:cNvSpPr>
          <p:nvPr/>
        </p:nvSpPr>
        <p:spPr>
          <a:xfrm xmlns:a="http://schemas.openxmlformats.org/drawingml/2006/main">
            <a:off x="609600" y="2628900"/>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14" name="">
            <a:extLst xmlns:a="http://schemas.openxmlformats.org/drawingml/2006/main">
              <a:ext uri="{FF2B5EF4-FFF2-40B4-BE49-F238E27FC236}">
                <a16:creationId xmlns:a16="http://schemas.microsoft.com/office/drawing/2014/main" id="{CE562733-CFBB-4EE4-9371-6787D4699123}"/>
              </a:ext>
            </a:extLst>
          </p:cNvPr>
          <p:cNvSpPr>
            <a:spLocks xmlns:a="http://schemas.openxmlformats.org/drawingml/2006/main" noGrp="1"/>
          </p:cNvSpPr>
          <p:nvPr/>
        </p:nvSpPr>
        <p:spPr>
          <a:xfrm xmlns:a="http://schemas.openxmlformats.org/drawingml/2006/main">
            <a:off x="8305800" y="2847975"/>
            <a:ext cx="321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F8FBFF"/>
                </a:solidFill>
                <a:latin typeface="Arial"/>
                <a:ea typeface="Arial"/>
                <a:cs typeface="Arial"/>
              </a:defRPr>
            </a:pPr>
            <a:r>
              <a:rPr sz="1875" b="1" lang="he-IL">
                <a:solidFill>
                  <a:srgbClr val="F8FBFF"/>
                </a:solidFill>
                <a:latin typeface="Arial"/>
                <a:ea typeface="Arial"/>
                <a:cs typeface="Arial"/>
              </a:rPr>
              <a:t>כשל וניסיון חוזר</a:t>
            </a:r>
          </a:p>
        </p:txBody>
      </p:sp>
      <p:sp>
        <p:nvSpPr>
          <p:cNvPr id="15" name="">
            <a:extLst xmlns:a="http://schemas.openxmlformats.org/drawingml/2006/main">
              <a:ext uri="{FF2B5EF4-FFF2-40B4-BE49-F238E27FC236}">
                <a16:creationId xmlns:a16="http://schemas.microsoft.com/office/drawing/2014/main" id="{A8544521-7F6B-4AB5-94A4-98A0FAB05C17}"/>
              </a:ext>
            </a:extLst>
          </p:cNvPr>
          <p:cNvSpPr>
            <a:spLocks xmlns:a="http://schemas.openxmlformats.org/drawingml/2006/main" noGrp="1"/>
          </p:cNvSpPr>
          <p:nvPr/>
        </p:nvSpPr>
        <p:spPr>
          <a:xfrm xmlns:a="http://schemas.openxmlformats.org/drawingml/2006/main">
            <a:off x="7886700" y="2867025"/>
            <a:ext cx="38100" cy="552450"/>
          </a:xfrm>
          <a:prstGeom xmlns:a="http://schemas.openxmlformats.org/drawingml/2006/main" prst="rect">
            <a:avLst/>
          </a:prstGeom>
          <a:solidFill xmlns:a="http://schemas.openxmlformats.org/drawingml/2006/main">
            <a:srgbClr val="5B91F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B202C08-B6BD-4B9F-926E-06980839BAFF}"/>
              </a:ext>
            </a:extLst>
          </p:cNvPr>
          <p:cNvSpPr>
            <a:spLocks xmlns:a="http://schemas.openxmlformats.org/drawingml/2006/main" noGrp="1"/>
          </p:cNvSpPr>
          <p:nvPr/>
        </p:nvSpPr>
        <p:spPr>
          <a:xfrm xmlns:a="http://schemas.openxmlformats.org/drawingml/2006/main">
            <a:off x="1047750" y="2828925"/>
            <a:ext cx="642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F8FBFF"/>
                </a:solidFill>
                <a:latin typeface="Arial"/>
                <a:ea typeface="Arial"/>
                <a:cs typeface="Arial"/>
              </a:defRPr>
            </a:pPr>
            <a:r>
              <a:rPr sz="1650" b="0" lang="he-IL">
                <a:solidFill>
                  <a:srgbClr val="F8FBFF"/>
                </a:solidFill>
                <a:latin typeface="Arial"/>
                <a:ea typeface="Arial"/>
                <a:cs typeface="Arial"/>
              </a:rPr>
              <a:t>הפעלה חוזרת אינה יוצרת רשומה עסקית כפולה.</a:t>
            </a:r>
          </a:p>
        </p:txBody>
      </p:sp>
      <p:sp>
        <p:nvSpPr>
          <p:cNvPr id="17" name="">
            <a:extLst xmlns:a="http://schemas.openxmlformats.org/drawingml/2006/main">
              <a:ext uri="{FF2B5EF4-FFF2-40B4-BE49-F238E27FC236}">
                <a16:creationId xmlns:a16="http://schemas.microsoft.com/office/drawing/2014/main" id="{81308C20-C53C-4066-8A15-73A704DF855D}"/>
              </a:ext>
            </a:extLst>
          </p:cNvPr>
          <p:cNvSpPr>
            <a:spLocks xmlns:a="http://schemas.openxmlformats.org/drawingml/2006/main" noGrp="1"/>
          </p:cNvSpPr>
          <p:nvPr/>
        </p:nvSpPr>
        <p:spPr>
          <a:xfrm xmlns:a="http://schemas.openxmlformats.org/drawingml/2006/main">
            <a:off x="1047750" y="3228975"/>
            <a:ext cx="6429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5B91FF"/>
                </a:solidFill>
                <a:latin typeface="Cascadia Mono"/>
                <a:ea typeface="Cascadia Mono"/>
                <a:cs typeface="Cascadia Mono"/>
              </a:defRPr>
            </a:pPr>
            <a:r>
              <a:rPr sz="1050" b="1">
                <a:solidFill>
                  <a:srgbClr val="5B91FF"/>
                </a:solidFill>
                <a:latin typeface="Cascadia Mono"/>
                <a:ea typeface="Cascadia Mono"/>
                <a:cs typeface="Cascadia Mono"/>
              </a:rPr>
              <a:t>CHECKPOINT · BUSINESS KEY · UPSERT</a:t>
            </a:r>
          </a:p>
        </p:txBody>
      </p:sp>
      <p:sp>
        <p:nvSpPr>
          <p:cNvPr id="18" name="">
            <a:extLst xmlns:a="http://schemas.openxmlformats.org/drawingml/2006/main">
              <a:ext uri="{FF2B5EF4-FFF2-40B4-BE49-F238E27FC236}">
                <a16:creationId xmlns:a16="http://schemas.microsoft.com/office/drawing/2014/main" id="{FF9B5797-59FB-46FF-824D-3AB353FEF92F}"/>
              </a:ext>
            </a:extLst>
          </p:cNvPr>
          <p:cNvSpPr>
            <a:spLocks xmlns:a="http://schemas.openxmlformats.org/drawingml/2006/main" noGrp="1"/>
          </p:cNvSpPr>
          <p:nvPr/>
        </p:nvSpPr>
        <p:spPr>
          <a:xfrm xmlns:a="http://schemas.openxmlformats.org/drawingml/2006/main">
            <a:off x="609600" y="3629025"/>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19" name="">
            <a:extLst xmlns:a="http://schemas.openxmlformats.org/drawingml/2006/main">
              <a:ext uri="{FF2B5EF4-FFF2-40B4-BE49-F238E27FC236}">
                <a16:creationId xmlns:a16="http://schemas.microsoft.com/office/drawing/2014/main" id="{E83DB61D-3774-40B9-BB49-E2257F9B9CDC}"/>
              </a:ext>
            </a:extLst>
          </p:cNvPr>
          <p:cNvSpPr>
            <a:spLocks xmlns:a="http://schemas.openxmlformats.org/drawingml/2006/main" noGrp="1"/>
          </p:cNvSpPr>
          <p:nvPr/>
        </p:nvSpPr>
        <p:spPr>
          <a:xfrm xmlns:a="http://schemas.openxmlformats.org/drawingml/2006/main">
            <a:off x="8305800" y="3848100"/>
            <a:ext cx="321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F8FBFF"/>
                </a:solidFill>
                <a:latin typeface="Arial"/>
                <a:ea typeface="Arial"/>
                <a:cs typeface="Arial"/>
              </a:defRPr>
            </a:pPr>
            <a:r>
              <a:rPr sz="1875" b="1" lang="he-IL">
                <a:solidFill>
                  <a:srgbClr val="F8FBFF"/>
                </a:solidFill>
                <a:latin typeface="Arial"/>
                <a:ea typeface="Arial"/>
                <a:cs typeface="Arial"/>
              </a:rPr>
              <a:t>היסטוריה בלי קיצור דרך</a:t>
            </a:r>
          </a:p>
        </p:txBody>
      </p:sp>
      <p:sp>
        <p:nvSpPr>
          <p:cNvPr id="20" name="">
            <a:extLst xmlns:a="http://schemas.openxmlformats.org/drawingml/2006/main">
              <a:ext uri="{FF2B5EF4-FFF2-40B4-BE49-F238E27FC236}">
                <a16:creationId xmlns:a16="http://schemas.microsoft.com/office/drawing/2014/main" id="{A45A393F-D24C-44CD-84A9-0E0D0630FF9C}"/>
              </a:ext>
            </a:extLst>
          </p:cNvPr>
          <p:cNvSpPr>
            <a:spLocks xmlns:a="http://schemas.openxmlformats.org/drawingml/2006/main" noGrp="1"/>
          </p:cNvSpPr>
          <p:nvPr/>
        </p:nvSpPr>
        <p:spPr>
          <a:xfrm xmlns:a="http://schemas.openxmlformats.org/drawingml/2006/main">
            <a:off x="7886700" y="3867150"/>
            <a:ext cx="38100" cy="552450"/>
          </a:xfrm>
          <a:prstGeom xmlns:a="http://schemas.openxmlformats.org/drawingml/2006/main" prst="rect">
            <a:avLst/>
          </a:prstGeom>
          <a:solidFill xmlns:a="http://schemas.openxmlformats.org/drawingml/2006/main">
            <a:srgbClr val="F4B94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82C6542-5E1A-42A4-AE5E-B819468B2736}"/>
              </a:ext>
            </a:extLst>
          </p:cNvPr>
          <p:cNvSpPr>
            <a:spLocks xmlns:a="http://schemas.openxmlformats.org/drawingml/2006/main" noGrp="1"/>
          </p:cNvSpPr>
          <p:nvPr/>
        </p:nvSpPr>
        <p:spPr>
          <a:xfrm xmlns:a="http://schemas.openxmlformats.org/drawingml/2006/main">
            <a:off x="1047750" y="3829050"/>
            <a:ext cx="642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F8FBFF"/>
                </a:solidFill>
                <a:latin typeface="Arial"/>
                <a:ea typeface="Arial"/>
                <a:cs typeface="Arial"/>
              </a:defRPr>
            </a:pPr>
            <a:r>
              <a:rPr sz="1650" b="0" lang="he-IL">
                <a:solidFill>
                  <a:srgbClr val="F8FBFF"/>
                </a:solidFill>
                <a:latin typeface="Arial"/>
                <a:ea typeface="Arial"/>
                <a:cs typeface="Arial"/>
              </a:rPr>
              <a:t>נתוני עבר עוברים שמירה גולמית ואיכות לפני פרסום.</a:t>
            </a:r>
          </a:p>
        </p:txBody>
      </p:sp>
      <p:sp>
        <p:nvSpPr>
          <p:cNvPr id="22" name="">
            <a:extLst xmlns:a="http://schemas.openxmlformats.org/drawingml/2006/main">
              <a:ext uri="{FF2B5EF4-FFF2-40B4-BE49-F238E27FC236}">
                <a16:creationId xmlns:a16="http://schemas.microsoft.com/office/drawing/2014/main" id="{580391AC-E115-4F09-ADDD-844B64A33788}"/>
              </a:ext>
            </a:extLst>
          </p:cNvPr>
          <p:cNvSpPr>
            <a:spLocks xmlns:a="http://schemas.openxmlformats.org/drawingml/2006/main" noGrp="1"/>
          </p:cNvSpPr>
          <p:nvPr/>
        </p:nvSpPr>
        <p:spPr>
          <a:xfrm xmlns:a="http://schemas.openxmlformats.org/drawingml/2006/main">
            <a:off x="1047750" y="4229100"/>
            <a:ext cx="6429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F4B94F"/>
                </a:solidFill>
                <a:latin typeface="Cascadia Mono"/>
                <a:ea typeface="Cascadia Mono"/>
                <a:cs typeface="Cascadia Mono"/>
              </a:defRPr>
            </a:pPr>
            <a:r>
              <a:rPr sz="1050" b="1">
                <a:solidFill>
                  <a:srgbClr val="F4B94F"/>
                </a:solidFill>
                <a:latin typeface="Cascadia Mono"/>
                <a:ea typeface="Cascadia Mono"/>
                <a:cs typeface="Cascadia Mono"/>
              </a:rPr>
              <a:t>HISTORICAL TOPIC · BRONZE BARRIER</a:t>
            </a:r>
          </a:p>
        </p:txBody>
      </p:sp>
      <p:sp>
        <p:nvSpPr>
          <p:cNvPr id="23" name="">
            <a:extLst xmlns:a="http://schemas.openxmlformats.org/drawingml/2006/main">
              <a:ext uri="{FF2B5EF4-FFF2-40B4-BE49-F238E27FC236}">
                <a16:creationId xmlns:a16="http://schemas.microsoft.com/office/drawing/2014/main" id="{20A1E970-B40D-4937-8FDD-C39C6C09FA0C}"/>
              </a:ext>
            </a:extLst>
          </p:cNvPr>
          <p:cNvSpPr>
            <a:spLocks xmlns:a="http://schemas.openxmlformats.org/drawingml/2006/main" noGrp="1"/>
          </p:cNvSpPr>
          <p:nvPr/>
        </p:nvSpPr>
        <p:spPr>
          <a:xfrm xmlns:a="http://schemas.openxmlformats.org/drawingml/2006/main">
            <a:off x="609600" y="4629150"/>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24" name="">
            <a:extLst xmlns:a="http://schemas.openxmlformats.org/drawingml/2006/main">
              <a:ext uri="{FF2B5EF4-FFF2-40B4-BE49-F238E27FC236}">
                <a16:creationId xmlns:a16="http://schemas.microsoft.com/office/drawing/2014/main" id="{1AFBD9D6-41AF-447C-AD0F-64286E804742}"/>
              </a:ext>
            </a:extLst>
          </p:cNvPr>
          <p:cNvSpPr>
            <a:spLocks xmlns:a="http://schemas.openxmlformats.org/drawingml/2006/main" noGrp="1"/>
          </p:cNvSpPr>
          <p:nvPr/>
        </p:nvSpPr>
        <p:spPr>
          <a:xfrm xmlns:a="http://schemas.openxmlformats.org/drawingml/2006/main">
            <a:off x="8305800" y="4848225"/>
            <a:ext cx="321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F8FBFF"/>
                </a:solidFill>
                <a:latin typeface="Arial"/>
                <a:ea typeface="Arial"/>
                <a:cs typeface="Arial"/>
              </a:defRPr>
            </a:pPr>
            <a:r>
              <a:rPr sz="1875" b="1" lang="he-IL">
                <a:solidFill>
                  <a:srgbClr val="F8FBFF"/>
                </a:solidFill>
                <a:latin typeface="Arial"/>
                <a:ea typeface="Arial"/>
                <a:cs typeface="Arial"/>
              </a:rPr>
              <a:t>מוצר בלי חשיפת תשתית</a:t>
            </a:r>
          </a:p>
        </p:txBody>
      </p:sp>
      <p:sp>
        <p:nvSpPr>
          <p:cNvPr id="25" name="">
            <a:extLst xmlns:a="http://schemas.openxmlformats.org/drawingml/2006/main">
              <a:ext uri="{FF2B5EF4-FFF2-40B4-BE49-F238E27FC236}">
                <a16:creationId xmlns:a16="http://schemas.microsoft.com/office/drawing/2014/main" id="{E14F9BE9-2753-4976-8021-366D52549882}"/>
              </a:ext>
            </a:extLst>
          </p:cNvPr>
          <p:cNvSpPr>
            <a:spLocks xmlns:a="http://schemas.openxmlformats.org/drawingml/2006/main" noGrp="1"/>
          </p:cNvSpPr>
          <p:nvPr/>
        </p:nvSpPr>
        <p:spPr>
          <a:xfrm xmlns:a="http://schemas.openxmlformats.org/drawingml/2006/main">
            <a:off x="7886700" y="4867275"/>
            <a:ext cx="38100" cy="552450"/>
          </a:xfrm>
          <a:prstGeom xmlns:a="http://schemas.openxmlformats.org/drawingml/2006/main" prst="rect">
            <a:avLst/>
          </a:prstGeom>
          <a:solidFill xmlns:a="http://schemas.openxmlformats.org/drawingml/2006/main">
            <a:srgbClr val="EF748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A9F894E-3CEC-4E23-9BF5-4A51E4E9B46C}"/>
              </a:ext>
            </a:extLst>
          </p:cNvPr>
          <p:cNvSpPr>
            <a:spLocks xmlns:a="http://schemas.openxmlformats.org/drawingml/2006/main" noGrp="1"/>
          </p:cNvSpPr>
          <p:nvPr/>
        </p:nvSpPr>
        <p:spPr>
          <a:xfrm xmlns:a="http://schemas.openxmlformats.org/drawingml/2006/main">
            <a:off x="1047750" y="4829175"/>
            <a:ext cx="642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F8FBFF"/>
                </a:solidFill>
                <a:latin typeface="Arial"/>
                <a:ea typeface="Arial"/>
                <a:cs typeface="Arial"/>
              </a:defRPr>
            </a:pPr>
            <a:r>
              <a:rPr sz="1650" b="0" lang="he-IL">
                <a:solidFill>
                  <a:srgbClr val="F8FBFF"/>
                </a:solidFill>
                <a:latin typeface="Arial"/>
                <a:ea typeface="Arial"/>
                <a:cs typeface="Arial"/>
              </a:rPr>
              <a:t>הדפדפן מקבל מידע רק דרך ממשק מוגבל לקריאה.</a:t>
            </a:r>
          </a:p>
        </p:txBody>
      </p:sp>
      <p:sp>
        <p:nvSpPr>
          <p:cNvPr id="27" name="">
            <a:extLst xmlns:a="http://schemas.openxmlformats.org/drawingml/2006/main">
              <a:ext uri="{FF2B5EF4-FFF2-40B4-BE49-F238E27FC236}">
                <a16:creationId xmlns:a16="http://schemas.microsoft.com/office/drawing/2014/main" id="{9C30C9BC-5115-4205-8C22-40240F69ED90}"/>
              </a:ext>
            </a:extLst>
          </p:cNvPr>
          <p:cNvSpPr>
            <a:spLocks xmlns:a="http://schemas.openxmlformats.org/drawingml/2006/main" noGrp="1"/>
          </p:cNvSpPr>
          <p:nvPr/>
        </p:nvSpPr>
        <p:spPr>
          <a:xfrm xmlns:a="http://schemas.openxmlformats.org/drawingml/2006/main">
            <a:off x="1047750" y="5229225"/>
            <a:ext cx="6429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EF7484"/>
                </a:solidFill>
                <a:latin typeface="Cascadia Mono"/>
                <a:ea typeface="Cascadia Mono"/>
                <a:cs typeface="Cascadia Mono"/>
              </a:defRPr>
            </a:pPr>
            <a:r>
              <a:rPr sz="1050" b="1">
                <a:solidFill>
                  <a:srgbClr val="EF7484"/>
                </a:solidFill>
                <a:latin typeface="Cascadia Mono"/>
                <a:ea typeface="Cascadia Mono"/>
                <a:cs typeface="Cascadia Mono"/>
              </a:rPr>
              <a:t>READ-ONLY BACKEND API</a:t>
            </a:r>
          </a:p>
        </p:txBody>
      </p:sp>
    </p:spTree>
    <p:extLst>
      <p:ext uri="{BB962C8B-B14F-4D97-AF65-F5344CB8AC3E}">
        <p14:creationId xmlns:p14="http://schemas.microsoft.com/office/powerpoint/2010/main" val="2033444948"/>
      </p:ext>
    </p:extLst>
  </p:cSld>
</p:sld>
</file>

<file path=ppt/slides/slide11.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537BD9A-3222-4CAB-AE47-35A8BAD9498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9EB5995-6D07-4A36-BF3C-FC1EDB78325F}"/>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ROADMAP</a:t>
            </a:r>
          </a:p>
        </p:txBody>
      </p:sp>
      <p:sp>
        <p:nvSpPr>
          <p:cNvPr id="3" name="">
            <a:extLst xmlns:a="http://schemas.openxmlformats.org/drawingml/2006/main">
              <a:ext uri="{FF2B5EF4-FFF2-40B4-BE49-F238E27FC236}">
                <a16:creationId xmlns:a16="http://schemas.microsoft.com/office/drawing/2014/main" id="{6982718A-F3F1-4AC6-887F-4EDADCE88B5D}"/>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F8FBFF"/>
                </a:solidFill>
                <a:latin typeface="Arial"/>
                <a:ea typeface="Arial"/>
                <a:cs typeface="Arial"/>
              </a:defRPr>
            </a:pPr>
            <a:r>
              <a:rPr sz="2400" b="1" lang="he-IL">
                <a:solidFill>
                  <a:srgbClr val="F8FBFF"/>
                </a:solidFill>
                <a:latin typeface="Arial"/>
                <a:ea typeface="Arial"/>
                <a:cs typeface="Arial"/>
              </a:rPr>
              <a:t>מה כבר עובד, ומה נדרש לפני Production</a:t>
            </a:r>
          </a:p>
        </p:txBody>
      </p:sp>
      <p:sp>
        <p:nvSpPr>
          <p:cNvPr id="4" name="">
            <a:extLst xmlns:a="http://schemas.openxmlformats.org/drawingml/2006/main">
              <a:ext uri="{FF2B5EF4-FFF2-40B4-BE49-F238E27FC236}">
                <a16:creationId xmlns:a16="http://schemas.microsoft.com/office/drawing/2014/main" id="{34F1D326-F0E0-494B-A664-7F5F8CEE5A19}"/>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11</a:t>
            </a:r>
          </a:p>
        </p:txBody>
      </p:sp>
      <p:sp>
        <p:nvSpPr>
          <p:cNvPr id="5" name="">
            <a:extLst xmlns:a="http://schemas.openxmlformats.org/drawingml/2006/main">
              <a:ext uri="{FF2B5EF4-FFF2-40B4-BE49-F238E27FC236}">
                <a16:creationId xmlns:a16="http://schemas.microsoft.com/office/drawing/2014/main" id="{27BF070D-A64A-4023-AD20-358F8796CBE3}"/>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6" name="">
            <a:extLst xmlns:a="http://schemas.openxmlformats.org/drawingml/2006/main">
              <a:ext uri="{FF2B5EF4-FFF2-40B4-BE49-F238E27FC236}">
                <a16:creationId xmlns:a16="http://schemas.microsoft.com/office/drawing/2014/main" id="{153158B8-5607-43D9-B198-C30EF2D00E9E}"/>
              </a:ext>
            </a:extLst>
          </p:cNvPr>
          <p:cNvSpPr>
            <a:spLocks xmlns:a="http://schemas.openxmlformats.org/drawingml/2006/main" noGrp="1"/>
          </p:cNvSpPr>
          <p:nvPr/>
        </p:nvSpPr>
        <p:spPr>
          <a:xfrm xmlns:a="http://schemas.openxmlformats.org/drawingml/2006/main">
            <a:off x="4810125" y="1181100"/>
            <a:ext cx="676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9AB1C5"/>
                </a:solidFill>
                <a:latin typeface="Arial"/>
                <a:ea typeface="Arial"/>
                <a:cs typeface="Arial"/>
              </a:defRPr>
            </a:pPr>
            <a:r>
              <a:rPr sz="1650" b="0" lang="he-IL">
                <a:solidFill>
                  <a:srgbClr val="9AB1C5"/>
                </a:solidFill>
                <a:latin typeface="Arial"/>
                <a:ea typeface="Arial"/>
                <a:cs typeface="Arial"/>
              </a:rPr>
              <a:t>המטרה אינה להוסיף עוד טכנולוגיה. המטרה היא להרחיב אמון, כיסוי ותפעול.</a:t>
            </a:r>
          </a:p>
        </p:txBody>
      </p:sp>
      <p:sp>
        <p:nvSpPr>
          <p:cNvPr id="7" name="">
            <a:extLst xmlns:a="http://schemas.openxmlformats.org/drawingml/2006/main">
              <a:ext uri="{FF2B5EF4-FFF2-40B4-BE49-F238E27FC236}">
                <a16:creationId xmlns:a16="http://schemas.microsoft.com/office/drawing/2014/main" id="{BD3042B7-8F08-43A5-B1B5-31E1CD6F5521}"/>
              </a:ext>
            </a:extLst>
          </p:cNvPr>
          <p:cNvSpPr>
            <a:spLocks xmlns:a="http://schemas.openxmlformats.org/drawingml/2006/main" noGrp="1"/>
          </p:cNvSpPr>
          <p:nvPr/>
        </p:nvSpPr>
        <p:spPr>
          <a:xfrm xmlns:a="http://schemas.openxmlformats.org/drawingml/2006/main">
            <a:off x="1295400" y="3257550"/>
            <a:ext cx="9525000" cy="0"/>
          </a:xfrm>
          <a:prstGeom xmlns:a="http://schemas.openxmlformats.org/drawingml/2006/main" prst="line">
            <a:avLst/>
          </a:prstGeom>
          <a:noFill xmlns:a="http://schemas.openxmlformats.org/drawingml/2006/main"/>
          <a:ln xmlns:a="http://schemas.openxmlformats.org/drawingml/2006/main" w="38100">
            <a:solidFill>
              <a:srgbClr val="294157"/>
            </a:solidFill>
            <a:prstDash val="solid"/>
          </a:ln>
        </p:spPr>
      </p:sp>
      <p:sp>
        <p:nvSpPr>
          <p:cNvPr id="8" name="">
            <a:extLst xmlns:a="http://schemas.openxmlformats.org/drawingml/2006/main">
              <a:ext uri="{FF2B5EF4-FFF2-40B4-BE49-F238E27FC236}">
                <a16:creationId xmlns:a16="http://schemas.microsoft.com/office/drawing/2014/main" id="{45CD1255-0D79-4F19-9B9B-417AA8CD587E}"/>
              </a:ext>
            </a:extLst>
          </p:cNvPr>
          <p:cNvSpPr>
            <a:spLocks xmlns:a="http://schemas.openxmlformats.org/drawingml/2006/main" noGrp="1"/>
          </p:cNvSpPr>
          <p:nvPr/>
        </p:nvSpPr>
        <p:spPr>
          <a:xfrm xmlns:a="http://schemas.openxmlformats.org/drawingml/2006/main">
            <a:off x="9810750" y="3114675"/>
            <a:ext cx="285750" cy="285750"/>
          </a:xfrm>
          <a:prstGeom xmlns:a="http://schemas.openxmlformats.org/drawingml/2006/main" prst="roundRect">
            <a:avLst>
              <a:gd name="adj" fmla="val 50000"/>
            </a:avLst>
          </a:prstGeom>
          <a:solidFill xmlns:a="http://schemas.openxmlformats.org/drawingml/2006/main">
            <a:srgbClr val="35D4B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466D609-EDD0-421D-A040-9320824C30E2}"/>
              </a:ext>
            </a:extLst>
          </p:cNvPr>
          <p:cNvSpPr>
            <a:spLocks xmlns:a="http://schemas.openxmlformats.org/drawingml/2006/main" noGrp="1"/>
          </p:cNvSpPr>
          <p:nvPr/>
        </p:nvSpPr>
        <p:spPr>
          <a:xfrm xmlns:a="http://schemas.openxmlformats.org/drawingml/2006/main">
            <a:off x="9772650" y="31432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825" b="1">
                <a:solidFill>
                  <a:srgbClr val="091827"/>
                </a:solidFill>
                <a:latin typeface="Cascadia Mono"/>
                <a:ea typeface="Cascadia Mono"/>
                <a:cs typeface="Cascadia Mono"/>
              </a:defRPr>
            </a:pPr>
            <a:r>
              <a:rPr sz="825" b="1">
                <a:solidFill>
                  <a:srgbClr val="091827"/>
                </a:solidFill>
                <a:latin typeface="Cascadia Mono"/>
                <a:ea typeface="Cascadia Mono"/>
                <a:cs typeface="Cascadia Mono"/>
              </a:rPr>
              <a:t>01</a:t>
            </a:r>
          </a:p>
        </p:txBody>
      </p:sp>
      <p:sp>
        <p:nvSpPr>
          <p:cNvPr id="10" name="">
            <a:extLst xmlns:a="http://schemas.openxmlformats.org/drawingml/2006/main">
              <a:ext uri="{FF2B5EF4-FFF2-40B4-BE49-F238E27FC236}">
                <a16:creationId xmlns:a16="http://schemas.microsoft.com/office/drawing/2014/main" id="{BAB3EE2F-80F7-4E8F-B97C-AE46F74E029C}"/>
              </a:ext>
            </a:extLst>
          </p:cNvPr>
          <p:cNvSpPr>
            <a:spLocks xmlns:a="http://schemas.openxmlformats.org/drawingml/2006/main" noGrp="1"/>
          </p:cNvSpPr>
          <p:nvPr/>
        </p:nvSpPr>
        <p:spPr>
          <a:xfrm xmlns:a="http://schemas.openxmlformats.org/drawingml/2006/main">
            <a:off x="8001000" y="20002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025" b="1" lang="he-IL">
                <a:solidFill>
                  <a:srgbClr val="F8FBFF"/>
                </a:solidFill>
                <a:latin typeface="Arial"/>
                <a:ea typeface="Arial"/>
                <a:cs typeface="Arial"/>
              </a:defRPr>
            </a:pPr>
            <a:r>
              <a:rPr sz="2025" b="1" lang="he-IL">
                <a:solidFill>
                  <a:srgbClr val="F8FBFF"/>
                </a:solidFill>
                <a:latin typeface="Arial"/>
                <a:ea typeface="Arial"/>
                <a:cs typeface="Arial"/>
              </a:rPr>
              <a:t>היום</a:t>
            </a:r>
          </a:p>
        </p:txBody>
      </p:sp>
      <p:sp>
        <p:nvSpPr>
          <p:cNvPr id="11" name="">
            <a:extLst xmlns:a="http://schemas.openxmlformats.org/drawingml/2006/main">
              <a:ext uri="{FF2B5EF4-FFF2-40B4-BE49-F238E27FC236}">
                <a16:creationId xmlns:a16="http://schemas.microsoft.com/office/drawing/2014/main" id="{159CD81E-C69F-40A7-9609-5F32775BA4D7}"/>
              </a:ext>
            </a:extLst>
          </p:cNvPr>
          <p:cNvSpPr>
            <a:spLocks xmlns:a="http://schemas.openxmlformats.org/drawingml/2006/main" noGrp="1"/>
          </p:cNvSpPr>
          <p:nvPr/>
        </p:nvSpPr>
        <p:spPr>
          <a:xfrm xmlns:a="http://schemas.openxmlformats.org/drawingml/2006/main">
            <a:off x="8001000" y="3714750"/>
            <a:ext cx="2095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5000"/>
              </a:lnSpc>
              <a:buNone/>
              <a:defRPr sz="1575" b="0" lang="he-IL">
                <a:solidFill>
                  <a:srgbClr val="9AB1C5"/>
                </a:solidFill>
                <a:latin typeface="Arial"/>
                <a:ea typeface="Arial"/>
                <a:cs typeface="Arial"/>
              </a:defRPr>
            </a:pPr>
            <a:r>
              <a:rPr sz="1575" b="0" lang="he-IL">
                <a:solidFill>
                  <a:srgbClr val="9AB1C5"/>
                </a:solidFill>
                <a:latin typeface="Arial"/>
                <a:ea typeface="Arial"/>
                <a:cs typeface="Arial"/>
              </a:rPr>
              <a:t>53 ימים מאושרים</a:t>
            </a:r>
          </a:p>
          <a:p xmlns:a="http://schemas.openxmlformats.org/drawingml/2006/main">
            <a:pPr algn="r">
              <a:lnSpc>
                <a:spcPct val="105000"/>
              </a:lnSpc>
              <a:buNone/>
              <a:defRPr sz="1575" b="0">
                <a:solidFill>
                  <a:srgbClr val="9AB1C5"/>
                </a:solidFill>
                <a:latin typeface="Arial"/>
                <a:ea typeface="Arial"/>
                <a:cs typeface="Arial"/>
              </a:defRPr>
            </a:pPr>
            <a:r>
              <a:rPr sz="1575" b="0">
                <a:solidFill>
                  <a:srgbClr val="9AB1C5"/>
                </a:solidFill>
                <a:latin typeface="Arial"/>
                <a:ea typeface="Arial"/>
                <a:cs typeface="Arial"/>
              </a:rPr>
              <a:t>v1 Shadow 2/20</a:t>
            </a:r>
          </a:p>
          <a:p xmlns:a="http://schemas.openxmlformats.org/drawingml/2006/main">
            <a:pPr algn="r">
              <a:lnSpc>
                <a:spcPct val="105000"/>
              </a:lnSpc>
              <a:buNone/>
              <a:defRPr sz="1575" b="0">
                <a:solidFill>
                  <a:srgbClr val="9AB1C5"/>
                </a:solidFill>
                <a:latin typeface="Arial"/>
                <a:ea typeface="Arial"/>
                <a:cs typeface="Arial"/>
              </a:defRPr>
            </a:pPr>
            <a:r>
              <a:rPr sz="1575" b="0">
                <a:solidFill>
                  <a:srgbClr val="9AB1C5"/>
                </a:solidFill>
                <a:latin typeface="Arial"/>
                <a:ea typeface="Arial"/>
                <a:cs typeface="Arial"/>
              </a:rPr>
              <a:t>v2 FALLBACK</a:t>
            </a:r>
          </a:p>
        </p:txBody>
      </p:sp>
      <p:sp>
        <p:nvSpPr>
          <p:cNvPr id="12" name="">
            <a:extLst xmlns:a="http://schemas.openxmlformats.org/drawingml/2006/main">
              <a:ext uri="{FF2B5EF4-FFF2-40B4-BE49-F238E27FC236}">
                <a16:creationId xmlns:a16="http://schemas.microsoft.com/office/drawing/2014/main" id="{A61FD1E2-82CC-47EC-995F-5959CB58E338}"/>
              </a:ext>
            </a:extLst>
          </p:cNvPr>
          <p:cNvSpPr>
            <a:spLocks xmlns:a="http://schemas.openxmlformats.org/drawingml/2006/main" noGrp="1"/>
          </p:cNvSpPr>
          <p:nvPr/>
        </p:nvSpPr>
        <p:spPr>
          <a:xfrm xmlns:a="http://schemas.openxmlformats.org/drawingml/2006/main">
            <a:off x="6048375" y="3114675"/>
            <a:ext cx="285750" cy="285750"/>
          </a:xfrm>
          <a:prstGeom xmlns:a="http://schemas.openxmlformats.org/drawingml/2006/main" prst="roundRect">
            <a:avLst>
              <a:gd name="adj" fmla="val 50000"/>
            </a:avLst>
          </a:prstGeom>
          <a:solidFill xmlns:a="http://schemas.openxmlformats.org/drawingml/2006/main">
            <a:srgbClr val="5B91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325B80A-CFBB-450C-B5A4-63CEDBFB6F04}"/>
              </a:ext>
            </a:extLst>
          </p:cNvPr>
          <p:cNvSpPr>
            <a:spLocks xmlns:a="http://schemas.openxmlformats.org/drawingml/2006/main" noGrp="1"/>
          </p:cNvSpPr>
          <p:nvPr/>
        </p:nvSpPr>
        <p:spPr>
          <a:xfrm xmlns:a="http://schemas.openxmlformats.org/drawingml/2006/main">
            <a:off x="6010275" y="31432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825" b="1">
                <a:solidFill>
                  <a:srgbClr val="091827"/>
                </a:solidFill>
                <a:latin typeface="Cascadia Mono"/>
                <a:ea typeface="Cascadia Mono"/>
                <a:cs typeface="Cascadia Mono"/>
              </a:defRPr>
            </a:pPr>
            <a:r>
              <a:rPr sz="825" b="1">
                <a:solidFill>
                  <a:srgbClr val="091827"/>
                </a:solidFill>
                <a:latin typeface="Cascadia Mono"/>
                <a:ea typeface="Cascadia Mono"/>
                <a:cs typeface="Cascadia Mono"/>
              </a:rPr>
              <a:t>02</a:t>
            </a:r>
          </a:p>
        </p:txBody>
      </p:sp>
      <p:sp>
        <p:nvSpPr>
          <p:cNvPr id="14" name="">
            <a:extLst xmlns:a="http://schemas.openxmlformats.org/drawingml/2006/main">
              <a:ext uri="{FF2B5EF4-FFF2-40B4-BE49-F238E27FC236}">
                <a16:creationId xmlns:a16="http://schemas.microsoft.com/office/drawing/2014/main" id="{4D8996D5-3221-4EFE-84CD-07DF2222B0E5}"/>
              </a:ext>
            </a:extLst>
          </p:cNvPr>
          <p:cNvSpPr>
            <a:spLocks xmlns:a="http://schemas.openxmlformats.org/drawingml/2006/main" noGrp="1"/>
          </p:cNvSpPr>
          <p:nvPr/>
        </p:nvSpPr>
        <p:spPr>
          <a:xfrm xmlns:a="http://schemas.openxmlformats.org/drawingml/2006/main">
            <a:off x="4238625" y="20002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025" b="1" lang="he-IL">
                <a:solidFill>
                  <a:srgbClr val="F8FBFF"/>
                </a:solidFill>
                <a:latin typeface="Arial"/>
                <a:ea typeface="Arial"/>
                <a:cs typeface="Arial"/>
              </a:defRPr>
            </a:pPr>
            <a:r>
              <a:rPr sz="2025" b="1" lang="he-IL">
                <a:solidFill>
                  <a:srgbClr val="F8FBFF"/>
                </a:solidFill>
                <a:latin typeface="Arial"/>
                <a:ea typeface="Arial"/>
                <a:cs typeface="Arial"/>
              </a:rPr>
              <a:t>שער הראיות</a:t>
            </a:r>
          </a:p>
        </p:txBody>
      </p:sp>
      <p:sp>
        <p:nvSpPr>
          <p:cNvPr id="15" name="">
            <a:extLst xmlns:a="http://schemas.openxmlformats.org/drawingml/2006/main">
              <a:ext uri="{FF2B5EF4-FFF2-40B4-BE49-F238E27FC236}">
                <a16:creationId xmlns:a16="http://schemas.microsoft.com/office/drawing/2014/main" id="{ADF559A4-3FAD-46AF-A685-2A19FD81F3FC}"/>
              </a:ext>
            </a:extLst>
          </p:cNvPr>
          <p:cNvSpPr>
            <a:spLocks xmlns:a="http://schemas.openxmlformats.org/drawingml/2006/main" noGrp="1"/>
          </p:cNvSpPr>
          <p:nvPr/>
        </p:nvSpPr>
        <p:spPr>
          <a:xfrm xmlns:a="http://schemas.openxmlformats.org/drawingml/2006/main">
            <a:off x="4238625" y="3714750"/>
            <a:ext cx="2095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5000"/>
              </a:lnSpc>
              <a:buNone/>
              <a:defRPr sz="1575" b="0" lang="he-IL">
                <a:solidFill>
                  <a:srgbClr val="9AB1C5"/>
                </a:solidFill>
                <a:latin typeface="Arial"/>
                <a:ea typeface="Arial"/>
                <a:cs typeface="Arial"/>
              </a:defRPr>
            </a:pPr>
            <a:r>
              <a:rPr sz="1575" b="0" lang="he-IL">
                <a:solidFill>
                  <a:srgbClr val="9AB1C5"/>
                </a:solidFill>
                <a:latin typeface="Arial"/>
                <a:ea typeface="Arial"/>
                <a:cs typeface="Arial"/>
              </a:rPr>
              <a:t>24 חודשי נתונים</a:t>
            </a:r>
          </a:p>
          <a:p xmlns:a="http://schemas.openxmlformats.org/drawingml/2006/main">
            <a:pPr algn="r" rtl="1">
              <a:lnSpc>
                <a:spcPct val="105000"/>
              </a:lnSpc>
              <a:buNone/>
              <a:defRPr sz="1575" b="0" lang="he-IL">
                <a:solidFill>
                  <a:srgbClr val="9AB1C5"/>
                </a:solidFill>
                <a:latin typeface="Arial"/>
                <a:ea typeface="Arial"/>
                <a:cs typeface="Arial"/>
              </a:defRPr>
            </a:pPr>
            <a:r>
              <a:rPr sz="1575" b="0" lang="he-IL">
                <a:solidFill>
                  <a:srgbClr val="9AB1C5"/>
                </a:solidFill>
                <a:latin typeface="Arial"/>
                <a:ea typeface="Arial"/>
                <a:cs typeface="Arial"/>
              </a:rPr>
              <a:t>300 כניסות תקפות</a:t>
            </a:r>
          </a:p>
          <a:p xmlns:a="http://schemas.openxmlformats.org/drawingml/2006/main">
            <a:pPr algn="r">
              <a:lnSpc>
                <a:spcPct val="105000"/>
              </a:lnSpc>
              <a:buNone/>
              <a:defRPr sz="1575" b="0">
                <a:solidFill>
                  <a:srgbClr val="9AB1C5"/>
                </a:solidFill>
                <a:latin typeface="Arial"/>
                <a:ea typeface="Arial"/>
                <a:cs typeface="Arial"/>
              </a:defRPr>
            </a:pPr>
            <a:r>
              <a:rPr sz="1575" b="0">
                <a:solidFill>
                  <a:srgbClr val="9AB1C5"/>
                </a:solidFill>
                <a:latin typeface="Arial"/>
                <a:ea typeface="Arial"/>
                <a:cs typeface="Arial"/>
              </a:rPr>
              <a:t>Walk-Forward gates</a:t>
            </a:r>
          </a:p>
        </p:txBody>
      </p:sp>
      <p:sp>
        <p:nvSpPr>
          <p:cNvPr id="16" name="">
            <a:extLst xmlns:a="http://schemas.openxmlformats.org/drawingml/2006/main">
              <a:ext uri="{FF2B5EF4-FFF2-40B4-BE49-F238E27FC236}">
                <a16:creationId xmlns:a16="http://schemas.microsoft.com/office/drawing/2014/main" id="{AB67C1F8-A5D0-4089-86CC-895C90560E58}"/>
              </a:ext>
            </a:extLst>
          </p:cNvPr>
          <p:cNvSpPr>
            <a:spLocks xmlns:a="http://schemas.openxmlformats.org/drawingml/2006/main" noGrp="1"/>
          </p:cNvSpPr>
          <p:nvPr/>
        </p:nvSpPr>
        <p:spPr>
          <a:xfrm xmlns:a="http://schemas.openxmlformats.org/drawingml/2006/main">
            <a:off x="2286000" y="3114675"/>
            <a:ext cx="285750" cy="285750"/>
          </a:xfrm>
          <a:prstGeom xmlns:a="http://schemas.openxmlformats.org/drawingml/2006/main" prst="roundRect">
            <a:avLst>
              <a:gd name="adj" fmla="val 50000"/>
            </a:avLst>
          </a:prstGeom>
          <a:solidFill xmlns:a="http://schemas.openxmlformats.org/drawingml/2006/main">
            <a:srgbClr val="F4B94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5AAEFD9-D56D-4907-82D9-6F467E4051BA}"/>
              </a:ext>
            </a:extLst>
          </p:cNvPr>
          <p:cNvSpPr>
            <a:spLocks xmlns:a="http://schemas.openxmlformats.org/drawingml/2006/main" noGrp="1"/>
          </p:cNvSpPr>
          <p:nvPr/>
        </p:nvSpPr>
        <p:spPr>
          <a:xfrm xmlns:a="http://schemas.openxmlformats.org/drawingml/2006/main">
            <a:off x="2247900" y="31432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825" b="1">
                <a:solidFill>
                  <a:srgbClr val="091827"/>
                </a:solidFill>
                <a:latin typeface="Cascadia Mono"/>
                <a:ea typeface="Cascadia Mono"/>
                <a:cs typeface="Cascadia Mono"/>
              </a:defRPr>
            </a:pPr>
            <a:r>
              <a:rPr sz="825" b="1">
                <a:solidFill>
                  <a:srgbClr val="091827"/>
                </a:solidFill>
                <a:latin typeface="Cascadia Mono"/>
                <a:ea typeface="Cascadia Mono"/>
                <a:cs typeface="Cascadia Mono"/>
              </a:rPr>
              <a:t>03</a:t>
            </a:r>
          </a:p>
        </p:txBody>
      </p:sp>
      <p:sp>
        <p:nvSpPr>
          <p:cNvPr id="18" name="">
            <a:extLst xmlns:a="http://schemas.openxmlformats.org/drawingml/2006/main">
              <a:ext uri="{FF2B5EF4-FFF2-40B4-BE49-F238E27FC236}">
                <a16:creationId xmlns:a16="http://schemas.microsoft.com/office/drawing/2014/main" id="{29BBE666-8C8D-41B6-AEB9-8EF6364C9BAC}"/>
              </a:ext>
            </a:extLst>
          </p:cNvPr>
          <p:cNvSpPr>
            <a:spLocks xmlns:a="http://schemas.openxmlformats.org/drawingml/2006/main" noGrp="1"/>
          </p:cNvSpPr>
          <p:nvPr/>
        </p:nvSpPr>
        <p:spPr>
          <a:xfrm xmlns:a="http://schemas.openxmlformats.org/drawingml/2006/main">
            <a:off x="476250" y="20002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025" b="1" lang="he-IL">
                <a:solidFill>
                  <a:srgbClr val="F8FBFF"/>
                </a:solidFill>
                <a:latin typeface="Arial"/>
                <a:ea typeface="Arial"/>
                <a:cs typeface="Arial"/>
              </a:defRPr>
            </a:pPr>
            <a:r>
              <a:rPr sz="2025" b="1" lang="he-IL">
                <a:solidFill>
                  <a:srgbClr val="F8FBFF"/>
                </a:solidFill>
                <a:latin typeface="Arial"/>
                <a:ea typeface="Arial"/>
                <a:cs typeface="Arial"/>
              </a:rPr>
              <a:t>לפני הפעלה</a:t>
            </a:r>
          </a:p>
        </p:txBody>
      </p:sp>
      <p:sp>
        <p:nvSpPr>
          <p:cNvPr id="19" name="">
            <a:extLst xmlns:a="http://schemas.openxmlformats.org/drawingml/2006/main">
              <a:ext uri="{FF2B5EF4-FFF2-40B4-BE49-F238E27FC236}">
                <a16:creationId xmlns:a16="http://schemas.microsoft.com/office/drawing/2014/main" id="{038CB654-2783-42AC-BA82-7593B33E6B41}"/>
              </a:ext>
            </a:extLst>
          </p:cNvPr>
          <p:cNvSpPr>
            <a:spLocks xmlns:a="http://schemas.openxmlformats.org/drawingml/2006/main" noGrp="1"/>
          </p:cNvSpPr>
          <p:nvPr/>
        </p:nvSpPr>
        <p:spPr>
          <a:xfrm xmlns:a="http://schemas.openxmlformats.org/drawingml/2006/main">
            <a:off x="476250" y="3714750"/>
            <a:ext cx="2095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575" b="0">
                <a:solidFill>
                  <a:srgbClr val="9AB1C5"/>
                </a:solidFill>
                <a:latin typeface="Arial"/>
                <a:ea typeface="Arial"/>
                <a:cs typeface="Arial"/>
              </a:defRPr>
            </a:pPr>
            <a:r>
              <a:rPr sz="1575" b="0">
                <a:solidFill>
                  <a:srgbClr val="9AB1C5"/>
                </a:solidFill>
                <a:latin typeface="Arial"/>
                <a:ea typeface="Arial"/>
                <a:cs typeface="Arial"/>
              </a:rPr>
              <a:t>v2 Shadow 20 days</a:t>
            </a:r>
          </a:p>
          <a:p xmlns:a="http://schemas.openxmlformats.org/drawingml/2006/main">
            <a:pPr algn="r" rtl="1">
              <a:lnSpc>
                <a:spcPct val="105000"/>
              </a:lnSpc>
              <a:buNone/>
              <a:defRPr sz="1575" b="0" lang="he-IL">
                <a:solidFill>
                  <a:srgbClr val="9AB1C5"/>
                </a:solidFill>
                <a:latin typeface="Arial"/>
                <a:ea typeface="Arial"/>
                <a:cs typeface="Arial"/>
              </a:defRPr>
            </a:pPr>
            <a:r>
              <a:rPr sz="1575" b="0" lang="he-IL">
                <a:solidFill>
                  <a:srgbClr val="9AB1C5"/>
                </a:solidFill>
                <a:latin typeface="Arial"/>
                <a:ea typeface="Arial"/>
                <a:cs typeface="Arial"/>
              </a:rPr>
              <a:t>בדיקת Calibration</a:t>
            </a:r>
          </a:p>
          <a:p xmlns:a="http://schemas.openxmlformats.org/drawingml/2006/main">
            <a:pPr algn="r" rtl="1">
              <a:lnSpc>
                <a:spcPct val="105000"/>
              </a:lnSpc>
              <a:buNone/>
              <a:defRPr sz="1575" b="0" lang="he-IL">
                <a:solidFill>
                  <a:srgbClr val="9AB1C5"/>
                </a:solidFill>
                <a:latin typeface="Arial"/>
                <a:ea typeface="Arial"/>
                <a:cs typeface="Arial"/>
              </a:defRPr>
            </a:pPr>
            <a:r>
              <a:rPr sz="1575" b="0" lang="he-IL">
                <a:solidFill>
                  <a:srgbClr val="9AB1C5"/>
                </a:solidFill>
                <a:latin typeface="Arial"/>
                <a:ea typeface="Arial"/>
                <a:cs typeface="Arial"/>
              </a:rPr>
              <a:t>אישור אנושי</a:t>
            </a:r>
          </a:p>
        </p:txBody>
      </p:sp>
      <p:sp>
        <p:nvSpPr>
          <p:cNvPr id="20" name="">
            <a:extLst xmlns:a="http://schemas.openxmlformats.org/drawingml/2006/main">
              <a:ext uri="{FF2B5EF4-FFF2-40B4-BE49-F238E27FC236}">
                <a16:creationId xmlns:a16="http://schemas.microsoft.com/office/drawing/2014/main" id="{FE06F5CC-D059-4791-BBE1-398ED75E7EF0}"/>
              </a:ext>
            </a:extLst>
          </p:cNvPr>
          <p:cNvSpPr>
            <a:spLocks xmlns:a="http://schemas.openxmlformats.org/drawingml/2006/main" noGrp="1"/>
          </p:cNvSpPr>
          <p:nvPr/>
        </p:nvSpPr>
        <p:spPr>
          <a:xfrm xmlns:a="http://schemas.openxmlformats.org/drawingml/2006/main">
            <a:off x="3810000" y="5295900"/>
            <a:ext cx="7753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75" b="1" lang="he-IL">
                <a:solidFill>
                  <a:srgbClr val="EF7484"/>
                </a:solidFill>
                <a:latin typeface="Arial"/>
                <a:ea typeface="Arial"/>
                <a:cs typeface="Arial"/>
              </a:defRPr>
            </a:pPr>
            <a:r>
              <a:rPr sz="1575" b="1" lang="he-IL">
                <a:solidFill>
                  <a:srgbClr val="EF7484"/>
                </a:solidFill>
                <a:latin typeface="Arial"/>
                <a:ea typeface="Arial"/>
                <a:cs typeface="Arial"/>
              </a:rPr>
              <a:t>רק אחרי שערי האמון נשקול הזנת שוק מלאה, ענן, אבטחה וניטור תפעולי.</a:t>
            </a:r>
          </a:p>
        </p:txBody>
      </p:sp>
    </p:spTree>
    <p:extLst>
      <p:ext uri="{BB962C8B-B14F-4D97-AF65-F5344CB8AC3E}">
        <p14:creationId xmlns:p14="http://schemas.microsoft.com/office/powerpoint/2010/main" val="1049230087"/>
      </p:ext>
    </p:extLst>
  </p:cSld>
</p:sld>
</file>

<file path=ppt/slides/slide12.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5CF54FDF-F376-48E3-A924-2B8DF0CDF57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2573BF8-79FC-4017-ACE5-BCEC707079DD}"/>
              </a:ext>
            </a:extLst>
          </p:cNvPr>
          <p:cNvSpPr>
            <a:spLocks xmlns:a="http://schemas.openxmlformats.org/drawingml/2006/main" noGrp="1"/>
          </p:cNvSpPr>
          <p:nvPr/>
        </p:nvSpPr>
        <p:spPr>
          <a:xfrm xmlns:a="http://schemas.openxmlformats.org/drawingml/2006/main">
            <a:off x="609600" y="41910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LIVE DEMO · 05:50</a:t>
            </a:r>
          </a:p>
        </p:txBody>
      </p:sp>
      <p:sp>
        <p:nvSpPr>
          <p:cNvPr id="3" name="">
            <a:extLst xmlns:a="http://schemas.openxmlformats.org/drawingml/2006/main">
              <a:ext uri="{FF2B5EF4-FFF2-40B4-BE49-F238E27FC236}">
                <a16:creationId xmlns:a16="http://schemas.microsoft.com/office/drawing/2014/main" id="{43BA97E8-60C6-403F-B5D1-66995E3A3170}"/>
              </a:ext>
            </a:extLst>
          </p:cNvPr>
          <p:cNvSpPr>
            <a:spLocks xmlns:a="http://schemas.openxmlformats.org/drawingml/2006/main" noGrp="1"/>
          </p:cNvSpPr>
          <p:nvPr/>
        </p:nvSpPr>
        <p:spPr>
          <a:xfrm xmlns:a="http://schemas.openxmlformats.org/drawingml/2006/main">
            <a:off x="4953000" y="933450"/>
            <a:ext cx="6610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3150" b="1" lang="he-IL">
                <a:solidFill>
                  <a:srgbClr val="F8FBFF"/>
                </a:solidFill>
                <a:latin typeface="Arial"/>
                <a:ea typeface="Arial"/>
                <a:cs typeface="Arial"/>
              </a:defRPr>
            </a:pPr>
            <a:r>
              <a:rPr sz="3150" b="1" lang="he-IL">
                <a:solidFill>
                  <a:srgbClr val="F8FBFF"/>
                </a:solidFill>
                <a:latin typeface="Arial"/>
                <a:ea typeface="Arial"/>
                <a:cs typeface="Arial"/>
              </a:rPr>
              <a:t>עוברים מהסיפור למערכת</a:t>
            </a:r>
          </a:p>
        </p:txBody>
      </p:sp>
      <p:sp>
        <p:nvSpPr>
          <p:cNvPr id="4" name="">
            <a:extLst xmlns:a="http://schemas.openxmlformats.org/drawingml/2006/main">
              <a:ext uri="{FF2B5EF4-FFF2-40B4-BE49-F238E27FC236}">
                <a16:creationId xmlns:a16="http://schemas.microsoft.com/office/drawing/2014/main" id="{2D3244FA-65AB-4BB1-9E39-FCA0E11CD51E}"/>
              </a:ext>
            </a:extLst>
          </p:cNvPr>
          <p:cNvSpPr>
            <a:spLocks xmlns:a="http://schemas.openxmlformats.org/drawingml/2006/main" noGrp="1"/>
          </p:cNvSpPr>
          <p:nvPr/>
        </p:nvSpPr>
        <p:spPr>
          <a:xfrm xmlns:a="http://schemas.openxmlformats.org/drawingml/2006/main">
            <a:off x="5619750" y="1657350"/>
            <a:ext cx="5943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725" b="0" lang="he-IL">
                <a:solidFill>
                  <a:srgbClr val="9AB1C5"/>
                </a:solidFill>
                <a:latin typeface="Arial"/>
                <a:ea typeface="Arial"/>
                <a:cs typeface="Arial"/>
              </a:defRPr>
            </a:pPr>
            <a:r>
              <a:rPr sz="1725" b="0" lang="he-IL">
                <a:solidFill>
                  <a:srgbClr val="9AB1C5"/>
                </a:solidFill>
                <a:latin typeface="Arial"/>
                <a:ea typeface="Arial"/>
                <a:cs typeface="Arial"/>
              </a:rPr>
              <a:t>מהאירוע הגולמי ועד תרחיש החלטה שאפשר להסביר ולשחזר</a:t>
            </a:r>
          </a:p>
        </p:txBody>
      </p:sp>
      <p:sp>
        <p:nvSpPr>
          <p:cNvPr id="5" name="">
            <a:extLst xmlns:a="http://schemas.openxmlformats.org/drawingml/2006/main">
              <a:ext uri="{FF2B5EF4-FFF2-40B4-BE49-F238E27FC236}">
                <a16:creationId xmlns:a16="http://schemas.microsoft.com/office/drawing/2014/main" id="{D4DE2DC5-5D19-46DF-AAF3-BBCE302F730D}"/>
              </a:ext>
            </a:extLst>
          </p:cNvPr>
          <p:cNvSpPr>
            <a:spLocks xmlns:a="http://schemas.openxmlformats.org/drawingml/2006/main" noGrp="1"/>
          </p:cNvSpPr>
          <p:nvPr/>
        </p:nvSpPr>
        <p:spPr>
          <a:xfrm xmlns:a="http://schemas.openxmlformats.org/drawingml/2006/main">
            <a:off x="704850" y="3181350"/>
            <a:ext cx="419100" cy="419100"/>
          </a:xfrm>
          <a:prstGeom xmlns:a="http://schemas.openxmlformats.org/drawingml/2006/main" prst="roundRect">
            <a:avLst>
              <a:gd name="adj" fmla="val 50000"/>
            </a:avLst>
          </a:prstGeom>
          <a:solidFill xmlns:a="http://schemas.openxmlformats.org/drawingml/2006/main">
            <a:srgbClr val="10283C"/>
          </a:solidFill>
          <a:ln xmlns:a="http://schemas.openxmlformats.org/drawingml/2006/main" w="14288">
            <a:solidFill>
              <a:srgbClr val="294157"/>
            </a:solidFill>
            <a:prstDash val="solid"/>
          </a:ln>
        </p:spPr>
      </p:sp>
      <p:sp>
        <p:nvSpPr>
          <p:cNvPr id="6" name="">
            <a:extLst xmlns:a="http://schemas.openxmlformats.org/drawingml/2006/main">
              <a:ext uri="{FF2B5EF4-FFF2-40B4-BE49-F238E27FC236}">
                <a16:creationId xmlns:a16="http://schemas.microsoft.com/office/drawing/2014/main" id="{E330B7CE-9197-4D38-945E-CF668A4E69EC}"/>
              </a:ext>
            </a:extLst>
          </p:cNvPr>
          <p:cNvSpPr>
            <a:spLocks xmlns:a="http://schemas.openxmlformats.org/drawingml/2006/main" noGrp="1"/>
          </p:cNvSpPr>
          <p:nvPr/>
        </p:nvSpPr>
        <p:spPr>
          <a:xfrm xmlns:a="http://schemas.openxmlformats.org/drawingml/2006/main">
            <a:off x="704850" y="32956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35D4B5"/>
                </a:solidFill>
                <a:latin typeface="Cascadia Mono"/>
                <a:ea typeface="Cascadia Mono"/>
                <a:cs typeface="Cascadia Mono"/>
              </a:defRPr>
            </a:pPr>
            <a:r>
              <a:rPr sz="900" b="1">
                <a:solidFill>
                  <a:srgbClr val="35D4B5"/>
                </a:solidFill>
                <a:latin typeface="Cascadia Mono"/>
                <a:ea typeface="Cascadia Mono"/>
                <a:cs typeface="Cascadia Mono"/>
              </a:rPr>
              <a:t>06</a:t>
            </a:r>
          </a:p>
        </p:txBody>
      </p:sp>
      <p:sp>
        <p:nvSpPr>
          <p:cNvPr id="7" name="">
            <a:extLst xmlns:a="http://schemas.openxmlformats.org/drawingml/2006/main">
              <a:ext uri="{FF2B5EF4-FFF2-40B4-BE49-F238E27FC236}">
                <a16:creationId xmlns:a16="http://schemas.microsoft.com/office/drawing/2014/main" id="{6C946AEE-C31D-48F8-8058-F7CABA9DC713}"/>
              </a:ext>
            </a:extLst>
          </p:cNvPr>
          <p:cNvSpPr>
            <a:spLocks xmlns:a="http://schemas.openxmlformats.org/drawingml/2006/main" noGrp="1"/>
          </p:cNvSpPr>
          <p:nvPr/>
        </p:nvSpPr>
        <p:spPr>
          <a:xfrm xmlns:a="http://schemas.openxmlformats.org/drawingml/2006/main">
            <a:off x="209550" y="3848100"/>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F8FBFF"/>
                </a:solidFill>
                <a:latin typeface="Cascadia Mono"/>
                <a:ea typeface="Cascadia Mono"/>
                <a:cs typeface="Cascadia Mono"/>
              </a:defRPr>
            </a:pPr>
            <a:r>
              <a:rPr sz="1275" b="1">
                <a:solidFill>
                  <a:srgbClr val="F8FBFF"/>
                </a:solidFill>
                <a:latin typeface="Cascadia Mono"/>
                <a:ea typeface="Cascadia Mono"/>
                <a:cs typeface="Cascadia Mono"/>
              </a:rPr>
              <a:t>Backtesting</a:t>
            </a:r>
          </a:p>
        </p:txBody>
      </p:sp>
      <p:sp>
        <p:nvSpPr>
          <p:cNvPr id="8" name="">
            <a:extLst xmlns:a="http://schemas.openxmlformats.org/drawingml/2006/main">
              <a:ext uri="{FF2B5EF4-FFF2-40B4-BE49-F238E27FC236}">
                <a16:creationId xmlns:a16="http://schemas.microsoft.com/office/drawing/2014/main" id="{F5D9B2FB-53D4-4D36-AC74-92B83B329112}"/>
              </a:ext>
            </a:extLst>
          </p:cNvPr>
          <p:cNvSpPr>
            <a:spLocks xmlns:a="http://schemas.openxmlformats.org/drawingml/2006/main" noGrp="1"/>
          </p:cNvSpPr>
          <p:nvPr/>
        </p:nvSpPr>
        <p:spPr>
          <a:xfrm xmlns:a="http://schemas.openxmlformats.org/drawingml/2006/main">
            <a:off x="2571750" y="3181350"/>
            <a:ext cx="419100" cy="419100"/>
          </a:xfrm>
          <a:prstGeom xmlns:a="http://schemas.openxmlformats.org/drawingml/2006/main" prst="roundRect">
            <a:avLst>
              <a:gd name="adj" fmla="val 50000"/>
            </a:avLst>
          </a:prstGeom>
          <a:solidFill xmlns:a="http://schemas.openxmlformats.org/drawingml/2006/main">
            <a:srgbClr val="10283C"/>
          </a:solidFill>
          <a:ln xmlns:a="http://schemas.openxmlformats.org/drawingml/2006/main" w="14288">
            <a:solidFill>
              <a:srgbClr val="294157"/>
            </a:solidFill>
            <a:prstDash val="solid"/>
          </a:ln>
        </p:spPr>
      </p:sp>
      <p:sp>
        <p:nvSpPr>
          <p:cNvPr id="9" name="">
            <a:extLst xmlns:a="http://schemas.openxmlformats.org/drawingml/2006/main">
              <a:ext uri="{FF2B5EF4-FFF2-40B4-BE49-F238E27FC236}">
                <a16:creationId xmlns:a16="http://schemas.microsoft.com/office/drawing/2014/main" id="{AB1DC142-AC7E-4AD6-A018-71BD4398267E}"/>
              </a:ext>
            </a:extLst>
          </p:cNvPr>
          <p:cNvSpPr>
            <a:spLocks xmlns:a="http://schemas.openxmlformats.org/drawingml/2006/main" noGrp="1"/>
          </p:cNvSpPr>
          <p:nvPr/>
        </p:nvSpPr>
        <p:spPr>
          <a:xfrm xmlns:a="http://schemas.openxmlformats.org/drawingml/2006/main">
            <a:off x="2571750" y="32956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35D4B5"/>
                </a:solidFill>
                <a:latin typeface="Cascadia Mono"/>
                <a:ea typeface="Cascadia Mono"/>
                <a:cs typeface="Cascadia Mono"/>
              </a:defRPr>
            </a:pPr>
            <a:r>
              <a:rPr sz="900" b="1">
                <a:solidFill>
                  <a:srgbClr val="35D4B5"/>
                </a:solidFill>
                <a:latin typeface="Cascadia Mono"/>
                <a:ea typeface="Cascadia Mono"/>
                <a:cs typeface="Cascadia Mono"/>
              </a:rPr>
              <a:t>05</a:t>
            </a:r>
          </a:p>
        </p:txBody>
      </p:sp>
      <p:sp>
        <p:nvSpPr>
          <p:cNvPr id="10" name="">
            <a:extLst xmlns:a="http://schemas.openxmlformats.org/drawingml/2006/main">
              <a:ext uri="{FF2B5EF4-FFF2-40B4-BE49-F238E27FC236}">
                <a16:creationId xmlns:a16="http://schemas.microsoft.com/office/drawing/2014/main" id="{EDD3D37F-7981-4117-A093-150B1CC7CCA0}"/>
              </a:ext>
            </a:extLst>
          </p:cNvPr>
          <p:cNvSpPr>
            <a:spLocks xmlns:a="http://schemas.openxmlformats.org/drawingml/2006/main" noGrp="1"/>
          </p:cNvSpPr>
          <p:nvPr/>
        </p:nvSpPr>
        <p:spPr>
          <a:xfrm xmlns:a="http://schemas.openxmlformats.org/drawingml/2006/main">
            <a:off x="2076450" y="3848100"/>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F8FBFF"/>
                </a:solidFill>
                <a:latin typeface="Cascadia Mono"/>
                <a:ea typeface="Cascadia Mono"/>
                <a:cs typeface="Cascadia Mono"/>
              </a:defRPr>
            </a:pPr>
            <a:r>
              <a:rPr sz="1275" b="1">
                <a:solidFill>
                  <a:srgbClr val="F8FBFF"/>
                </a:solidFill>
                <a:latin typeface="Cascadia Mono"/>
                <a:ea typeface="Cascadia Mono"/>
                <a:cs typeface="Cascadia Mono"/>
              </a:rPr>
              <a:t>Opportunity</a:t>
            </a:r>
          </a:p>
        </p:txBody>
      </p:sp>
      <p:sp>
        <p:nvSpPr>
          <p:cNvPr id="11" name="">
            <a:extLst xmlns:a="http://schemas.openxmlformats.org/drawingml/2006/main">
              <a:ext uri="{FF2B5EF4-FFF2-40B4-BE49-F238E27FC236}">
                <a16:creationId xmlns:a16="http://schemas.microsoft.com/office/drawing/2014/main" id="{66013771-9200-4686-BDB5-BEAA65F93028}"/>
              </a:ext>
            </a:extLst>
          </p:cNvPr>
          <p:cNvSpPr>
            <a:spLocks xmlns:a="http://schemas.openxmlformats.org/drawingml/2006/main" noGrp="1"/>
          </p:cNvSpPr>
          <p:nvPr/>
        </p:nvSpPr>
        <p:spPr>
          <a:xfrm xmlns:a="http://schemas.openxmlformats.org/drawingml/2006/main">
            <a:off x="4438650" y="3181350"/>
            <a:ext cx="419100" cy="419100"/>
          </a:xfrm>
          <a:prstGeom xmlns:a="http://schemas.openxmlformats.org/drawingml/2006/main" prst="roundRect">
            <a:avLst>
              <a:gd name="adj" fmla="val 50000"/>
            </a:avLst>
          </a:prstGeom>
          <a:solidFill xmlns:a="http://schemas.openxmlformats.org/drawingml/2006/main">
            <a:srgbClr val="10283C"/>
          </a:solidFill>
          <a:ln xmlns:a="http://schemas.openxmlformats.org/drawingml/2006/main" w="14288">
            <a:solidFill>
              <a:srgbClr val="294157"/>
            </a:solidFill>
            <a:prstDash val="solid"/>
          </a:ln>
        </p:spPr>
      </p:sp>
      <p:sp>
        <p:nvSpPr>
          <p:cNvPr id="12" name="">
            <a:extLst xmlns:a="http://schemas.openxmlformats.org/drawingml/2006/main">
              <a:ext uri="{FF2B5EF4-FFF2-40B4-BE49-F238E27FC236}">
                <a16:creationId xmlns:a16="http://schemas.microsoft.com/office/drawing/2014/main" id="{FF5CDF91-D66D-4B45-91C2-E11CDDD0765B}"/>
              </a:ext>
            </a:extLst>
          </p:cNvPr>
          <p:cNvSpPr>
            <a:spLocks xmlns:a="http://schemas.openxmlformats.org/drawingml/2006/main" noGrp="1"/>
          </p:cNvSpPr>
          <p:nvPr/>
        </p:nvSpPr>
        <p:spPr>
          <a:xfrm xmlns:a="http://schemas.openxmlformats.org/drawingml/2006/main">
            <a:off x="4438650" y="32956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35D4B5"/>
                </a:solidFill>
                <a:latin typeface="Cascadia Mono"/>
                <a:ea typeface="Cascadia Mono"/>
                <a:cs typeface="Cascadia Mono"/>
              </a:defRPr>
            </a:pPr>
            <a:r>
              <a:rPr sz="900" b="1">
                <a:solidFill>
                  <a:srgbClr val="35D4B5"/>
                </a:solidFill>
                <a:latin typeface="Cascadia Mono"/>
                <a:ea typeface="Cascadia Mono"/>
                <a:cs typeface="Cascadia Mono"/>
              </a:rPr>
              <a:t>04</a:t>
            </a:r>
          </a:p>
        </p:txBody>
      </p:sp>
      <p:sp>
        <p:nvSpPr>
          <p:cNvPr id="13" name="">
            <a:extLst xmlns:a="http://schemas.openxmlformats.org/drawingml/2006/main">
              <a:ext uri="{FF2B5EF4-FFF2-40B4-BE49-F238E27FC236}">
                <a16:creationId xmlns:a16="http://schemas.microsoft.com/office/drawing/2014/main" id="{08DC4CA7-D0DE-4035-8A41-A5FC1C8BDB6E}"/>
              </a:ext>
            </a:extLst>
          </p:cNvPr>
          <p:cNvSpPr>
            <a:spLocks xmlns:a="http://schemas.openxmlformats.org/drawingml/2006/main" noGrp="1"/>
          </p:cNvSpPr>
          <p:nvPr/>
        </p:nvSpPr>
        <p:spPr>
          <a:xfrm xmlns:a="http://schemas.openxmlformats.org/drawingml/2006/main">
            <a:off x="3943350" y="3848100"/>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F8FBFF"/>
                </a:solidFill>
                <a:latin typeface="Cascadia Mono"/>
                <a:ea typeface="Cascadia Mono"/>
                <a:cs typeface="Cascadia Mono"/>
              </a:defRPr>
            </a:pPr>
            <a:r>
              <a:rPr sz="1275" b="1">
                <a:solidFill>
                  <a:srgbClr val="F8FBFF"/>
                </a:solidFill>
                <a:latin typeface="Cascadia Mono"/>
                <a:ea typeface="Cascadia Mono"/>
                <a:cs typeface="Cascadia Mono"/>
              </a:rPr>
              <a:t>Airflow</a:t>
            </a:r>
          </a:p>
        </p:txBody>
      </p:sp>
      <p:sp>
        <p:nvSpPr>
          <p:cNvPr id="14" name="">
            <a:extLst xmlns:a="http://schemas.openxmlformats.org/drawingml/2006/main">
              <a:ext uri="{FF2B5EF4-FFF2-40B4-BE49-F238E27FC236}">
                <a16:creationId xmlns:a16="http://schemas.microsoft.com/office/drawing/2014/main" id="{528C7499-CB39-48DA-A981-C66FDEF86758}"/>
              </a:ext>
            </a:extLst>
          </p:cNvPr>
          <p:cNvSpPr>
            <a:spLocks xmlns:a="http://schemas.openxmlformats.org/drawingml/2006/main" noGrp="1"/>
          </p:cNvSpPr>
          <p:nvPr/>
        </p:nvSpPr>
        <p:spPr>
          <a:xfrm xmlns:a="http://schemas.openxmlformats.org/drawingml/2006/main">
            <a:off x="6305550" y="3181350"/>
            <a:ext cx="419100" cy="419100"/>
          </a:xfrm>
          <a:prstGeom xmlns:a="http://schemas.openxmlformats.org/drawingml/2006/main" prst="roundRect">
            <a:avLst>
              <a:gd name="adj" fmla="val 50000"/>
            </a:avLst>
          </a:prstGeom>
          <a:solidFill xmlns:a="http://schemas.openxmlformats.org/drawingml/2006/main">
            <a:srgbClr val="10283C"/>
          </a:solidFill>
          <a:ln xmlns:a="http://schemas.openxmlformats.org/drawingml/2006/main" w="14288">
            <a:solidFill>
              <a:srgbClr val="294157"/>
            </a:solidFill>
            <a:prstDash val="solid"/>
          </a:ln>
        </p:spPr>
      </p:sp>
      <p:sp>
        <p:nvSpPr>
          <p:cNvPr id="15" name="">
            <a:extLst xmlns:a="http://schemas.openxmlformats.org/drawingml/2006/main">
              <a:ext uri="{FF2B5EF4-FFF2-40B4-BE49-F238E27FC236}">
                <a16:creationId xmlns:a16="http://schemas.microsoft.com/office/drawing/2014/main" id="{ACD15E77-19A1-427F-81D0-3B86431031FC}"/>
              </a:ext>
            </a:extLst>
          </p:cNvPr>
          <p:cNvSpPr>
            <a:spLocks xmlns:a="http://schemas.openxmlformats.org/drawingml/2006/main" noGrp="1"/>
          </p:cNvSpPr>
          <p:nvPr/>
        </p:nvSpPr>
        <p:spPr>
          <a:xfrm xmlns:a="http://schemas.openxmlformats.org/drawingml/2006/main">
            <a:off x="6305550" y="32956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35D4B5"/>
                </a:solidFill>
                <a:latin typeface="Cascadia Mono"/>
                <a:ea typeface="Cascadia Mono"/>
                <a:cs typeface="Cascadia Mono"/>
              </a:defRPr>
            </a:pPr>
            <a:r>
              <a:rPr sz="900" b="1">
                <a:solidFill>
                  <a:srgbClr val="35D4B5"/>
                </a:solidFill>
                <a:latin typeface="Cascadia Mono"/>
                <a:ea typeface="Cascadia Mono"/>
                <a:cs typeface="Cascadia Mono"/>
              </a:rPr>
              <a:t>03</a:t>
            </a:r>
          </a:p>
        </p:txBody>
      </p:sp>
      <p:sp>
        <p:nvSpPr>
          <p:cNvPr id="16" name="">
            <a:extLst xmlns:a="http://schemas.openxmlformats.org/drawingml/2006/main">
              <a:ext uri="{FF2B5EF4-FFF2-40B4-BE49-F238E27FC236}">
                <a16:creationId xmlns:a16="http://schemas.microsoft.com/office/drawing/2014/main" id="{EB7256B1-A520-4AC6-8BD8-61F7B63C3370}"/>
              </a:ext>
            </a:extLst>
          </p:cNvPr>
          <p:cNvSpPr>
            <a:spLocks xmlns:a="http://schemas.openxmlformats.org/drawingml/2006/main" noGrp="1"/>
          </p:cNvSpPr>
          <p:nvPr/>
        </p:nvSpPr>
        <p:spPr>
          <a:xfrm xmlns:a="http://schemas.openxmlformats.org/drawingml/2006/main">
            <a:off x="5810250" y="3848100"/>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F8FBFF"/>
                </a:solidFill>
                <a:latin typeface="Cascadia Mono"/>
                <a:ea typeface="Cascadia Mono"/>
                <a:cs typeface="Cascadia Mono"/>
              </a:defRPr>
            </a:pPr>
            <a:r>
              <a:rPr sz="1275" b="1">
                <a:solidFill>
                  <a:srgbClr val="F8FBFF"/>
                </a:solidFill>
                <a:latin typeface="Cascadia Mono"/>
                <a:ea typeface="Cascadia Mono"/>
                <a:cs typeface="Cascadia Mono"/>
              </a:rPr>
              <a:t>MinIO</a:t>
            </a:r>
          </a:p>
        </p:txBody>
      </p:sp>
      <p:sp>
        <p:nvSpPr>
          <p:cNvPr id="17" name="">
            <a:extLst xmlns:a="http://schemas.openxmlformats.org/drawingml/2006/main">
              <a:ext uri="{FF2B5EF4-FFF2-40B4-BE49-F238E27FC236}">
                <a16:creationId xmlns:a16="http://schemas.microsoft.com/office/drawing/2014/main" id="{2AA49DA0-4FB1-499B-BA0F-C8DECC979B3E}"/>
              </a:ext>
            </a:extLst>
          </p:cNvPr>
          <p:cNvSpPr>
            <a:spLocks xmlns:a="http://schemas.openxmlformats.org/drawingml/2006/main" noGrp="1"/>
          </p:cNvSpPr>
          <p:nvPr/>
        </p:nvSpPr>
        <p:spPr>
          <a:xfrm xmlns:a="http://schemas.openxmlformats.org/drawingml/2006/main">
            <a:off x="8172450" y="3181350"/>
            <a:ext cx="419100" cy="419100"/>
          </a:xfrm>
          <a:prstGeom xmlns:a="http://schemas.openxmlformats.org/drawingml/2006/main" prst="roundRect">
            <a:avLst>
              <a:gd name="adj" fmla="val 50000"/>
            </a:avLst>
          </a:prstGeom>
          <a:solidFill xmlns:a="http://schemas.openxmlformats.org/drawingml/2006/main">
            <a:srgbClr val="10283C"/>
          </a:solidFill>
          <a:ln xmlns:a="http://schemas.openxmlformats.org/drawingml/2006/main" w="14288">
            <a:solidFill>
              <a:srgbClr val="294157"/>
            </a:solidFill>
            <a:prstDash val="solid"/>
          </a:ln>
        </p:spPr>
      </p:sp>
      <p:sp>
        <p:nvSpPr>
          <p:cNvPr id="18" name="">
            <a:extLst xmlns:a="http://schemas.openxmlformats.org/drawingml/2006/main">
              <a:ext uri="{FF2B5EF4-FFF2-40B4-BE49-F238E27FC236}">
                <a16:creationId xmlns:a16="http://schemas.microsoft.com/office/drawing/2014/main" id="{C2CF763E-BE25-423B-92D8-9ABD89245A55}"/>
              </a:ext>
            </a:extLst>
          </p:cNvPr>
          <p:cNvSpPr>
            <a:spLocks xmlns:a="http://schemas.openxmlformats.org/drawingml/2006/main" noGrp="1"/>
          </p:cNvSpPr>
          <p:nvPr/>
        </p:nvSpPr>
        <p:spPr>
          <a:xfrm xmlns:a="http://schemas.openxmlformats.org/drawingml/2006/main">
            <a:off x="8172450" y="32956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35D4B5"/>
                </a:solidFill>
                <a:latin typeface="Cascadia Mono"/>
                <a:ea typeface="Cascadia Mono"/>
                <a:cs typeface="Cascadia Mono"/>
              </a:defRPr>
            </a:pPr>
            <a:r>
              <a:rPr sz="900" b="1">
                <a:solidFill>
                  <a:srgbClr val="35D4B5"/>
                </a:solidFill>
                <a:latin typeface="Cascadia Mono"/>
                <a:ea typeface="Cascadia Mono"/>
                <a:cs typeface="Cascadia Mono"/>
              </a:rPr>
              <a:t>02</a:t>
            </a:r>
          </a:p>
        </p:txBody>
      </p:sp>
      <p:sp>
        <p:nvSpPr>
          <p:cNvPr id="19" name="">
            <a:extLst xmlns:a="http://schemas.openxmlformats.org/drawingml/2006/main">
              <a:ext uri="{FF2B5EF4-FFF2-40B4-BE49-F238E27FC236}">
                <a16:creationId xmlns:a16="http://schemas.microsoft.com/office/drawing/2014/main" id="{901E840D-BECF-4C9C-BF90-282FA77F1CBC}"/>
              </a:ext>
            </a:extLst>
          </p:cNvPr>
          <p:cNvSpPr>
            <a:spLocks xmlns:a="http://schemas.openxmlformats.org/drawingml/2006/main" noGrp="1"/>
          </p:cNvSpPr>
          <p:nvPr/>
        </p:nvSpPr>
        <p:spPr>
          <a:xfrm xmlns:a="http://schemas.openxmlformats.org/drawingml/2006/main">
            <a:off x="7677150" y="3848100"/>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F8FBFF"/>
                </a:solidFill>
                <a:latin typeface="Cascadia Mono"/>
                <a:ea typeface="Cascadia Mono"/>
                <a:cs typeface="Cascadia Mono"/>
              </a:defRPr>
            </a:pPr>
            <a:r>
              <a:rPr sz="1275" b="1">
                <a:solidFill>
                  <a:srgbClr val="F8FBFF"/>
                </a:solidFill>
                <a:latin typeface="Cascadia Mono"/>
                <a:ea typeface="Cascadia Mono"/>
                <a:cs typeface="Cascadia Mono"/>
              </a:rPr>
              <a:t>Kafka</a:t>
            </a:r>
          </a:p>
        </p:txBody>
      </p:sp>
      <p:sp>
        <p:nvSpPr>
          <p:cNvPr id="20" name="">
            <a:extLst xmlns:a="http://schemas.openxmlformats.org/drawingml/2006/main">
              <a:ext uri="{FF2B5EF4-FFF2-40B4-BE49-F238E27FC236}">
                <a16:creationId xmlns:a16="http://schemas.microsoft.com/office/drawing/2014/main" id="{8C3B2ACA-36D9-444E-A52D-0AF937BF7599}"/>
              </a:ext>
            </a:extLst>
          </p:cNvPr>
          <p:cNvSpPr>
            <a:spLocks xmlns:a="http://schemas.openxmlformats.org/drawingml/2006/main" noGrp="1"/>
          </p:cNvSpPr>
          <p:nvPr/>
        </p:nvSpPr>
        <p:spPr>
          <a:xfrm xmlns:a="http://schemas.openxmlformats.org/drawingml/2006/main">
            <a:off x="10039350" y="3181350"/>
            <a:ext cx="419100" cy="419100"/>
          </a:xfrm>
          <a:prstGeom xmlns:a="http://schemas.openxmlformats.org/drawingml/2006/main" prst="roundRect">
            <a:avLst>
              <a:gd name="adj" fmla="val 50000"/>
            </a:avLst>
          </a:prstGeom>
          <a:solidFill xmlns:a="http://schemas.openxmlformats.org/drawingml/2006/main">
            <a:srgbClr val="35D4B5"/>
          </a:solidFill>
          <a:ln xmlns:a="http://schemas.openxmlformats.org/drawingml/2006/main" w="14288">
            <a:solidFill>
              <a:srgbClr val="35D4B5"/>
            </a:solidFill>
            <a:prstDash val="solid"/>
          </a:ln>
        </p:spPr>
      </p:sp>
      <p:sp>
        <p:nvSpPr>
          <p:cNvPr id="21" name="">
            <a:extLst xmlns:a="http://schemas.openxmlformats.org/drawingml/2006/main">
              <a:ext uri="{FF2B5EF4-FFF2-40B4-BE49-F238E27FC236}">
                <a16:creationId xmlns:a16="http://schemas.microsoft.com/office/drawing/2014/main" id="{E604C03B-7CC2-404E-B4E6-CFFC2F2FB9EC}"/>
              </a:ext>
            </a:extLst>
          </p:cNvPr>
          <p:cNvSpPr>
            <a:spLocks xmlns:a="http://schemas.openxmlformats.org/drawingml/2006/main" noGrp="1"/>
          </p:cNvSpPr>
          <p:nvPr/>
        </p:nvSpPr>
        <p:spPr>
          <a:xfrm xmlns:a="http://schemas.openxmlformats.org/drawingml/2006/main">
            <a:off x="10039350" y="32956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091827"/>
                </a:solidFill>
                <a:latin typeface="Cascadia Mono"/>
                <a:ea typeface="Cascadia Mono"/>
                <a:cs typeface="Cascadia Mono"/>
              </a:defRPr>
            </a:pPr>
            <a:r>
              <a:rPr sz="900" b="1">
                <a:solidFill>
                  <a:srgbClr val="091827"/>
                </a:solidFill>
                <a:latin typeface="Cascadia Mono"/>
                <a:ea typeface="Cascadia Mono"/>
                <a:cs typeface="Cascadia Mono"/>
              </a:rPr>
              <a:t>01</a:t>
            </a:r>
          </a:p>
        </p:txBody>
      </p:sp>
      <p:sp>
        <p:nvSpPr>
          <p:cNvPr id="22" name="">
            <a:extLst xmlns:a="http://schemas.openxmlformats.org/drawingml/2006/main">
              <a:ext uri="{FF2B5EF4-FFF2-40B4-BE49-F238E27FC236}">
                <a16:creationId xmlns:a16="http://schemas.microsoft.com/office/drawing/2014/main" id="{C59BE38B-6D86-48DE-91A1-803CB4BEB4B4}"/>
              </a:ext>
            </a:extLst>
          </p:cNvPr>
          <p:cNvSpPr>
            <a:spLocks xmlns:a="http://schemas.openxmlformats.org/drawingml/2006/main" noGrp="1"/>
          </p:cNvSpPr>
          <p:nvPr/>
        </p:nvSpPr>
        <p:spPr>
          <a:xfrm xmlns:a="http://schemas.openxmlformats.org/drawingml/2006/main">
            <a:off x="9544050" y="3848100"/>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F8FBFF"/>
                </a:solidFill>
                <a:latin typeface="Cascadia Mono"/>
                <a:ea typeface="Cascadia Mono"/>
                <a:cs typeface="Cascadia Mono"/>
              </a:defRPr>
            </a:pPr>
            <a:r>
              <a:rPr sz="1275" b="1">
                <a:solidFill>
                  <a:srgbClr val="F8FBFF"/>
                </a:solidFill>
                <a:latin typeface="Cascadia Mono"/>
                <a:ea typeface="Cascadia Mono"/>
                <a:cs typeface="Cascadia Mono"/>
              </a:rPr>
              <a:t>Dashboard</a:t>
            </a:r>
          </a:p>
        </p:txBody>
      </p:sp>
      <p:cxnSp>
        <p:nvCxnSpPr>
          <p:cNvPr id="56" name=""/>
          <p:cNvCxnSpPr>
            <a:stCxn xmlns:a="http://schemas.openxmlformats.org/drawingml/2006/main" id="20" idx="1"/>
            <a:endCxn xmlns:a="http://schemas.openxmlformats.org/drawingml/2006/main" id="17" idx="3"/>
          </p:cNvCxnSpPr>
          <p:nvPr/>
        </p:nvCxnSpPr>
        <p:spPr>
          <a:xfrm xmlns:a="http://schemas.openxmlformats.org/drawingml/2006/main" flipH="1">
            <a:off x="8591550" y="3390900"/>
            <a:ext cx="1447800"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cxnSp>
        <p:nvCxnSpPr>
          <p:cNvPr id="57" name=""/>
          <p:cNvCxnSpPr>
            <a:stCxn xmlns:a="http://schemas.openxmlformats.org/drawingml/2006/main" id="17" idx="1"/>
            <a:endCxn xmlns:a="http://schemas.openxmlformats.org/drawingml/2006/main" id="14" idx="3"/>
          </p:cNvCxnSpPr>
          <p:nvPr/>
        </p:nvCxnSpPr>
        <p:spPr>
          <a:xfrm xmlns:a="http://schemas.openxmlformats.org/drawingml/2006/main" flipH="1">
            <a:off x="6724650" y="3390900"/>
            <a:ext cx="1447800"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cxnSp>
        <p:nvCxnSpPr>
          <p:cNvPr id="58" name=""/>
          <p:cNvCxnSpPr>
            <a:stCxn xmlns:a="http://schemas.openxmlformats.org/drawingml/2006/main" id="14" idx="1"/>
            <a:endCxn xmlns:a="http://schemas.openxmlformats.org/drawingml/2006/main" id="11" idx="3"/>
          </p:cNvCxnSpPr>
          <p:nvPr/>
        </p:nvCxnSpPr>
        <p:spPr>
          <a:xfrm xmlns:a="http://schemas.openxmlformats.org/drawingml/2006/main" flipH="1">
            <a:off x="4857750" y="3390900"/>
            <a:ext cx="1447800"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cxnSp>
        <p:nvCxnSpPr>
          <p:cNvPr id="59" name=""/>
          <p:cNvCxnSpPr>
            <a:stCxn xmlns:a="http://schemas.openxmlformats.org/drawingml/2006/main" id="11" idx="1"/>
            <a:endCxn xmlns:a="http://schemas.openxmlformats.org/drawingml/2006/main" id="8" idx="3"/>
          </p:cNvCxnSpPr>
          <p:nvPr/>
        </p:nvCxnSpPr>
        <p:spPr>
          <a:xfrm xmlns:a="http://schemas.openxmlformats.org/drawingml/2006/main" flipH="1">
            <a:off x="2990850" y="3390900"/>
            <a:ext cx="1447800"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cxnSp>
        <p:nvCxnSpPr>
          <p:cNvPr id="60" name=""/>
          <p:cNvCxnSpPr>
            <a:stCxn xmlns:a="http://schemas.openxmlformats.org/drawingml/2006/main" id="8" idx="1"/>
            <a:endCxn xmlns:a="http://schemas.openxmlformats.org/drawingml/2006/main" id="5" idx="3"/>
          </p:cNvCxnSpPr>
          <p:nvPr/>
        </p:nvCxnSpPr>
        <p:spPr>
          <a:xfrm xmlns:a="http://schemas.openxmlformats.org/drawingml/2006/main" flipH="1">
            <a:off x="1123950" y="3390900"/>
            <a:ext cx="1447800"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sp>
        <p:nvSpPr>
          <p:cNvPr id="28" name="">
            <a:extLst xmlns:a="http://schemas.openxmlformats.org/drawingml/2006/main">
              <a:ext uri="{FF2B5EF4-FFF2-40B4-BE49-F238E27FC236}">
                <a16:creationId xmlns:a16="http://schemas.microsoft.com/office/drawing/2014/main" id="{C439CEB6-8E58-4E22-A097-9C4E13982BF9}"/>
              </a:ext>
            </a:extLst>
          </p:cNvPr>
          <p:cNvSpPr>
            <a:spLocks xmlns:a="http://schemas.openxmlformats.org/drawingml/2006/main" noGrp="1"/>
          </p:cNvSpPr>
          <p:nvPr/>
        </p:nvSpPr>
        <p:spPr>
          <a:xfrm xmlns:a="http://schemas.openxmlformats.org/drawingml/2006/main">
            <a:off x="609600" y="46863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1" lang="he-IL">
                <a:solidFill>
                  <a:srgbClr val="35D4B5"/>
                </a:solidFill>
                <a:latin typeface="Arial"/>
                <a:ea typeface="Arial"/>
                <a:cs typeface="Arial"/>
              </a:defRPr>
            </a:pPr>
            <a:r>
              <a:rPr sz="1650" b="1" lang="he-IL">
                <a:solidFill>
                  <a:srgbClr val="35D4B5"/>
                </a:solidFill>
                <a:latin typeface="Arial"/>
                <a:ea typeface="Arial"/>
                <a:cs typeface="Arial"/>
              </a:rPr>
              <a:t>החלטה ובדיקה</a:t>
            </a:r>
          </a:p>
        </p:txBody>
      </p:sp>
      <p:sp>
        <p:nvSpPr>
          <p:cNvPr id="29" name="">
            <a:extLst xmlns:a="http://schemas.openxmlformats.org/drawingml/2006/main">
              <a:ext uri="{FF2B5EF4-FFF2-40B4-BE49-F238E27FC236}">
                <a16:creationId xmlns:a16="http://schemas.microsoft.com/office/drawing/2014/main" id="{AB4B9DC3-7B4B-46B0-B369-4D75D348E798}"/>
              </a:ext>
            </a:extLst>
          </p:cNvPr>
          <p:cNvSpPr>
            <a:spLocks xmlns:a="http://schemas.openxmlformats.org/drawingml/2006/main" noGrp="1"/>
          </p:cNvSpPr>
          <p:nvPr/>
        </p:nvSpPr>
        <p:spPr>
          <a:xfrm xmlns:a="http://schemas.openxmlformats.org/drawingml/2006/main">
            <a:off x="4857750" y="46863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1" lang="he-IL">
                <a:solidFill>
                  <a:srgbClr val="5B91FF"/>
                </a:solidFill>
                <a:latin typeface="Arial"/>
                <a:ea typeface="Arial"/>
                <a:cs typeface="Arial"/>
              </a:defRPr>
            </a:pPr>
            <a:r>
              <a:rPr sz="1650" b="1" lang="he-IL">
                <a:solidFill>
                  <a:srgbClr val="5B91FF"/>
                </a:solidFill>
                <a:latin typeface="Arial"/>
                <a:ea typeface="Arial"/>
                <a:cs typeface="Arial"/>
              </a:rPr>
              <a:t>מקור ואישור</a:t>
            </a:r>
          </a:p>
        </p:txBody>
      </p:sp>
      <p:sp>
        <p:nvSpPr>
          <p:cNvPr id="30" name="">
            <a:extLst xmlns:a="http://schemas.openxmlformats.org/drawingml/2006/main">
              <a:ext uri="{FF2B5EF4-FFF2-40B4-BE49-F238E27FC236}">
                <a16:creationId xmlns:a16="http://schemas.microsoft.com/office/drawing/2014/main" id="{15354E14-75A6-4837-8166-3055AFF3AE40}"/>
              </a:ext>
            </a:extLst>
          </p:cNvPr>
          <p:cNvSpPr>
            <a:spLocks xmlns:a="http://schemas.openxmlformats.org/drawingml/2006/main" noGrp="1"/>
          </p:cNvSpPr>
          <p:nvPr/>
        </p:nvSpPr>
        <p:spPr>
          <a:xfrm xmlns:a="http://schemas.openxmlformats.org/drawingml/2006/main">
            <a:off x="9048750" y="4686300"/>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1" lang="he-IL">
                <a:solidFill>
                  <a:srgbClr val="F4B94F"/>
                </a:solidFill>
                <a:latin typeface="Arial"/>
                <a:ea typeface="Arial"/>
                <a:cs typeface="Arial"/>
              </a:defRPr>
            </a:pPr>
            <a:r>
              <a:rPr sz="1650" b="1" lang="he-IL">
                <a:solidFill>
                  <a:srgbClr val="F4B94F"/>
                </a:solidFill>
                <a:latin typeface="Arial"/>
                <a:ea typeface="Arial"/>
                <a:cs typeface="Arial"/>
              </a:rPr>
              <a:t>המוצר והאירוע</a:t>
            </a:r>
          </a:p>
        </p:txBody>
      </p:sp>
      <p:sp>
        <p:nvSpPr>
          <p:cNvPr id="31" name="">
            <a:extLst xmlns:a="http://schemas.openxmlformats.org/drawingml/2006/main">
              <a:ext uri="{FF2B5EF4-FFF2-40B4-BE49-F238E27FC236}">
                <a16:creationId xmlns:a16="http://schemas.microsoft.com/office/drawing/2014/main" id="{E4637F34-07F7-4ADA-A6B5-5E4CCE56A8C2}"/>
              </a:ext>
            </a:extLst>
          </p:cNvPr>
          <p:cNvSpPr>
            <a:spLocks xmlns:a="http://schemas.openxmlformats.org/drawingml/2006/main" noGrp="1"/>
          </p:cNvSpPr>
          <p:nvPr/>
        </p:nvSpPr>
        <p:spPr>
          <a:xfrm xmlns:a="http://schemas.openxmlformats.org/drawingml/2006/main">
            <a:off x="3600450" y="5581650"/>
            <a:ext cx="796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350" b="0" lang="he-IL">
                <a:solidFill>
                  <a:srgbClr val="EF7484"/>
                </a:solidFill>
                <a:latin typeface="Arial"/>
                <a:ea typeface="Arial"/>
                <a:cs typeface="Arial"/>
              </a:defRPr>
            </a:pPr>
            <a:r>
              <a:rPr sz="1350" b="0" lang="he-IL">
                <a:solidFill>
                  <a:srgbClr val="EF7484"/>
                </a:solidFill>
                <a:latin typeface="Arial"/>
                <a:ea typeface="Arial"/>
                <a:cs typeface="Arial"/>
              </a:rPr>
              <a:t>הדמו לקריאה בלבד. לא מפעילים Backfill, לא משנים נתונים ולא מציגים סודות.</a:t>
            </a:r>
          </a:p>
        </p:txBody>
      </p:sp>
      <p:sp>
        <p:nvSpPr>
          <p:cNvPr id="32" name="">
            <a:extLst xmlns:a="http://schemas.openxmlformats.org/drawingml/2006/main">
              <a:ext uri="{FF2B5EF4-FFF2-40B4-BE49-F238E27FC236}">
                <a16:creationId xmlns:a16="http://schemas.microsoft.com/office/drawing/2014/main" id="{70FA98F0-7C81-42E4-95DA-EDA04CB2886F}"/>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12</a:t>
            </a:r>
          </a:p>
        </p:txBody>
      </p:sp>
      <p:sp>
        <p:nvSpPr>
          <p:cNvPr id="33" name="">
            <a:extLst xmlns:a="http://schemas.openxmlformats.org/drawingml/2006/main">
              <a:ext uri="{FF2B5EF4-FFF2-40B4-BE49-F238E27FC236}">
                <a16:creationId xmlns:a16="http://schemas.microsoft.com/office/drawing/2014/main" id="{842664D5-6120-4B6B-A1E4-DD5CE099AD9D}"/>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Tree>
    <p:extLst>
      <p:ext uri="{BB962C8B-B14F-4D97-AF65-F5344CB8AC3E}">
        <p14:creationId xmlns:p14="http://schemas.microsoft.com/office/powerpoint/2010/main" val="6795837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2026-09-16T22:59:26.3600000Z</dcterms:created>
  <dcterms:modified xsi:type="dcterms:W3CDTF">2026-09-16T22:59:26.3600000Z</dcterms:modified>
</coreProperties>
</file>