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39fdc122f8451e" /><Relationship Type="http://schemas.openxmlformats.org/officeDocument/2006/relationships/extended-properties" Target="/docProps/app.xml" Id="Rad47eca701ee4b77" /><Relationship Type="http://schemas.openxmlformats.org/officeDocument/2006/relationships/officeDocument" Target="/ppt/presentation.xml" Id="R2c4589589bb24d26" /></Relationships>
</file>

<file path=ppt/presentation.xml><?xml version="1.0" encoding="utf-8"?>
<p:presentation xmlns:p="http://schemas.openxmlformats.org/presentationml/2006/main">
  <p:sldMasterIdLst>
    <p:sldMasterId xmlns:r="http://schemas.openxmlformats.org/officeDocument/2006/relationships" id="2147483648" r:id="Rbee067375450471c"/>
  </p:sldMasterIdLst>
  <p:notesMasterIdLst>
    <p:notesMasterId xmlns:r="http://schemas.openxmlformats.org/officeDocument/2006/relationships" r:id="Rf4ccdac8e3fd4e8f"/>
  </p:notesMasterIdLst>
  <p:sldIdLst>
    <p:sldId xmlns:r="http://schemas.openxmlformats.org/officeDocument/2006/relationships" id="256" r:id="Rabd5e48a722d4ef3"/>
    <p:sldId xmlns:r="http://schemas.openxmlformats.org/officeDocument/2006/relationships" id="257" r:id="R7aeb2c8dd75847f3"/>
    <p:sldId xmlns:r="http://schemas.openxmlformats.org/officeDocument/2006/relationships" id="258" r:id="Raa5abf3549674792"/>
    <p:sldId xmlns:r="http://schemas.openxmlformats.org/officeDocument/2006/relationships" id="259" r:id="Ra5ec02f3e86544ee"/>
    <p:sldId xmlns:r="http://schemas.openxmlformats.org/officeDocument/2006/relationships" id="260" r:id="Rec099993e7184a1c"/>
    <p:sldId xmlns:r="http://schemas.openxmlformats.org/officeDocument/2006/relationships" id="261" r:id="R67d0b8d6b96c486f"/>
    <p:sldId xmlns:r="http://schemas.openxmlformats.org/officeDocument/2006/relationships" id="262" r:id="R8334f4d46260402f"/>
    <p:sldId xmlns:r="http://schemas.openxmlformats.org/officeDocument/2006/relationships" id="263" r:id="R1081d4691fda4529"/>
    <p:sldId xmlns:r="http://schemas.openxmlformats.org/officeDocument/2006/relationships" id="264" r:id="Re74ed92e7a8b4f0e"/>
    <p:sldId xmlns:r="http://schemas.openxmlformats.org/officeDocument/2006/relationships" id="265" r:id="R4893cec9dbca4a3b"/>
    <p:sldId xmlns:r="http://schemas.openxmlformats.org/officeDocument/2006/relationships" id="266" r:id="Rfec36dc6ad6244fb"/>
    <p:sldId xmlns:r="http://schemas.openxmlformats.org/officeDocument/2006/relationships" id="267" r:id="Rc66ea2f35ade42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d906d4610b4eb1" /><Relationship Type="http://schemas.openxmlformats.org/officeDocument/2006/relationships/slideMaster" Target="/ppt/slideMasters/slideMaster1.xml" Id="Rbee067375450471c" /><Relationship Type="http://schemas.openxmlformats.org/officeDocument/2006/relationships/notesMaster" Target="/ppt/notesMasters/notesMaster1.xml" Id="Rf4ccdac8e3fd4e8f" /><Relationship Type="http://schemas.openxmlformats.org/officeDocument/2006/relationships/presProps" Target="/ppt/presProps.xml" Id="R0f90b6d4d1ad4150" /><Relationship Type="http://schemas.openxmlformats.org/officeDocument/2006/relationships/tableStyles" Target="/ppt/tableStyles.xml" Id="R2486352cb932436b" /><Relationship Type="http://schemas.openxmlformats.org/officeDocument/2006/relationships/slide" Target="/ppt/slides/slide1.xml" Id="Rabd5e48a722d4ef3" /><Relationship Type="http://schemas.openxmlformats.org/officeDocument/2006/relationships/slide" Target="/ppt/slides/slide2.xml" Id="R7aeb2c8dd75847f3" /><Relationship Type="http://schemas.openxmlformats.org/officeDocument/2006/relationships/slide" Target="/ppt/slides/slide3.xml" Id="Raa5abf3549674792" /><Relationship Type="http://schemas.openxmlformats.org/officeDocument/2006/relationships/slide" Target="/ppt/slides/slide4.xml" Id="Ra5ec02f3e86544ee" /><Relationship Type="http://schemas.openxmlformats.org/officeDocument/2006/relationships/slide" Target="/ppt/slides/slide5.xml" Id="Rec099993e7184a1c" /><Relationship Type="http://schemas.openxmlformats.org/officeDocument/2006/relationships/slide" Target="/ppt/slides/slide6.xml" Id="R67d0b8d6b96c486f" /><Relationship Type="http://schemas.openxmlformats.org/officeDocument/2006/relationships/slide" Target="/ppt/slides/slide7.xml" Id="R8334f4d46260402f" /><Relationship Type="http://schemas.openxmlformats.org/officeDocument/2006/relationships/slide" Target="/ppt/slides/slide8.xml" Id="R1081d4691fda4529" /><Relationship Type="http://schemas.openxmlformats.org/officeDocument/2006/relationships/slide" Target="/ppt/slides/slide9.xml" Id="Re74ed92e7a8b4f0e" /><Relationship Type="http://schemas.openxmlformats.org/officeDocument/2006/relationships/slide" Target="/ppt/slides/slide10.xml" Id="R4893cec9dbca4a3b" /><Relationship Type="http://schemas.openxmlformats.org/officeDocument/2006/relationships/slide" Target="/ppt/slides/slide11.xml" Id="Rfec36dc6ad6244fb" /><Relationship Type="http://schemas.openxmlformats.org/officeDocument/2006/relationships/slide" Target="/ppt/slides/slide12.xml" Id="Rc66ea2f35ade42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50ed8fe91745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4e79b2b17743e2" /><Relationship Type="http://schemas.openxmlformats.org/officeDocument/2006/relationships/notesMaster" Target="/ppt/notesMasters/notesMaster1.xml" Id="R47ce7af820904f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93a1eb2e8f408b" /><Relationship Type="http://schemas.openxmlformats.org/officeDocument/2006/relationships/notesMaster" Target="/ppt/notesMasters/notesMaster1.xml" Id="R196b5bff379f4c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fe2f3f425a4cbe" /><Relationship Type="http://schemas.openxmlformats.org/officeDocument/2006/relationships/notesMaster" Target="/ppt/notesMasters/notesMaster1.xml" Id="R7bf467dd06f440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3d69bf01f64ab0" /><Relationship Type="http://schemas.openxmlformats.org/officeDocument/2006/relationships/notesMaster" Target="/ppt/notesMasters/notesMaster1.xml" Id="Rb81815fc227c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a199feff474dd8" /><Relationship Type="http://schemas.openxmlformats.org/officeDocument/2006/relationships/notesMaster" Target="/ppt/notesMasters/notesMaster1.xml" Id="R524cca432ef046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a435635d764f9c" /><Relationship Type="http://schemas.openxmlformats.org/officeDocument/2006/relationships/notesMaster" Target="/ppt/notesMasters/notesMaster1.xml" Id="R6ccde39e128648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10459abb594915" /><Relationship Type="http://schemas.openxmlformats.org/officeDocument/2006/relationships/notesMaster" Target="/ppt/notesMasters/notesMaster1.xml" Id="R41497b459d70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19021e0dba4bdd" /><Relationship Type="http://schemas.openxmlformats.org/officeDocument/2006/relationships/notesMaster" Target="/ppt/notesMasters/notesMaster1.xml" Id="Ra9ba3ec912ac45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1182cd24f949d5" /><Relationship Type="http://schemas.openxmlformats.org/officeDocument/2006/relationships/notesMaster" Target="/ppt/notesMasters/notesMaster1.xml" Id="Rb20c86f82ef54a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0f10e49f7a4c5f" /><Relationship Type="http://schemas.openxmlformats.org/officeDocument/2006/relationships/notesMaster" Target="/ppt/notesMasters/notesMaster1.xml" Id="R53be501a352141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a1f662669b4b6e" /><Relationship Type="http://schemas.openxmlformats.org/officeDocument/2006/relationships/notesMaster" Target="/ppt/notesMasters/notesMaster1.xml" Id="R58700df7d59d48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d10cc2266b404d" /><Relationship Type="http://schemas.openxmlformats.org/officeDocument/2006/relationships/notesMaster" Target="/ppt/notesMasters/notesMaster1.xml" Id="R3d049031783b45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00:00–00:30</a:t>
            </a:r>
          </a:p>
          <a:p xmlns:a="http://schemas.openxmlformats.org/drawingml/2006/main">
            <a:r>
              <a:t/>
            </a:r>
          </a:p>
          <a:p xmlns:a="http://schemas.openxmlformats.org/drawingml/2006/main">
            <a:pPr algn="r" rtl="1"/>
            <a:r>
              <a:t>פתח במשפט אחד: MarketPilot היא פלטפורמת מחקר לסוחר. היא לא שולחת פקודות מסחר. היא מחברת מידע חי, מקור גולמי, בדיקות איכות והסבר שניתן לשחזר. אל תפרט עדיין את הטכנולוגיות.</a:t>
            </a:r>
          </a:p>
          <a:p xmlns:a="http://schemas.openxmlformats.org/drawingml/2006/main">
            <a:r>
              <a:t/>
            </a:r>
          </a:p>
          <a:p xmlns:a="http://schemas.openxmlformats.org/drawingml/2006/main">
            <a:pPr algn="r" rtl="1"/>
            <a:r>
              <a:t>מקור ואימות: docs/project-context.md;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00:30–01:15</a:t>
            </a:r>
          </a:p>
          <a:p xmlns:a="http://schemas.openxmlformats.org/drawingml/2006/main">
            <a:r>
              <a:t/>
            </a:r>
          </a:p>
          <a:p xmlns:a="http://schemas.openxmlformats.org/drawingml/2006/main">
            <a:pPr algn="r" rtl="1"/>
            <a:r>
              <a:t>הצג את הבעיה מנקודת המבט של הסוחר: יש הרבה מסכים ומספרים, אבל קשה לדעת מה טרי, מה נבדק ומה אפשר לשחזר. ארבע השאלות בתחתית הן דרישות המוצר, לא רשימת פיצ'רים.</a:t>
            </a:r>
          </a:p>
          <a:p xmlns:a="http://schemas.openxmlformats.org/drawingml/2006/main">
            <a:r>
              <a:t/>
            </a:r>
          </a:p>
          <a:p xmlns:a="http://schemas.openxmlformats.org/drawingml/2006/main">
            <a:pPr algn="r" rtl="1"/>
            <a:r>
              <a:t>מקור ואימות: docs/project-context.md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01:15–02:00</a:t>
            </a:r>
          </a:p>
          <a:p xmlns:a="http://schemas.openxmlformats.org/drawingml/2006/main">
            <a:r>
              <a:t/>
            </a:r>
          </a:p>
          <a:p xmlns:a="http://schemas.openxmlformats.org/drawingml/2006/main">
            <a:pPr algn="r" rtl="1"/>
            <a:r>
              <a:t>הסבר את שרשרת הערך מימין לשמאל. מתחילים באיסוף, מוסיפים הקשר, בודקים את האיכות וההיסטוריה, ורק אז מציגים תרחיש החלטה. הדגש שהמערכת עוזרת לחשוב ואינה מבצעת קנייה או מבטיחה רווח.</a:t>
            </a:r>
          </a:p>
          <a:p xmlns:a="http://schemas.openxmlformats.org/drawingml/2006/main">
            <a:r>
              <a:t/>
            </a:r>
          </a:p>
          <a:p xmlns:a="http://schemas.openxmlformats.org/drawingml/2006/main">
            <a:pPr algn="r" rtl="1"/>
            <a:r>
              <a:t>מקור ואימות: docs/project-context.md;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02:00–03:15</a:t>
            </a:r>
          </a:p>
          <a:p xmlns:a="http://schemas.openxmlformats.org/drawingml/2006/main">
            <a:r>
              <a:t/>
            </a:r>
          </a:p>
          <a:p xmlns:a="http://schemas.openxmlformats.org/drawingml/2006/main">
            <a:pPr algn="r" rtl="1"/>
            <a:r>
              <a:t>עקוב אחר החצים מימין לשמאל. המקורות נכנסים לשירותי Python, עוברים דרך Kafka, מעובדים ב-Spark ומגיעים ל-Gold. במקביל נשמר מקור גולמי ב-Bronze ונבנה Silver. Airflow מתזמן עבודות שמסתיימות, אך אינו מנהל את חיי שירותי ה-Streaming. ציין שהדפדפן פונה רק ל-API.</a:t>
            </a:r>
          </a:p>
          <a:p xmlns:a="http://schemas.openxmlformats.org/drawingml/2006/main">
            <a:r>
              <a:t/>
            </a:r>
          </a:p>
          <a:p xmlns:a="http://schemas.openxmlformats.org/drawingml/2006/main">
            <a:pPr algn="r" rtl="1"/>
            <a:r>
              <a:t>מקור ואימות: docs/architecture/architecture.md; docs/decisions/ADR-001-storage-strategy.md; ADR-002-airflow-boundary.md; ADR-003-streaming-lifecycle.md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03:15–04:15</a:t>
            </a:r>
          </a:p>
          <a:p xmlns:a="http://schemas.openxmlformats.org/drawingml/2006/main">
            <a:r>
              <a:t/>
            </a:r>
          </a:p>
          <a:p xmlns:a="http://schemas.openxmlformats.org/drawingml/2006/main">
            <a:pPr algn="r" rtl="1"/>
            <a:r>
              <a:t>הסבר את ההבדל כהבטחה למשתמש. Provisional אומר מה ידוע עכשיו. Certified אומר שהיום נבנה מחדש מן המקור ועבר בדיקות. Docker Compose מנהל שירותים ארוכי חיים; Airflow מתזמן ומנטר עבודות תחומות. אל תגיד ש-Airflow מפעיל את ה-Streaming.</a:t>
            </a:r>
          </a:p>
          <a:p xmlns:a="http://schemas.openxmlformats.org/drawingml/2006/main">
            <a:r>
              <a:t/>
            </a:r>
          </a:p>
          <a:p xmlns:a="http://schemas.openxmlformats.org/drawingml/2006/main">
            <a:pPr algn="r" rtl="1"/>
            <a:r>
              <a:t>מקור ואימות: docs/decisions/ADR-002-airflow-boundary.md; docs/decisions/ADR-004-provisional-certified-publication.md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04:15–05:05</a:t>
            </a:r>
          </a:p>
          <a:p xmlns:a="http://schemas.openxmlformats.org/drawingml/2006/main">
            <a:r>
              <a:t/>
            </a:r>
          </a:p>
          <a:p xmlns:a="http://schemas.openxmlformats.org/drawingml/2006/main">
            <a:pPr algn="r" rtl="1"/>
            <a:r>
              <a:t>אל תקריא את כל השורות. בחר שלוש דוגמאות: Kafka להפרדה ול-Replay, MinIO לשמירת המקור הגולמי, ו-Airflow לניהול עבודות תחומות. אם נשאלת למה המערכת מורכבת, הסבר שכל רכיב פותר כשל אחר ולא נבחר רק כדי להוסיף טכנולוגיה.</a:t>
            </a:r>
          </a:p>
          <a:p xmlns:a="http://schemas.openxmlformats.org/drawingml/2006/main">
            <a:r>
              <a:t/>
            </a:r>
          </a:p>
          <a:p xmlns:a="http://schemas.openxmlformats.org/drawingml/2006/main">
            <a:pPr algn="r" rtl="1"/>
            <a:r>
              <a:t>מקור ואימות: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05:05–05:45</a:t>
            </a:r>
          </a:p>
          <a:p xmlns:a="http://schemas.openxmlformats.org/drawingml/2006/main">
            <a:r>
              <a:t/>
            </a:r>
          </a:p>
          <a:p xmlns:a="http://schemas.openxmlformats.org/drawingml/2006/main">
            <a:pPr algn="r" rtl="1"/>
            <a:r>
              <a:t>הצג את צילום המסך כראיה, לא כקישוט. הסבר שהמשתמש רואה נתון עסקי פשוט, אך כל ערך מגיע דרך API וכולל מצב פרסום וטריות. המספרים בצד נלקחו מהצילום המתוארך ל-16 בספטמבר 2026.</a:t>
            </a:r>
          </a:p>
          <a:p xmlns:a="http://schemas.openxmlformats.org/drawingml/2006/main">
            <a:r>
              <a:t/>
            </a:r>
          </a:p>
          <a:p xmlns:a="http://schemas.openxmlformats.org/drawingml/2006/main">
            <a:pPr algn="r" rtl="1"/>
            <a:r>
              <a:t>מקור ואימות: docs/presentation/assets/dashboard.png; docs/final-presentation-verification.md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05:45–06:35</a:t>
            </a:r>
          </a:p>
          <a:p xmlns:a="http://schemas.openxmlformats.org/drawingml/2006/main">
            <a:r>
              <a:t/>
            </a:r>
          </a:p>
          <a:p xmlns:a="http://schemas.openxmlformats.org/drawingml/2006/main">
            <a:pPr algn="r" rtl="1"/>
            <a:r>
              <a:t>הסבר שהמערכת מציגה תרחיש שלם: טווח כניסה, נקודת ביטול, יעדים וגודל פוזיציה. Shadow Mode עדיין 1 מתוך 20 ולכן ההמלצה אינה Actionable. הנתונים ההיסטוריים מעשירים את המחקר, אך אינם מתחזים לימי תצפית חיים.</a:t>
            </a:r>
          </a:p>
          <a:p xmlns:a="http://schemas.openxmlformats.org/drawingml/2006/main">
            <a:r>
              <a:t/>
            </a:r>
          </a:p>
          <a:p xmlns:a="http://schemas.openxmlformats.org/drawingml/2006/main">
            <a:pPr algn="r" rtl="1"/>
            <a:r>
              <a:t>מקור ואימות: docs/phase14-verification.md;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06:35–07:25</a:t>
            </a:r>
          </a:p>
          <a:p xmlns:a="http://schemas.openxmlformats.org/drawingml/2006/main">
            <a:r>
              <a:t/>
            </a:r>
          </a:p>
          <a:p xmlns:a="http://schemas.openxmlformats.org/drawingml/2006/main">
            <a:pPr algn="r" rtl="1"/>
            <a:r>
              <a:t>הדגש שהמטרה אינה להציג תשואה מושלמת. המטרה היא להוכיח ניסוי שחזורי והוגן: Certified input בלבד, אות משפיע מהנר הבא, ועלויות אינן מוסתרות. ציין בכנות שהתוצאות משתנות בין הנכסים ואינן הבטחת תשואה.</a:t>
            </a:r>
          </a:p>
          <a:p xmlns:a="http://schemas.openxmlformats.org/drawingml/2006/main">
            <a:r>
              <a:t/>
            </a:r>
          </a:p>
          <a:p xmlns:a="http://schemas.openxmlformats.org/drawingml/2006/main">
            <a:pPr algn="r" rtl="1"/>
            <a:r>
              <a:t>מקור ואימות: docs/phase14-historical-evidence-verification.md; docs/decisions/ADR-005-historical-backtesting.md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07:25–08:15</a:t>
            </a:r>
          </a:p>
          <a:p xmlns:a="http://schemas.openxmlformats.org/drawingml/2006/main">
            <a:r>
              <a:t/>
            </a:r>
          </a:p>
          <a:p xmlns:a="http://schemas.openxmlformats.org/drawingml/2006/main">
            <a:pPr algn="r" rtl="1"/>
            <a:r>
              <a:t>בחר שני אתגרים והסבר אותם כסיפור של החלטה. לדוגמה: רצינו נתון מהיר בלי להעמיד פנים שהוא מאושר, ולכן הפרדנו Provisional מ-Certified. רצינו Retry בטוח, ולכן השתמשנו ב-Checkpoint, Business Keys ו-Upsert. אלה החלטות שאתה יכול לייחס לעצמך.</a:t>
            </a:r>
          </a:p>
          <a:p xmlns:a="http://schemas.openxmlformats.org/drawingml/2006/main">
            <a:r>
              <a:t/>
            </a:r>
          </a:p>
          <a:p xmlns:a="http://schemas.openxmlformats.org/drawingml/2006/main">
            <a:pPr algn="r" rtl="1"/>
            <a:r>
              <a:t>מקור ואימות: docs/decisions/ADR-003-streaming-lifecycle.md; ADR-004-provisional-certified-publication.md; ADR-007-certified-historical-acquisition.md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08:15–08:55</a:t>
            </a:r>
          </a:p>
          <a:p xmlns:a="http://schemas.openxmlformats.org/drawingml/2006/main">
            <a:r>
              <a:t/>
            </a:r>
          </a:p>
          <a:p xmlns:a="http://schemas.openxmlformats.org/drawingml/2006/main">
            <a:pPr algn="r" rtl="1"/>
            <a:r>
              <a:t>פתח במה שכבר עובד: מערכת מקומית מלאה והיסטוריה מאושרת. לאחר 20 ימים חיים ייבדקו Calibration ותוצאות Shadow Mode, ורק החלטה אנושית נפרדת תוכל לקדם את המצב. ענן, SIP, Elastic ואבטחה מלאה הם הרחבות עתידיות ולא חלק מן המימוש הנוכחי.</a:t>
            </a:r>
          </a:p>
          <a:p xmlns:a="http://schemas.openxmlformats.org/drawingml/2006/main">
            <a:r>
              <a:t/>
            </a:r>
          </a:p>
          <a:p xmlns:a="http://schemas.openxmlformats.org/drawingml/2006/main">
            <a:pPr algn="r" rtl="1"/>
            <a:r>
              <a:t>מקור ואימות: docs/implementation-plan.md; docs/phase14-verification.md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08:55–09:10</a:t>
            </a:r>
          </a:p>
          <a:p xmlns:a="http://schemas.openxmlformats.org/drawingml/2006/main">
            <a:r>
              <a:t/>
            </a:r>
          </a:p>
          <a:p xmlns:a="http://schemas.openxmlformats.org/drawingml/2006/main">
            <a:pPr algn="r" rtl="1"/>
            <a:r>
              <a:t>סיים את חלק המצגת ועבור לדמו. אמור: עכשיו אעקוב אחרי אותה שרשרת במערכת עצמה. המסלול הוא Dashboard, Kafka, MinIO, Airflow, Opportunity Center ו-Backtesting. פתח את סקריפט הדמו והתחל את הטיימר.</a:t>
            </a:r>
          </a:p>
          <a:p xmlns:a="http://schemas.openxmlformats.org/drawingml/2006/main">
            <a:r>
              <a:t/>
            </a:r>
          </a:p>
          <a:p xmlns:a="http://schemas.openxmlformats.org/drawingml/2006/main">
            <a:pPr algn="r" rtl="1"/>
            <a:r>
              <a:t>מקור ואימות: docs/presentation/live-demo-script-he.md; scripts/demo-preflight.ps1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5bfd4e71a24b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dd89d442d46df" /><Relationship Type="http://schemas.openxmlformats.org/officeDocument/2006/relationships/slideLayout" Target="/ppt/slideLayouts/slideLayout1.xml" Id="R0960658ebf9646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60658ebf9646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446af86d5b4324" /><Relationship Type="http://schemas.openxmlformats.org/officeDocument/2006/relationships/notesSlide" Target="/ppt/notesSlides/notesSlide1.xml" Id="Rb08df594cd8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da0f1c73f44f77" /><Relationship Type="http://schemas.openxmlformats.org/officeDocument/2006/relationships/notesSlide" Target="/ppt/notesSlides/notesSlide2.xml" Id="R3fcfe4a3426541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a14f53419b4ba1" /><Relationship Type="http://schemas.openxmlformats.org/officeDocument/2006/relationships/notesSlide" Target="/ppt/notesSlides/notesSlide3.xml" Id="Rd927d37fdce340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6d9a92d6e34ae2" /><Relationship Type="http://schemas.openxmlformats.org/officeDocument/2006/relationships/notesSlide" Target="/ppt/notesSlides/notesSlide4.xml" Id="R3e422eef672444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ce94dceeb74808" /><Relationship Type="http://schemas.openxmlformats.org/officeDocument/2006/relationships/notesSlide" Target="/ppt/notesSlides/notesSlide5.xml" Id="R39558e3ae52a43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26519be3274285" /><Relationship Type="http://schemas.openxmlformats.org/officeDocument/2006/relationships/notesSlide" Target="/ppt/notesSlides/notesSlide6.xml" Id="Rc851bada663f40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ba01738b374c37" /><Relationship Type="http://schemas.openxmlformats.org/officeDocument/2006/relationships/image" Target="/ppt/media/image.png" Id="Rbc17d3df0c42461a" /><Relationship Type="http://schemas.openxmlformats.org/officeDocument/2006/relationships/notesSlide" Target="/ppt/notesSlides/notesSlide7.xml" Id="R9754212d181541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89d21542c5442c" /><Relationship Type="http://schemas.openxmlformats.org/officeDocument/2006/relationships/image" Target="/ppt/media/image2.png" Id="Rbcd9c25e5cf746be" /><Relationship Type="http://schemas.openxmlformats.org/officeDocument/2006/relationships/notesSlide" Target="/ppt/notesSlides/notesSlide8.xml" Id="R5d210e6ff0764a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34badc67aa42b9" /><Relationship Type="http://schemas.openxmlformats.org/officeDocument/2006/relationships/image" Target="/ppt/media/image3.png" Id="Rc1bc3c19c0b8439a" /><Relationship Type="http://schemas.openxmlformats.org/officeDocument/2006/relationships/notesSlide" Target="/ppt/notesSlides/notesSlide9.xml" Id="R816191c3d12847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215c6f3ac1446e" /><Relationship Type="http://schemas.openxmlformats.org/officeDocument/2006/relationships/notesSlide" Target="/ppt/notesSlides/notesSlide10.xml" Id="R7894322e1e4641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b1da37ced2435a" /><Relationship Type="http://schemas.openxmlformats.org/officeDocument/2006/relationships/notesSlide" Target="/ppt/notesSlides/notesSlide11.xml" Id="Rc3acbf18573f4b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cf726f0cd54072" /><Relationship Type="http://schemas.openxmlformats.org/officeDocument/2006/relationships/notesSlide" Target="/ppt/notesSlides/notesSlide12.xml" Id="Rdda8cf7db0fa4ad1" /></Relationships>
</file>

<file path=ppt/slides/slide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AEF20B-6A89-45B2-B001-4CE87EC59D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A0E135-E8A6-442E-93F9-45A49650421E}"/>
              </a:ext>
            </a:extLst>
          </p:cNvPr>
          <p:cNvSpPr>
            <a:spLocks xmlns:a="http://schemas.openxmlformats.org/drawingml/2006/main" noGrp="1"/>
          </p:cNvSpPr>
          <p:nvPr/>
        </p:nvSpPr>
        <p:spPr>
          <a:xfrm xmlns:a="http://schemas.openxmlformats.org/drawingml/2006/main">
            <a:off x="647700" y="5524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MARKETPILOT · FINAL PROJECT</a:t>
            </a:r>
          </a:p>
        </p:txBody>
      </p:sp>
      <p:sp>
        <p:nvSpPr>
          <p:cNvPr id="3" name="">
            <a:extLst xmlns:a="http://schemas.openxmlformats.org/drawingml/2006/main">
              <a:ext uri="{FF2B5EF4-FFF2-40B4-BE49-F238E27FC236}">
                <a16:creationId xmlns:a16="http://schemas.microsoft.com/office/drawing/2014/main" id="{17783544-B02E-4F93-A9D1-FB37F86E079D}"/>
              </a:ext>
            </a:extLst>
          </p:cNvPr>
          <p:cNvSpPr>
            <a:spLocks xmlns:a="http://schemas.openxmlformats.org/drawingml/2006/main" noGrp="1"/>
          </p:cNvSpPr>
          <p:nvPr/>
        </p:nvSpPr>
        <p:spPr>
          <a:xfrm xmlns:a="http://schemas.openxmlformats.org/drawingml/2006/main">
            <a:off x="5143500" y="1257300"/>
            <a:ext cx="6381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0000"/>
              </a:lnSpc>
              <a:buNone/>
              <a:defRPr sz="4350" b="1" lang="he-IL">
                <a:solidFill>
                  <a:srgbClr val="091827"/>
                </a:solidFill>
                <a:latin typeface="Arial"/>
                <a:ea typeface="Arial"/>
                <a:cs typeface="Arial"/>
              </a:defRPr>
            </a:pPr>
            <a:r>
              <a:rPr sz="4350" b="1" lang="he-IL">
                <a:solidFill>
                  <a:srgbClr val="091827"/>
                </a:solidFill>
                <a:latin typeface="Arial"/>
                <a:ea typeface="Arial"/>
                <a:cs typeface="Arial"/>
              </a:rPr>
              <a:t>מערכת נתונים</a:t>
            </a:r>
          </a:p>
          <a:p xmlns:a="http://schemas.openxmlformats.org/drawingml/2006/main">
            <a:pPr algn="r" rtl="1">
              <a:lnSpc>
                <a:spcPct val="90000"/>
              </a:lnSpc>
              <a:buNone/>
              <a:defRPr sz="4350" b="1" lang="he-IL">
                <a:solidFill>
                  <a:srgbClr val="091827"/>
                </a:solidFill>
                <a:latin typeface="Arial"/>
                <a:ea typeface="Arial"/>
                <a:cs typeface="Arial"/>
              </a:defRPr>
            </a:pPr>
            <a:r>
              <a:rPr sz="4350" b="1" lang="he-IL">
                <a:solidFill>
                  <a:srgbClr val="091827"/>
                </a:solidFill>
                <a:latin typeface="Arial"/>
                <a:ea typeface="Arial"/>
                <a:cs typeface="Arial"/>
              </a:rPr>
              <a:t>שמחברת בין שוק חי,</a:t>
            </a:r>
          </a:p>
          <a:p xmlns:a="http://schemas.openxmlformats.org/drawingml/2006/main">
            <a:pPr algn="r" rtl="1">
              <a:lnSpc>
                <a:spcPct val="90000"/>
              </a:lnSpc>
              <a:buNone/>
              <a:defRPr sz="4350" b="1" lang="he-IL">
                <a:solidFill>
                  <a:srgbClr val="091827"/>
                </a:solidFill>
                <a:latin typeface="Arial"/>
                <a:ea typeface="Arial"/>
                <a:cs typeface="Arial"/>
              </a:defRPr>
            </a:pPr>
            <a:r>
              <a:rPr sz="4350" b="1" lang="he-IL">
                <a:solidFill>
                  <a:srgbClr val="091827"/>
                </a:solidFill>
                <a:latin typeface="Arial"/>
                <a:ea typeface="Arial"/>
                <a:cs typeface="Arial"/>
              </a:rPr>
              <a:t>אמון והחלטה</a:t>
            </a:r>
          </a:p>
        </p:txBody>
      </p:sp>
      <p:sp>
        <p:nvSpPr>
          <p:cNvPr id="4" name="">
            <a:extLst xmlns:a="http://schemas.openxmlformats.org/drawingml/2006/main">
              <a:ext uri="{FF2B5EF4-FFF2-40B4-BE49-F238E27FC236}">
                <a16:creationId xmlns:a16="http://schemas.microsoft.com/office/drawing/2014/main" id="{01A381D5-7B60-40CF-A0D5-8A23CC3B0D26}"/>
              </a:ext>
            </a:extLst>
          </p:cNvPr>
          <p:cNvSpPr>
            <a:spLocks xmlns:a="http://schemas.openxmlformats.org/drawingml/2006/main" noGrp="1"/>
          </p:cNvSpPr>
          <p:nvPr/>
        </p:nvSpPr>
        <p:spPr>
          <a:xfrm xmlns:a="http://schemas.openxmlformats.org/drawingml/2006/main">
            <a:off x="6000750" y="37338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800" b="0" lang="he-IL">
                <a:solidFill>
                  <a:srgbClr val="5B6B78"/>
                </a:solidFill>
                <a:latin typeface="Arial"/>
                <a:ea typeface="Arial"/>
                <a:cs typeface="Arial"/>
              </a:defRPr>
            </a:pPr>
            <a:r>
              <a:rPr sz="1800" b="0" lang="he-IL">
                <a:solidFill>
                  <a:srgbClr val="5B6B78"/>
                </a:solidFill>
                <a:latin typeface="Arial"/>
                <a:ea typeface="Arial"/>
                <a:cs typeface="Arial"/>
              </a:rPr>
              <a:t>פלטפורמת Data Engineering מקומית לנתוני שוק, דיווחי SEC, ניתוח טכני ובדיקת החלטות על ההיסטוריה</a:t>
            </a:r>
          </a:p>
        </p:txBody>
      </p:sp>
      <p:sp>
        <p:nvSpPr>
          <p:cNvPr id="5" name="">
            <a:extLst xmlns:a="http://schemas.openxmlformats.org/drawingml/2006/main">
              <a:ext uri="{FF2B5EF4-FFF2-40B4-BE49-F238E27FC236}">
                <a16:creationId xmlns:a16="http://schemas.microsoft.com/office/drawing/2014/main" id="{5307EAFD-5570-4BC9-A740-A791A3A77BCC}"/>
              </a:ext>
            </a:extLst>
          </p:cNvPr>
          <p:cNvSpPr>
            <a:spLocks xmlns:a="http://schemas.openxmlformats.org/drawingml/2006/main" noGrp="1"/>
          </p:cNvSpPr>
          <p:nvPr/>
        </p:nvSpPr>
        <p:spPr>
          <a:xfrm xmlns:a="http://schemas.openxmlformats.org/drawingml/2006/main">
            <a:off x="742950" y="19812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01</a:t>
            </a:r>
          </a:p>
        </p:txBody>
      </p:sp>
      <p:sp>
        <p:nvSpPr>
          <p:cNvPr id="6" name="">
            <a:extLst xmlns:a="http://schemas.openxmlformats.org/drawingml/2006/main">
              <a:ext uri="{FF2B5EF4-FFF2-40B4-BE49-F238E27FC236}">
                <a16:creationId xmlns:a16="http://schemas.microsoft.com/office/drawing/2014/main" id="{1D918DDE-CF58-4DBF-B319-870968165EC7}"/>
              </a:ext>
            </a:extLst>
          </p:cNvPr>
          <p:cNvSpPr>
            <a:spLocks xmlns:a="http://schemas.openxmlformats.org/drawingml/2006/main" noGrp="1"/>
          </p:cNvSpPr>
          <p:nvPr/>
        </p:nvSpPr>
        <p:spPr>
          <a:xfrm xmlns:a="http://schemas.openxmlformats.org/drawingml/2006/main">
            <a:off x="1200150" y="1914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1827"/>
                </a:solidFill>
                <a:latin typeface="Cascadia Mono"/>
                <a:ea typeface="Cascadia Mono"/>
                <a:cs typeface="Cascadia Mono"/>
              </a:defRPr>
            </a:pPr>
            <a:r>
              <a:rPr sz="1800" b="1">
                <a:solidFill>
                  <a:srgbClr val="091827"/>
                </a:solidFill>
                <a:latin typeface="Cascadia Mono"/>
                <a:ea typeface="Cascadia Mono"/>
                <a:cs typeface="Cascadia Mono"/>
              </a:rPr>
              <a:t>LIVE</a:t>
            </a:r>
          </a:p>
        </p:txBody>
      </p:sp>
      <p:sp>
        <p:nvSpPr>
          <p:cNvPr id="7" name="">
            <a:extLst xmlns:a="http://schemas.openxmlformats.org/drawingml/2006/main">
              <a:ext uri="{FF2B5EF4-FFF2-40B4-BE49-F238E27FC236}">
                <a16:creationId xmlns:a16="http://schemas.microsoft.com/office/drawing/2014/main" id="{94D1C90E-DC9A-486C-B98A-A3113D5D5074}"/>
              </a:ext>
            </a:extLst>
          </p:cNvPr>
          <p:cNvSpPr>
            <a:spLocks xmlns:a="http://schemas.openxmlformats.org/drawingml/2006/main" noGrp="1"/>
          </p:cNvSpPr>
          <p:nvPr/>
        </p:nvSpPr>
        <p:spPr>
          <a:xfrm xmlns:a="http://schemas.openxmlformats.org/drawingml/2006/main">
            <a:off x="1200150" y="2286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5B6B78"/>
                </a:solidFill>
                <a:latin typeface="Arial"/>
                <a:ea typeface="Arial"/>
                <a:cs typeface="Arial"/>
              </a:defRPr>
            </a:pPr>
            <a:r>
              <a:rPr sz="1275" b="0" lang="he-IL">
                <a:solidFill>
                  <a:srgbClr val="5B6B78"/>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A2EE92FE-62BB-49BF-8C2A-26CEDC5B0EAB}"/>
              </a:ext>
            </a:extLst>
          </p:cNvPr>
          <p:cNvSpPr>
            <a:spLocks xmlns:a="http://schemas.openxmlformats.org/drawingml/2006/main" noGrp="1"/>
          </p:cNvSpPr>
          <p:nvPr/>
        </p:nvSpPr>
        <p:spPr>
          <a:xfrm xmlns:a="http://schemas.openxmlformats.org/drawingml/2006/main">
            <a:off x="742950" y="2724150"/>
            <a:ext cx="314325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9" name="">
            <a:extLst xmlns:a="http://schemas.openxmlformats.org/drawingml/2006/main">
              <a:ext uri="{FF2B5EF4-FFF2-40B4-BE49-F238E27FC236}">
                <a16:creationId xmlns:a16="http://schemas.microsoft.com/office/drawing/2014/main" id="{F7AEF7DB-5DE1-4DDA-BEAF-CB665289450B}"/>
              </a:ext>
            </a:extLst>
          </p:cNvPr>
          <p:cNvSpPr>
            <a:spLocks xmlns:a="http://schemas.openxmlformats.org/drawingml/2006/main" noGrp="1"/>
          </p:cNvSpPr>
          <p:nvPr/>
        </p:nvSpPr>
        <p:spPr>
          <a:xfrm xmlns:a="http://schemas.openxmlformats.org/drawingml/2006/main">
            <a:off x="742950" y="30099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02</a:t>
            </a:r>
          </a:p>
        </p:txBody>
      </p:sp>
      <p:sp>
        <p:nvSpPr>
          <p:cNvPr id="10" name="">
            <a:extLst xmlns:a="http://schemas.openxmlformats.org/drawingml/2006/main">
              <a:ext uri="{FF2B5EF4-FFF2-40B4-BE49-F238E27FC236}">
                <a16:creationId xmlns:a16="http://schemas.microsoft.com/office/drawing/2014/main" id="{22269078-3DC6-493E-9BC2-EE13767A2664}"/>
              </a:ext>
            </a:extLst>
          </p:cNvPr>
          <p:cNvSpPr>
            <a:spLocks xmlns:a="http://schemas.openxmlformats.org/drawingml/2006/main" noGrp="1"/>
          </p:cNvSpPr>
          <p:nvPr/>
        </p:nvSpPr>
        <p:spPr>
          <a:xfrm xmlns:a="http://schemas.openxmlformats.org/drawingml/2006/main">
            <a:off x="1200150" y="29432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1827"/>
                </a:solidFill>
                <a:latin typeface="Cascadia Mono"/>
                <a:ea typeface="Cascadia Mono"/>
                <a:cs typeface="Cascadia Mono"/>
              </a:defRPr>
            </a:pPr>
            <a:r>
              <a:rPr sz="1800" b="1">
                <a:solidFill>
                  <a:srgbClr val="091827"/>
                </a:solidFill>
                <a:latin typeface="Cascadia Mono"/>
                <a:ea typeface="Cascadia Mono"/>
                <a:cs typeface="Cascadia Mono"/>
              </a:rPr>
              <a:t>CERTIFIED</a:t>
            </a:r>
          </a:p>
        </p:txBody>
      </p:sp>
      <p:sp>
        <p:nvSpPr>
          <p:cNvPr id="11" name="">
            <a:extLst xmlns:a="http://schemas.openxmlformats.org/drawingml/2006/main">
              <a:ext uri="{FF2B5EF4-FFF2-40B4-BE49-F238E27FC236}">
                <a16:creationId xmlns:a16="http://schemas.microsoft.com/office/drawing/2014/main" id="{3D65890C-7661-4947-9990-92C691BEE235}"/>
              </a:ext>
            </a:extLst>
          </p:cNvPr>
          <p:cNvSpPr>
            <a:spLocks xmlns:a="http://schemas.openxmlformats.org/drawingml/2006/main" noGrp="1"/>
          </p:cNvSpPr>
          <p:nvPr/>
        </p:nvSpPr>
        <p:spPr>
          <a:xfrm xmlns:a="http://schemas.openxmlformats.org/drawingml/2006/main">
            <a:off x="120015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5B6B78"/>
                </a:solidFill>
                <a:latin typeface="Arial"/>
                <a:ea typeface="Arial"/>
                <a:cs typeface="Arial"/>
              </a:defRPr>
            </a:pPr>
            <a:r>
              <a:rPr sz="1275" b="0" lang="he-IL">
                <a:solidFill>
                  <a:srgbClr val="5B6B78"/>
                </a:solidFill>
                <a:latin typeface="Arial"/>
                <a:ea typeface="Arial"/>
                <a:cs typeface="Arial"/>
              </a:rPr>
              <a:t>מה עבר בדיקה</a:t>
            </a:r>
          </a:p>
        </p:txBody>
      </p:sp>
      <p:sp>
        <p:nvSpPr>
          <p:cNvPr id="12" name="">
            <a:extLst xmlns:a="http://schemas.openxmlformats.org/drawingml/2006/main">
              <a:ext uri="{FF2B5EF4-FFF2-40B4-BE49-F238E27FC236}">
                <a16:creationId xmlns:a16="http://schemas.microsoft.com/office/drawing/2014/main" id="{A800FD0B-B269-479E-87E0-BC3BD68DD95D}"/>
              </a:ext>
            </a:extLst>
          </p:cNvPr>
          <p:cNvSpPr>
            <a:spLocks xmlns:a="http://schemas.openxmlformats.org/drawingml/2006/main" noGrp="1"/>
          </p:cNvSpPr>
          <p:nvPr/>
        </p:nvSpPr>
        <p:spPr>
          <a:xfrm xmlns:a="http://schemas.openxmlformats.org/drawingml/2006/main">
            <a:off x="742950" y="3752850"/>
            <a:ext cx="314325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13" name="">
            <a:extLst xmlns:a="http://schemas.openxmlformats.org/drawingml/2006/main">
              <a:ext uri="{FF2B5EF4-FFF2-40B4-BE49-F238E27FC236}">
                <a16:creationId xmlns:a16="http://schemas.microsoft.com/office/drawing/2014/main" id="{2527C9F4-60C9-499A-8A1F-9F3264289DD4}"/>
              </a:ext>
            </a:extLst>
          </p:cNvPr>
          <p:cNvSpPr>
            <a:spLocks xmlns:a="http://schemas.openxmlformats.org/drawingml/2006/main" noGrp="1"/>
          </p:cNvSpPr>
          <p:nvPr/>
        </p:nvSpPr>
        <p:spPr>
          <a:xfrm xmlns:a="http://schemas.openxmlformats.org/drawingml/2006/main">
            <a:off x="742950" y="40386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03</a:t>
            </a:r>
          </a:p>
        </p:txBody>
      </p:sp>
      <p:sp>
        <p:nvSpPr>
          <p:cNvPr id="14" name="">
            <a:extLst xmlns:a="http://schemas.openxmlformats.org/drawingml/2006/main">
              <a:ext uri="{FF2B5EF4-FFF2-40B4-BE49-F238E27FC236}">
                <a16:creationId xmlns:a16="http://schemas.microsoft.com/office/drawing/2014/main" id="{0C897D7A-AD60-4ACB-8CEB-D64AD1681806}"/>
              </a:ext>
            </a:extLst>
          </p:cNvPr>
          <p:cNvSpPr>
            <a:spLocks xmlns:a="http://schemas.openxmlformats.org/drawingml/2006/main" noGrp="1"/>
          </p:cNvSpPr>
          <p:nvPr/>
        </p:nvSpPr>
        <p:spPr>
          <a:xfrm xmlns:a="http://schemas.openxmlformats.org/drawingml/2006/main">
            <a:off x="1200150" y="39719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91827"/>
                </a:solidFill>
                <a:latin typeface="Cascadia Mono"/>
                <a:ea typeface="Cascadia Mono"/>
                <a:cs typeface="Cascadia Mono"/>
              </a:defRPr>
            </a:pPr>
            <a:r>
              <a:rPr sz="1800" b="1">
                <a:solidFill>
                  <a:srgbClr val="091827"/>
                </a:solidFill>
                <a:latin typeface="Cascadia Mono"/>
                <a:ea typeface="Cascadia Mono"/>
                <a:cs typeface="Cascadia Mono"/>
              </a:rPr>
              <a:t>EXPLAINED</a:t>
            </a:r>
          </a:p>
        </p:txBody>
      </p:sp>
      <p:sp>
        <p:nvSpPr>
          <p:cNvPr id="15" name="">
            <a:extLst xmlns:a="http://schemas.openxmlformats.org/drawingml/2006/main">
              <a:ext uri="{FF2B5EF4-FFF2-40B4-BE49-F238E27FC236}">
                <a16:creationId xmlns:a16="http://schemas.microsoft.com/office/drawing/2014/main" id="{EF02A298-2DBE-4D84-B30A-04578B57E446}"/>
              </a:ext>
            </a:extLst>
          </p:cNvPr>
          <p:cNvSpPr>
            <a:spLocks xmlns:a="http://schemas.openxmlformats.org/drawingml/2006/main" noGrp="1"/>
          </p:cNvSpPr>
          <p:nvPr/>
        </p:nvSpPr>
        <p:spPr>
          <a:xfrm xmlns:a="http://schemas.openxmlformats.org/drawingml/2006/main">
            <a:off x="1200150" y="4343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5B6B78"/>
                </a:solidFill>
                <a:latin typeface="Arial"/>
                <a:ea typeface="Arial"/>
                <a:cs typeface="Arial"/>
              </a:defRPr>
            </a:pPr>
            <a:r>
              <a:rPr sz="1275" b="0" lang="he-IL">
                <a:solidFill>
                  <a:srgbClr val="5B6B78"/>
                </a:solidFill>
                <a:latin typeface="Arial"/>
                <a:ea typeface="Arial"/>
                <a:cs typeface="Arial"/>
              </a:rPr>
              <a:t>למה התקבלה התוצאה</a:t>
            </a:r>
          </a:p>
        </p:txBody>
      </p:sp>
      <p:sp>
        <p:nvSpPr>
          <p:cNvPr id="16" name="">
            <a:extLst xmlns:a="http://schemas.openxmlformats.org/drawingml/2006/main">
              <a:ext uri="{FF2B5EF4-FFF2-40B4-BE49-F238E27FC236}">
                <a16:creationId xmlns:a16="http://schemas.microsoft.com/office/drawing/2014/main" id="{27B47614-EF23-4AD5-8503-28C7845AA3D3}"/>
              </a:ext>
            </a:extLst>
          </p:cNvPr>
          <p:cNvSpPr>
            <a:spLocks xmlns:a="http://schemas.openxmlformats.org/drawingml/2006/main" noGrp="1"/>
          </p:cNvSpPr>
          <p:nvPr/>
        </p:nvSpPr>
        <p:spPr>
          <a:xfrm xmlns:a="http://schemas.openxmlformats.org/drawingml/2006/main">
            <a:off x="647700" y="61341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050" b="0" lang="he-IL">
                <a:solidFill>
                  <a:srgbClr val="5B6B78"/>
                </a:solidFill>
                <a:latin typeface="Arial"/>
                <a:ea typeface="Arial"/>
                <a:cs typeface="Arial"/>
              </a:defRPr>
            </a:pPr>
            <a:r>
              <a:rPr sz="1050" b="0" lang="he-IL">
                <a:solidFill>
                  <a:srgbClr val="5B6B78"/>
                </a:solidFill>
                <a:latin typeface="Arial"/>
                <a:ea typeface="Arial"/>
                <a:cs typeface="Arial"/>
              </a:rPr>
              <a:t>עמיחי · פרויקט גמר · הנדסת נתונים</a:t>
            </a:r>
          </a:p>
        </p:txBody>
      </p:sp>
    </p:spTree>
    <p:extLst>
      <p:ext uri="{BB962C8B-B14F-4D97-AF65-F5344CB8AC3E}">
        <p14:creationId xmlns:p14="http://schemas.microsoft.com/office/powerpoint/2010/main" val="916416304"/>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0E86BE8-750C-4C6C-938A-500539E1C32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6E5810-382E-4747-A3D8-F3BD390651B9}"/>
              </a:ext>
            </a:extLst>
          </p:cNvPr>
          <p:cNvSpPr>
            <a:spLocks xmlns:a="http://schemas.openxmlformats.org/drawingml/2006/main" noGrp="1"/>
          </p:cNvSpPr>
          <p:nvPr/>
        </p:nvSpPr>
        <p:spPr>
          <a:xfrm xmlns:a="http://schemas.openxmlformats.org/drawingml/2006/main">
            <a:off x="609600" y="400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THE PROBLEM</a:t>
            </a:r>
          </a:p>
        </p:txBody>
      </p:sp>
      <p:sp>
        <p:nvSpPr>
          <p:cNvPr id="3" name="">
            <a:extLst xmlns:a="http://schemas.openxmlformats.org/drawingml/2006/main">
              <a:ext uri="{FF2B5EF4-FFF2-40B4-BE49-F238E27FC236}">
                <a16:creationId xmlns:a16="http://schemas.microsoft.com/office/drawing/2014/main" id="{335DF103-B0B4-4921-9CF5-0C2389FCC021}"/>
              </a:ext>
            </a:extLst>
          </p:cNvPr>
          <p:cNvSpPr>
            <a:spLocks xmlns:a="http://schemas.openxmlformats.org/drawingml/2006/main" noGrp="1"/>
          </p:cNvSpPr>
          <p:nvPr/>
        </p:nvSpPr>
        <p:spPr>
          <a:xfrm xmlns:a="http://schemas.openxmlformats.org/drawingml/2006/main">
            <a:off x="4000500" y="1162050"/>
            <a:ext cx="752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2000"/>
              </a:lnSpc>
              <a:buNone/>
              <a:defRPr sz="3300" b="1" lang="he-IL">
                <a:solidFill>
                  <a:srgbClr val="091827"/>
                </a:solidFill>
                <a:latin typeface="Arial"/>
                <a:ea typeface="Arial"/>
                <a:cs typeface="Arial"/>
              </a:defRPr>
            </a:pPr>
            <a:r>
              <a:rPr sz="3300" b="1" lang="he-IL">
                <a:solidFill>
                  <a:srgbClr val="091827"/>
                </a:solidFill>
                <a:latin typeface="Arial"/>
                <a:ea typeface="Arial"/>
                <a:cs typeface="Arial"/>
              </a:rPr>
              <a:t>סוחר רואה מספר.</a:t>
            </a:r>
          </a:p>
          <a:p xmlns:a="http://schemas.openxmlformats.org/drawingml/2006/main">
            <a:pPr algn="r" rtl="1">
              <a:lnSpc>
                <a:spcPct val="92000"/>
              </a:lnSpc>
              <a:buNone/>
              <a:defRPr sz="3300" b="1" lang="he-IL">
                <a:solidFill>
                  <a:srgbClr val="091827"/>
                </a:solidFill>
                <a:latin typeface="Arial"/>
                <a:ea typeface="Arial"/>
                <a:cs typeface="Arial"/>
              </a:defRPr>
            </a:pPr>
            <a:r>
              <a:rPr sz="3300" b="1" lang="he-IL">
                <a:solidFill>
                  <a:srgbClr val="091827"/>
                </a:solidFill>
                <a:latin typeface="Arial"/>
                <a:ea typeface="Arial"/>
                <a:cs typeface="Arial"/>
              </a:rPr>
              <a:t>אבל האם אפשר לסמוך עליו?</a:t>
            </a:r>
          </a:p>
        </p:txBody>
      </p:sp>
      <p:sp>
        <p:nvSpPr>
          <p:cNvPr id="4" name="">
            <a:extLst xmlns:a="http://schemas.openxmlformats.org/drawingml/2006/main">
              <a:ext uri="{FF2B5EF4-FFF2-40B4-BE49-F238E27FC236}">
                <a16:creationId xmlns:a16="http://schemas.microsoft.com/office/drawing/2014/main" id="{91BEE019-00E8-4E30-B199-975ACD5647DE}"/>
              </a:ext>
            </a:extLst>
          </p:cNvPr>
          <p:cNvSpPr>
            <a:spLocks xmlns:a="http://schemas.openxmlformats.org/drawingml/2006/main" noGrp="1"/>
          </p:cNvSpPr>
          <p:nvPr/>
        </p:nvSpPr>
        <p:spPr>
          <a:xfrm xmlns:a="http://schemas.openxmlformats.org/drawingml/2006/main">
            <a:off x="5048250" y="257175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00" b="0" lang="he-IL">
                <a:solidFill>
                  <a:srgbClr val="5B6B78"/>
                </a:solidFill>
                <a:latin typeface="Arial"/>
                <a:ea typeface="Arial"/>
                <a:cs typeface="Arial"/>
              </a:defRPr>
            </a:pPr>
            <a:r>
              <a:rPr sz="1800" b="0" lang="he-IL">
                <a:solidFill>
                  <a:srgbClr val="5B6B78"/>
                </a:solidFill>
                <a:latin typeface="Arial"/>
                <a:ea typeface="Arial"/>
                <a:cs typeface="Arial"/>
              </a:rPr>
              <a:t>מחיר לבדו אינו מסביר אם הנתון טרי, אם החברה פרסמה מידע מהותי, ואם רעיון מסחר שרד בדיקה היסטורית הוגנת.</a:t>
            </a:r>
          </a:p>
        </p:txBody>
      </p:sp>
      <p:sp>
        <p:nvSpPr>
          <p:cNvPr id="5" name="">
            <a:extLst xmlns:a="http://schemas.openxmlformats.org/drawingml/2006/main">
              <a:ext uri="{FF2B5EF4-FFF2-40B4-BE49-F238E27FC236}">
                <a16:creationId xmlns:a16="http://schemas.microsoft.com/office/drawing/2014/main" id="{57BC0E9A-F425-4CCC-B706-119425E00591}"/>
              </a:ext>
            </a:extLst>
          </p:cNvPr>
          <p:cNvSpPr>
            <a:spLocks xmlns:a="http://schemas.openxmlformats.org/drawingml/2006/main" noGrp="1"/>
          </p:cNvSpPr>
          <p:nvPr/>
        </p:nvSpPr>
        <p:spPr>
          <a:xfrm xmlns:a="http://schemas.openxmlformats.org/drawingml/2006/main">
            <a:off x="9010650" y="3943350"/>
            <a:ext cx="9525" cy="1447800"/>
          </a:xfrm>
          <a:prstGeom xmlns:a="http://schemas.openxmlformats.org/drawingml/2006/main" prst="rect">
            <a:avLst/>
          </a:prstGeom>
          <a:solidFill xmlns:a="http://schemas.openxmlformats.org/drawingml/2006/main">
            <a:srgbClr val="C9D2D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C9FC1A-F5BE-4106-BB07-C10A37B553D4}"/>
              </a:ext>
            </a:extLst>
          </p:cNvPr>
          <p:cNvSpPr>
            <a:spLocks xmlns:a="http://schemas.openxmlformats.org/drawingml/2006/main" noGrp="1"/>
          </p:cNvSpPr>
          <p:nvPr/>
        </p:nvSpPr>
        <p:spPr>
          <a:xfrm xmlns:a="http://schemas.openxmlformats.org/drawingml/2006/main">
            <a:off x="91821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01</a:t>
            </a:r>
          </a:p>
        </p:txBody>
      </p:sp>
      <p:sp>
        <p:nvSpPr>
          <p:cNvPr id="7" name="">
            <a:extLst xmlns:a="http://schemas.openxmlformats.org/drawingml/2006/main">
              <a:ext uri="{FF2B5EF4-FFF2-40B4-BE49-F238E27FC236}">
                <a16:creationId xmlns:a16="http://schemas.microsoft.com/office/drawing/2014/main" id="{BFE6ED4B-45E2-4F51-A001-6AC9188A1BA8}"/>
              </a:ext>
            </a:extLst>
          </p:cNvPr>
          <p:cNvSpPr>
            <a:spLocks xmlns:a="http://schemas.openxmlformats.org/drawingml/2006/main" noGrp="1"/>
          </p:cNvSpPr>
          <p:nvPr/>
        </p:nvSpPr>
        <p:spPr>
          <a:xfrm xmlns:a="http://schemas.openxmlformats.org/drawingml/2006/main">
            <a:off x="91821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D6BB0BAA-D8FF-458A-AAAB-72E95B4CF8FE}"/>
              </a:ext>
            </a:extLst>
          </p:cNvPr>
          <p:cNvSpPr>
            <a:spLocks xmlns:a="http://schemas.openxmlformats.org/drawingml/2006/main" noGrp="1"/>
          </p:cNvSpPr>
          <p:nvPr/>
        </p:nvSpPr>
        <p:spPr>
          <a:xfrm xmlns:a="http://schemas.openxmlformats.org/drawingml/2006/main">
            <a:off x="91821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5B6B78"/>
                </a:solidFill>
                <a:latin typeface="Arial"/>
                <a:ea typeface="Arial"/>
                <a:cs typeface="Arial"/>
              </a:defRPr>
            </a:pPr>
            <a:r>
              <a:rPr sz="1500" b="0" lang="he-IL">
                <a:solidFill>
                  <a:srgbClr val="5B6B78"/>
                </a:solidFill>
                <a:latin typeface="Arial"/>
                <a:ea typeface="Arial"/>
                <a:cs typeface="Arial"/>
              </a:rPr>
              <a:t>מחיר, נפח ומגמה</a:t>
            </a:r>
          </a:p>
        </p:txBody>
      </p:sp>
      <p:sp>
        <p:nvSpPr>
          <p:cNvPr id="9" name="">
            <a:extLst xmlns:a="http://schemas.openxmlformats.org/drawingml/2006/main">
              <a:ext uri="{FF2B5EF4-FFF2-40B4-BE49-F238E27FC236}">
                <a16:creationId xmlns:a16="http://schemas.microsoft.com/office/drawing/2014/main" id="{37828874-318C-4532-9D5E-4612B0B4D13C}"/>
              </a:ext>
            </a:extLst>
          </p:cNvPr>
          <p:cNvSpPr>
            <a:spLocks xmlns:a="http://schemas.openxmlformats.org/drawingml/2006/main" noGrp="1"/>
          </p:cNvSpPr>
          <p:nvPr/>
        </p:nvSpPr>
        <p:spPr>
          <a:xfrm xmlns:a="http://schemas.openxmlformats.org/drawingml/2006/main">
            <a:off x="6134100" y="3943350"/>
            <a:ext cx="9525" cy="1447800"/>
          </a:xfrm>
          <a:prstGeom xmlns:a="http://schemas.openxmlformats.org/drawingml/2006/main" prst="rect">
            <a:avLst/>
          </a:prstGeom>
          <a:solidFill xmlns:a="http://schemas.openxmlformats.org/drawingml/2006/main">
            <a:srgbClr val="C9D2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41A226-15D4-4ADC-978A-E3230337F580}"/>
              </a:ext>
            </a:extLst>
          </p:cNvPr>
          <p:cNvSpPr>
            <a:spLocks xmlns:a="http://schemas.openxmlformats.org/drawingml/2006/main" noGrp="1"/>
          </p:cNvSpPr>
          <p:nvPr/>
        </p:nvSpPr>
        <p:spPr>
          <a:xfrm xmlns:a="http://schemas.openxmlformats.org/drawingml/2006/main">
            <a:off x="63055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02</a:t>
            </a:r>
          </a:p>
        </p:txBody>
      </p:sp>
      <p:sp>
        <p:nvSpPr>
          <p:cNvPr id="11" name="">
            <a:extLst xmlns:a="http://schemas.openxmlformats.org/drawingml/2006/main">
              <a:ext uri="{FF2B5EF4-FFF2-40B4-BE49-F238E27FC236}">
                <a16:creationId xmlns:a16="http://schemas.microsoft.com/office/drawing/2014/main" id="{856D3373-D5F0-4326-A0E6-51566F3339C8}"/>
              </a:ext>
            </a:extLst>
          </p:cNvPr>
          <p:cNvSpPr>
            <a:spLocks xmlns:a="http://schemas.openxmlformats.org/drawingml/2006/main" noGrp="1"/>
          </p:cNvSpPr>
          <p:nvPr/>
        </p:nvSpPr>
        <p:spPr>
          <a:xfrm xmlns:a="http://schemas.openxmlformats.org/drawingml/2006/main">
            <a:off x="63055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האם הנתון אמין?</a:t>
            </a:r>
          </a:p>
        </p:txBody>
      </p:sp>
      <p:sp>
        <p:nvSpPr>
          <p:cNvPr id="12" name="">
            <a:extLst xmlns:a="http://schemas.openxmlformats.org/drawingml/2006/main">
              <a:ext uri="{FF2B5EF4-FFF2-40B4-BE49-F238E27FC236}">
                <a16:creationId xmlns:a16="http://schemas.microsoft.com/office/drawing/2014/main" id="{A513546E-30A7-4DF3-A3A2-9859FA5B1CC9}"/>
              </a:ext>
            </a:extLst>
          </p:cNvPr>
          <p:cNvSpPr>
            <a:spLocks xmlns:a="http://schemas.openxmlformats.org/drawingml/2006/main" noGrp="1"/>
          </p:cNvSpPr>
          <p:nvPr/>
        </p:nvSpPr>
        <p:spPr>
          <a:xfrm xmlns:a="http://schemas.openxmlformats.org/drawingml/2006/main">
            <a:off x="63055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5B6B78"/>
                </a:solidFill>
                <a:latin typeface="Arial"/>
                <a:ea typeface="Arial"/>
                <a:cs typeface="Arial"/>
              </a:defRPr>
            </a:pPr>
            <a:r>
              <a:rPr sz="1500" b="0" lang="he-IL">
                <a:solidFill>
                  <a:srgbClr val="5B6B78"/>
                </a:solidFill>
                <a:latin typeface="Arial"/>
                <a:ea typeface="Arial"/>
                <a:cs typeface="Arial"/>
              </a:rPr>
              <a:t>טריות, איכות ומקור</a:t>
            </a:r>
          </a:p>
        </p:txBody>
      </p:sp>
      <p:sp>
        <p:nvSpPr>
          <p:cNvPr id="13" name="">
            <a:extLst xmlns:a="http://schemas.openxmlformats.org/drawingml/2006/main">
              <a:ext uri="{FF2B5EF4-FFF2-40B4-BE49-F238E27FC236}">
                <a16:creationId xmlns:a16="http://schemas.microsoft.com/office/drawing/2014/main" id="{B2A9A9DB-9A3C-4135-9460-EAFFF512285E}"/>
              </a:ext>
            </a:extLst>
          </p:cNvPr>
          <p:cNvSpPr>
            <a:spLocks xmlns:a="http://schemas.openxmlformats.org/drawingml/2006/main" noGrp="1"/>
          </p:cNvSpPr>
          <p:nvPr/>
        </p:nvSpPr>
        <p:spPr>
          <a:xfrm xmlns:a="http://schemas.openxmlformats.org/drawingml/2006/main">
            <a:off x="3257550" y="3943350"/>
            <a:ext cx="9525" cy="1447800"/>
          </a:xfrm>
          <a:prstGeom xmlns:a="http://schemas.openxmlformats.org/drawingml/2006/main" prst="rect">
            <a:avLst/>
          </a:prstGeom>
          <a:solidFill xmlns:a="http://schemas.openxmlformats.org/drawingml/2006/main">
            <a:srgbClr val="C9D2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1499F0-4C18-408D-B6AB-F1473B6AED21}"/>
              </a:ext>
            </a:extLst>
          </p:cNvPr>
          <p:cNvSpPr>
            <a:spLocks xmlns:a="http://schemas.openxmlformats.org/drawingml/2006/main" noGrp="1"/>
          </p:cNvSpPr>
          <p:nvPr/>
        </p:nvSpPr>
        <p:spPr>
          <a:xfrm xmlns:a="http://schemas.openxmlformats.org/drawingml/2006/main">
            <a:off x="34290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03</a:t>
            </a:r>
          </a:p>
        </p:txBody>
      </p:sp>
      <p:sp>
        <p:nvSpPr>
          <p:cNvPr id="15" name="">
            <a:extLst xmlns:a="http://schemas.openxmlformats.org/drawingml/2006/main">
              <a:ext uri="{FF2B5EF4-FFF2-40B4-BE49-F238E27FC236}">
                <a16:creationId xmlns:a16="http://schemas.microsoft.com/office/drawing/2014/main" id="{8732FB02-5B0A-4B76-9267-2694484E4337}"/>
              </a:ext>
            </a:extLst>
          </p:cNvPr>
          <p:cNvSpPr>
            <a:spLocks xmlns:a="http://schemas.openxmlformats.org/drawingml/2006/main" noGrp="1"/>
          </p:cNvSpPr>
          <p:nvPr/>
        </p:nvSpPr>
        <p:spPr>
          <a:xfrm xmlns:a="http://schemas.openxmlformats.org/drawingml/2006/main">
            <a:off x="34290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מה השתנה בחברה?</a:t>
            </a:r>
          </a:p>
        </p:txBody>
      </p:sp>
      <p:sp>
        <p:nvSpPr>
          <p:cNvPr id="16" name="">
            <a:extLst xmlns:a="http://schemas.openxmlformats.org/drawingml/2006/main">
              <a:ext uri="{FF2B5EF4-FFF2-40B4-BE49-F238E27FC236}">
                <a16:creationId xmlns:a16="http://schemas.microsoft.com/office/drawing/2014/main" id="{F65A85F0-D4C6-42EB-B9BA-25BCD4C50EE4}"/>
              </a:ext>
            </a:extLst>
          </p:cNvPr>
          <p:cNvSpPr>
            <a:spLocks xmlns:a="http://schemas.openxmlformats.org/drawingml/2006/main" noGrp="1"/>
          </p:cNvSpPr>
          <p:nvPr/>
        </p:nvSpPr>
        <p:spPr>
          <a:xfrm xmlns:a="http://schemas.openxmlformats.org/drawingml/2006/main">
            <a:off x="34290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5B6B78"/>
                </a:solidFill>
                <a:latin typeface="Arial"/>
                <a:ea typeface="Arial"/>
                <a:cs typeface="Arial"/>
              </a:defRPr>
            </a:pPr>
            <a:r>
              <a:rPr sz="1500" b="0" lang="he-IL">
                <a:solidFill>
                  <a:srgbClr val="5B6B78"/>
                </a:solidFill>
                <a:latin typeface="Arial"/>
                <a:ea typeface="Arial"/>
                <a:cs typeface="Arial"/>
              </a:rPr>
              <a:t>דיווחי SEC רשמיים</a:t>
            </a:r>
          </a:p>
        </p:txBody>
      </p:sp>
      <p:sp>
        <p:nvSpPr>
          <p:cNvPr id="17" name="">
            <a:extLst xmlns:a="http://schemas.openxmlformats.org/drawingml/2006/main">
              <a:ext uri="{FF2B5EF4-FFF2-40B4-BE49-F238E27FC236}">
                <a16:creationId xmlns:a16="http://schemas.microsoft.com/office/drawing/2014/main" id="{EBFE69F5-7E82-42A9-9FE5-8D2588084718}"/>
              </a:ext>
            </a:extLst>
          </p:cNvPr>
          <p:cNvSpPr>
            <a:spLocks xmlns:a="http://schemas.openxmlformats.org/drawingml/2006/main" noGrp="1"/>
          </p:cNvSpPr>
          <p:nvPr/>
        </p:nvSpPr>
        <p:spPr>
          <a:xfrm xmlns:a="http://schemas.openxmlformats.org/drawingml/2006/main">
            <a:off x="5524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117C70"/>
                </a:solidFill>
                <a:latin typeface="Cascadia Mono"/>
                <a:ea typeface="Cascadia Mono"/>
                <a:cs typeface="Cascadia Mono"/>
              </a:defRPr>
            </a:pPr>
            <a:r>
              <a:rPr sz="900" b="0">
                <a:solidFill>
                  <a:srgbClr val="117C70"/>
                </a:solidFill>
                <a:latin typeface="Cascadia Mono"/>
                <a:ea typeface="Cascadia Mono"/>
                <a:cs typeface="Cascadia Mono"/>
              </a:rPr>
              <a:t>04</a:t>
            </a:r>
          </a:p>
        </p:txBody>
      </p:sp>
      <p:sp>
        <p:nvSpPr>
          <p:cNvPr id="18" name="">
            <a:extLst xmlns:a="http://schemas.openxmlformats.org/drawingml/2006/main">
              <a:ext uri="{FF2B5EF4-FFF2-40B4-BE49-F238E27FC236}">
                <a16:creationId xmlns:a16="http://schemas.microsoft.com/office/drawing/2014/main" id="{8C2A73AD-B291-4A4D-85DD-3607746BEA61}"/>
              </a:ext>
            </a:extLst>
          </p:cNvPr>
          <p:cNvSpPr>
            <a:spLocks xmlns:a="http://schemas.openxmlformats.org/drawingml/2006/main" noGrp="1"/>
          </p:cNvSpPr>
          <p:nvPr/>
        </p:nvSpPr>
        <p:spPr>
          <a:xfrm xmlns:a="http://schemas.openxmlformats.org/drawingml/2006/main">
            <a:off x="5524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האם הרעיון עבד בעבר?</a:t>
            </a:r>
          </a:p>
        </p:txBody>
      </p:sp>
      <p:sp>
        <p:nvSpPr>
          <p:cNvPr id="19" name="">
            <a:extLst xmlns:a="http://schemas.openxmlformats.org/drawingml/2006/main">
              <a:ext uri="{FF2B5EF4-FFF2-40B4-BE49-F238E27FC236}">
                <a16:creationId xmlns:a16="http://schemas.microsoft.com/office/drawing/2014/main" id="{6F41D3B3-116C-4CDE-82E4-F6B215F720FF}"/>
              </a:ext>
            </a:extLst>
          </p:cNvPr>
          <p:cNvSpPr>
            <a:spLocks xmlns:a="http://schemas.openxmlformats.org/drawingml/2006/main" noGrp="1"/>
          </p:cNvSpPr>
          <p:nvPr/>
        </p:nvSpPr>
        <p:spPr>
          <a:xfrm xmlns:a="http://schemas.openxmlformats.org/drawingml/2006/main">
            <a:off x="5524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5B6B78"/>
                </a:solidFill>
                <a:latin typeface="Arial"/>
                <a:ea typeface="Arial"/>
                <a:cs typeface="Arial"/>
              </a:defRPr>
            </a:pPr>
            <a:r>
              <a:rPr sz="1500" b="0" lang="he-IL">
                <a:solidFill>
                  <a:srgbClr val="5B6B78"/>
                </a:solidFill>
                <a:latin typeface="Arial"/>
                <a:ea typeface="Arial"/>
                <a:cs typeface="Arial"/>
              </a:rPr>
              <a:t>בדיקה מול SPY ועלויות</a:t>
            </a:r>
          </a:p>
        </p:txBody>
      </p:sp>
      <p:sp>
        <p:nvSpPr>
          <p:cNvPr id="20" name="">
            <a:extLst xmlns:a="http://schemas.openxmlformats.org/drawingml/2006/main">
              <a:ext uri="{FF2B5EF4-FFF2-40B4-BE49-F238E27FC236}">
                <a16:creationId xmlns:a16="http://schemas.microsoft.com/office/drawing/2014/main" id="{D56EBA76-C82C-495A-BAE5-1D97025555F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02</a:t>
            </a:r>
          </a:p>
        </p:txBody>
      </p:sp>
      <p:sp>
        <p:nvSpPr>
          <p:cNvPr id="21" name="">
            <a:extLst xmlns:a="http://schemas.openxmlformats.org/drawingml/2006/main">
              <a:ext uri="{FF2B5EF4-FFF2-40B4-BE49-F238E27FC236}">
                <a16:creationId xmlns:a16="http://schemas.microsoft.com/office/drawing/2014/main" id="{FC42A9B1-53E2-4C64-ADE2-CAAEFAECE2D5}"/>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Tree>
    <p:extLst>
      <p:ext uri="{BB962C8B-B14F-4D97-AF65-F5344CB8AC3E}">
        <p14:creationId xmlns:p14="http://schemas.microsoft.com/office/powerpoint/2010/main" val="1307835981"/>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A13F441-B6E6-4607-9655-9954EC807E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090F7E-B93A-461F-88B7-7558784ED409}"/>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PRODUCT VALUE</a:t>
            </a:r>
          </a:p>
        </p:txBody>
      </p:sp>
      <p:sp>
        <p:nvSpPr>
          <p:cNvPr id="3" name="">
            <a:extLst xmlns:a="http://schemas.openxmlformats.org/drawingml/2006/main">
              <a:ext uri="{FF2B5EF4-FFF2-40B4-BE49-F238E27FC236}">
                <a16:creationId xmlns:a16="http://schemas.microsoft.com/office/drawing/2014/main" id="{0544B64A-569A-424B-A3C7-A9359D9A6144}"/>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מה המערכת נותנת לסוחר</a:t>
            </a:r>
          </a:p>
        </p:txBody>
      </p:sp>
      <p:sp>
        <p:nvSpPr>
          <p:cNvPr id="4" name="">
            <a:extLst xmlns:a="http://schemas.openxmlformats.org/drawingml/2006/main">
              <a:ext uri="{FF2B5EF4-FFF2-40B4-BE49-F238E27FC236}">
                <a16:creationId xmlns:a16="http://schemas.microsoft.com/office/drawing/2014/main" id="{94EC8943-881C-4C7A-B3DF-D6038F7ECBFB}"/>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03</a:t>
            </a:r>
          </a:p>
        </p:txBody>
      </p:sp>
      <p:sp>
        <p:nvSpPr>
          <p:cNvPr id="5" name="">
            <a:extLst xmlns:a="http://schemas.openxmlformats.org/drawingml/2006/main">
              <a:ext uri="{FF2B5EF4-FFF2-40B4-BE49-F238E27FC236}">
                <a16:creationId xmlns:a16="http://schemas.microsoft.com/office/drawing/2014/main" id="{B48BB8C7-46C6-4C83-8883-2A55D3F04B96}"/>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A02DDC06-D063-4E07-91A4-32DCDFBB50DB}"/>
              </a:ext>
            </a:extLst>
          </p:cNvPr>
          <p:cNvSpPr>
            <a:spLocks xmlns:a="http://schemas.openxmlformats.org/drawingml/2006/main" noGrp="1"/>
          </p:cNvSpPr>
          <p:nvPr/>
        </p:nvSpPr>
        <p:spPr>
          <a:xfrm xmlns:a="http://schemas.openxmlformats.org/drawingml/2006/main">
            <a:off x="64770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4B94F"/>
                </a:solidFill>
                <a:latin typeface="Cascadia Mono"/>
                <a:ea typeface="Cascadia Mono"/>
                <a:cs typeface="Cascadia Mono"/>
              </a:defRPr>
            </a:pPr>
            <a:r>
              <a:rPr sz="900" b="1">
                <a:solidFill>
                  <a:srgbClr val="F4B94F"/>
                </a:solidFill>
                <a:latin typeface="Cascadia Mono"/>
                <a:ea typeface="Cascadia Mono"/>
                <a:cs typeface="Cascadia Mono"/>
              </a:rPr>
              <a:t>04</a:t>
            </a:r>
          </a:p>
        </p:txBody>
      </p:sp>
      <p:sp>
        <p:nvSpPr>
          <p:cNvPr id="7" name="">
            <a:extLst xmlns:a="http://schemas.openxmlformats.org/drawingml/2006/main">
              <a:ext uri="{FF2B5EF4-FFF2-40B4-BE49-F238E27FC236}">
                <a16:creationId xmlns:a16="http://schemas.microsoft.com/office/drawing/2014/main" id="{D4765002-CA3E-4BD0-8649-5832DDE8C6F4}"/>
              </a:ext>
            </a:extLst>
          </p:cNvPr>
          <p:cNvSpPr>
            <a:spLocks xmlns:a="http://schemas.openxmlformats.org/drawingml/2006/main" noGrp="1"/>
          </p:cNvSpPr>
          <p:nvPr/>
        </p:nvSpPr>
        <p:spPr>
          <a:xfrm xmlns:a="http://schemas.openxmlformats.org/drawingml/2006/main">
            <a:off x="64770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091827"/>
                </a:solidFill>
                <a:latin typeface="Arial"/>
                <a:ea typeface="Arial"/>
                <a:cs typeface="Arial"/>
              </a:defRPr>
            </a:pPr>
            <a:r>
              <a:rPr sz="2850" b="1" lang="he-IL">
                <a:solidFill>
                  <a:srgbClr val="091827"/>
                </a:solidFill>
                <a:latin typeface="Arial"/>
                <a:ea typeface="Arial"/>
                <a:cs typeface="Arial"/>
              </a:rPr>
              <a:t>מסבירה</a:t>
            </a:r>
          </a:p>
        </p:txBody>
      </p:sp>
      <p:sp>
        <p:nvSpPr>
          <p:cNvPr id="8" name="">
            <a:extLst xmlns:a="http://schemas.openxmlformats.org/drawingml/2006/main">
              <a:ext uri="{FF2B5EF4-FFF2-40B4-BE49-F238E27FC236}">
                <a16:creationId xmlns:a16="http://schemas.microsoft.com/office/drawing/2014/main" id="{FBA0329B-5D31-4855-9027-4C88A8549527}"/>
              </a:ext>
            </a:extLst>
          </p:cNvPr>
          <p:cNvSpPr>
            <a:spLocks xmlns:a="http://schemas.openxmlformats.org/drawingml/2006/main" noGrp="1"/>
          </p:cNvSpPr>
          <p:nvPr/>
        </p:nvSpPr>
        <p:spPr>
          <a:xfrm xmlns:a="http://schemas.openxmlformats.org/drawingml/2006/main">
            <a:off x="64770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תרחיש החלטה</a:t>
            </a:r>
          </a:p>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עם סיכון והקשר</a:t>
            </a:r>
          </a:p>
        </p:txBody>
      </p:sp>
      <p:sp>
        <p:nvSpPr>
          <p:cNvPr id="9" name="">
            <a:extLst xmlns:a="http://schemas.openxmlformats.org/drawingml/2006/main">
              <a:ext uri="{FF2B5EF4-FFF2-40B4-BE49-F238E27FC236}">
                <a16:creationId xmlns:a16="http://schemas.microsoft.com/office/drawing/2014/main" id="{FC7997B7-20CC-43B3-ACEA-277B307D576D}"/>
              </a:ext>
            </a:extLst>
          </p:cNvPr>
          <p:cNvSpPr>
            <a:spLocks xmlns:a="http://schemas.openxmlformats.org/drawingml/2006/main" noGrp="1"/>
          </p:cNvSpPr>
          <p:nvPr/>
        </p:nvSpPr>
        <p:spPr>
          <a:xfrm xmlns:a="http://schemas.openxmlformats.org/drawingml/2006/main">
            <a:off x="647700" y="3581400"/>
            <a:ext cx="171450" cy="1714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3A7971D-63DE-49FC-AA21-841FD26FAC19}"/>
              </a:ext>
            </a:extLst>
          </p:cNvPr>
          <p:cNvSpPr>
            <a:spLocks xmlns:a="http://schemas.openxmlformats.org/drawingml/2006/main" noGrp="1"/>
          </p:cNvSpPr>
          <p:nvPr/>
        </p:nvSpPr>
        <p:spPr>
          <a:xfrm xmlns:a="http://schemas.openxmlformats.org/drawingml/2006/main">
            <a:off x="819150" y="3667125"/>
            <a:ext cx="2638425" cy="0"/>
          </a:xfrm>
          <a:prstGeom xmlns:a="http://schemas.openxmlformats.org/drawingml/2006/main" prst="line">
            <a:avLst/>
          </a:prstGeom>
          <a:noFill xmlns:a="http://schemas.openxmlformats.org/drawingml/2006/main"/>
          <a:ln xmlns:a="http://schemas.openxmlformats.org/drawingml/2006/main" w="19050">
            <a:solidFill>
              <a:srgbClr val="C9D2D8"/>
            </a:solidFill>
            <a:prstDash val="solid"/>
          </a:ln>
        </p:spPr>
      </p:sp>
      <p:sp>
        <p:nvSpPr>
          <p:cNvPr id="11" name="">
            <a:extLst xmlns:a="http://schemas.openxmlformats.org/drawingml/2006/main">
              <a:ext uri="{FF2B5EF4-FFF2-40B4-BE49-F238E27FC236}">
                <a16:creationId xmlns:a16="http://schemas.microsoft.com/office/drawing/2014/main" id="{C5259B8E-CA51-4E7E-9F9A-E4E3C1B6C318}"/>
              </a:ext>
            </a:extLst>
          </p:cNvPr>
          <p:cNvSpPr>
            <a:spLocks xmlns:a="http://schemas.openxmlformats.org/drawingml/2006/main" noGrp="1"/>
          </p:cNvSpPr>
          <p:nvPr/>
        </p:nvSpPr>
        <p:spPr>
          <a:xfrm xmlns:a="http://schemas.openxmlformats.org/drawingml/2006/main">
            <a:off x="345757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5B91FF"/>
                </a:solidFill>
                <a:latin typeface="Cascadia Mono"/>
                <a:ea typeface="Cascadia Mono"/>
                <a:cs typeface="Cascadia Mono"/>
              </a:defRPr>
            </a:pPr>
            <a:r>
              <a:rPr sz="900" b="1">
                <a:solidFill>
                  <a:srgbClr val="5B91FF"/>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496C9A50-8346-4AB7-A63F-D531000797C2}"/>
              </a:ext>
            </a:extLst>
          </p:cNvPr>
          <p:cNvSpPr>
            <a:spLocks xmlns:a="http://schemas.openxmlformats.org/drawingml/2006/main" noGrp="1"/>
          </p:cNvSpPr>
          <p:nvPr/>
        </p:nvSpPr>
        <p:spPr>
          <a:xfrm xmlns:a="http://schemas.openxmlformats.org/drawingml/2006/main">
            <a:off x="345757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091827"/>
                </a:solidFill>
                <a:latin typeface="Arial"/>
                <a:ea typeface="Arial"/>
                <a:cs typeface="Arial"/>
              </a:defRPr>
            </a:pPr>
            <a:r>
              <a:rPr sz="2850" b="1" lang="he-IL">
                <a:solidFill>
                  <a:srgbClr val="091827"/>
                </a:solidFill>
                <a:latin typeface="Arial"/>
                <a:ea typeface="Arial"/>
                <a:cs typeface="Arial"/>
              </a:rPr>
              <a:t>בודקת</a:t>
            </a:r>
          </a:p>
        </p:txBody>
      </p:sp>
      <p:sp>
        <p:nvSpPr>
          <p:cNvPr id="13" name="">
            <a:extLst xmlns:a="http://schemas.openxmlformats.org/drawingml/2006/main">
              <a:ext uri="{FF2B5EF4-FFF2-40B4-BE49-F238E27FC236}">
                <a16:creationId xmlns:a16="http://schemas.microsoft.com/office/drawing/2014/main" id="{5CB94C5C-E444-4D64-87B4-F22332D37599}"/>
              </a:ext>
            </a:extLst>
          </p:cNvPr>
          <p:cNvSpPr>
            <a:spLocks xmlns:a="http://schemas.openxmlformats.org/drawingml/2006/main" noGrp="1"/>
          </p:cNvSpPr>
          <p:nvPr/>
        </p:nvSpPr>
        <p:spPr>
          <a:xfrm xmlns:a="http://schemas.openxmlformats.org/drawingml/2006/main">
            <a:off x="345757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איכות נתונים</a:t>
            </a:r>
          </a:p>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והיסטוריה</a:t>
            </a:r>
          </a:p>
        </p:txBody>
      </p:sp>
      <p:sp>
        <p:nvSpPr>
          <p:cNvPr id="14" name="">
            <a:extLst xmlns:a="http://schemas.openxmlformats.org/drawingml/2006/main">
              <a:ext uri="{FF2B5EF4-FFF2-40B4-BE49-F238E27FC236}">
                <a16:creationId xmlns:a16="http://schemas.microsoft.com/office/drawing/2014/main" id="{48B787FD-8488-46AC-AD6F-FDD0F5D7125B}"/>
              </a:ext>
            </a:extLst>
          </p:cNvPr>
          <p:cNvSpPr>
            <a:spLocks xmlns:a="http://schemas.openxmlformats.org/drawingml/2006/main" noGrp="1"/>
          </p:cNvSpPr>
          <p:nvPr/>
        </p:nvSpPr>
        <p:spPr>
          <a:xfrm xmlns:a="http://schemas.openxmlformats.org/drawingml/2006/main">
            <a:off x="3457575" y="3581400"/>
            <a:ext cx="171450" cy="1714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0E73C3-0F9F-4E42-BEBD-7F3E54B9DE94}"/>
              </a:ext>
            </a:extLst>
          </p:cNvPr>
          <p:cNvSpPr>
            <a:spLocks xmlns:a="http://schemas.openxmlformats.org/drawingml/2006/main" noGrp="1"/>
          </p:cNvSpPr>
          <p:nvPr/>
        </p:nvSpPr>
        <p:spPr>
          <a:xfrm xmlns:a="http://schemas.openxmlformats.org/drawingml/2006/main">
            <a:off x="3629025" y="3667125"/>
            <a:ext cx="2638425" cy="0"/>
          </a:xfrm>
          <a:prstGeom xmlns:a="http://schemas.openxmlformats.org/drawingml/2006/main" prst="line">
            <a:avLst/>
          </a:prstGeom>
          <a:noFill xmlns:a="http://schemas.openxmlformats.org/drawingml/2006/main"/>
          <a:ln xmlns:a="http://schemas.openxmlformats.org/drawingml/2006/main" w="19050">
            <a:solidFill>
              <a:srgbClr val="C9D2D8"/>
            </a:solidFill>
            <a:prstDash val="solid"/>
          </a:ln>
        </p:spPr>
      </p:sp>
      <p:sp>
        <p:nvSpPr>
          <p:cNvPr id="16" name="">
            <a:extLst xmlns:a="http://schemas.openxmlformats.org/drawingml/2006/main">
              <a:ext uri="{FF2B5EF4-FFF2-40B4-BE49-F238E27FC236}">
                <a16:creationId xmlns:a16="http://schemas.microsoft.com/office/drawing/2014/main" id="{349A77F2-98F5-4286-A25C-EAF6A777180C}"/>
              </a:ext>
            </a:extLst>
          </p:cNvPr>
          <p:cNvSpPr>
            <a:spLocks xmlns:a="http://schemas.openxmlformats.org/drawingml/2006/main" noGrp="1"/>
          </p:cNvSpPr>
          <p:nvPr/>
        </p:nvSpPr>
        <p:spPr>
          <a:xfrm xmlns:a="http://schemas.openxmlformats.org/drawingml/2006/main">
            <a:off x="626745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117C70"/>
                </a:solidFill>
                <a:latin typeface="Cascadia Mono"/>
                <a:ea typeface="Cascadia Mono"/>
                <a:cs typeface="Cascadia Mono"/>
              </a:defRPr>
            </a:pPr>
            <a:r>
              <a:rPr sz="900" b="1">
                <a:solidFill>
                  <a:srgbClr val="117C70"/>
                </a:solidFill>
                <a:latin typeface="Cascadia Mono"/>
                <a:ea typeface="Cascadia Mono"/>
                <a:cs typeface="Cascadia Mono"/>
              </a:rPr>
              <a:t>02</a:t>
            </a:r>
          </a:p>
        </p:txBody>
      </p:sp>
      <p:sp>
        <p:nvSpPr>
          <p:cNvPr id="17" name="">
            <a:extLst xmlns:a="http://schemas.openxmlformats.org/drawingml/2006/main">
              <a:ext uri="{FF2B5EF4-FFF2-40B4-BE49-F238E27FC236}">
                <a16:creationId xmlns:a16="http://schemas.microsoft.com/office/drawing/2014/main" id="{0D894FB8-D86F-4352-8EF8-1E1DF485028A}"/>
              </a:ext>
            </a:extLst>
          </p:cNvPr>
          <p:cNvSpPr>
            <a:spLocks xmlns:a="http://schemas.openxmlformats.org/drawingml/2006/main" noGrp="1"/>
          </p:cNvSpPr>
          <p:nvPr/>
        </p:nvSpPr>
        <p:spPr>
          <a:xfrm xmlns:a="http://schemas.openxmlformats.org/drawingml/2006/main">
            <a:off x="626745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091827"/>
                </a:solidFill>
                <a:latin typeface="Arial"/>
                <a:ea typeface="Arial"/>
                <a:cs typeface="Arial"/>
              </a:defRPr>
            </a:pPr>
            <a:r>
              <a:rPr sz="2850" b="1" lang="he-IL">
                <a:solidFill>
                  <a:srgbClr val="091827"/>
                </a:solidFill>
                <a:latin typeface="Arial"/>
                <a:ea typeface="Arial"/>
                <a:cs typeface="Arial"/>
              </a:rPr>
              <a:t>מבינה</a:t>
            </a:r>
          </a:p>
        </p:txBody>
      </p:sp>
      <p:sp>
        <p:nvSpPr>
          <p:cNvPr id="18" name="">
            <a:extLst xmlns:a="http://schemas.openxmlformats.org/drawingml/2006/main">
              <a:ext uri="{FF2B5EF4-FFF2-40B4-BE49-F238E27FC236}">
                <a16:creationId xmlns:a16="http://schemas.microsoft.com/office/drawing/2014/main" id="{5EB0B4FA-6F24-42EC-9419-3A294717C21A}"/>
              </a:ext>
            </a:extLst>
          </p:cNvPr>
          <p:cNvSpPr>
            <a:spLocks xmlns:a="http://schemas.openxmlformats.org/drawingml/2006/main" noGrp="1"/>
          </p:cNvSpPr>
          <p:nvPr/>
        </p:nvSpPr>
        <p:spPr>
          <a:xfrm xmlns:a="http://schemas.openxmlformats.org/drawingml/2006/main">
            <a:off x="626745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מגמה, תנודתיות</a:t>
            </a:r>
          </a:p>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ודיווחי חברה</a:t>
            </a:r>
          </a:p>
        </p:txBody>
      </p:sp>
      <p:sp>
        <p:nvSpPr>
          <p:cNvPr id="19" name="">
            <a:extLst xmlns:a="http://schemas.openxmlformats.org/drawingml/2006/main">
              <a:ext uri="{FF2B5EF4-FFF2-40B4-BE49-F238E27FC236}">
                <a16:creationId xmlns:a16="http://schemas.microsoft.com/office/drawing/2014/main" id="{F40BAA73-BD4F-4BDE-921F-5331052243F3}"/>
              </a:ext>
            </a:extLst>
          </p:cNvPr>
          <p:cNvSpPr>
            <a:spLocks xmlns:a="http://schemas.openxmlformats.org/drawingml/2006/main" noGrp="1"/>
          </p:cNvSpPr>
          <p:nvPr/>
        </p:nvSpPr>
        <p:spPr>
          <a:xfrm xmlns:a="http://schemas.openxmlformats.org/drawingml/2006/main">
            <a:off x="6267450" y="3581400"/>
            <a:ext cx="171450" cy="171450"/>
          </a:xfrm>
          <a:prstGeom xmlns:a="http://schemas.openxmlformats.org/drawingml/2006/main" prst="roundRect">
            <a:avLst>
              <a:gd name="adj" fmla="val 50000"/>
            </a:avLst>
          </a:prstGeom>
          <a:solidFill xmlns:a="http://schemas.openxmlformats.org/drawingml/2006/main">
            <a:srgbClr val="117C7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EA1EBDA-B249-4F98-8EB5-524BC6098938}"/>
              </a:ext>
            </a:extLst>
          </p:cNvPr>
          <p:cNvSpPr>
            <a:spLocks xmlns:a="http://schemas.openxmlformats.org/drawingml/2006/main" noGrp="1"/>
          </p:cNvSpPr>
          <p:nvPr/>
        </p:nvSpPr>
        <p:spPr>
          <a:xfrm xmlns:a="http://schemas.openxmlformats.org/drawingml/2006/main">
            <a:off x="6438900" y="3667125"/>
            <a:ext cx="2638425" cy="0"/>
          </a:xfrm>
          <a:prstGeom xmlns:a="http://schemas.openxmlformats.org/drawingml/2006/main" prst="line">
            <a:avLst/>
          </a:prstGeom>
          <a:noFill xmlns:a="http://schemas.openxmlformats.org/drawingml/2006/main"/>
          <a:ln xmlns:a="http://schemas.openxmlformats.org/drawingml/2006/main" w="19050">
            <a:solidFill>
              <a:srgbClr val="C9D2D8"/>
            </a:solidFill>
            <a:prstDash val="solid"/>
          </a:ln>
        </p:spPr>
      </p:sp>
      <p:sp>
        <p:nvSpPr>
          <p:cNvPr id="21" name="">
            <a:extLst xmlns:a="http://schemas.openxmlformats.org/drawingml/2006/main">
              <a:ext uri="{FF2B5EF4-FFF2-40B4-BE49-F238E27FC236}">
                <a16:creationId xmlns:a16="http://schemas.microsoft.com/office/drawing/2014/main" id="{30467F18-BFC1-497D-8674-9CD2248B1960}"/>
              </a:ext>
            </a:extLst>
          </p:cNvPr>
          <p:cNvSpPr>
            <a:spLocks xmlns:a="http://schemas.openxmlformats.org/drawingml/2006/main" noGrp="1"/>
          </p:cNvSpPr>
          <p:nvPr/>
        </p:nvSpPr>
        <p:spPr>
          <a:xfrm xmlns:a="http://schemas.openxmlformats.org/drawingml/2006/main">
            <a:off x="907732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CB4B039D-F378-4D89-87BC-91C68D399C71}"/>
              </a:ext>
            </a:extLst>
          </p:cNvPr>
          <p:cNvSpPr>
            <a:spLocks xmlns:a="http://schemas.openxmlformats.org/drawingml/2006/main" noGrp="1"/>
          </p:cNvSpPr>
          <p:nvPr/>
        </p:nvSpPr>
        <p:spPr>
          <a:xfrm xmlns:a="http://schemas.openxmlformats.org/drawingml/2006/main">
            <a:off x="907732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091827"/>
                </a:solidFill>
                <a:latin typeface="Arial"/>
                <a:ea typeface="Arial"/>
                <a:cs typeface="Arial"/>
              </a:defRPr>
            </a:pPr>
            <a:r>
              <a:rPr sz="2850" b="1" lang="he-IL">
                <a:solidFill>
                  <a:srgbClr val="091827"/>
                </a:solidFill>
                <a:latin typeface="Arial"/>
                <a:ea typeface="Arial"/>
                <a:cs typeface="Arial"/>
              </a:rPr>
              <a:t>אוספת</a:t>
            </a:r>
          </a:p>
        </p:txBody>
      </p:sp>
      <p:sp>
        <p:nvSpPr>
          <p:cNvPr id="23" name="">
            <a:extLst xmlns:a="http://schemas.openxmlformats.org/drawingml/2006/main">
              <a:ext uri="{FF2B5EF4-FFF2-40B4-BE49-F238E27FC236}">
                <a16:creationId xmlns:a16="http://schemas.microsoft.com/office/drawing/2014/main" id="{C5EB6BDD-5C11-4A4E-9D65-27BCFAEDE60B}"/>
              </a:ext>
            </a:extLst>
          </p:cNvPr>
          <p:cNvSpPr>
            <a:spLocks xmlns:a="http://schemas.openxmlformats.org/drawingml/2006/main" noGrp="1"/>
          </p:cNvSpPr>
          <p:nvPr/>
        </p:nvSpPr>
        <p:spPr>
          <a:xfrm xmlns:a="http://schemas.openxmlformats.org/drawingml/2006/main">
            <a:off x="907732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שוק חי ומידע</a:t>
            </a:r>
          </a:p>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רשמי</a:t>
            </a:r>
          </a:p>
        </p:txBody>
      </p:sp>
      <p:sp>
        <p:nvSpPr>
          <p:cNvPr id="24" name="">
            <a:extLst xmlns:a="http://schemas.openxmlformats.org/drawingml/2006/main">
              <a:ext uri="{FF2B5EF4-FFF2-40B4-BE49-F238E27FC236}">
                <a16:creationId xmlns:a16="http://schemas.microsoft.com/office/drawing/2014/main" id="{C85D41A6-B6DF-4AEA-A7A8-5281DD492316}"/>
              </a:ext>
            </a:extLst>
          </p:cNvPr>
          <p:cNvSpPr>
            <a:spLocks xmlns:a="http://schemas.openxmlformats.org/drawingml/2006/main" noGrp="1"/>
          </p:cNvSpPr>
          <p:nvPr/>
        </p:nvSpPr>
        <p:spPr>
          <a:xfrm xmlns:a="http://schemas.openxmlformats.org/drawingml/2006/main">
            <a:off x="9077325"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65F2389-05DD-4468-A7E3-9CBF021802EE}"/>
              </a:ext>
            </a:extLst>
          </p:cNvPr>
          <p:cNvSpPr>
            <a:spLocks xmlns:a="http://schemas.openxmlformats.org/drawingml/2006/main" noGrp="1"/>
          </p:cNvSpPr>
          <p:nvPr/>
        </p:nvSpPr>
        <p:spPr>
          <a:xfrm xmlns:a="http://schemas.openxmlformats.org/drawingml/2006/main">
            <a:off x="2266950" y="4381500"/>
            <a:ext cx="9315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5000"/>
              </a:lnSpc>
              <a:buNone/>
              <a:defRPr sz="2550" b="1" lang="he-IL">
                <a:solidFill>
                  <a:srgbClr val="091827"/>
                </a:solidFill>
                <a:latin typeface="Arial"/>
                <a:ea typeface="Arial"/>
                <a:cs typeface="Arial"/>
              </a:defRPr>
            </a:pPr>
            <a:r>
              <a:rPr sz="2550" b="1" lang="he-IL">
                <a:solidFill>
                  <a:srgbClr val="091827"/>
                </a:solidFill>
                <a:latin typeface="Arial"/>
                <a:ea typeface="Arial"/>
                <a:cs typeface="Arial"/>
              </a:rPr>
              <a:t>התוצאה: סביבת מחקר אחת שמראה גם את המספר, גם את רמת האמון בו וגם את הדרך שבה נוצר.</a:t>
            </a:r>
          </a:p>
        </p:txBody>
      </p:sp>
      <p:sp>
        <p:nvSpPr>
          <p:cNvPr id="26" name="">
            <a:extLst xmlns:a="http://schemas.openxmlformats.org/drawingml/2006/main">
              <a:ext uri="{FF2B5EF4-FFF2-40B4-BE49-F238E27FC236}">
                <a16:creationId xmlns:a16="http://schemas.microsoft.com/office/drawing/2014/main" id="{BD3C8E30-C4EA-448D-B441-71DFC48AD3A6}"/>
              </a:ext>
            </a:extLst>
          </p:cNvPr>
          <p:cNvSpPr>
            <a:spLocks xmlns:a="http://schemas.openxmlformats.org/drawingml/2006/main" noGrp="1"/>
          </p:cNvSpPr>
          <p:nvPr/>
        </p:nvSpPr>
        <p:spPr>
          <a:xfrm xmlns:a="http://schemas.openxmlformats.org/drawingml/2006/main">
            <a:off x="4953000" y="5486400"/>
            <a:ext cx="662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EF7484"/>
                </a:solidFill>
                <a:latin typeface="Arial"/>
                <a:ea typeface="Arial"/>
                <a:cs typeface="Arial"/>
              </a:defRPr>
            </a:pPr>
            <a:r>
              <a:rPr sz="1500" b="0" lang="he-IL">
                <a:solidFill>
                  <a:srgbClr val="EF7484"/>
                </a:solidFill>
                <a:latin typeface="Arial"/>
                <a:ea typeface="Arial"/>
                <a:cs typeface="Arial"/>
              </a:rPr>
              <a:t>המערכת מספקת Decision Support בלבד. ההחלטה והביצוע נשארים בידי המשתמש.</a:t>
            </a:r>
          </a:p>
        </p:txBody>
      </p:sp>
    </p:spTree>
    <p:extLst>
      <p:ext uri="{BB962C8B-B14F-4D97-AF65-F5344CB8AC3E}">
        <p14:creationId xmlns:p14="http://schemas.microsoft.com/office/powerpoint/2010/main" val="1206813304"/>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DE2F5FA-5F99-4BC4-8C11-AB70D7D899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4ECA37-91EF-4334-8BFF-3A8948D3FC09}"/>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SYSTEM ARCHITECTURE</a:t>
            </a:r>
          </a:p>
        </p:txBody>
      </p:sp>
      <p:sp>
        <p:nvSpPr>
          <p:cNvPr id="3" name="">
            <a:extLst xmlns:a="http://schemas.openxmlformats.org/drawingml/2006/main">
              <a:ext uri="{FF2B5EF4-FFF2-40B4-BE49-F238E27FC236}">
                <a16:creationId xmlns:a16="http://schemas.microsoft.com/office/drawing/2014/main" id="{0105007C-1FBE-46B6-920C-287A2E5EE1B0}"/>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ארכיטקטורת המערכת</a:t>
            </a:r>
          </a:p>
        </p:txBody>
      </p:sp>
      <p:sp>
        <p:nvSpPr>
          <p:cNvPr id="4" name="">
            <a:extLst xmlns:a="http://schemas.openxmlformats.org/drawingml/2006/main">
              <a:ext uri="{FF2B5EF4-FFF2-40B4-BE49-F238E27FC236}">
                <a16:creationId xmlns:a16="http://schemas.microsoft.com/office/drawing/2014/main" id="{216DFFD3-9A5B-4303-95A1-EF831477B228}"/>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04</a:t>
            </a:r>
          </a:p>
        </p:txBody>
      </p:sp>
      <p:sp>
        <p:nvSpPr>
          <p:cNvPr id="5" name="">
            <a:extLst xmlns:a="http://schemas.openxmlformats.org/drawingml/2006/main">
              <a:ext uri="{FF2B5EF4-FFF2-40B4-BE49-F238E27FC236}">
                <a16:creationId xmlns:a16="http://schemas.microsoft.com/office/drawing/2014/main" id="{6E2379B5-4224-4ADA-803A-0A5FA346F974}"/>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8AD06637-98FA-45B9-92BB-1357BD6604CC}"/>
              </a:ext>
            </a:extLst>
          </p:cNvPr>
          <p:cNvSpPr>
            <a:spLocks xmlns:a="http://schemas.openxmlformats.org/drawingml/2006/main" noGrp="1"/>
          </p:cNvSpPr>
          <p:nvPr/>
        </p:nvSpPr>
        <p:spPr>
          <a:xfrm xmlns:a="http://schemas.openxmlformats.org/drawingml/2006/main">
            <a:off x="7086600" y="1009650"/>
            <a:ext cx="449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הזרימה מוצגת מימין לשמאל, מן המקור אל המשתמש</a:t>
            </a:r>
          </a:p>
        </p:txBody>
      </p:sp>
      <p:sp>
        <p:nvSpPr>
          <p:cNvPr id="7" name="">
            <a:extLst xmlns:a="http://schemas.openxmlformats.org/drawingml/2006/main">
              <a:ext uri="{FF2B5EF4-FFF2-40B4-BE49-F238E27FC236}">
                <a16:creationId xmlns:a16="http://schemas.microsoft.com/office/drawing/2014/main" id="{8E330562-C479-4DD5-8B00-7D4B3E01326F}"/>
              </a:ext>
            </a:extLst>
          </p:cNvPr>
          <p:cNvSpPr>
            <a:spLocks xmlns:a="http://schemas.openxmlformats.org/drawingml/2006/main" noGrp="1"/>
          </p:cNvSpPr>
          <p:nvPr/>
        </p:nvSpPr>
        <p:spPr>
          <a:xfrm xmlns:a="http://schemas.openxmlformats.org/drawingml/2006/main">
            <a:off x="9953625" y="2266950"/>
            <a:ext cx="1476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8" name="">
            <a:extLst xmlns:a="http://schemas.openxmlformats.org/drawingml/2006/main">
              <a:ext uri="{FF2B5EF4-FFF2-40B4-BE49-F238E27FC236}">
                <a16:creationId xmlns:a16="http://schemas.microsoft.com/office/drawing/2014/main" id="{76484C1D-8438-4A09-BC56-33EBA5E079FD}"/>
              </a:ext>
            </a:extLst>
          </p:cNvPr>
          <p:cNvSpPr>
            <a:spLocks xmlns:a="http://schemas.openxmlformats.org/drawingml/2006/main" noGrp="1"/>
          </p:cNvSpPr>
          <p:nvPr/>
        </p:nvSpPr>
        <p:spPr>
          <a:xfrm xmlns:a="http://schemas.openxmlformats.org/drawingml/2006/main">
            <a:off x="10048875" y="242887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 + SEC</a:t>
            </a:r>
          </a:p>
        </p:txBody>
      </p:sp>
      <p:sp>
        <p:nvSpPr>
          <p:cNvPr id="9" name="">
            <a:extLst xmlns:a="http://schemas.openxmlformats.org/drawingml/2006/main">
              <a:ext uri="{FF2B5EF4-FFF2-40B4-BE49-F238E27FC236}">
                <a16:creationId xmlns:a16="http://schemas.microsoft.com/office/drawing/2014/main" id="{8EA60A01-C102-4BA0-ACEE-03DDD7407F89}"/>
              </a:ext>
            </a:extLst>
          </p:cNvPr>
          <p:cNvSpPr>
            <a:spLocks xmlns:a="http://schemas.openxmlformats.org/drawingml/2006/main" noGrp="1"/>
          </p:cNvSpPr>
          <p:nvPr/>
        </p:nvSpPr>
        <p:spPr>
          <a:xfrm xmlns:a="http://schemas.openxmlformats.org/drawingml/2006/main">
            <a:off x="10029825" y="2743200"/>
            <a:ext cx="1323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מקורות</a:t>
            </a:r>
          </a:p>
        </p:txBody>
      </p:sp>
      <p:sp>
        <p:nvSpPr>
          <p:cNvPr id="10" name="">
            <a:extLst xmlns:a="http://schemas.openxmlformats.org/drawingml/2006/main">
              <a:ext uri="{FF2B5EF4-FFF2-40B4-BE49-F238E27FC236}">
                <a16:creationId xmlns:a16="http://schemas.microsoft.com/office/drawing/2014/main" id="{A1AC1DD0-7A76-4A11-81CF-11C560962743}"/>
              </a:ext>
            </a:extLst>
          </p:cNvPr>
          <p:cNvSpPr>
            <a:spLocks xmlns:a="http://schemas.openxmlformats.org/drawingml/2006/main" noGrp="1"/>
          </p:cNvSpPr>
          <p:nvPr/>
        </p:nvSpPr>
        <p:spPr>
          <a:xfrm xmlns:a="http://schemas.openxmlformats.org/drawingml/2006/main">
            <a:off x="809625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1" name="">
            <a:extLst xmlns:a="http://schemas.openxmlformats.org/drawingml/2006/main">
              <a:ext uri="{FF2B5EF4-FFF2-40B4-BE49-F238E27FC236}">
                <a16:creationId xmlns:a16="http://schemas.microsoft.com/office/drawing/2014/main" id="{CB87BFA3-FDF7-4F57-93A6-1DE9A70EBDFA}"/>
              </a:ext>
            </a:extLst>
          </p:cNvPr>
          <p:cNvSpPr>
            <a:spLocks xmlns:a="http://schemas.openxmlformats.org/drawingml/2006/main" noGrp="1"/>
          </p:cNvSpPr>
          <p:nvPr/>
        </p:nvSpPr>
        <p:spPr>
          <a:xfrm xmlns:a="http://schemas.openxmlformats.org/drawingml/2006/main">
            <a:off x="819150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Python</a:t>
            </a:r>
          </a:p>
        </p:txBody>
      </p:sp>
      <p:sp>
        <p:nvSpPr>
          <p:cNvPr id="12" name="">
            <a:extLst xmlns:a="http://schemas.openxmlformats.org/drawingml/2006/main">
              <a:ext uri="{FF2B5EF4-FFF2-40B4-BE49-F238E27FC236}">
                <a16:creationId xmlns:a16="http://schemas.microsoft.com/office/drawing/2014/main" id="{974DC509-A6AF-4075-9FEA-17E1CD94FA18}"/>
              </a:ext>
            </a:extLst>
          </p:cNvPr>
          <p:cNvSpPr>
            <a:spLocks xmlns:a="http://schemas.openxmlformats.org/drawingml/2006/main" noGrp="1"/>
          </p:cNvSpPr>
          <p:nvPr/>
        </p:nvSpPr>
        <p:spPr>
          <a:xfrm xmlns:a="http://schemas.openxmlformats.org/drawingml/2006/main">
            <a:off x="817245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קליטה וחוזה</a:t>
            </a:r>
          </a:p>
        </p:txBody>
      </p:sp>
      <p:sp>
        <p:nvSpPr>
          <p:cNvPr id="13" name="">
            <a:extLst xmlns:a="http://schemas.openxmlformats.org/drawingml/2006/main">
              <a:ext uri="{FF2B5EF4-FFF2-40B4-BE49-F238E27FC236}">
                <a16:creationId xmlns:a16="http://schemas.microsoft.com/office/drawing/2014/main" id="{4F601CDF-AA3E-41F8-8968-4333FF46E302}"/>
              </a:ext>
            </a:extLst>
          </p:cNvPr>
          <p:cNvSpPr>
            <a:spLocks xmlns:a="http://schemas.openxmlformats.org/drawingml/2006/main" noGrp="1"/>
          </p:cNvSpPr>
          <p:nvPr/>
        </p:nvSpPr>
        <p:spPr>
          <a:xfrm xmlns:a="http://schemas.openxmlformats.org/drawingml/2006/main">
            <a:off x="6238875"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4" name="">
            <a:extLst xmlns:a="http://schemas.openxmlformats.org/drawingml/2006/main">
              <a:ext uri="{FF2B5EF4-FFF2-40B4-BE49-F238E27FC236}">
                <a16:creationId xmlns:a16="http://schemas.microsoft.com/office/drawing/2014/main" id="{0833CF16-78F1-48D9-A8FF-C5A340116E98}"/>
              </a:ext>
            </a:extLst>
          </p:cNvPr>
          <p:cNvSpPr>
            <a:spLocks xmlns:a="http://schemas.openxmlformats.org/drawingml/2006/main" noGrp="1"/>
          </p:cNvSpPr>
          <p:nvPr/>
        </p:nvSpPr>
        <p:spPr>
          <a:xfrm xmlns:a="http://schemas.openxmlformats.org/drawingml/2006/main">
            <a:off x="6334125"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5" name="">
            <a:extLst xmlns:a="http://schemas.openxmlformats.org/drawingml/2006/main">
              <a:ext uri="{FF2B5EF4-FFF2-40B4-BE49-F238E27FC236}">
                <a16:creationId xmlns:a16="http://schemas.microsoft.com/office/drawing/2014/main" id="{06542DAF-66B8-4E59-B074-1B5AEC29AB65}"/>
              </a:ext>
            </a:extLst>
          </p:cNvPr>
          <p:cNvSpPr>
            <a:spLocks xmlns:a="http://schemas.openxmlformats.org/drawingml/2006/main" noGrp="1"/>
          </p:cNvSpPr>
          <p:nvPr/>
        </p:nvSpPr>
        <p:spPr>
          <a:xfrm xmlns:a="http://schemas.openxmlformats.org/drawingml/2006/main">
            <a:off x="6315075"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תעבורה ו־Replay</a:t>
            </a:r>
          </a:p>
        </p:txBody>
      </p:sp>
      <p:sp>
        <p:nvSpPr>
          <p:cNvPr id="16" name="">
            <a:extLst xmlns:a="http://schemas.openxmlformats.org/drawingml/2006/main">
              <a:ext uri="{FF2B5EF4-FFF2-40B4-BE49-F238E27FC236}">
                <a16:creationId xmlns:a16="http://schemas.microsoft.com/office/drawing/2014/main" id="{5DD080C0-B7C1-4549-886B-6BC1429B81F5}"/>
              </a:ext>
            </a:extLst>
          </p:cNvPr>
          <p:cNvSpPr>
            <a:spLocks xmlns:a="http://schemas.openxmlformats.org/drawingml/2006/main" noGrp="1"/>
          </p:cNvSpPr>
          <p:nvPr/>
        </p:nvSpPr>
        <p:spPr>
          <a:xfrm xmlns:a="http://schemas.openxmlformats.org/drawingml/2006/main">
            <a:off x="438150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7" name="">
            <a:extLst xmlns:a="http://schemas.openxmlformats.org/drawingml/2006/main">
              <a:ext uri="{FF2B5EF4-FFF2-40B4-BE49-F238E27FC236}">
                <a16:creationId xmlns:a16="http://schemas.microsoft.com/office/drawing/2014/main" id="{D0F29084-FAFF-4444-AA98-2316942F1C7D}"/>
              </a:ext>
            </a:extLst>
          </p:cNvPr>
          <p:cNvSpPr>
            <a:spLocks xmlns:a="http://schemas.openxmlformats.org/drawingml/2006/main" noGrp="1"/>
          </p:cNvSpPr>
          <p:nvPr/>
        </p:nvSpPr>
        <p:spPr>
          <a:xfrm xmlns:a="http://schemas.openxmlformats.org/drawingml/2006/main">
            <a:off x="447675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a:t>
            </a:r>
          </a:p>
        </p:txBody>
      </p:sp>
      <p:sp>
        <p:nvSpPr>
          <p:cNvPr id="18" name="">
            <a:extLst xmlns:a="http://schemas.openxmlformats.org/drawingml/2006/main">
              <a:ext uri="{FF2B5EF4-FFF2-40B4-BE49-F238E27FC236}">
                <a16:creationId xmlns:a16="http://schemas.microsoft.com/office/drawing/2014/main" id="{E9B326A2-A951-4F15-BD58-DAC081DDC9E0}"/>
              </a:ext>
            </a:extLst>
          </p:cNvPr>
          <p:cNvSpPr>
            <a:spLocks xmlns:a="http://schemas.openxmlformats.org/drawingml/2006/main" noGrp="1"/>
          </p:cNvSpPr>
          <p:nvPr/>
        </p:nvSpPr>
        <p:spPr>
          <a:xfrm xmlns:a="http://schemas.openxmlformats.org/drawingml/2006/main">
            <a:off x="445770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9AB1C5"/>
                </a:solidFill>
                <a:latin typeface="Arial"/>
                <a:ea typeface="Arial"/>
                <a:cs typeface="Arial"/>
              </a:defRPr>
            </a:pPr>
            <a:r>
              <a:rPr sz="1125" b="0">
                <a:solidFill>
                  <a:srgbClr val="9AB1C5"/>
                </a:solidFill>
                <a:latin typeface="Arial"/>
                <a:ea typeface="Arial"/>
                <a:cs typeface="Arial"/>
              </a:rPr>
              <a:t>Streaming + Batch</a:t>
            </a:r>
          </a:p>
        </p:txBody>
      </p:sp>
      <p:sp>
        <p:nvSpPr>
          <p:cNvPr id="19" name="">
            <a:extLst xmlns:a="http://schemas.openxmlformats.org/drawingml/2006/main">
              <a:ext uri="{FF2B5EF4-FFF2-40B4-BE49-F238E27FC236}">
                <a16:creationId xmlns:a16="http://schemas.microsoft.com/office/drawing/2014/main" id="{7385B378-0B8D-4F3B-A061-C150F319BC1F}"/>
              </a:ext>
            </a:extLst>
          </p:cNvPr>
          <p:cNvSpPr>
            <a:spLocks xmlns:a="http://schemas.openxmlformats.org/drawingml/2006/main" noGrp="1"/>
          </p:cNvSpPr>
          <p:nvPr/>
        </p:nvSpPr>
        <p:spPr>
          <a:xfrm xmlns:a="http://schemas.openxmlformats.org/drawingml/2006/main">
            <a:off x="2428875" y="2266950"/>
            <a:ext cx="15240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20" name="">
            <a:extLst xmlns:a="http://schemas.openxmlformats.org/drawingml/2006/main">
              <a:ext uri="{FF2B5EF4-FFF2-40B4-BE49-F238E27FC236}">
                <a16:creationId xmlns:a16="http://schemas.microsoft.com/office/drawing/2014/main" id="{6FC23DA1-47BA-4483-842E-E4DECB675E96}"/>
              </a:ext>
            </a:extLst>
          </p:cNvPr>
          <p:cNvSpPr>
            <a:spLocks xmlns:a="http://schemas.openxmlformats.org/drawingml/2006/main" noGrp="1"/>
          </p:cNvSpPr>
          <p:nvPr/>
        </p:nvSpPr>
        <p:spPr>
          <a:xfrm xmlns:a="http://schemas.openxmlformats.org/drawingml/2006/main">
            <a:off x="2524125" y="24288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MariaDB Gold</a:t>
            </a:r>
          </a:p>
        </p:txBody>
      </p:sp>
      <p:sp>
        <p:nvSpPr>
          <p:cNvPr id="21" name="">
            <a:extLst xmlns:a="http://schemas.openxmlformats.org/drawingml/2006/main">
              <a:ext uri="{FF2B5EF4-FFF2-40B4-BE49-F238E27FC236}">
                <a16:creationId xmlns:a16="http://schemas.microsoft.com/office/drawing/2014/main" id="{CE440917-0513-469D-9D36-2A6F06994973}"/>
              </a:ext>
            </a:extLst>
          </p:cNvPr>
          <p:cNvSpPr>
            <a:spLocks xmlns:a="http://schemas.openxmlformats.org/drawingml/2006/main" noGrp="1"/>
          </p:cNvSpPr>
          <p:nvPr/>
        </p:nvSpPr>
        <p:spPr>
          <a:xfrm xmlns:a="http://schemas.openxmlformats.org/drawingml/2006/main">
            <a:off x="2505075" y="2743200"/>
            <a:ext cx="137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נתון מוכן ליישום</a:t>
            </a:r>
          </a:p>
        </p:txBody>
      </p:sp>
      <p:sp>
        <p:nvSpPr>
          <p:cNvPr id="22" name="">
            <a:extLst xmlns:a="http://schemas.openxmlformats.org/drawingml/2006/main">
              <a:ext uri="{FF2B5EF4-FFF2-40B4-BE49-F238E27FC236}">
                <a16:creationId xmlns:a16="http://schemas.microsoft.com/office/drawing/2014/main" id="{7DCDC2F4-1EAD-4967-876D-2B5F05976A46}"/>
              </a:ext>
            </a:extLst>
          </p:cNvPr>
          <p:cNvSpPr>
            <a:spLocks xmlns:a="http://schemas.openxmlformats.org/drawingml/2006/main" noGrp="1"/>
          </p:cNvSpPr>
          <p:nvPr/>
        </p:nvSpPr>
        <p:spPr>
          <a:xfrm xmlns:a="http://schemas.openxmlformats.org/drawingml/2006/main">
            <a:off x="57150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23" name="">
            <a:extLst xmlns:a="http://schemas.openxmlformats.org/drawingml/2006/main">
              <a:ext uri="{FF2B5EF4-FFF2-40B4-BE49-F238E27FC236}">
                <a16:creationId xmlns:a16="http://schemas.microsoft.com/office/drawing/2014/main" id="{A0639C0A-F5EC-424A-AEB4-17F397DC3F34}"/>
              </a:ext>
            </a:extLst>
          </p:cNvPr>
          <p:cNvSpPr>
            <a:spLocks xmlns:a="http://schemas.openxmlformats.org/drawingml/2006/main" noGrp="1"/>
          </p:cNvSpPr>
          <p:nvPr/>
        </p:nvSpPr>
        <p:spPr>
          <a:xfrm xmlns:a="http://schemas.openxmlformats.org/drawingml/2006/main">
            <a:off x="66675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API + Web</a:t>
            </a:r>
          </a:p>
        </p:txBody>
      </p:sp>
      <p:sp>
        <p:nvSpPr>
          <p:cNvPr id="24" name="">
            <a:extLst xmlns:a="http://schemas.openxmlformats.org/drawingml/2006/main">
              <a:ext uri="{FF2B5EF4-FFF2-40B4-BE49-F238E27FC236}">
                <a16:creationId xmlns:a16="http://schemas.microsoft.com/office/drawing/2014/main" id="{268DCC95-46FA-4ED3-9356-02397E295698}"/>
              </a:ext>
            </a:extLst>
          </p:cNvPr>
          <p:cNvSpPr>
            <a:spLocks xmlns:a="http://schemas.openxmlformats.org/drawingml/2006/main" noGrp="1"/>
          </p:cNvSpPr>
          <p:nvPr/>
        </p:nvSpPr>
        <p:spPr>
          <a:xfrm xmlns:a="http://schemas.openxmlformats.org/drawingml/2006/main">
            <a:off x="64770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המוצר למשתמש</a:t>
            </a:r>
          </a:p>
        </p:txBody>
      </p:sp>
      <p:cxnSp>
        <p:nvCxnSpPr>
          <p:cNvPr id="66" name=""/>
          <p:cNvCxnSpPr>
            <a:stCxn xmlns:a="http://schemas.openxmlformats.org/drawingml/2006/main" id="7" idx="1"/>
            <a:endCxn xmlns:a="http://schemas.openxmlformats.org/drawingml/2006/main" id="10" idx="3"/>
          </p:cNvCxnSpPr>
          <p:nvPr/>
        </p:nvCxnSpPr>
        <p:spPr>
          <a:xfrm xmlns:a="http://schemas.openxmlformats.org/drawingml/2006/main" flipH="1">
            <a:off x="9525000"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0" idx="1"/>
            <a:endCxn xmlns:a="http://schemas.openxmlformats.org/drawingml/2006/main" id="13" idx="3"/>
          </p:cNvCxnSpPr>
          <p:nvPr/>
        </p:nvCxnSpPr>
        <p:spPr>
          <a:xfrm xmlns:a="http://schemas.openxmlformats.org/drawingml/2006/main" flipH="1">
            <a:off x="7667625"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3" idx="1"/>
            <a:endCxn xmlns:a="http://schemas.openxmlformats.org/drawingml/2006/main" id="16" idx="3"/>
          </p:cNvCxnSpPr>
          <p:nvPr/>
        </p:nvCxnSpPr>
        <p:spPr>
          <a:xfrm xmlns:a="http://schemas.openxmlformats.org/drawingml/2006/main" flipH="1">
            <a:off x="5810250" y="2686050"/>
            <a:ext cx="42862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69" name=""/>
          <p:cNvCxnSpPr>
            <a:stCxn xmlns:a="http://schemas.openxmlformats.org/drawingml/2006/main" id="16" idx="1"/>
            <a:endCxn xmlns:a="http://schemas.openxmlformats.org/drawingml/2006/main" id="19" idx="3"/>
          </p:cNvCxnSpPr>
          <p:nvPr/>
        </p:nvCxnSpPr>
        <p:spPr>
          <a:xfrm xmlns:a="http://schemas.openxmlformats.org/drawingml/2006/main" flipH="1">
            <a:off x="3952875" y="2686050"/>
            <a:ext cx="428625" cy="0"/>
          </a:xfrm>
          <a:prstGeom xmlns:a="http://schemas.openxmlformats.org/drawingml/2006/main" prst="straightConnector1">
            <a:avLst/>
          </a:prstGeom>
          <a:ln xmlns:a="http://schemas.openxmlformats.org/drawingml/2006/main" w="19050">
            <a:solidFill>
              <a:srgbClr val="F4B94F"/>
            </a:solidFill>
            <a:prstDash val="solid"/>
            <a:tailEnd type="triangle" w="sm" len="sm"/>
          </a:ln>
        </p:spPr>
      </p:cxnSp>
      <p:cxnSp>
        <p:nvCxnSpPr>
          <p:cNvPr id="70" name=""/>
          <p:cNvCxnSpPr>
            <a:stCxn xmlns:a="http://schemas.openxmlformats.org/drawingml/2006/main" id="19" idx="1"/>
            <a:endCxn xmlns:a="http://schemas.openxmlformats.org/drawingml/2006/main" id="22" idx="3"/>
          </p:cNvCxnSpPr>
          <p:nvPr/>
        </p:nvCxnSpPr>
        <p:spPr>
          <a:xfrm xmlns:a="http://schemas.openxmlformats.org/drawingml/2006/main" flipH="1">
            <a:off x="2000250"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30" name="">
            <a:extLst xmlns:a="http://schemas.openxmlformats.org/drawingml/2006/main">
              <a:ext uri="{FF2B5EF4-FFF2-40B4-BE49-F238E27FC236}">
                <a16:creationId xmlns:a16="http://schemas.microsoft.com/office/drawing/2014/main" id="{6E135BA1-7646-4214-B41B-589E08D6923C}"/>
              </a:ext>
            </a:extLst>
          </p:cNvPr>
          <p:cNvSpPr>
            <a:spLocks xmlns:a="http://schemas.openxmlformats.org/drawingml/2006/main" noGrp="1"/>
          </p:cNvSpPr>
          <p:nvPr/>
        </p:nvSpPr>
        <p:spPr>
          <a:xfrm xmlns:a="http://schemas.openxmlformats.org/drawingml/2006/main">
            <a:off x="6191250" y="4095750"/>
            <a:ext cx="1809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31" name="">
            <a:extLst xmlns:a="http://schemas.openxmlformats.org/drawingml/2006/main">
              <a:ext uri="{FF2B5EF4-FFF2-40B4-BE49-F238E27FC236}">
                <a16:creationId xmlns:a16="http://schemas.microsoft.com/office/drawing/2014/main" id="{87CE3F52-DC65-416F-A330-F85D6B6053EC}"/>
              </a:ext>
            </a:extLst>
          </p:cNvPr>
          <p:cNvSpPr>
            <a:spLocks xmlns:a="http://schemas.openxmlformats.org/drawingml/2006/main" noGrp="1"/>
          </p:cNvSpPr>
          <p:nvPr/>
        </p:nvSpPr>
        <p:spPr>
          <a:xfrm xmlns:a="http://schemas.openxmlformats.org/drawingml/2006/main">
            <a:off x="6286500" y="42576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Bronze</a:t>
            </a:r>
          </a:p>
        </p:txBody>
      </p:sp>
      <p:sp>
        <p:nvSpPr>
          <p:cNvPr id="32" name="">
            <a:extLst xmlns:a="http://schemas.openxmlformats.org/drawingml/2006/main">
              <a:ext uri="{FF2B5EF4-FFF2-40B4-BE49-F238E27FC236}">
                <a16:creationId xmlns:a16="http://schemas.microsoft.com/office/drawing/2014/main" id="{F35DB1FB-25BD-4AF1-BE5E-F507E5FF2998}"/>
              </a:ext>
            </a:extLst>
          </p:cNvPr>
          <p:cNvSpPr>
            <a:spLocks xmlns:a="http://schemas.openxmlformats.org/drawingml/2006/main" noGrp="1"/>
          </p:cNvSpPr>
          <p:nvPr/>
        </p:nvSpPr>
        <p:spPr>
          <a:xfrm xmlns:a="http://schemas.openxmlformats.org/drawingml/2006/main">
            <a:off x="6267450" y="45720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 גולמי ובלתי משתנה</a:t>
            </a:r>
          </a:p>
        </p:txBody>
      </p:sp>
      <p:sp>
        <p:nvSpPr>
          <p:cNvPr id="33" name="">
            <a:extLst xmlns:a="http://schemas.openxmlformats.org/drawingml/2006/main">
              <a:ext uri="{FF2B5EF4-FFF2-40B4-BE49-F238E27FC236}">
                <a16:creationId xmlns:a16="http://schemas.microsoft.com/office/drawing/2014/main" id="{909CF56D-A2D3-48C2-A8C4-C834323097DF}"/>
              </a:ext>
            </a:extLst>
          </p:cNvPr>
          <p:cNvSpPr>
            <a:spLocks xmlns:a="http://schemas.openxmlformats.org/drawingml/2006/main" noGrp="1"/>
          </p:cNvSpPr>
          <p:nvPr/>
        </p:nvSpPr>
        <p:spPr>
          <a:xfrm xmlns:a="http://schemas.openxmlformats.org/drawingml/2006/main">
            <a:off x="4048125" y="4095750"/>
            <a:ext cx="1809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008E8D79-0936-4D5C-9FA3-C360D899859C}"/>
              </a:ext>
            </a:extLst>
          </p:cNvPr>
          <p:cNvSpPr>
            <a:spLocks xmlns:a="http://schemas.openxmlformats.org/drawingml/2006/main" noGrp="1"/>
          </p:cNvSpPr>
          <p:nvPr/>
        </p:nvSpPr>
        <p:spPr>
          <a:xfrm xmlns:a="http://schemas.openxmlformats.org/drawingml/2006/main">
            <a:off x="4143375" y="42576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Silver</a:t>
            </a:r>
          </a:p>
        </p:txBody>
      </p:sp>
      <p:sp>
        <p:nvSpPr>
          <p:cNvPr id="35" name="">
            <a:extLst xmlns:a="http://schemas.openxmlformats.org/drawingml/2006/main">
              <a:ext uri="{FF2B5EF4-FFF2-40B4-BE49-F238E27FC236}">
                <a16:creationId xmlns:a16="http://schemas.microsoft.com/office/drawing/2014/main" id="{D25A7F7F-A053-4C2E-81E1-E0A0271A3554}"/>
              </a:ext>
            </a:extLst>
          </p:cNvPr>
          <p:cNvSpPr>
            <a:spLocks xmlns:a="http://schemas.openxmlformats.org/drawingml/2006/main" noGrp="1"/>
          </p:cNvSpPr>
          <p:nvPr/>
        </p:nvSpPr>
        <p:spPr>
          <a:xfrm xmlns:a="http://schemas.openxmlformats.org/drawingml/2006/main">
            <a:off x="4124325" y="45720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Parquet נקי וקנוני</a:t>
            </a:r>
          </a:p>
        </p:txBody>
      </p:sp>
      <p:cxnSp>
        <p:nvCxnSpPr>
          <p:cNvPr id="77" name=""/>
          <p:cNvCxnSpPr>
            <a:stCxn xmlns:a="http://schemas.openxmlformats.org/drawingml/2006/main" id="13" idx="2"/>
            <a:endCxn xmlns:a="http://schemas.openxmlformats.org/drawingml/2006/main" id="30" idx="0"/>
          </p:cNvCxnSpPr>
          <p:nvPr/>
        </p:nvCxnSpPr>
        <p:spPr>
          <a:xfrm xmlns:a="http://schemas.openxmlformats.org/drawingml/2006/main">
            <a:off x="6953250" y="3105150"/>
            <a:ext cx="142875" cy="990600"/>
          </a:xfrm>
          <a:prstGeom xmlns:a="http://schemas.openxmlformats.org/drawingml/2006/main" prst="bentConnector4">
            <a:avLst>
              <a:gd name="adj1" fmla="val 0"/>
              <a:gd name="adj2" fmla="val 50000"/>
            </a:avLst>
          </a:prstGeom>
          <a:ln xmlns:a="http://schemas.openxmlformats.org/drawingml/2006/main" w="19050">
            <a:solidFill>
              <a:srgbClr val="35D4B5"/>
            </a:solidFill>
            <a:prstDash val="dash"/>
            <a:tailEnd type="triangle" w="sm" len="sm"/>
          </a:ln>
        </p:spPr>
      </p:cxnSp>
      <p:cxnSp>
        <p:nvCxnSpPr>
          <p:cNvPr id="78" name=""/>
          <p:cNvCxnSpPr>
            <a:stCxn xmlns:a="http://schemas.openxmlformats.org/drawingml/2006/main" id="30" idx="1"/>
            <a:endCxn xmlns:a="http://schemas.openxmlformats.org/drawingml/2006/main" id="33" idx="3"/>
          </p:cNvCxnSpPr>
          <p:nvPr/>
        </p:nvCxnSpPr>
        <p:spPr>
          <a:xfrm xmlns:a="http://schemas.openxmlformats.org/drawingml/2006/main" flipH="1">
            <a:off x="5857875" y="4514850"/>
            <a:ext cx="33337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79" name=""/>
          <p:cNvCxnSpPr>
            <a:stCxn xmlns:a="http://schemas.openxmlformats.org/drawingml/2006/main" id="33" idx="0"/>
            <a:endCxn xmlns:a="http://schemas.openxmlformats.org/drawingml/2006/main" id="19" idx="2"/>
          </p:cNvCxnSpPr>
          <p:nvPr/>
        </p:nvCxnSpPr>
        <p:spPr>
          <a:xfrm xmlns:a="http://schemas.openxmlformats.org/drawingml/2006/main" flipH="1" flipV="1">
            <a:off x="3190875" y="3105150"/>
            <a:ext cx="1762125" cy="990600"/>
          </a:xfrm>
          <a:prstGeom xmlns:a="http://schemas.openxmlformats.org/drawingml/2006/main" prst="bentConnector4">
            <a:avLst>
              <a:gd name="adj1" fmla="val 0"/>
              <a:gd name="adj2" fmla="val 50000"/>
            </a:avLst>
          </a:prstGeom>
          <a:ln xmlns:a="http://schemas.openxmlformats.org/drawingml/2006/main" w="19050">
            <a:solidFill>
              <a:srgbClr val="F4B94F"/>
            </a:solidFill>
            <a:prstDash val="dash"/>
            <a:tailEnd type="triangle" w="sm" len="sm"/>
          </a:ln>
        </p:spPr>
      </p:cxnSp>
      <p:sp>
        <p:nvSpPr>
          <p:cNvPr id="39" name="">
            <a:extLst xmlns:a="http://schemas.openxmlformats.org/drawingml/2006/main">
              <a:ext uri="{FF2B5EF4-FFF2-40B4-BE49-F238E27FC236}">
                <a16:creationId xmlns:a16="http://schemas.microsoft.com/office/drawing/2014/main" id="{7C5D5628-F75F-4408-905E-C15A9FF72080}"/>
              </a:ext>
            </a:extLst>
          </p:cNvPr>
          <p:cNvSpPr>
            <a:spLocks xmlns:a="http://schemas.openxmlformats.org/drawingml/2006/main" noGrp="1"/>
          </p:cNvSpPr>
          <p:nvPr/>
        </p:nvSpPr>
        <p:spPr>
          <a:xfrm xmlns:a="http://schemas.openxmlformats.org/drawingml/2006/main">
            <a:off x="2114550" y="42672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4B94F"/>
                </a:solidFill>
                <a:latin typeface="Cascadia Mono"/>
                <a:ea typeface="Cascadia Mono"/>
                <a:cs typeface="Cascadia Mono"/>
              </a:defRPr>
            </a:pPr>
            <a:r>
              <a:rPr sz="1500" b="1">
                <a:solidFill>
                  <a:srgbClr val="F4B94F"/>
                </a:solidFill>
                <a:latin typeface="Cascadia Mono"/>
                <a:ea typeface="Cascadia Mono"/>
                <a:cs typeface="Cascadia Mono"/>
              </a:rPr>
              <a:t>Airflow</a:t>
            </a:r>
          </a:p>
        </p:txBody>
      </p:sp>
      <p:sp>
        <p:nvSpPr>
          <p:cNvPr id="40" name="">
            <a:extLst xmlns:a="http://schemas.openxmlformats.org/drawingml/2006/main">
              <a:ext uri="{FF2B5EF4-FFF2-40B4-BE49-F238E27FC236}">
                <a16:creationId xmlns:a16="http://schemas.microsoft.com/office/drawing/2014/main" id="{49AC33D6-2550-4F67-9BE0-27A1B7D191F7}"/>
              </a:ext>
            </a:extLst>
          </p:cNvPr>
          <p:cNvSpPr>
            <a:spLocks xmlns:a="http://schemas.openxmlformats.org/drawingml/2006/main" noGrp="1"/>
          </p:cNvSpPr>
          <p:nvPr/>
        </p:nvSpPr>
        <p:spPr>
          <a:xfrm xmlns:a="http://schemas.openxmlformats.org/drawingml/2006/main">
            <a:off x="1524000" y="46291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5B6B78"/>
                </a:solidFill>
                <a:latin typeface="Arial"/>
                <a:ea typeface="Arial"/>
                <a:cs typeface="Arial"/>
              </a:defRPr>
            </a:pPr>
            <a:r>
              <a:rPr sz="1350" b="0" lang="he-IL">
                <a:solidFill>
                  <a:srgbClr val="5B6B78"/>
                </a:solidFill>
                <a:latin typeface="Arial"/>
                <a:ea typeface="Arial"/>
                <a:cs typeface="Arial"/>
              </a:rPr>
              <a:t>מתזמן עבודות תחומות בלבד</a:t>
            </a:r>
          </a:p>
        </p:txBody>
      </p:sp>
      <p:sp>
        <p:nvSpPr>
          <p:cNvPr id="41" name="">
            <a:extLst xmlns:a="http://schemas.openxmlformats.org/drawingml/2006/main">
              <a:ext uri="{FF2B5EF4-FFF2-40B4-BE49-F238E27FC236}">
                <a16:creationId xmlns:a16="http://schemas.microsoft.com/office/drawing/2014/main" id="{5E28A052-57A8-40C2-9A1B-7D3673956336}"/>
              </a:ext>
            </a:extLst>
          </p:cNvPr>
          <p:cNvSpPr>
            <a:spLocks xmlns:a="http://schemas.openxmlformats.org/drawingml/2006/main" noGrp="1"/>
          </p:cNvSpPr>
          <p:nvPr/>
        </p:nvSpPr>
        <p:spPr>
          <a:xfrm xmlns:a="http://schemas.openxmlformats.org/drawingml/2006/main">
            <a:off x="590550" y="33528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1" lang="he-IL">
                <a:solidFill>
                  <a:srgbClr val="117C70"/>
                </a:solidFill>
                <a:latin typeface="Arial"/>
                <a:ea typeface="Arial"/>
                <a:cs typeface="Arial"/>
              </a:defRPr>
            </a:pPr>
            <a:r>
              <a:rPr sz="1425" b="1" lang="he-IL">
                <a:solidFill>
                  <a:srgbClr val="117C70"/>
                </a:solidFill>
                <a:latin typeface="Arial"/>
                <a:ea typeface="Arial"/>
                <a:cs typeface="Arial"/>
              </a:rPr>
              <a:t>הדפדפן מדבר רק עם ה־API</a:t>
            </a:r>
          </a:p>
        </p:txBody>
      </p:sp>
    </p:spTree>
    <p:extLst>
      <p:ext uri="{BB962C8B-B14F-4D97-AF65-F5344CB8AC3E}">
        <p14:creationId xmlns:p14="http://schemas.microsoft.com/office/powerpoint/2010/main" val="73656604"/>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BBB6A5A-37C4-44D9-8C38-5CEEEB42B4E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E8F8A2-3F24-49AF-8DF9-09943F51792B}"/>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LIVE VS CERTIFIED</a:t>
            </a:r>
          </a:p>
        </p:txBody>
      </p:sp>
      <p:sp>
        <p:nvSpPr>
          <p:cNvPr id="3" name="">
            <a:extLst xmlns:a="http://schemas.openxmlformats.org/drawingml/2006/main">
              <a:ext uri="{FF2B5EF4-FFF2-40B4-BE49-F238E27FC236}">
                <a16:creationId xmlns:a16="http://schemas.microsoft.com/office/drawing/2014/main" id="{702329DB-CCAD-428C-BEA9-FB17A9551840}"/>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שני מסלולים, שתי הבטחות</a:t>
            </a:r>
          </a:p>
        </p:txBody>
      </p:sp>
      <p:sp>
        <p:nvSpPr>
          <p:cNvPr id="4" name="">
            <a:extLst xmlns:a="http://schemas.openxmlformats.org/drawingml/2006/main">
              <a:ext uri="{FF2B5EF4-FFF2-40B4-BE49-F238E27FC236}">
                <a16:creationId xmlns:a16="http://schemas.microsoft.com/office/drawing/2014/main" id="{0811AAEA-DADD-4622-AA5B-98EFCC28401C}"/>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05</a:t>
            </a:r>
          </a:p>
        </p:txBody>
      </p:sp>
      <p:sp>
        <p:nvSpPr>
          <p:cNvPr id="5" name="">
            <a:extLst xmlns:a="http://schemas.openxmlformats.org/drawingml/2006/main">
              <a:ext uri="{FF2B5EF4-FFF2-40B4-BE49-F238E27FC236}">
                <a16:creationId xmlns:a16="http://schemas.microsoft.com/office/drawing/2014/main" id="{CEC8FEC2-A1DE-4B91-85FC-F992BB9D14C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3DD01F25-EE8A-4798-977C-6029ACBFE5ED}"/>
              </a:ext>
            </a:extLst>
          </p:cNvPr>
          <p:cNvSpPr>
            <a:spLocks xmlns:a="http://schemas.openxmlformats.org/drawingml/2006/main" noGrp="1"/>
          </p:cNvSpPr>
          <p:nvPr/>
        </p:nvSpPr>
        <p:spPr>
          <a:xfrm xmlns:a="http://schemas.openxmlformats.org/drawingml/2006/main">
            <a:off x="8953500" y="13525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117C70"/>
                </a:solidFill>
                <a:latin typeface="Arial"/>
                <a:ea typeface="Arial"/>
                <a:cs typeface="Arial"/>
              </a:defRPr>
            </a:pPr>
            <a:r>
              <a:rPr sz="2250" b="1" lang="he-IL">
                <a:solidFill>
                  <a:srgbClr val="117C70"/>
                </a:solidFill>
                <a:latin typeface="Arial"/>
                <a:ea typeface="Arial"/>
                <a:cs typeface="Arial"/>
              </a:rPr>
              <a:t>מהיר עכשיו</a:t>
            </a:r>
          </a:p>
        </p:txBody>
      </p:sp>
      <p:sp>
        <p:nvSpPr>
          <p:cNvPr id="7" name="">
            <a:extLst xmlns:a="http://schemas.openxmlformats.org/drawingml/2006/main">
              <a:ext uri="{FF2B5EF4-FFF2-40B4-BE49-F238E27FC236}">
                <a16:creationId xmlns:a16="http://schemas.microsoft.com/office/drawing/2014/main" id="{99D6A6F5-5789-4C5B-9AB5-42AFFDAC04E8}"/>
              </a:ext>
            </a:extLst>
          </p:cNvPr>
          <p:cNvSpPr>
            <a:spLocks xmlns:a="http://schemas.openxmlformats.org/drawingml/2006/main" noGrp="1"/>
          </p:cNvSpPr>
          <p:nvPr/>
        </p:nvSpPr>
        <p:spPr>
          <a:xfrm xmlns:a="http://schemas.openxmlformats.org/drawingml/2006/main">
            <a:off x="6286500" y="1771650"/>
            <a:ext cx="527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5B6B78"/>
                </a:solidFill>
                <a:latin typeface="Arial"/>
                <a:ea typeface="Arial"/>
                <a:cs typeface="Arial"/>
              </a:defRPr>
            </a:pPr>
            <a:r>
              <a:rPr sz="1650" b="0" lang="he-IL">
                <a:solidFill>
                  <a:srgbClr val="5B6B78"/>
                </a:solidFill>
                <a:latin typeface="Arial"/>
                <a:ea typeface="Arial"/>
                <a:cs typeface="Arial"/>
              </a:rPr>
              <a:t>המסלול החי מספק תמונת מצב בזמן שהשוק פעיל</a:t>
            </a:r>
          </a:p>
        </p:txBody>
      </p:sp>
      <p:sp>
        <p:nvSpPr>
          <p:cNvPr id="8" name="">
            <a:extLst xmlns:a="http://schemas.openxmlformats.org/drawingml/2006/main">
              <a:ext uri="{FF2B5EF4-FFF2-40B4-BE49-F238E27FC236}">
                <a16:creationId xmlns:a16="http://schemas.microsoft.com/office/drawing/2014/main" id="{6549D07E-A57D-4FC8-AEC6-F2D93E0F9E6D}"/>
              </a:ext>
            </a:extLst>
          </p:cNvPr>
          <p:cNvSpPr>
            <a:spLocks xmlns:a="http://schemas.openxmlformats.org/drawingml/2006/main" noGrp="1"/>
          </p:cNvSpPr>
          <p:nvPr/>
        </p:nvSpPr>
        <p:spPr>
          <a:xfrm xmlns:a="http://schemas.openxmlformats.org/drawingml/2006/main">
            <a:off x="685800" y="2247900"/>
            <a:ext cx="223837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E3496191-5CDD-4436-A1A1-6276481DE3F9}"/>
              </a:ext>
            </a:extLst>
          </p:cNvPr>
          <p:cNvSpPr>
            <a:spLocks xmlns:a="http://schemas.openxmlformats.org/drawingml/2006/main" noGrp="1"/>
          </p:cNvSpPr>
          <p:nvPr/>
        </p:nvSpPr>
        <p:spPr>
          <a:xfrm xmlns:a="http://schemas.openxmlformats.org/drawingml/2006/main">
            <a:off x="78105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Gold PROVISIONAL</a:t>
            </a:r>
          </a:p>
        </p:txBody>
      </p:sp>
      <p:sp>
        <p:nvSpPr>
          <p:cNvPr id="10" name="">
            <a:extLst xmlns:a="http://schemas.openxmlformats.org/drawingml/2006/main">
              <a:ext uri="{FF2B5EF4-FFF2-40B4-BE49-F238E27FC236}">
                <a16:creationId xmlns:a16="http://schemas.microsoft.com/office/drawing/2014/main" id="{C95F1CF1-C26D-4BA4-ABCB-D15D7064CFD1}"/>
              </a:ext>
            </a:extLst>
          </p:cNvPr>
          <p:cNvSpPr>
            <a:spLocks xmlns:a="http://schemas.openxmlformats.org/drawingml/2006/main" noGrp="1"/>
          </p:cNvSpPr>
          <p:nvPr/>
        </p:nvSpPr>
        <p:spPr>
          <a:xfrm xmlns:a="http://schemas.openxmlformats.org/drawingml/2006/main">
            <a:off x="76200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5B6B78"/>
                </a:solidFill>
                <a:latin typeface="Arial"/>
                <a:ea typeface="Arial"/>
                <a:cs typeface="Arial"/>
              </a:defRPr>
            </a:pPr>
            <a:r>
              <a:rPr sz="1125" b="0" lang="he-IL">
                <a:solidFill>
                  <a:srgbClr val="5B6B78"/>
                </a:solidFill>
                <a:latin typeface="Arial"/>
                <a:ea typeface="Arial"/>
                <a:cs typeface="Arial"/>
              </a:rPr>
              <a:t>מוכן לתצוגה</a:t>
            </a:r>
          </a:p>
        </p:txBody>
      </p:sp>
      <p:sp>
        <p:nvSpPr>
          <p:cNvPr id="11" name="">
            <a:extLst xmlns:a="http://schemas.openxmlformats.org/drawingml/2006/main">
              <a:ext uri="{FF2B5EF4-FFF2-40B4-BE49-F238E27FC236}">
                <a16:creationId xmlns:a16="http://schemas.microsoft.com/office/drawing/2014/main" id="{550E5449-1C2A-44FC-AB58-79245852AC23}"/>
              </a:ext>
            </a:extLst>
          </p:cNvPr>
          <p:cNvSpPr>
            <a:spLocks xmlns:a="http://schemas.openxmlformats.org/drawingml/2006/main" noGrp="1"/>
          </p:cNvSpPr>
          <p:nvPr/>
        </p:nvSpPr>
        <p:spPr>
          <a:xfrm xmlns:a="http://schemas.openxmlformats.org/drawingml/2006/main">
            <a:off x="3419475" y="2247900"/>
            <a:ext cx="223837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0DC085E8-A664-404E-89CB-A2B33A2FFAE4}"/>
              </a:ext>
            </a:extLst>
          </p:cNvPr>
          <p:cNvSpPr>
            <a:spLocks xmlns:a="http://schemas.openxmlformats.org/drawingml/2006/main" noGrp="1"/>
          </p:cNvSpPr>
          <p:nvPr/>
        </p:nvSpPr>
        <p:spPr>
          <a:xfrm xmlns:a="http://schemas.openxmlformats.org/drawingml/2006/main">
            <a:off x="351472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Spark Streaming</a:t>
            </a:r>
          </a:p>
        </p:txBody>
      </p:sp>
      <p:sp>
        <p:nvSpPr>
          <p:cNvPr id="13" name="">
            <a:extLst xmlns:a="http://schemas.openxmlformats.org/drawingml/2006/main">
              <a:ext uri="{FF2B5EF4-FFF2-40B4-BE49-F238E27FC236}">
                <a16:creationId xmlns:a16="http://schemas.microsoft.com/office/drawing/2014/main" id="{9C12AC0A-9A91-4AD3-AE0F-272747D9FAE3}"/>
              </a:ext>
            </a:extLst>
          </p:cNvPr>
          <p:cNvSpPr>
            <a:spLocks xmlns:a="http://schemas.openxmlformats.org/drawingml/2006/main" noGrp="1"/>
          </p:cNvSpPr>
          <p:nvPr/>
        </p:nvSpPr>
        <p:spPr>
          <a:xfrm xmlns:a="http://schemas.openxmlformats.org/drawingml/2006/main">
            <a:off x="349567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45B8373E-8D2F-44AF-952F-013752535586}"/>
              </a:ext>
            </a:extLst>
          </p:cNvPr>
          <p:cNvSpPr>
            <a:spLocks xmlns:a="http://schemas.openxmlformats.org/drawingml/2006/main" noGrp="1"/>
          </p:cNvSpPr>
          <p:nvPr/>
        </p:nvSpPr>
        <p:spPr>
          <a:xfrm xmlns:a="http://schemas.openxmlformats.org/drawingml/2006/main">
            <a:off x="6153150" y="2247900"/>
            <a:ext cx="223837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35D4B5"/>
            </a:solidFill>
            <a:prstDash val="solid"/>
          </a:ln>
        </p:spPr>
      </p:sp>
      <p:sp>
        <p:nvSpPr>
          <p:cNvPr id="15" name="">
            <a:extLst xmlns:a="http://schemas.openxmlformats.org/drawingml/2006/main">
              <a:ext uri="{FF2B5EF4-FFF2-40B4-BE49-F238E27FC236}">
                <a16:creationId xmlns:a16="http://schemas.microsoft.com/office/drawing/2014/main" id="{26D2D9E7-2270-4EBB-B605-C338F5CD32E0}"/>
              </a:ext>
            </a:extLst>
          </p:cNvPr>
          <p:cNvSpPr>
            <a:spLocks xmlns:a="http://schemas.openxmlformats.org/drawingml/2006/main" noGrp="1"/>
          </p:cNvSpPr>
          <p:nvPr/>
        </p:nvSpPr>
        <p:spPr>
          <a:xfrm xmlns:a="http://schemas.openxmlformats.org/drawingml/2006/main">
            <a:off x="624840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AA268D07-43A8-443B-984C-730594048D71}"/>
              </a:ext>
            </a:extLst>
          </p:cNvPr>
          <p:cNvSpPr>
            <a:spLocks xmlns:a="http://schemas.openxmlformats.org/drawingml/2006/main" noGrp="1"/>
          </p:cNvSpPr>
          <p:nvPr/>
        </p:nvSpPr>
        <p:spPr>
          <a:xfrm xmlns:a="http://schemas.openxmlformats.org/drawingml/2006/main">
            <a:off x="622935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3B0658C3-1510-4191-BBBB-E9961679A069}"/>
              </a:ext>
            </a:extLst>
          </p:cNvPr>
          <p:cNvSpPr>
            <a:spLocks xmlns:a="http://schemas.openxmlformats.org/drawingml/2006/main" noGrp="1"/>
          </p:cNvSpPr>
          <p:nvPr/>
        </p:nvSpPr>
        <p:spPr>
          <a:xfrm xmlns:a="http://schemas.openxmlformats.org/drawingml/2006/main">
            <a:off x="8886825" y="2247900"/>
            <a:ext cx="2238375"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35D4B5"/>
            </a:solidFill>
            <a:prstDash val="solid"/>
          </a:ln>
        </p:spPr>
      </p:sp>
      <p:sp>
        <p:nvSpPr>
          <p:cNvPr id="18" name="">
            <a:extLst xmlns:a="http://schemas.openxmlformats.org/drawingml/2006/main">
              <a:ext uri="{FF2B5EF4-FFF2-40B4-BE49-F238E27FC236}">
                <a16:creationId xmlns:a16="http://schemas.microsoft.com/office/drawing/2014/main" id="{E396E382-D18A-4F95-8B4D-2359B589133A}"/>
              </a:ext>
            </a:extLst>
          </p:cNvPr>
          <p:cNvSpPr>
            <a:spLocks xmlns:a="http://schemas.openxmlformats.org/drawingml/2006/main" noGrp="1"/>
          </p:cNvSpPr>
          <p:nvPr/>
        </p:nvSpPr>
        <p:spPr>
          <a:xfrm xmlns:a="http://schemas.openxmlformats.org/drawingml/2006/main">
            <a:off x="898207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Alpaca</a:t>
            </a:r>
          </a:p>
        </p:txBody>
      </p:sp>
      <p:sp>
        <p:nvSpPr>
          <p:cNvPr id="19" name="">
            <a:extLst xmlns:a="http://schemas.openxmlformats.org/drawingml/2006/main">
              <a:ext uri="{FF2B5EF4-FFF2-40B4-BE49-F238E27FC236}">
                <a16:creationId xmlns:a16="http://schemas.microsoft.com/office/drawing/2014/main" id="{2B4AB46D-1D97-48EE-9BF6-F94805E3E9DB}"/>
              </a:ext>
            </a:extLst>
          </p:cNvPr>
          <p:cNvSpPr>
            <a:spLocks xmlns:a="http://schemas.openxmlformats.org/drawingml/2006/main" noGrp="1"/>
          </p:cNvSpPr>
          <p:nvPr/>
        </p:nvSpPr>
        <p:spPr>
          <a:xfrm xmlns:a="http://schemas.openxmlformats.org/drawingml/2006/main">
            <a:off x="896302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66" name=""/>
          <p:cNvCxnSpPr>
            <a:stCxn xmlns:a="http://schemas.openxmlformats.org/drawingml/2006/main" id="17" idx="1"/>
            <a:endCxn xmlns:a="http://schemas.openxmlformats.org/drawingml/2006/main" id="14" idx="3"/>
          </p:cNvCxnSpPr>
          <p:nvPr/>
        </p:nvCxnSpPr>
        <p:spPr>
          <a:xfrm xmlns:a="http://schemas.openxmlformats.org/drawingml/2006/main" flipH="1">
            <a:off x="8391525" y="2667000"/>
            <a:ext cx="4953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67" name=""/>
          <p:cNvCxnSpPr>
            <a:stCxn xmlns:a="http://schemas.openxmlformats.org/drawingml/2006/main" id="14" idx="1"/>
            <a:endCxn xmlns:a="http://schemas.openxmlformats.org/drawingml/2006/main" id="11" idx="3"/>
          </p:cNvCxnSpPr>
          <p:nvPr/>
        </p:nvCxnSpPr>
        <p:spPr>
          <a:xfrm xmlns:a="http://schemas.openxmlformats.org/drawingml/2006/main" flipH="1">
            <a:off x="5657850" y="2667000"/>
            <a:ext cx="4953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68" name=""/>
          <p:cNvCxnSpPr>
            <a:stCxn xmlns:a="http://schemas.openxmlformats.org/drawingml/2006/main" id="11" idx="1"/>
            <a:endCxn xmlns:a="http://schemas.openxmlformats.org/drawingml/2006/main" id="8" idx="3"/>
          </p:cNvCxnSpPr>
          <p:nvPr/>
        </p:nvCxnSpPr>
        <p:spPr>
          <a:xfrm xmlns:a="http://schemas.openxmlformats.org/drawingml/2006/main" flipH="1">
            <a:off x="2924175" y="2667000"/>
            <a:ext cx="4953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5EA909AA-BF9C-4978-B260-88DF2F33AD03}"/>
              </a:ext>
            </a:extLst>
          </p:cNvPr>
          <p:cNvSpPr>
            <a:spLocks xmlns:a="http://schemas.openxmlformats.org/drawingml/2006/main" noGrp="1"/>
          </p:cNvSpPr>
          <p:nvPr/>
        </p:nvSpPr>
        <p:spPr>
          <a:xfrm xmlns:a="http://schemas.openxmlformats.org/drawingml/2006/main">
            <a:off x="685800" y="32004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DOCKER COMPOSE OWNS THE LIFECYCLE</a:t>
            </a:r>
          </a:p>
        </p:txBody>
      </p:sp>
      <p:sp>
        <p:nvSpPr>
          <p:cNvPr id="24" name="">
            <a:extLst xmlns:a="http://schemas.openxmlformats.org/drawingml/2006/main">
              <a:ext uri="{FF2B5EF4-FFF2-40B4-BE49-F238E27FC236}">
                <a16:creationId xmlns:a16="http://schemas.microsoft.com/office/drawing/2014/main" id="{F9C76B50-886F-49AA-BDD8-56CA5E31C7F7}"/>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25" name="">
            <a:extLst xmlns:a="http://schemas.openxmlformats.org/drawingml/2006/main">
              <a:ext uri="{FF2B5EF4-FFF2-40B4-BE49-F238E27FC236}">
                <a16:creationId xmlns:a16="http://schemas.microsoft.com/office/drawing/2014/main" id="{3A8E1371-299C-448B-9575-A57F4D613833}"/>
              </a:ext>
            </a:extLst>
          </p:cNvPr>
          <p:cNvSpPr>
            <a:spLocks xmlns:a="http://schemas.openxmlformats.org/drawingml/2006/main" noGrp="1"/>
          </p:cNvSpPr>
          <p:nvPr/>
        </p:nvSpPr>
        <p:spPr>
          <a:xfrm xmlns:a="http://schemas.openxmlformats.org/drawingml/2006/main">
            <a:off x="8210550" y="38862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5B91FF"/>
                </a:solidFill>
                <a:latin typeface="Arial"/>
                <a:ea typeface="Arial"/>
                <a:cs typeface="Arial"/>
              </a:defRPr>
            </a:pPr>
            <a:r>
              <a:rPr sz="2250" b="1" lang="he-IL">
                <a:solidFill>
                  <a:srgbClr val="5B91FF"/>
                </a:solidFill>
                <a:latin typeface="Arial"/>
                <a:ea typeface="Arial"/>
                <a:cs typeface="Arial"/>
              </a:rPr>
              <a:t>אמין לאחר הסגירה</a:t>
            </a:r>
          </a:p>
        </p:txBody>
      </p:sp>
      <p:sp>
        <p:nvSpPr>
          <p:cNvPr id="26" name="">
            <a:extLst xmlns:a="http://schemas.openxmlformats.org/drawingml/2006/main">
              <a:ext uri="{FF2B5EF4-FFF2-40B4-BE49-F238E27FC236}">
                <a16:creationId xmlns:a16="http://schemas.microsoft.com/office/drawing/2014/main" id="{BB178FD4-5CB3-4760-B06F-526A7B7800EA}"/>
              </a:ext>
            </a:extLst>
          </p:cNvPr>
          <p:cNvSpPr>
            <a:spLocks xmlns:a="http://schemas.openxmlformats.org/drawingml/2006/main" noGrp="1"/>
          </p:cNvSpPr>
          <p:nvPr/>
        </p:nvSpPr>
        <p:spPr>
          <a:xfrm xmlns:a="http://schemas.openxmlformats.org/drawingml/2006/main">
            <a:off x="5391150" y="4305300"/>
            <a:ext cx="617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5B6B78"/>
                </a:solidFill>
                <a:latin typeface="Arial"/>
                <a:ea typeface="Arial"/>
                <a:cs typeface="Arial"/>
              </a:defRPr>
            </a:pPr>
            <a:r>
              <a:rPr sz="1650" b="0" lang="he-IL">
                <a:solidFill>
                  <a:srgbClr val="5B6B78"/>
                </a:solidFill>
                <a:latin typeface="Arial"/>
                <a:ea typeface="Arial"/>
                <a:cs typeface="Arial"/>
              </a:rPr>
              <a:t>המסלול המאושר בונה מחדש את היום מן המקור ומפעיל שערי איכות</a:t>
            </a:r>
          </a:p>
        </p:txBody>
      </p:sp>
      <p:sp>
        <p:nvSpPr>
          <p:cNvPr id="27" name="">
            <a:extLst xmlns:a="http://schemas.openxmlformats.org/drawingml/2006/main">
              <a:ext uri="{FF2B5EF4-FFF2-40B4-BE49-F238E27FC236}">
                <a16:creationId xmlns:a16="http://schemas.microsoft.com/office/drawing/2014/main" id="{8FBAE26A-DC0E-43DC-BB60-93E0EB95C765}"/>
              </a:ext>
            </a:extLst>
          </p:cNvPr>
          <p:cNvSpPr>
            <a:spLocks xmlns:a="http://schemas.openxmlformats.org/drawingml/2006/main" noGrp="1"/>
          </p:cNvSpPr>
          <p:nvPr/>
        </p:nvSpPr>
        <p:spPr>
          <a:xfrm xmlns:a="http://schemas.openxmlformats.org/drawingml/2006/main">
            <a:off x="609600" y="4810125"/>
            <a:ext cx="17526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5B91FF"/>
            </a:solidFill>
            <a:prstDash val="solid"/>
          </a:ln>
        </p:spPr>
      </p:sp>
      <p:sp>
        <p:nvSpPr>
          <p:cNvPr id="28" name="">
            <a:extLst xmlns:a="http://schemas.openxmlformats.org/drawingml/2006/main">
              <a:ext uri="{FF2B5EF4-FFF2-40B4-BE49-F238E27FC236}">
                <a16:creationId xmlns:a16="http://schemas.microsoft.com/office/drawing/2014/main" id="{C8C1CAEE-01A6-411A-83C0-39819F3B7E61}"/>
              </a:ext>
            </a:extLst>
          </p:cNvPr>
          <p:cNvSpPr>
            <a:spLocks xmlns:a="http://schemas.openxmlformats.org/drawingml/2006/main" noGrp="1"/>
          </p:cNvSpPr>
          <p:nvPr/>
        </p:nvSpPr>
        <p:spPr>
          <a:xfrm xmlns:a="http://schemas.openxmlformats.org/drawingml/2006/main">
            <a:off x="704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Gold CERTIFIED</a:t>
            </a:r>
          </a:p>
        </p:txBody>
      </p:sp>
      <p:sp>
        <p:nvSpPr>
          <p:cNvPr id="29" name="">
            <a:extLst xmlns:a="http://schemas.openxmlformats.org/drawingml/2006/main">
              <a:ext uri="{FF2B5EF4-FFF2-40B4-BE49-F238E27FC236}">
                <a16:creationId xmlns:a16="http://schemas.microsoft.com/office/drawing/2014/main" id="{98C7BC8D-AF8D-4E40-B170-92A726196023}"/>
              </a:ext>
            </a:extLst>
          </p:cNvPr>
          <p:cNvSpPr>
            <a:spLocks xmlns:a="http://schemas.openxmlformats.org/drawingml/2006/main" noGrp="1"/>
          </p:cNvSpPr>
          <p:nvPr/>
        </p:nvSpPr>
        <p:spPr>
          <a:xfrm xmlns:a="http://schemas.openxmlformats.org/drawingml/2006/main">
            <a:off x="685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E78683D6-A05B-496D-BC93-4878A736AC47}"/>
              </a:ext>
            </a:extLst>
          </p:cNvPr>
          <p:cNvSpPr>
            <a:spLocks xmlns:a="http://schemas.openxmlformats.org/drawingml/2006/main" noGrp="1"/>
          </p:cNvSpPr>
          <p:nvPr/>
        </p:nvSpPr>
        <p:spPr>
          <a:xfrm xmlns:a="http://schemas.openxmlformats.org/drawingml/2006/main">
            <a:off x="2800350" y="4810125"/>
            <a:ext cx="17526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5B91FF"/>
            </a:solidFill>
            <a:prstDash val="solid"/>
          </a:ln>
        </p:spPr>
      </p:sp>
      <p:sp>
        <p:nvSpPr>
          <p:cNvPr id="31" name="">
            <a:extLst xmlns:a="http://schemas.openxmlformats.org/drawingml/2006/main">
              <a:ext uri="{FF2B5EF4-FFF2-40B4-BE49-F238E27FC236}">
                <a16:creationId xmlns:a16="http://schemas.microsoft.com/office/drawing/2014/main" id="{6F2D2D28-6956-4014-9CF2-6ACF4178C3C8}"/>
              </a:ext>
            </a:extLst>
          </p:cNvPr>
          <p:cNvSpPr>
            <a:spLocks xmlns:a="http://schemas.openxmlformats.org/drawingml/2006/main" noGrp="1"/>
          </p:cNvSpPr>
          <p:nvPr/>
        </p:nvSpPr>
        <p:spPr>
          <a:xfrm xmlns:a="http://schemas.openxmlformats.org/drawingml/2006/main">
            <a:off x="28956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Data Quality</a:t>
            </a:r>
          </a:p>
        </p:txBody>
      </p:sp>
      <p:sp>
        <p:nvSpPr>
          <p:cNvPr id="32" name="">
            <a:extLst xmlns:a="http://schemas.openxmlformats.org/drawingml/2006/main">
              <a:ext uri="{FF2B5EF4-FFF2-40B4-BE49-F238E27FC236}">
                <a16:creationId xmlns:a16="http://schemas.microsoft.com/office/drawing/2014/main" id="{105D9CD9-A5BE-4100-82C6-C52E5CAFADDC}"/>
              </a:ext>
            </a:extLst>
          </p:cNvPr>
          <p:cNvSpPr>
            <a:spLocks xmlns:a="http://schemas.openxmlformats.org/drawingml/2006/main" noGrp="1"/>
          </p:cNvSpPr>
          <p:nvPr/>
        </p:nvSpPr>
        <p:spPr>
          <a:xfrm xmlns:a="http://schemas.openxmlformats.org/drawingml/2006/main">
            <a:off x="28765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400F1C44-69EE-4442-A84D-1F051CA470D5}"/>
              </a:ext>
            </a:extLst>
          </p:cNvPr>
          <p:cNvSpPr>
            <a:spLocks xmlns:a="http://schemas.openxmlformats.org/drawingml/2006/main" noGrp="1"/>
          </p:cNvSpPr>
          <p:nvPr/>
        </p:nvSpPr>
        <p:spPr>
          <a:xfrm xmlns:a="http://schemas.openxmlformats.org/drawingml/2006/main">
            <a:off x="4991100" y="4810125"/>
            <a:ext cx="17526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44D7F0C9-C98D-4F93-A99D-CB5CBE940691}"/>
              </a:ext>
            </a:extLst>
          </p:cNvPr>
          <p:cNvSpPr>
            <a:spLocks xmlns:a="http://schemas.openxmlformats.org/drawingml/2006/main" noGrp="1"/>
          </p:cNvSpPr>
          <p:nvPr/>
        </p:nvSpPr>
        <p:spPr>
          <a:xfrm xmlns:a="http://schemas.openxmlformats.org/drawingml/2006/main">
            <a:off x="50863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Silver</a:t>
            </a:r>
          </a:p>
        </p:txBody>
      </p:sp>
      <p:sp>
        <p:nvSpPr>
          <p:cNvPr id="35" name="">
            <a:extLst xmlns:a="http://schemas.openxmlformats.org/drawingml/2006/main">
              <a:ext uri="{FF2B5EF4-FFF2-40B4-BE49-F238E27FC236}">
                <a16:creationId xmlns:a16="http://schemas.microsoft.com/office/drawing/2014/main" id="{86B6F83A-20AE-4C98-8C79-1EDF10666F98}"/>
              </a:ext>
            </a:extLst>
          </p:cNvPr>
          <p:cNvSpPr>
            <a:spLocks xmlns:a="http://schemas.openxmlformats.org/drawingml/2006/main" noGrp="1"/>
          </p:cNvSpPr>
          <p:nvPr/>
        </p:nvSpPr>
        <p:spPr>
          <a:xfrm xmlns:a="http://schemas.openxmlformats.org/drawingml/2006/main">
            <a:off x="50673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91F0DD39-A52A-4D9A-AD7B-6E2373B27F5C}"/>
              </a:ext>
            </a:extLst>
          </p:cNvPr>
          <p:cNvSpPr>
            <a:spLocks xmlns:a="http://schemas.openxmlformats.org/drawingml/2006/main" noGrp="1"/>
          </p:cNvSpPr>
          <p:nvPr/>
        </p:nvSpPr>
        <p:spPr>
          <a:xfrm xmlns:a="http://schemas.openxmlformats.org/drawingml/2006/main">
            <a:off x="7181850" y="4810125"/>
            <a:ext cx="17526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5B91FF"/>
            </a:solidFill>
            <a:prstDash val="solid"/>
          </a:ln>
        </p:spPr>
      </p:sp>
      <p:sp>
        <p:nvSpPr>
          <p:cNvPr id="37" name="">
            <a:extLst xmlns:a="http://schemas.openxmlformats.org/drawingml/2006/main">
              <a:ext uri="{FF2B5EF4-FFF2-40B4-BE49-F238E27FC236}">
                <a16:creationId xmlns:a16="http://schemas.microsoft.com/office/drawing/2014/main" id="{005BFF78-1A57-4E14-A731-3B8E2FBBF922}"/>
              </a:ext>
            </a:extLst>
          </p:cNvPr>
          <p:cNvSpPr>
            <a:spLocks xmlns:a="http://schemas.openxmlformats.org/drawingml/2006/main" noGrp="1"/>
          </p:cNvSpPr>
          <p:nvPr/>
        </p:nvSpPr>
        <p:spPr>
          <a:xfrm xmlns:a="http://schemas.openxmlformats.org/drawingml/2006/main">
            <a:off x="72771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Spark Batch</a:t>
            </a:r>
          </a:p>
        </p:txBody>
      </p:sp>
      <p:sp>
        <p:nvSpPr>
          <p:cNvPr id="38" name="">
            <a:extLst xmlns:a="http://schemas.openxmlformats.org/drawingml/2006/main">
              <a:ext uri="{FF2B5EF4-FFF2-40B4-BE49-F238E27FC236}">
                <a16:creationId xmlns:a16="http://schemas.microsoft.com/office/drawing/2014/main" id="{313D1387-E0D1-4A21-AC4D-301C325B12AA}"/>
              </a:ext>
            </a:extLst>
          </p:cNvPr>
          <p:cNvSpPr>
            <a:spLocks xmlns:a="http://schemas.openxmlformats.org/drawingml/2006/main" noGrp="1"/>
          </p:cNvSpPr>
          <p:nvPr/>
        </p:nvSpPr>
        <p:spPr>
          <a:xfrm xmlns:a="http://schemas.openxmlformats.org/drawingml/2006/main">
            <a:off x="72580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C692DA40-8D42-499B-A035-885FCC3D4125}"/>
              </a:ext>
            </a:extLst>
          </p:cNvPr>
          <p:cNvSpPr>
            <a:spLocks xmlns:a="http://schemas.openxmlformats.org/drawingml/2006/main" noGrp="1"/>
          </p:cNvSpPr>
          <p:nvPr/>
        </p:nvSpPr>
        <p:spPr>
          <a:xfrm xmlns:a="http://schemas.openxmlformats.org/drawingml/2006/main">
            <a:off x="9372600" y="4810125"/>
            <a:ext cx="17526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5B91FF"/>
            </a:solidFill>
            <a:prstDash val="solid"/>
          </a:ln>
        </p:spPr>
      </p:sp>
      <p:sp>
        <p:nvSpPr>
          <p:cNvPr id="40" name="">
            <a:extLst xmlns:a="http://schemas.openxmlformats.org/drawingml/2006/main">
              <a:ext uri="{FF2B5EF4-FFF2-40B4-BE49-F238E27FC236}">
                <a16:creationId xmlns:a16="http://schemas.microsoft.com/office/drawing/2014/main" id="{ED50CC2E-38D7-4AFB-8C04-782BD9C399B5}"/>
              </a:ext>
            </a:extLst>
          </p:cNvPr>
          <p:cNvSpPr>
            <a:spLocks xmlns:a="http://schemas.openxmlformats.org/drawingml/2006/main" noGrp="1"/>
          </p:cNvSpPr>
          <p:nvPr/>
        </p:nvSpPr>
        <p:spPr>
          <a:xfrm xmlns:a="http://schemas.openxmlformats.org/drawingml/2006/main">
            <a:off x="9467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091827"/>
                </a:solidFill>
                <a:latin typeface="Cascadia Mono"/>
                <a:ea typeface="Cascadia Mono"/>
                <a:cs typeface="Cascadia Mono"/>
              </a:defRPr>
            </a:pPr>
            <a:r>
              <a:rPr sz="1425" b="1">
                <a:solidFill>
                  <a:srgbClr val="091827"/>
                </a:solidFill>
                <a:latin typeface="Cascadia Mono"/>
                <a:ea typeface="Cascadia Mono"/>
                <a:cs typeface="Cascadia Mono"/>
              </a:rPr>
              <a:t>Bronze</a:t>
            </a:r>
          </a:p>
        </p:txBody>
      </p:sp>
      <p:sp>
        <p:nvSpPr>
          <p:cNvPr id="41" name="">
            <a:extLst xmlns:a="http://schemas.openxmlformats.org/drawingml/2006/main">
              <a:ext uri="{FF2B5EF4-FFF2-40B4-BE49-F238E27FC236}">
                <a16:creationId xmlns:a16="http://schemas.microsoft.com/office/drawing/2014/main" id="{769869CC-67D5-458D-8FCB-8C3683581F5D}"/>
              </a:ext>
            </a:extLst>
          </p:cNvPr>
          <p:cNvSpPr>
            <a:spLocks xmlns:a="http://schemas.openxmlformats.org/drawingml/2006/main" noGrp="1"/>
          </p:cNvSpPr>
          <p:nvPr/>
        </p:nvSpPr>
        <p:spPr>
          <a:xfrm xmlns:a="http://schemas.openxmlformats.org/drawingml/2006/main">
            <a:off x="9448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88" name=""/>
          <p:cNvCxnSpPr>
            <a:stCxn xmlns:a="http://schemas.openxmlformats.org/drawingml/2006/main" id="39" idx="1"/>
            <a:endCxn xmlns:a="http://schemas.openxmlformats.org/drawingml/2006/main" id="36" idx="3"/>
          </p:cNvCxnSpPr>
          <p:nvPr/>
        </p:nvCxnSpPr>
        <p:spPr>
          <a:xfrm xmlns:a="http://schemas.openxmlformats.org/drawingml/2006/main" flipH="1">
            <a:off x="89344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89" name=""/>
          <p:cNvCxnSpPr>
            <a:stCxn xmlns:a="http://schemas.openxmlformats.org/drawingml/2006/main" id="36" idx="1"/>
            <a:endCxn xmlns:a="http://schemas.openxmlformats.org/drawingml/2006/main" id="33" idx="3"/>
          </p:cNvCxnSpPr>
          <p:nvPr/>
        </p:nvCxnSpPr>
        <p:spPr>
          <a:xfrm xmlns:a="http://schemas.openxmlformats.org/drawingml/2006/main" flipH="1">
            <a:off x="67437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0" name=""/>
          <p:cNvCxnSpPr>
            <a:stCxn xmlns:a="http://schemas.openxmlformats.org/drawingml/2006/main" id="33" idx="1"/>
            <a:endCxn xmlns:a="http://schemas.openxmlformats.org/drawingml/2006/main" id="30" idx="3"/>
          </p:cNvCxnSpPr>
          <p:nvPr/>
        </p:nvCxnSpPr>
        <p:spPr>
          <a:xfrm xmlns:a="http://schemas.openxmlformats.org/drawingml/2006/main" flipH="1">
            <a:off x="45529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0" idx="1"/>
            <a:endCxn xmlns:a="http://schemas.openxmlformats.org/drawingml/2006/main" id="27" idx="3"/>
          </p:cNvCxnSpPr>
          <p:nvPr/>
        </p:nvCxnSpPr>
        <p:spPr>
          <a:xfrm xmlns:a="http://schemas.openxmlformats.org/drawingml/2006/main" flipH="1">
            <a:off x="23622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sp>
        <p:nvSpPr>
          <p:cNvPr id="46" name="">
            <a:extLst xmlns:a="http://schemas.openxmlformats.org/drawingml/2006/main">
              <a:ext uri="{FF2B5EF4-FFF2-40B4-BE49-F238E27FC236}">
                <a16:creationId xmlns:a16="http://schemas.microsoft.com/office/drawing/2014/main" id="{CE248B35-31C6-4801-92C0-9854FE208387}"/>
              </a:ext>
            </a:extLst>
          </p:cNvPr>
          <p:cNvSpPr>
            <a:spLocks xmlns:a="http://schemas.openxmlformats.org/drawingml/2006/main" noGrp="1"/>
          </p:cNvSpPr>
          <p:nvPr/>
        </p:nvSpPr>
        <p:spPr>
          <a:xfrm xmlns:a="http://schemas.openxmlformats.org/drawingml/2006/main">
            <a:off x="609600" y="58483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AIRFLOW SCHEDULES AND MONITORS</a:t>
            </a:r>
          </a:p>
        </p:txBody>
      </p:sp>
    </p:spTree>
    <p:extLst>
      <p:ext uri="{BB962C8B-B14F-4D97-AF65-F5344CB8AC3E}">
        <p14:creationId xmlns:p14="http://schemas.microsoft.com/office/powerpoint/2010/main" val="3475847"/>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A658A30-2552-4854-B017-3F23A2E2C6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00C206-A42D-4F49-A707-A5190112B428}"/>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TECHNOLOGY CHOICES</a:t>
            </a:r>
          </a:p>
        </p:txBody>
      </p:sp>
      <p:sp>
        <p:nvSpPr>
          <p:cNvPr id="3" name="">
            <a:extLst xmlns:a="http://schemas.openxmlformats.org/drawingml/2006/main">
              <a:ext uri="{FF2B5EF4-FFF2-40B4-BE49-F238E27FC236}">
                <a16:creationId xmlns:a16="http://schemas.microsoft.com/office/drawing/2014/main" id="{52A7C8C5-91CC-470D-BFC0-CFE2119E333E}"/>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בחירות טכנולוגיות עם סיבה</a:t>
            </a:r>
          </a:p>
        </p:txBody>
      </p:sp>
      <p:sp>
        <p:nvSpPr>
          <p:cNvPr id="4" name="">
            <a:extLst xmlns:a="http://schemas.openxmlformats.org/drawingml/2006/main">
              <a:ext uri="{FF2B5EF4-FFF2-40B4-BE49-F238E27FC236}">
                <a16:creationId xmlns:a16="http://schemas.microsoft.com/office/drawing/2014/main" id="{2283A613-88AE-423B-92F1-B70E19856DA2}"/>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06</a:t>
            </a:r>
          </a:p>
        </p:txBody>
      </p:sp>
      <p:sp>
        <p:nvSpPr>
          <p:cNvPr id="5" name="">
            <a:extLst xmlns:a="http://schemas.openxmlformats.org/drawingml/2006/main">
              <a:ext uri="{FF2B5EF4-FFF2-40B4-BE49-F238E27FC236}">
                <a16:creationId xmlns:a16="http://schemas.microsoft.com/office/drawing/2014/main" id="{2332AA16-2862-48EF-B991-A7E3924A4AE7}"/>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387E71EB-5C54-41B5-8144-7AD092A3EE4C}"/>
              </a:ext>
            </a:extLst>
          </p:cNvPr>
          <p:cNvSpPr>
            <a:spLocks xmlns:a="http://schemas.openxmlformats.org/drawingml/2006/main" noGrp="1"/>
          </p:cNvSpPr>
          <p:nvPr/>
        </p:nvSpPr>
        <p:spPr>
          <a:xfrm xmlns:a="http://schemas.openxmlformats.org/drawingml/2006/main">
            <a:off x="5334000" y="12573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5B6B78"/>
                </a:solidFill>
                <a:latin typeface="Arial"/>
                <a:ea typeface="Arial"/>
                <a:cs typeface="Arial"/>
              </a:defRPr>
            </a:pPr>
            <a:r>
              <a:rPr sz="1275" b="1" lang="he-IL">
                <a:solidFill>
                  <a:srgbClr val="5B6B78"/>
                </a:solidFill>
                <a:latin typeface="Arial"/>
                <a:ea typeface="Arial"/>
                <a:cs typeface="Arial"/>
              </a:rPr>
              <a:t>החלטה הנדסית</a:t>
            </a:r>
          </a:p>
        </p:txBody>
      </p:sp>
      <p:sp>
        <p:nvSpPr>
          <p:cNvPr id="7" name="">
            <a:extLst xmlns:a="http://schemas.openxmlformats.org/drawingml/2006/main">
              <a:ext uri="{FF2B5EF4-FFF2-40B4-BE49-F238E27FC236}">
                <a16:creationId xmlns:a16="http://schemas.microsoft.com/office/drawing/2014/main" id="{ED0A0BBC-9041-4753-AAD8-16C600278D40}"/>
              </a:ext>
            </a:extLst>
          </p:cNvPr>
          <p:cNvSpPr>
            <a:spLocks xmlns:a="http://schemas.openxmlformats.org/drawingml/2006/main" noGrp="1"/>
          </p:cNvSpPr>
          <p:nvPr/>
        </p:nvSpPr>
        <p:spPr>
          <a:xfrm xmlns:a="http://schemas.openxmlformats.org/drawingml/2006/main">
            <a:off x="685800" y="12573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B6B78"/>
                </a:solidFill>
                <a:latin typeface="Cascadia Mono"/>
                <a:ea typeface="Cascadia Mono"/>
                <a:cs typeface="Cascadia Mono"/>
              </a:defRPr>
            </a:pPr>
            <a:r>
              <a:rPr sz="1125" b="1">
                <a:solidFill>
                  <a:srgbClr val="5B6B78"/>
                </a:solidFill>
                <a:latin typeface="Cascadia Mono"/>
                <a:ea typeface="Cascadia Mono"/>
                <a:cs typeface="Cascadia Mono"/>
              </a:rPr>
              <a:t>Technology</a:t>
            </a:r>
          </a:p>
        </p:txBody>
      </p:sp>
      <p:sp>
        <p:nvSpPr>
          <p:cNvPr id="8" name="">
            <a:extLst xmlns:a="http://schemas.openxmlformats.org/drawingml/2006/main">
              <a:ext uri="{FF2B5EF4-FFF2-40B4-BE49-F238E27FC236}">
                <a16:creationId xmlns:a16="http://schemas.microsoft.com/office/drawing/2014/main" id="{0699F2B5-D0BB-48CE-B67C-42537B614F14}"/>
              </a:ext>
            </a:extLst>
          </p:cNvPr>
          <p:cNvSpPr>
            <a:spLocks xmlns:a="http://schemas.openxmlformats.org/drawingml/2006/main" noGrp="1"/>
          </p:cNvSpPr>
          <p:nvPr/>
        </p:nvSpPr>
        <p:spPr>
          <a:xfrm xmlns:a="http://schemas.openxmlformats.org/drawingml/2006/main">
            <a:off x="609600" y="1657350"/>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9" name="">
            <a:extLst xmlns:a="http://schemas.openxmlformats.org/drawingml/2006/main">
              <a:ext uri="{FF2B5EF4-FFF2-40B4-BE49-F238E27FC236}">
                <a16:creationId xmlns:a16="http://schemas.microsoft.com/office/drawing/2014/main" id="{F09EBFAF-35D6-4B4A-A308-512C187BC598}"/>
              </a:ext>
            </a:extLst>
          </p:cNvPr>
          <p:cNvSpPr>
            <a:spLocks xmlns:a="http://schemas.openxmlformats.org/drawingml/2006/main" noGrp="1"/>
          </p:cNvSpPr>
          <p:nvPr/>
        </p:nvSpPr>
        <p:spPr>
          <a:xfrm xmlns:a="http://schemas.openxmlformats.org/drawingml/2006/main">
            <a:off x="685800" y="18478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117C70"/>
                </a:solidFill>
                <a:latin typeface="Cascadia Mono"/>
                <a:ea typeface="Cascadia Mono"/>
                <a:cs typeface="Cascadia Mono"/>
              </a:defRPr>
            </a:pPr>
            <a:r>
              <a:rPr sz="1725" b="1">
                <a:solidFill>
                  <a:srgbClr val="117C70"/>
                </a:solidFill>
                <a:latin typeface="Cascadia Mono"/>
                <a:ea typeface="Cascadia Mono"/>
                <a:cs typeface="Cascadia Mono"/>
              </a:rPr>
              <a:t>Kafka</a:t>
            </a:r>
          </a:p>
        </p:txBody>
      </p:sp>
      <p:sp>
        <p:nvSpPr>
          <p:cNvPr id="10" name="">
            <a:extLst xmlns:a="http://schemas.openxmlformats.org/drawingml/2006/main">
              <a:ext uri="{FF2B5EF4-FFF2-40B4-BE49-F238E27FC236}">
                <a16:creationId xmlns:a16="http://schemas.microsoft.com/office/drawing/2014/main" id="{3E7F3E37-C8FC-48F3-BD11-C6E88E2A1699}"/>
              </a:ext>
            </a:extLst>
          </p:cNvPr>
          <p:cNvSpPr>
            <a:spLocks xmlns:a="http://schemas.openxmlformats.org/drawingml/2006/main" noGrp="1"/>
          </p:cNvSpPr>
          <p:nvPr/>
        </p:nvSpPr>
        <p:spPr>
          <a:xfrm xmlns:a="http://schemas.openxmlformats.org/drawingml/2006/main">
            <a:off x="3714750" y="18478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שומר סדר לפי Offset ומאפשר Replay בין צרכנים נפרדים</a:t>
            </a:r>
          </a:p>
        </p:txBody>
      </p:sp>
      <p:sp>
        <p:nvSpPr>
          <p:cNvPr id="11" name="">
            <a:extLst xmlns:a="http://schemas.openxmlformats.org/drawingml/2006/main">
              <a:ext uri="{FF2B5EF4-FFF2-40B4-BE49-F238E27FC236}">
                <a16:creationId xmlns:a16="http://schemas.microsoft.com/office/drawing/2014/main" id="{E44FE79A-50EC-447A-82B6-982E3E875CAD}"/>
              </a:ext>
            </a:extLst>
          </p:cNvPr>
          <p:cNvSpPr>
            <a:spLocks xmlns:a="http://schemas.openxmlformats.org/drawingml/2006/main" noGrp="1"/>
          </p:cNvSpPr>
          <p:nvPr/>
        </p:nvSpPr>
        <p:spPr>
          <a:xfrm xmlns:a="http://schemas.openxmlformats.org/drawingml/2006/main">
            <a:off x="609600" y="2371725"/>
            <a:ext cx="10972800" cy="0"/>
          </a:xfrm>
          <a:prstGeom xmlns:a="http://schemas.openxmlformats.org/drawingml/2006/main" prst="line">
            <a:avLst/>
          </a:prstGeom>
          <a:noFill xmlns:a="http://schemas.openxmlformats.org/drawingml/2006/main"/>
          <a:ln xmlns:a="http://schemas.openxmlformats.org/drawingml/2006/main" w="9525">
            <a:solidFill>
              <a:srgbClr val="E3E7E8"/>
            </a:solidFill>
            <a:prstDash val="solid"/>
          </a:ln>
        </p:spPr>
      </p:sp>
      <p:sp>
        <p:nvSpPr>
          <p:cNvPr id="12" name="">
            <a:extLst xmlns:a="http://schemas.openxmlformats.org/drawingml/2006/main">
              <a:ext uri="{FF2B5EF4-FFF2-40B4-BE49-F238E27FC236}">
                <a16:creationId xmlns:a16="http://schemas.microsoft.com/office/drawing/2014/main" id="{8696CBEF-DAC4-41E9-B6D8-F91EE985DDEC}"/>
              </a:ext>
            </a:extLst>
          </p:cNvPr>
          <p:cNvSpPr>
            <a:spLocks xmlns:a="http://schemas.openxmlformats.org/drawingml/2006/main" noGrp="1"/>
          </p:cNvSpPr>
          <p:nvPr/>
        </p:nvSpPr>
        <p:spPr>
          <a:xfrm xmlns:a="http://schemas.openxmlformats.org/drawingml/2006/main">
            <a:off x="685800" y="2533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5B91FF"/>
                </a:solidFill>
                <a:latin typeface="Cascadia Mono"/>
                <a:ea typeface="Cascadia Mono"/>
                <a:cs typeface="Cascadia Mono"/>
              </a:defRPr>
            </a:pPr>
            <a:r>
              <a:rPr sz="1725" b="1">
                <a:solidFill>
                  <a:srgbClr val="5B91FF"/>
                </a:solidFill>
                <a:latin typeface="Cascadia Mono"/>
                <a:ea typeface="Cascadia Mono"/>
                <a:cs typeface="Cascadia Mono"/>
              </a:rPr>
              <a:t>Spark</a:t>
            </a:r>
          </a:p>
        </p:txBody>
      </p:sp>
      <p:sp>
        <p:nvSpPr>
          <p:cNvPr id="13" name="">
            <a:extLst xmlns:a="http://schemas.openxmlformats.org/drawingml/2006/main">
              <a:ext uri="{FF2B5EF4-FFF2-40B4-BE49-F238E27FC236}">
                <a16:creationId xmlns:a16="http://schemas.microsoft.com/office/drawing/2014/main" id="{908C0F71-4010-4CDE-B7C8-0A3069468306}"/>
              </a:ext>
            </a:extLst>
          </p:cNvPr>
          <p:cNvSpPr>
            <a:spLocks xmlns:a="http://schemas.openxmlformats.org/drawingml/2006/main" noGrp="1"/>
          </p:cNvSpPr>
          <p:nvPr/>
        </p:nvSpPr>
        <p:spPr>
          <a:xfrm xmlns:a="http://schemas.openxmlformats.org/drawingml/2006/main">
            <a:off x="3714750" y="25336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מנוע אחד לעיבוד Streaming ולעיבוד Batch</a:t>
            </a:r>
          </a:p>
        </p:txBody>
      </p:sp>
      <p:sp>
        <p:nvSpPr>
          <p:cNvPr id="14" name="">
            <a:extLst xmlns:a="http://schemas.openxmlformats.org/drawingml/2006/main">
              <a:ext uri="{FF2B5EF4-FFF2-40B4-BE49-F238E27FC236}">
                <a16:creationId xmlns:a16="http://schemas.microsoft.com/office/drawing/2014/main" id="{2FF7E6D2-4C15-40AE-9FE3-294CAFF2CD77}"/>
              </a:ext>
            </a:extLst>
          </p:cNvPr>
          <p:cNvSpPr>
            <a:spLocks xmlns:a="http://schemas.openxmlformats.org/drawingml/2006/main" noGrp="1"/>
          </p:cNvSpPr>
          <p:nvPr/>
        </p:nvSpPr>
        <p:spPr>
          <a:xfrm xmlns:a="http://schemas.openxmlformats.org/drawingml/2006/main">
            <a:off x="609600" y="3057525"/>
            <a:ext cx="10972800" cy="0"/>
          </a:xfrm>
          <a:prstGeom xmlns:a="http://schemas.openxmlformats.org/drawingml/2006/main" prst="line">
            <a:avLst/>
          </a:prstGeom>
          <a:noFill xmlns:a="http://schemas.openxmlformats.org/drawingml/2006/main"/>
          <a:ln xmlns:a="http://schemas.openxmlformats.org/drawingml/2006/main" w="9525">
            <a:solidFill>
              <a:srgbClr val="E3E7E8"/>
            </a:solidFill>
            <a:prstDash val="solid"/>
          </a:ln>
        </p:spPr>
      </p:sp>
      <p:sp>
        <p:nvSpPr>
          <p:cNvPr id="15" name="">
            <a:extLst xmlns:a="http://schemas.openxmlformats.org/drawingml/2006/main">
              <a:ext uri="{FF2B5EF4-FFF2-40B4-BE49-F238E27FC236}">
                <a16:creationId xmlns:a16="http://schemas.microsoft.com/office/drawing/2014/main" id="{87C2D004-8C5B-4522-B8F9-D81F894E15B5}"/>
              </a:ext>
            </a:extLst>
          </p:cNvPr>
          <p:cNvSpPr>
            <a:spLocks xmlns:a="http://schemas.openxmlformats.org/drawingml/2006/main" noGrp="1"/>
          </p:cNvSpPr>
          <p:nvPr/>
        </p:nvSpPr>
        <p:spPr>
          <a:xfrm xmlns:a="http://schemas.openxmlformats.org/drawingml/2006/main">
            <a:off x="685800" y="32194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F4B94F"/>
                </a:solidFill>
                <a:latin typeface="Cascadia Mono"/>
                <a:ea typeface="Cascadia Mono"/>
                <a:cs typeface="Cascadia Mono"/>
              </a:defRPr>
            </a:pPr>
            <a:r>
              <a:rPr sz="1725" b="1">
                <a:solidFill>
                  <a:srgbClr val="F4B94F"/>
                </a:solidFill>
                <a:latin typeface="Cascadia Mono"/>
                <a:ea typeface="Cascadia Mono"/>
                <a:cs typeface="Cascadia Mono"/>
              </a:rPr>
              <a:t>Airflow</a:t>
            </a:r>
          </a:p>
        </p:txBody>
      </p:sp>
      <p:sp>
        <p:nvSpPr>
          <p:cNvPr id="16" name="">
            <a:extLst xmlns:a="http://schemas.openxmlformats.org/drawingml/2006/main">
              <a:ext uri="{FF2B5EF4-FFF2-40B4-BE49-F238E27FC236}">
                <a16:creationId xmlns:a16="http://schemas.microsoft.com/office/drawing/2014/main" id="{212F41F3-5D03-4984-B920-DF9C6284ECF1}"/>
              </a:ext>
            </a:extLst>
          </p:cNvPr>
          <p:cNvSpPr>
            <a:spLocks xmlns:a="http://schemas.openxmlformats.org/drawingml/2006/main" noGrp="1"/>
          </p:cNvSpPr>
          <p:nvPr/>
        </p:nvSpPr>
        <p:spPr>
          <a:xfrm xmlns:a="http://schemas.openxmlformats.org/drawingml/2006/main">
            <a:off x="3714750" y="32194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מנהל סדר, תלויות וניסיונות חוזרים של עבודות תחומות</a:t>
            </a:r>
          </a:p>
        </p:txBody>
      </p:sp>
      <p:sp>
        <p:nvSpPr>
          <p:cNvPr id="17" name="">
            <a:extLst xmlns:a="http://schemas.openxmlformats.org/drawingml/2006/main">
              <a:ext uri="{FF2B5EF4-FFF2-40B4-BE49-F238E27FC236}">
                <a16:creationId xmlns:a16="http://schemas.microsoft.com/office/drawing/2014/main" id="{A0AE5E98-FFDF-4161-9603-6D4524AA48D8}"/>
              </a:ext>
            </a:extLst>
          </p:cNvPr>
          <p:cNvSpPr>
            <a:spLocks xmlns:a="http://schemas.openxmlformats.org/drawingml/2006/main" noGrp="1"/>
          </p:cNvSpPr>
          <p:nvPr/>
        </p:nvSpPr>
        <p:spPr>
          <a:xfrm xmlns:a="http://schemas.openxmlformats.org/drawingml/2006/main">
            <a:off x="609600" y="3743325"/>
            <a:ext cx="10972800" cy="0"/>
          </a:xfrm>
          <a:prstGeom xmlns:a="http://schemas.openxmlformats.org/drawingml/2006/main" prst="line">
            <a:avLst/>
          </a:prstGeom>
          <a:noFill xmlns:a="http://schemas.openxmlformats.org/drawingml/2006/main"/>
          <a:ln xmlns:a="http://schemas.openxmlformats.org/drawingml/2006/main" w="9525">
            <a:solidFill>
              <a:srgbClr val="E3E7E8"/>
            </a:solidFill>
            <a:prstDash val="solid"/>
          </a:ln>
        </p:spPr>
      </p:sp>
      <p:sp>
        <p:nvSpPr>
          <p:cNvPr id="18" name="">
            <a:extLst xmlns:a="http://schemas.openxmlformats.org/drawingml/2006/main">
              <a:ext uri="{FF2B5EF4-FFF2-40B4-BE49-F238E27FC236}">
                <a16:creationId xmlns:a16="http://schemas.microsoft.com/office/drawing/2014/main" id="{C14E3E36-2FB6-4119-B289-9D5563134B34}"/>
              </a:ext>
            </a:extLst>
          </p:cNvPr>
          <p:cNvSpPr>
            <a:spLocks xmlns:a="http://schemas.openxmlformats.org/drawingml/2006/main" noGrp="1"/>
          </p:cNvSpPr>
          <p:nvPr/>
        </p:nvSpPr>
        <p:spPr>
          <a:xfrm xmlns:a="http://schemas.openxmlformats.org/drawingml/2006/main">
            <a:off x="685800" y="3905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117C70"/>
                </a:solidFill>
                <a:latin typeface="Cascadia Mono"/>
                <a:ea typeface="Cascadia Mono"/>
                <a:cs typeface="Cascadia Mono"/>
              </a:defRPr>
            </a:pPr>
            <a:r>
              <a:rPr sz="1725" b="1">
                <a:solidFill>
                  <a:srgbClr val="117C70"/>
                </a:solidFill>
                <a:latin typeface="Cascadia Mono"/>
                <a:ea typeface="Cascadia Mono"/>
                <a:cs typeface="Cascadia Mono"/>
              </a:rPr>
              <a:t>MinIO</a:t>
            </a:r>
          </a:p>
        </p:txBody>
      </p:sp>
      <p:sp>
        <p:nvSpPr>
          <p:cNvPr id="19" name="">
            <a:extLst xmlns:a="http://schemas.openxmlformats.org/drawingml/2006/main">
              <a:ext uri="{FF2B5EF4-FFF2-40B4-BE49-F238E27FC236}">
                <a16:creationId xmlns:a16="http://schemas.microsoft.com/office/drawing/2014/main" id="{6702672D-152D-4AD3-95A9-255559B15FF9}"/>
              </a:ext>
            </a:extLst>
          </p:cNvPr>
          <p:cNvSpPr>
            <a:spLocks xmlns:a="http://schemas.openxmlformats.org/drawingml/2006/main" noGrp="1"/>
          </p:cNvSpPr>
          <p:nvPr/>
        </p:nvSpPr>
        <p:spPr>
          <a:xfrm xmlns:a="http://schemas.openxmlformats.org/drawingml/2006/main">
            <a:off x="3714750" y="39052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שומר Bronze גולמי, Silver בפורמט Parquet וארכיון</a:t>
            </a:r>
          </a:p>
        </p:txBody>
      </p:sp>
      <p:sp>
        <p:nvSpPr>
          <p:cNvPr id="20" name="">
            <a:extLst xmlns:a="http://schemas.openxmlformats.org/drawingml/2006/main">
              <a:ext uri="{FF2B5EF4-FFF2-40B4-BE49-F238E27FC236}">
                <a16:creationId xmlns:a16="http://schemas.microsoft.com/office/drawing/2014/main" id="{09E1CC4F-7B52-4CCC-89E9-971FC1767445}"/>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E3E7E8"/>
            </a:solidFill>
            <a:prstDash val="solid"/>
          </a:ln>
        </p:spPr>
      </p:sp>
      <p:sp>
        <p:nvSpPr>
          <p:cNvPr id="21" name="">
            <a:extLst xmlns:a="http://schemas.openxmlformats.org/drawingml/2006/main">
              <a:ext uri="{FF2B5EF4-FFF2-40B4-BE49-F238E27FC236}">
                <a16:creationId xmlns:a16="http://schemas.microsoft.com/office/drawing/2014/main" id="{F8D9B1CB-3F72-4A07-878D-C6B0BAC4EF6E}"/>
              </a:ext>
            </a:extLst>
          </p:cNvPr>
          <p:cNvSpPr>
            <a:spLocks xmlns:a="http://schemas.openxmlformats.org/drawingml/2006/main" noGrp="1"/>
          </p:cNvSpPr>
          <p:nvPr/>
        </p:nvSpPr>
        <p:spPr>
          <a:xfrm xmlns:a="http://schemas.openxmlformats.org/drawingml/2006/main">
            <a:off x="685800" y="4591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5B91FF"/>
                </a:solidFill>
                <a:latin typeface="Cascadia Mono"/>
                <a:ea typeface="Cascadia Mono"/>
                <a:cs typeface="Cascadia Mono"/>
              </a:defRPr>
            </a:pPr>
            <a:r>
              <a:rPr sz="1725" b="1">
                <a:solidFill>
                  <a:srgbClr val="5B91FF"/>
                </a:solidFill>
                <a:latin typeface="Cascadia Mono"/>
                <a:ea typeface="Cascadia Mono"/>
                <a:cs typeface="Cascadia Mono"/>
              </a:rPr>
              <a:t>MariaDB</a:t>
            </a:r>
          </a:p>
        </p:txBody>
      </p:sp>
      <p:sp>
        <p:nvSpPr>
          <p:cNvPr id="22" name="">
            <a:extLst xmlns:a="http://schemas.openxmlformats.org/drawingml/2006/main">
              <a:ext uri="{FF2B5EF4-FFF2-40B4-BE49-F238E27FC236}">
                <a16:creationId xmlns:a16="http://schemas.microsoft.com/office/drawing/2014/main" id="{D8EB8D7E-D28E-406C-BCCB-9B87AFD5C55A}"/>
              </a:ext>
            </a:extLst>
          </p:cNvPr>
          <p:cNvSpPr>
            <a:spLocks xmlns:a="http://schemas.openxmlformats.org/drawingml/2006/main" noGrp="1"/>
          </p:cNvSpPr>
          <p:nvPr/>
        </p:nvSpPr>
        <p:spPr>
          <a:xfrm xmlns:a="http://schemas.openxmlformats.org/drawingml/2006/main">
            <a:off x="3714750" y="45910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מגיש Gold מוכן ל־API עם מפתחות עסקיים ו־Upsert</a:t>
            </a:r>
          </a:p>
        </p:txBody>
      </p:sp>
      <p:sp>
        <p:nvSpPr>
          <p:cNvPr id="23" name="">
            <a:extLst xmlns:a="http://schemas.openxmlformats.org/drawingml/2006/main">
              <a:ext uri="{FF2B5EF4-FFF2-40B4-BE49-F238E27FC236}">
                <a16:creationId xmlns:a16="http://schemas.microsoft.com/office/drawing/2014/main" id="{962FAEE6-9895-4657-BB5C-425383D8919D}"/>
              </a:ext>
            </a:extLst>
          </p:cNvPr>
          <p:cNvSpPr>
            <a:spLocks xmlns:a="http://schemas.openxmlformats.org/drawingml/2006/main" noGrp="1"/>
          </p:cNvSpPr>
          <p:nvPr/>
        </p:nvSpPr>
        <p:spPr>
          <a:xfrm xmlns:a="http://schemas.openxmlformats.org/drawingml/2006/main">
            <a:off x="609600" y="5114925"/>
            <a:ext cx="10972800" cy="0"/>
          </a:xfrm>
          <a:prstGeom xmlns:a="http://schemas.openxmlformats.org/drawingml/2006/main" prst="line">
            <a:avLst/>
          </a:prstGeom>
          <a:noFill xmlns:a="http://schemas.openxmlformats.org/drawingml/2006/main"/>
          <a:ln xmlns:a="http://schemas.openxmlformats.org/drawingml/2006/main" w="9525">
            <a:solidFill>
              <a:srgbClr val="E3E7E8"/>
            </a:solidFill>
            <a:prstDash val="solid"/>
          </a:ln>
        </p:spPr>
      </p:sp>
      <p:sp>
        <p:nvSpPr>
          <p:cNvPr id="24" name="">
            <a:extLst xmlns:a="http://schemas.openxmlformats.org/drawingml/2006/main">
              <a:ext uri="{FF2B5EF4-FFF2-40B4-BE49-F238E27FC236}">
                <a16:creationId xmlns:a16="http://schemas.microsoft.com/office/drawing/2014/main" id="{E6F71B72-E2BF-4A37-BA27-0F3918C12350}"/>
              </a:ext>
            </a:extLst>
          </p:cNvPr>
          <p:cNvSpPr>
            <a:spLocks xmlns:a="http://schemas.openxmlformats.org/drawingml/2006/main" noGrp="1"/>
          </p:cNvSpPr>
          <p:nvPr/>
        </p:nvSpPr>
        <p:spPr>
          <a:xfrm xmlns:a="http://schemas.openxmlformats.org/drawingml/2006/main">
            <a:off x="685800" y="52768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F4B94F"/>
                </a:solidFill>
                <a:latin typeface="Cascadia Mono"/>
                <a:ea typeface="Cascadia Mono"/>
                <a:cs typeface="Cascadia Mono"/>
              </a:defRPr>
            </a:pPr>
            <a:r>
              <a:rPr sz="1725" b="1">
                <a:solidFill>
                  <a:srgbClr val="F4B94F"/>
                </a:solidFill>
                <a:latin typeface="Cascadia Mono"/>
                <a:ea typeface="Cascadia Mono"/>
                <a:cs typeface="Cascadia Mono"/>
              </a:rPr>
              <a:t>Docker Compose</a:t>
            </a:r>
          </a:p>
        </p:txBody>
      </p:sp>
      <p:sp>
        <p:nvSpPr>
          <p:cNvPr id="25" name="">
            <a:extLst xmlns:a="http://schemas.openxmlformats.org/drawingml/2006/main">
              <a:ext uri="{FF2B5EF4-FFF2-40B4-BE49-F238E27FC236}">
                <a16:creationId xmlns:a16="http://schemas.microsoft.com/office/drawing/2014/main" id="{88C12178-8A61-4E86-BB38-BF3E2AD7F225}"/>
              </a:ext>
            </a:extLst>
          </p:cNvPr>
          <p:cNvSpPr>
            <a:spLocks xmlns:a="http://schemas.openxmlformats.org/drawingml/2006/main" noGrp="1"/>
          </p:cNvSpPr>
          <p:nvPr/>
        </p:nvSpPr>
        <p:spPr>
          <a:xfrm xmlns:a="http://schemas.openxmlformats.org/drawingml/2006/main">
            <a:off x="3714750" y="52768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091827"/>
                </a:solidFill>
                <a:latin typeface="Arial"/>
                <a:ea typeface="Arial"/>
                <a:cs typeface="Arial"/>
              </a:defRPr>
            </a:pPr>
            <a:r>
              <a:rPr sz="1725" b="0" lang="he-IL">
                <a:solidFill>
                  <a:srgbClr val="091827"/>
                </a:solidFill>
                <a:latin typeface="Arial"/>
                <a:ea typeface="Arial"/>
                <a:cs typeface="Arial"/>
              </a:rPr>
              <a:t>מעלה סביבה מקומית שחוזרת על עצמה ומבודדת שירותים</a:t>
            </a:r>
          </a:p>
        </p:txBody>
      </p:sp>
    </p:spTree>
    <p:extLst>
      <p:ext uri="{BB962C8B-B14F-4D97-AF65-F5344CB8AC3E}">
        <p14:creationId xmlns:p14="http://schemas.microsoft.com/office/powerpoint/2010/main" val="1398144173"/>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F20F49-3CB4-4077-B40A-447EABCE12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ABFF35-051C-4283-A07C-3D0F819260C0}"/>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PRODUCT EVIDENCE</a:t>
            </a:r>
          </a:p>
        </p:txBody>
      </p:sp>
      <p:sp>
        <p:nvSpPr>
          <p:cNvPr id="3" name="">
            <a:extLst xmlns:a="http://schemas.openxmlformats.org/drawingml/2006/main">
              <a:ext uri="{FF2B5EF4-FFF2-40B4-BE49-F238E27FC236}">
                <a16:creationId xmlns:a16="http://schemas.microsoft.com/office/drawing/2014/main" id="{6EB4B188-350A-43E7-987E-6796E02C14F8}"/>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המוצר מתחיל בנתון שאפשר לבדוק</a:t>
            </a:r>
          </a:p>
        </p:txBody>
      </p:sp>
      <p:sp>
        <p:nvSpPr>
          <p:cNvPr id="4" name="">
            <a:extLst xmlns:a="http://schemas.openxmlformats.org/drawingml/2006/main">
              <a:ext uri="{FF2B5EF4-FFF2-40B4-BE49-F238E27FC236}">
                <a16:creationId xmlns:a16="http://schemas.microsoft.com/office/drawing/2014/main" id="{C7D8B9AD-44BB-4DB4-B058-1602CC4D23F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07</a:t>
            </a:r>
          </a:p>
        </p:txBody>
      </p:sp>
      <p:sp>
        <p:nvSpPr>
          <p:cNvPr id="5" name="">
            <a:extLst xmlns:a="http://schemas.openxmlformats.org/drawingml/2006/main">
              <a:ext uri="{FF2B5EF4-FFF2-40B4-BE49-F238E27FC236}">
                <a16:creationId xmlns:a16="http://schemas.microsoft.com/office/drawing/2014/main" id="{7773AB5A-6BD3-43AC-9CD3-DA7A7BA9560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c17d3df0c42461a"/>
          <a:srcRect xmlns:a="http://schemas.openxmlformats.org/drawingml/2006/main" l="1048" t="0" r="1048" b="0"/>
          <a:stretch xmlns:a="http://schemas.openxmlformats.org/drawingml/2006/main">
            <a:fillRect l="0" t="0" r="0" b="0"/>
          </a:stretch>
        </p:blipFill>
        <p:spPr>
          <a:xfrm xmlns:a="http://schemas.openxmlformats.org/drawingml/2006/main">
            <a:off x="552450" y="1428750"/>
            <a:ext cx="7858125" cy="4514850"/>
          </a:xfrm>
          <a:prstGeom xmlns:a="http://schemas.openxmlformats.org/drawingml/2006/main" prst="roundRect">
            <a:avLst>
              <a:gd name="adj" fmla="val 2954"/>
            </a:avLst>
          </a:prstGeom>
        </p:spPr>
      </p:pic>
      <p:sp>
        <p:nvSpPr>
          <p:cNvPr id="7" name="">
            <a:extLst xmlns:a="http://schemas.openxmlformats.org/drawingml/2006/main">
              <a:ext uri="{FF2B5EF4-FFF2-40B4-BE49-F238E27FC236}">
                <a16:creationId xmlns:a16="http://schemas.microsoft.com/office/drawing/2014/main" id="{32384944-1798-480D-BBB1-D4FE9D1B9DE1}"/>
              </a:ext>
            </a:extLst>
          </p:cNvPr>
          <p:cNvSpPr>
            <a:spLocks xmlns:a="http://schemas.openxmlformats.org/drawingml/2006/main" noGrp="1"/>
          </p:cNvSpPr>
          <p:nvPr/>
        </p:nvSpPr>
        <p:spPr>
          <a:xfrm xmlns:a="http://schemas.openxmlformats.org/drawingml/2006/main">
            <a:off x="8743950" y="15240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091827"/>
                </a:solidFill>
                <a:latin typeface="Arial"/>
                <a:ea typeface="Arial"/>
                <a:cs typeface="Arial"/>
              </a:defRPr>
            </a:pPr>
            <a:r>
              <a:rPr sz="2250" b="1" lang="he-IL">
                <a:solidFill>
                  <a:srgbClr val="091827"/>
                </a:solidFill>
                <a:latin typeface="Arial"/>
                <a:ea typeface="Arial"/>
                <a:cs typeface="Arial"/>
              </a:rPr>
              <a:t>מסך המחקר הראשי</a:t>
            </a:r>
          </a:p>
        </p:txBody>
      </p:sp>
      <p:sp>
        <p:nvSpPr>
          <p:cNvPr id="8" name="">
            <a:extLst xmlns:a="http://schemas.openxmlformats.org/drawingml/2006/main">
              <a:ext uri="{FF2B5EF4-FFF2-40B4-BE49-F238E27FC236}">
                <a16:creationId xmlns:a16="http://schemas.microsoft.com/office/drawing/2014/main" id="{1B2A737E-0627-479C-8B18-5349E0497C50}"/>
              </a:ext>
            </a:extLst>
          </p:cNvPr>
          <p:cNvSpPr>
            <a:spLocks xmlns:a="http://schemas.openxmlformats.org/drawingml/2006/main" noGrp="1"/>
          </p:cNvSpPr>
          <p:nvPr/>
        </p:nvSpPr>
        <p:spPr>
          <a:xfrm xmlns:a="http://schemas.openxmlformats.org/drawingml/2006/main">
            <a:off x="8743950" y="211455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5B6B78"/>
                </a:solidFill>
                <a:latin typeface="Arial"/>
                <a:ea typeface="Arial"/>
                <a:cs typeface="Arial"/>
              </a:defRPr>
            </a:pPr>
            <a:r>
              <a:rPr sz="1650" b="0" lang="he-IL">
                <a:solidFill>
                  <a:srgbClr val="5B6B78"/>
                </a:solidFill>
                <a:latin typeface="Arial"/>
                <a:ea typeface="Arial"/>
                <a:cs typeface="Arial"/>
              </a:rPr>
              <a:t>מחיר, נפח, Indicators, דיווחי חברה וטריות נתונים במקום אחד.</a:t>
            </a:r>
          </a:p>
        </p:txBody>
      </p:sp>
      <p:sp>
        <p:nvSpPr>
          <p:cNvPr id="9" name="">
            <a:extLst xmlns:a="http://schemas.openxmlformats.org/drawingml/2006/main">
              <a:ext uri="{FF2B5EF4-FFF2-40B4-BE49-F238E27FC236}">
                <a16:creationId xmlns:a16="http://schemas.microsoft.com/office/drawing/2014/main" id="{1A5E25A3-7FAF-4FBF-BA75-41A9FEBD9524}"/>
              </a:ext>
            </a:extLst>
          </p:cNvPr>
          <p:cNvSpPr>
            <a:spLocks xmlns:a="http://schemas.openxmlformats.org/drawingml/2006/main" noGrp="1"/>
          </p:cNvSpPr>
          <p:nvPr/>
        </p:nvSpPr>
        <p:spPr>
          <a:xfrm xmlns:a="http://schemas.openxmlformats.org/drawingml/2006/main">
            <a:off x="8743950" y="3143250"/>
            <a:ext cx="283845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10" name="">
            <a:extLst xmlns:a="http://schemas.openxmlformats.org/drawingml/2006/main">
              <a:ext uri="{FF2B5EF4-FFF2-40B4-BE49-F238E27FC236}">
                <a16:creationId xmlns:a16="http://schemas.microsoft.com/office/drawing/2014/main" id="{BC022359-8FAC-44FE-9752-CA7E80169763}"/>
              </a:ext>
            </a:extLst>
          </p:cNvPr>
          <p:cNvSpPr>
            <a:spLocks xmlns:a="http://schemas.openxmlformats.org/drawingml/2006/main" noGrp="1"/>
          </p:cNvSpPr>
          <p:nvPr/>
        </p:nvSpPr>
        <p:spPr>
          <a:xfrm xmlns:a="http://schemas.openxmlformats.org/drawingml/2006/main">
            <a:off x="8743950" y="33718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117C70"/>
                </a:solidFill>
                <a:latin typeface="Cascadia Mono"/>
                <a:ea typeface="Cascadia Mono"/>
                <a:cs typeface="Cascadia Mono"/>
              </a:defRPr>
            </a:pPr>
            <a:r>
              <a:rPr sz="1950" b="1">
                <a:solidFill>
                  <a:srgbClr val="117C70"/>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11B7BC30-379E-474B-A770-6F2DA9ABDF36}"/>
              </a:ext>
            </a:extLst>
          </p:cNvPr>
          <p:cNvSpPr>
            <a:spLocks xmlns:a="http://schemas.openxmlformats.org/drawingml/2006/main" noGrp="1"/>
          </p:cNvSpPr>
          <p:nvPr/>
        </p:nvSpPr>
        <p:spPr>
          <a:xfrm xmlns:a="http://schemas.openxmlformats.org/drawingml/2006/main">
            <a:off x="10001250" y="34099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5B6B78"/>
                </a:solidFill>
                <a:latin typeface="Arial"/>
                <a:ea typeface="Arial"/>
                <a:cs typeface="Arial"/>
              </a:defRPr>
            </a:pPr>
            <a:r>
              <a:rPr sz="1425" b="0" lang="he-IL">
                <a:solidFill>
                  <a:srgbClr val="5B6B78"/>
                </a:solidFill>
                <a:latin typeface="Arial"/>
                <a:ea typeface="Arial"/>
                <a:cs typeface="Arial"/>
              </a:rPr>
              <a:t>נכסים במעקב</a:t>
            </a:r>
          </a:p>
        </p:txBody>
      </p:sp>
      <p:sp>
        <p:nvSpPr>
          <p:cNvPr id="12" name="">
            <a:extLst xmlns:a="http://schemas.openxmlformats.org/drawingml/2006/main">
              <a:ext uri="{FF2B5EF4-FFF2-40B4-BE49-F238E27FC236}">
                <a16:creationId xmlns:a16="http://schemas.microsoft.com/office/drawing/2014/main" id="{3578C221-4CD2-41A9-B559-03883F612B47}"/>
              </a:ext>
            </a:extLst>
          </p:cNvPr>
          <p:cNvSpPr>
            <a:spLocks xmlns:a="http://schemas.openxmlformats.org/drawingml/2006/main" noGrp="1"/>
          </p:cNvSpPr>
          <p:nvPr/>
        </p:nvSpPr>
        <p:spPr>
          <a:xfrm xmlns:a="http://schemas.openxmlformats.org/drawingml/2006/main">
            <a:off x="8743950" y="4152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5B91FF"/>
                </a:solidFill>
                <a:latin typeface="Cascadia Mono"/>
                <a:ea typeface="Cascadia Mono"/>
                <a:cs typeface="Cascadia Mono"/>
              </a:defRPr>
            </a:pPr>
            <a:r>
              <a:rPr sz="1950" b="1">
                <a:solidFill>
                  <a:srgbClr val="5B91FF"/>
                </a:solidFill>
                <a:latin typeface="Cascadia Mono"/>
                <a:ea typeface="Cascadia Mono"/>
                <a:cs typeface="Cascadia Mono"/>
              </a:rPr>
              <a:t>57,217</a:t>
            </a:r>
          </a:p>
        </p:txBody>
      </p:sp>
      <p:sp>
        <p:nvSpPr>
          <p:cNvPr id="13" name="">
            <a:extLst xmlns:a="http://schemas.openxmlformats.org/drawingml/2006/main">
              <a:ext uri="{FF2B5EF4-FFF2-40B4-BE49-F238E27FC236}">
                <a16:creationId xmlns:a16="http://schemas.microsoft.com/office/drawing/2014/main" id="{68D42882-6CF8-4EE4-99B6-73FCDF1EC2A0}"/>
              </a:ext>
            </a:extLst>
          </p:cNvPr>
          <p:cNvSpPr>
            <a:spLocks xmlns:a="http://schemas.openxmlformats.org/drawingml/2006/main" noGrp="1"/>
          </p:cNvSpPr>
          <p:nvPr/>
        </p:nvSpPr>
        <p:spPr>
          <a:xfrm xmlns:a="http://schemas.openxmlformats.org/drawingml/2006/main">
            <a:off x="10001250" y="41910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5B6B78"/>
                </a:solidFill>
                <a:latin typeface="Arial"/>
                <a:ea typeface="Arial"/>
                <a:cs typeface="Arial"/>
              </a:defRPr>
            </a:pPr>
            <a:r>
              <a:rPr sz="1425" b="0" lang="he-IL">
                <a:solidFill>
                  <a:srgbClr val="5B6B78"/>
                </a:solidFill>
                <a:latin typeface="Arial"/>
                <a:ea typeface="Arial"/>
                <a:cs typeface="Arial"/>
              </a:rPr>
              <a:t>רשומות Gold</a:t>
            </a:r>
          </a:p>
        </p:txBody>
      </p:sp>
      <p:sp>
        <p:nvSpPr>
          <p:cNvPr id="14" name="">
            <a:extLst xmlns:a="http://schemas.openxmlformats.org/drawingml/2006/main">
              <a:ext uri="{FF2B5EF4-FFF2-40B4-BE49-F238E27FC236}">
                <a16:creationId xmlns:a16="http://schemas.microsoft.com/office/drawing/2014/main" id="{C24DD6A9-5C60-4E86-89C7-35993B84CDBC}"/>
              </a:ext>
            </a:extLst>
          </p:cNvPr>
          <p:cNvSpPr>
            <a:spLocks xmlns:a="http://schemas.openxmlformats.org/drawingml/2006/main" noGrp="1"/>
          </p:cNvSpPr>
          <p:nvPr/>
        </p:nvSpPr>
        <p:spPr>
          <a:xfrm xmlns:a="http://schemas.openxmlformats.org/drawingml/2006/main">
            <a:off x="8743950" y="49339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117C70"/>
                </a:solidFill>
                <a:latin typeface="Cascadia Mono"/>
                <a:ea typeface="Cascadia Mono"/>
                <a:cs typeface="Cascadia Mono"/>
              </a:defRPr>
            </a:pPr>
            <a:r>
              <a:rPr sz="1950" b="1">
                <a:solidFill>
                  <a:srgbClr val="117C70"/>
                </a:solidFill>
                <a:latin typeface="Cascadia Mono"/>
                <a:ea typeface="Cascadia Mono"/>
                <a:cs typeface="Cascadia Mono"/>
              </a:rPr>
              <a:t>937</a:t>
            </a:r>
          </a:p>
        </p:txBody>
      </p:sp>
      <p:sp>
        <p:nvSpPr>
          <p:cNvPr id="15" name="">
            <a:extLst xmlns:a="http://schemas.openxmlformats.org/drawingml/2006/main">
              <a:ext uri="{FF2B5EF4-FFF2-40B4-BE49-F238E27FC236}">
                <a16:creationId xmlns:a16="http://schemas.microsoft.com/office/drawing/2014/main" id="{B454647F-DFDF-443C-AA4A-639BDA3B057A}"/>
              </a:ext>
            </a:extLst>
          </p:cNvPr>
          <p:cNvSpPr>
            <a:spLocks xmlns:a="http://schemas.openxmlformats.org/drawingml/2006/main" noGrp="1"/>
          </p:cNvSpPr>
          <p:nvPr/>
        </p:nvSpPr>
        <p:spPr>
          <a:xfrm xmlns:a="http://schemas.openxmlformats.org/drawingml/2006/main">
            <a:off x="10001250" y="49720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5B6B78"/>
                </a:solidFill>
                <a:latin typeface="Arial"/>
                <a:ea typeface="Arial"/>
                <a:cs typeface="Arial"/>
              </a:defRPr>
            </a:pPr>
            <a:r>
              <a:rPr sz="1425" b="0" lang="he-IL">
                <a:solidFill>
                  <a:srgbClr val="5B6B78"/>
                </a:solidFill>
                <a:latin typeface="Arial"/>
                <a:ea typeface="Arial"/>
                <a:cs typeface="Arial"/>
              </a:rPr>
              <a:t>דיווחי SEC</a:t>
            </a:r>
          </a:p>
        </p:txBody>
      </p:sp>
    </p:spTree>
    <p:extLst>
      <p:ext uri="{BB962C8B-B14F-4D97-AF65-F5344CB8AC3E}">
        <p14:creationId xmlns:p14="http://schemas.microsoft.com/office/powerpoint/2010/main" val="2067266895"/>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E873DD0-F298-41F4-A3E3-8DEC52C8DA4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C308FC-F233-47D8-AEC0-1711B1F5DEB8}"/>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DECISION INTELLIGENCE</a:t>
            </a:r>
          </a:p>
        </p:txBody>
      </p:sp>
      <p:sp>
        <p:nvSpPr>
          <p:cNvPr id="3" name="">
            <a:extLst xmlns:a="http://schemas.openxmlformats.org/drawingml/2006/main">
              <a:ext uri="{FF2B5EF4-FFF2-40B4-BE49-F238E27FC236}">
                <a16:creationId xmlns:a16="http://schemas.microsoft.com/office/drawing/2014/main" id="{8D1CBC28-0721-42D9-AE63-779883A3D685}"/>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מתוצאה טכנית לתרחיש החלטה</a:t>
            </a:r>
          </a:p>
        </p:txBody>
      </p:sp>
      <p:sp>
        <p:nvSpPr>
          <p:cNvPr id="4" name="">
            <a:extLst xmlns:a="http://schemas.openxmlformats.org/drawingml/2006/main">
              <a:ext uri="{FF2B5EF4-FFF2-40B4-BE49-F238E27FC236}">
                <a16:creationId xmlns:a16="http://schemas.microsoft.com/office/drawing/2014/main" id="{72F50387-A19C-4C49-B892-3527D08FABCA}"/>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08</a:t>
            </a:r>
          </a:p>
        </p:txBody>
      </p:sp>
      <p:sp>
        <p:nvSpPr>
          <p:cNvPr id="5" name="">
            <a:extLst xmlns:a="http://schemas.openxmlformats.org/drawingml/2006/main">
              <a:ext uri="{FF2B5EF4-FFF2-40B4-BE49-F238E27FC236}">
                <a16:creationId xmlns:a16="http://schemas.microsoft.com/office/drawing/2014/main" id="{9079ADA1-E1A3-43F1-9B6D-1D8C4E72C5ED}"/>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cd9c25e5cf746be"/>
          <a:srcRect xmlns:a="http://schemas.openxmlformats.org/drawingml/2006/main" l="2553" t="0" r="2553" b="0"/>
          <a:stretch xmlns:a="http://schemas.openxmlformats.org/drawingml/2006/main">
            <a:fillRect l="0" t="0" r="0" b="0"/>
          </a:stretch>
        </p:blipFill>
        <p:spPr>
          <a:xfrm xmlns:a="http://schemas.openxmlformats.org/drawingml/2006/main">
            <a:off x="457200" y="1352550"/>
            <a:ext cx="7905750" cy="4686300"/>
          </a:xfrm>
          <a:prstGeom xmlns:a="http://schemas.openxmlformats.org/drawingml/2006/main" prst="roundRect">
            <a:avLst>
              <a:gd name="adj" fmla="val 2846"/>
            </a:avLst>
          </a:prstGeom>
        </p:spPr>
      </p:pic>
      <p:sp>
        <p:nvSpPr>
          <p:cNvPr id="7" name="">
            <a:extLst xmlns:a="http://schemas.openxmlformats.org/drawingml/2006/main">
              <a:ext uri="{FF2B5EF4-FFF2-40B4-BE49-F238E27FC236}">
                <a16:creationId xmlns:a16="http://schemas.microsoft.com/office/drawing/2014/main" id="{1CFD43F8-C567-428C-93DB-322EB8BAA537}"/>
              </a:ext>
            </a:extLst>
          </p:cNvPr>
          <p:cNvSpPr>
            <a:spLocks xmlns:a="http://schemas.openxmlformats.org/drawingml/2006/main" noGrp="1"/>
          </p:cNvSpPr>
          <p:nvPr/>
        </p:nvSpPr>
        <p:spPr>
          <a:xfrm xmlns:a="http://schemas.openxmlformats.org/drawingml/2006/main">
            <a:off x="8763000" y="146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100" b="1" lang="he-IL">
                <a:solidFill>
                  <a:srgbClr val="091827"/>
                </a:solidFill>
                <a:latin typeface="Arial"/>
                <a:ea typeface="Arial"/>
                <a:cs typeface="Arial"/>
              </a:defRPr>
            </a:pPr>
            <a:r>
              <a:rPr sz="2100" b="1" lang="he-IL">
                <a:solidFill>
                  <a:srgbClr val="091827"/>
                </a:solidFill>
                <a:latin typeface="Arial"/>
                <a:ea typeface="Arial"/>
                <a:cs typeface="Arial"/>
              </a:rPr>
              <a:t>לא מחיר קסם</a:t>
            </a:r>
          </a:p>
        </p:txBody>
      </p:sp>
      <p:sp>
        <p:nvSpPr>
          <p:cNvPr id="8" name="">
            <a:extLst xmlns:a="http://schemas.openxmlformats.org/drawingml/2006/main">
              <a:ext uri="{FF2B5EF4-FFF2-40B4-BE49-F238E27FC236}">
                <a16:creationId xmlns:a16="http://schemas.microsoft.com/office/drawing/2014/main" id="{539ECF10-7ECC-48BC-934D-57E132496B45}"/>
              </a:ext>
            </a:extLst>
          </p:cNvPr>
          <p:cNvSpPr>
            <a:spLocks xmlns:a="http://schemas.openxmlformats.org/drawingml/2006/main" noGrp="1"/>
          </p:cNvSpPr>
          <p:nvPr/>
        </p:nvSpPr>
        <p:spPr>
          <a:xfrm xmlns:a="http://schemas.openxmlformats.org/drawingml/2006/main">
            <a:off x="8763000" y="21145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BUY ZONE</a:t>
            </a:r>
          </a:p>
        </p:txBody>
      </p:sp>
      <p:sp>
        <p:nvSpPr>
          <p:cNvPr id="9" name="">
            <a:extLst xmlns:a="http://schemas.openxmlformats.org/drawingml/2006/main">
              <a:ext uri="{FF2B5EF4-FFF2-40B4-BE49-F238E27FC236}">
                <a16:creationId xmlns:a16="http://schemas.microsoft.com/office/drawing/2014/main" id="{B6B518FC-1C5D-40DF-BA6E-E3FB3239AA68}"/>
              </a:ext>
            </a:extLst>
          </p:cNvPr>
          <p:cNvSpPr>
            <a:spLocks xmlns:a="http://schemas.openxmlformats.org/drawingml/2006/main" noGrp="1"/>
          </p:cNvSpPr>
          <p:nvPr/>
        </p:nvSpPr>
        <p:spPr>
          <a:xfrm xmlns:a="http://schemas.openxmlformats.org/drawingml/2006/main">
            <a:off x="8763000" y="23812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טווח כניסה</a:t>
            </a:r>
          </a:p>
        </p:txBody>
      </p:sp>
      <p:sp>
        <p:nvSpPr>
          <p:cNvPr id="10" name="">
            <a:extLst xmlns:a="http://schemas.openxmlformats.org/drawingml/2006/main">
              <a:ext uri="{FF2B5EF4-FFF2-40B4-BE49-F238E27FC236}">
                <a16:creationId xmlns:a16="http://schemas.microsoft.com/office/drawing/2014/main" id="{0D47EDD7-628B-4456-B9AD-18B05FE1A740}"/>
              </a:ext>
            </a:extLst>
          </p:cNvPr>
          <p:cNvSpPr>
            <a:spLocks xmlns:a="http://schemas.openxmlformats.org/drawingml/2006/main" noGrp="1"/>
          </p:cNvSpPr>
          <p:nvPr/>
        </p:nvSpPr>
        <p:spPr>
          <a:xfrm xmlns:a="http://schemas.openxmlformats.org/drawingml/2006/main">
            <a:off x="8763000" y="28003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STOP</a:t>
            </a:r>
          </a:p>
        </p:txBody>
      </p:sp>
      <p:sp>
        <p:nvSpPr>
          <p:cNvPr id="11" name="">
            <a:extLst xmlns:a="http://schemas.openxmlformats.org/drawingml/2006/main">
              <a:ext uri="{FF2B5EF4-FFF2-40B4-BE49-F238E27FC236}">
                <a16:creationId xmlns:a16="http://schemas.microsoft.com/office/drawing/2014/main" id="{7AF0FBEA-0D7B-4631-89BE-623C7A980E0D}"/>
              </a:ext>
            </a:extLst>
          </p:cNvPr>
          <p:cNvSpPr>
            <a:spLocks xmlns:a="http://schemas.openxmlformats.org/drawingml/2006/main" noGrp="1"/>
          </p:cNvSpPr>
          <p:nvPr/>
        </p:nvSpPr>
        <p:spPr>
          <a:xfrm xmlns:a="http://schemas.openxmlformats.org/drawingml/2006/main">
            <a:off x="8763000" y="30670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נקודת ביטול</a:t>
            </a:r>
          </a:p>
        </p:txBody>
      </p:sp>
      <p:sp>
        <p:nvSpPr>
          <p:cNvPr id="12" name="">
            <a:extLst xmlns:a="http://schemas.openxmlformats.org/drawingml/2006/main">
              <a:ext uri="{FF2B5EF4-FFF2-40B4-BE49-F238E27FC236}">
                <a16:creationId xmlns:a16="http://schemas.microsoft.com/office/drawing/2014/main" id="{05231E0A-EF45-4927-BD92-7ED5D83BA634}"/>
              </a:ext>
            </a:extLst>
          </p:cNvPr>
          <p:cNvSpPr>
            <a:spLocks xmlns:a="http://schemas.openxmlformats.org/drawingml/2006/main" noGrp="1"/>
          </p:cNvSpPr>
          <p:nvPr/>
        </p:nvSpPr>
        <p:spPr>
          <a:xfrm xmlns:a="http://schemas.openxmlformats.org/drawingml/2006/main">
            <a:off x="8763000" y="34861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TARGET 1 / 2</a:t>
            </a:r>
          </a:p>
        </p:txBody>
      </p:sp>
      <p:sp>
        <p:nvSpPr>
          <p:cNvPr id="13" name="">
            <a:extLst xmlns:a="http://schemas.openxmlformats.org/drawingml/2006/main">
              <a:ext uri="{FF2B5EF4-FFF2-40B4-BE49-F238E27FC236}">
                <a16:creationId xmlns:a16="http://schemas.microsoft.com/office/drawing/2014/main" id="{1DCFF4DB-A2B2-49A5-9719-4E20AC568A2C}"/>
              </a:ext>
            </a:extLst>
          </p:cNvPr>
          <p:cNvSpPr>
            <a:spLocks xmlns:a="http://schemas.openxmlformats.org/drawingml/2006/main" noGrp="1"/>
          </p:cNvSpPr>
          <p:nvPr/>
        </p:nvSpPr>
        <p:spPr>
          <a:xfrm xmlns:a="http://schemas.openxmlformats.org/drawingml/2006/main">
            <a:off x="8763000" y="37528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שני תרחישי מימוש</a:t>
            </a:r>
          </a:p>
        </p:txBody>
      </p:sp>
      <p:sp>
        <p:nvSpPr>
          <p:cNvPr id="14" name="">
            <a:extLst xmlns:a="http://schemas.openxmlformats.org/drawingml/2006/main">
              <a:ext uri="{FF2B5EF4-FFF2-40B4-BE49-F238E27FC236}">
                <a16:creationId xmlns:a16="http://schemas.microsoft.com/office/drawing/2014/main" id="{E974B2A7-513F-41EB-85E6-C3246B705B6C}"/>
              </a:ext>
            </a:extLst>
          </p:cNvPr>
          <p:cNvSpPr>
            <a:spLocks xmlns:a="http://schemas.openxmlformats.org/drawingml/2006/main" noGrp="1"/>
          </p:cNvSpPr>
          <p:nvPr/>
        </p:nvSpPr>
        <p:spPr>
          <a:xfrm xmlns:a="http://schemas.openxmlformats.org/drawingml/2006/main">
            <a:off x="8763000" y="41719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RISK / REWARD</a:t>
            </a:r>
          </a:p>
        </p:txBody>
      </p:sp>
      <p:sp>
        <p:nvSpPr>
          <p:cNvPr id="15" name="">
            <a:extLst xmlns:a="http://schemas.openxmlformats.org/drawingml/2006/main">
              <a:ext uri="{FF2B5EF4-FFF2-40B4-BE49-F238E27FC236}">
                <a16:creationId xmlns:a16="http://schemas.microsoft.com/office/drawing/2014/main" id="{096ACAB8-390E-4189-A9C4-23D85EF1582D}"/>
              </a:ext>
            </a:extLst>
          </p:cNvPr>
          <p:cNvSpPr>
            <a:spLocks xmlns:a="http://schemas.openxmlformats.org/drawingml/2006/main" noGrp="1"/>
          </p:cNvSpPr>
          <p:nvPr/>
        </p:nvSpPr>
        <p:spPr>
          <a:xfrm xmlns:a="http://schemas.openxmlformats.org/drawingml/2006/main">
            <a:off x="8763000" y="44386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סיכון מול פוטנציאל</a:t>
            </a:r>
          </a:p>
        </p:txBody>
      </p:sp>
      <p:sp>
        <p:nvSpPr>
          <p:cNvPr id="16" name="">
            <a:extLst xmlns:a="http://schemas.openxmlformats.org/drawingml/2006/main">
              <a:ext uri="{FF2B5EF4-FFF2-40B4-BE49-F238E27FC236}">
                <a16:creationId xmlns:a16="http://schemas.microsoft.com/office/drawing/2014/main" id="{7E80ED6D-A1A6-4AF4-BC13-2E37918BE86C}"/>
              </a:ext>
            </a:extLst>
          </p:cNvPr>
          <p:cNvSpPr>
            <a:spLocks xmlns:a="http://schemas.openxmlformats.org/drawingml/2006/main" noGrp="1"/>
          </p:cNvSpPr>
          <p:nvPr/>
        </p:nvSpPr>
        <p:spPr>
          <a:xfrm xmlns:a="http://schemas.openxmlformats.org/drawingml/2006/main">
            <a:off x="8763000" y="4953000"/>
            <a:ext cx="2762250" cy="19050"/>
          </a:xfrm>
          <a:prstGeom xmlns:a="http://schemas.openxmlformats.org/drawingml/2006/main" prst="rect">
            <a:avLst/>
          </a:prstGeom>
          <a:solidFill xmlns:a="http://schemas.openxmlformats.org/drawingml/2006/main">
            <a:srgbClr val="C9D2D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2799970-D90A-4F82-A1E5-6BAE1ADDA8BC}"/>
              </a:ext>
            </a:extLst>
          </p:cNvPr>
          <p:cNvSpPr>
            <a:spLocks xmlns:a="http://schemas.openxmlformats.org/drawingml/2006/main" noGrp="1"/>
          </p:cNvSpPr>
          <p:nvPr/>
        </p:nvSpPr>
        <p:spPr>
          <a:xfrm xmlns:a="http://schemas.openxmlformats.org/drawingml/2006/main">
            <a:off x="8763000" y="52006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4B94F"/>
                </a:solidFill>
                <a:latin typeface="Cascadia Mono"/>
                <a:ea typeface="Cascadia Mono"/>
                <a:cs typeface="Cascadia Mono"/>
              </a:defRPr>
            </a:pPr>
            <a:r>
              <a:rPr sz="1800" b="1">
                <a:solidFill>
                  <a:srgbClr val="F4B94F"/>
                </a:solidFill>
                <a:latin typeface="Cascadia Mono"/>
                <a:ea typeface="Cascadia Mono"/>
                <a:cs typeface="Cascadia Mono"/>
              </a:rPr>
              <a:t>1 / 20</a:t>
            </a:r>
          </a:p>
        </p:txBody>
      </p:sp>
      <p:sp>
        <p:nvSpPr>
          <p:cNvPr id="18" name="">
            <a:extLst xmlns:a="http://schemas.openxmlformats.org/drawingml/2006/main">
              <a:ext uri="{FF2B5EF4-FFF2-40B4-BE49-F238E27FC236}">
                <a16:creationId xmlns:a16="http://schemas.microsoft.com/office/drawing/2014/main" id="{DFC2D376-F8FA-4B25-9B1F-EFA7E2D31A82}"/>
              </a:ext>
            </a:extLst>
          </p:cNvPr>
          <p:cNvSpPr>
            <a:spLocks xmlns:a="http://schemas.openxmlformats.org/drawingml/2006/main" noGrp="1"/>
          </p:cNvSpPr>
          <p:nvPr/>
        </p:nvSpPr>
        <p:spPr>
          <a:xfrm xmlns:a="http://schemas.openxmlformats.org/drawingml/2006/main">
            <a:off x="9791700" y="52387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5B6B78"/>
                </a:solidFill>
                <a:latin typeface="Arial"/>
                <a:ea typeface="Arial"/>
                <a:cs typeface="Arial"/>
              </a:defRPr>
            </a:pPr>
            <a:r>
              <a:rPr sz="1350" b="0" lang="he-IL">
                <a:solidFill>
                  <a:srgbClr val="5B6B78"/>
                </a:solidFill>
                <a:latin typeface="Arial"/>
                <a:ea typeface="Arial"/>
                <a:cs typeface="Arial"/>
              </a:rPr>
              <a:t>ימי Shadow Mode חיים</a:t>
            </a:r>
          </a:p>
        </p:txBody>
      </p:sp>
      <p:sp>
        <p:nvSpPr>
          <p:cNvPr id="19" name="">
            <a:extLst xmlns:a="http://schemas.openxmlformats.org/drawingml/2006/main">
              <a:ext uri="{FF2B5EF4-FFF2-40B4-BE49-F238E27FC236}">
                <a16:creationId xmlns:a16="http://schemas.microsoft.com/office/drawing/2014/main" id="{626D8E71-DECF-4EB4-BF66-FF7EAF74E938}"/>
              </a:ext>
            </a:extLst>
          </p:cNvPr>
          <p:cNvSpPr>
            <a:spLocks xmlns:a="http://schemas.openxmlformats.org/drawingml/2006/main" noGrp="1"/>
          </p:cNvSpPr>
          <p:nvPr/>
        </p:nvSpPr>
        <p:spPr>
          <a:xfrm xmlns:a="http://schemas.openxmlformats.org/drawingml/2006/main">
            <a:off x="8763000" y="56197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אין פקודה, אין הבטחת תשואה</a:t>
            </a:r>
          </a:p>
        </p:txBody>
      </p:sp>
    </p:spTree>
    <p:extLst>
      <p:ext uri="{BB962C8B-B14F-4D97-AF65-F5344CB8AC3E}">
        <p14:creationId xmlns:p14="http://schemas.microsoft.com/office/powerpoint/2010/main" val="1509450210"/>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6C0C3F-14AD-4FD9-9DF8-01DAA43B47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D27987-DB4C-4169-88F7-FF3DE135CDA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HISTORICAL VALIDATION</a:t>
            </a:r>
          </a:p>
        </p:txBody>
      </p:sp>
      <p:sp>
        <p:nvSpPr>
          <p:cNvPr id="3" name="">
            <a:extLst xmlns:a="http://schemas.openxmlformats.org/drawingml/2006/main">
              <a:ext uri="{FF2B5EF4-FFF2-40B4-BE49-F238E27FC236}">
                <a16:creationId xmlns:a16="http://schemas.microsoft.com/office/drawing/2014/main" id="{0FC24B41-AC31-43FA-93CB-1D4FC9188D0A}"/>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היסטוריה שנבדקת בלי לייפות</a:t>
            </a:r>
          </a:p>
        </p:txBody>
      </p:sp>
      <p:sp>
        <p:nvSpPr>
          <p:cNvPr id="4" name="">
            <a:extLst xmlns:a="http://schemas.openxmlformats.org/drawingml/2006/main">
              <a:ext uri="{FF2B5EF4-FFF2-40B4-BE49-F238E27FC236}">
                <a16:creationId xmlns:a16="http://schemas.microsoft.com/office/drawing/2014/main" id="{B028A6CD-25D8-4AB1-B17C-10BA65792BAC}"/>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09</a:t>
            </a:r>
          </a:p>
        </p:txBody>
      </p:sp>
      <p:sp>
        <p:nvSpPr>
          <p:cNvPr id="5" name="">
            <a:extLst xmlns:a="http://schemas.openxmlformats.org/drawingml/2006/main">
              <a:ext uri="{FF2B5EF4-FFF2-40B4-BE49-F238E27FC236}">
                <a16:creationId xmlns:a16="http://schemas.microsoft.com/office/drawing/2014/main" id="{837599E8-9C44-40C7-85C7-7F242879ED29}"/>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1bc3c19c0b8439a"/>
          <a:srcRect xmlns:a="http://schemas.openxmlformats.org/drawingml/2006/main" l="1389" t="0" r="1389" b="0"/>
          <a:stretch xmlns:a="http://schemas.openxmlformats.org/drawingml/2006/main">
            <a:fillRect l="0" t="0" r="0" b="0"/>
          </a:stretch>
        </p:blipFill>
        <p:spPr>
          <a:xfrm xmlns:a="http://schemas.openxmlformats.org/drawingml/2006/main">
            <a:off x="495300" y="1276350"/>
            <a:ext cx="8001000" cy="4629150"/>
          </a:xfrm>
          <a:prstGeom xmlns:a="http://schemas.openxmlformats.org/drawingml/2006/main" prst="roundRect">
            <a:avLst>
              <a:gd name="adj" fmla="val 2881"/>
            </a:avLst>
          </a:prstGeom>
        </p:spPr>
      </p:pic>
      <p:sp>
        <p:nvSpPr>
          <p:cNvPr id="7" name="">
            <a:extLst xmlns:a="http://schemas.openxmlformats.org/drawingml/2006/main">
              <a:ext uri="{FF2B5EF4-FFF2-40B4-BE49-F238E27FC236}">
                <a16:creationId xmlns:a16="http://schemas.microsoft.com/office/drawing/2014/main" id="{74632101-DE83-4EE9-B47C-5AC54A867673}"/>
              </a:ext>
            </a:extLst>
          </p:cNvPr>
          <p:cNvSpPr>
            <a:spLocks xmlns:a="http://schemas.openxmlformats.org/drawingml/2006/main" noGrp="1"/>
          </p:cNvSpPr>
          <p:nvPr/>
        </p:nvSpPr>
        <p:spPr>
          <a:xfrm xmlns:a="http://schemas.openxmlformats.org/drawingml/2006/main">
            <a:off x="8858250" y="1409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950" b="1" lang="he-IL">
                <a:solidFill>
                  <a:srgbClr val="091827"/>
                </a:solidFill>
                <a:latin typeface="Arial"/>
                <a:ea typeface="Arial"/>
                <a:cs typeface="Arial"/>
              </a:defRPr>
            </a:pPr>
            <a:r>
              <a:rPr sz="1950" b="1" lang="he-IL">
                <a:solidFill>
                  <a:srgbClr val="091827"/>
                </a:solidFill>
                <a:latin typeface="Arial"/>
                <a:ea typeface="Arial"/>
                <a:cs typeface="Arial"/>
              </a:rPr>
              <a:t>ריצה מאושרת</a:t>
            </a:r>
          </a:p>
        </p:txBody>
      </p:sp>
      <p:sp>
        <p:nvSpPr>
          <p:cNvPr id="8" name="">
            <a:extLst xmlns:a="http://schemas.openxmlformats.org/drawingml/2006/main">
              <a:ext uri="{FF2B5EF4-FFF2-40B4-BE49-F238E27FC236}">
                <a16:creationId xmlns:a16="http://schemas.microsoft.com/office/drawing/2014/main" id="{565B9638-B30D-4907-8943-93ADC85B69D8}"/>
              </a:ext>
            </a:extLst>
          </p:cNvPr>
          <p:cNvSpPr>
            <a:spLocks xmlns:a="http://schemas.openxmlformats.org/drawingml/2006/main" noGrp="1"/>
          </p:cNvSpPr>
          <p:nvPr/>
        </p:nvSpPr>
        <p:spPr>
          <a:xfrm xmlns:a="http://schemas.openxmlformats.org/drawingml/2006/main">
            <a:off x="8858250" y="20574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117C70"/>
                </a:solidFill>
                <a:latin typeface="Cascadia Mono"/>
                <a:ea typeface="Cascadia Mono"/>
                <a:cs typeface="Cascadia Mono"/>
              </a:defRPr>
            </a:pPr>
            <a:r>
              <a:rPr sz="2400" b="1">
                <a:solidFill>
                  <a:srgbClr val="117C70"/>
                </a:solidFill>
                <a:latin typeface="Cascadia Mono"/>
                <a:ea typeface="Cascadia Mono"/>
                <a:cs typeface="Cascadia Mono"/>
              </a:rPr>
              <a:t>41</a:t>
            </a:r>
          </a:p>
        </p:txBody>
      </p:sp>
      <p:sp>
        <p:nvSpPr>
          <p:cNvPr id="9" name="">
            <a:extLst xmlns:a="http://schemas.openxmlformats.org/drawingml/2006/main">
              <a:ext uri="{FF2B5EF4-FFF2-40B4-BE49-F238E27FC236}">
                <a16:creationId xmlns:a16="http://schemas.microsoft.com/office/drawing/2014/main" id="{AE6094F9-5D9A-4179-B416-D9FC869B6F85}"/>
              </a:ext>
            </a:extLst>
          </p:cNvPr>
          <p:cNvSpPr>
            <a:spLocks xmlns:a="http://schemas.openxmlformats.org/drawingml/2006/main" noGrp="1"/>
          </p:cNvSpPr>
          <p:nvPr/>
        </p:nvSpPr>
        <p:spPr>
          <a:xfrm xmlns:a="http://schemas.openxmlformats.org/drawingml/2006/main">
            <a:off x="8858250" y="24860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ימי מסחר מאושרים</a:t>
            </a:r>
          </a:p>
        </p:txBody>
      </p:sp>
      <p:sp>
        <p:nvSpPr>
          <p:cNvPr id="10" name="">
            <a:extLst xmlns:a="http://schemas.openxmlformats.org/drawingml/2006/main">
              <a:ext uri="{FF2B5EF4-FFF2-40B4-BE49-F238E27FC236}">
                <a16:creationId xmlns:a16="http://schemas.microsoft.com/office/drawing/2014/main" id="{FCD1CABC-B8FD-43B8-AE76-6881B84CB2D9}"/>
              </a:ext>
            </a:extLst>
          </p:cNvPr>
          <p:cNvSpPr>
            <a:spLocks xmlns:a="http://schemas.openxmlformats.org/drawingml/2006/main" noGrp="1"/>
          </p:cNvSpPr>
          <p:nvPr/>
        </p:nvSpPr>
        <p:spPr>
          <a:xfrm xmlns:a="http://schemas.openxmlformats.org/drawingml/2006/main">
            <a:off x="8858250" y="29527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5B91FF"/>
                </a:solidFill>
                <a:latin typeface="Cascadia Mono"/>
                <a:ea typeface="Cascadia Mono"/>
                <a:cs typeface="Cascadia Mono"/>
              </a:defRPr>
            </a:pPr>
            <a:r>
              <a:rPr sz="2400" b="1">
                <a:solidFill>
                  <a:srgbClr val="5B91FF"/>
                </a:solidFill>
                <a:latin typeface="Cascadia Mono"/>
                <a:ea typeface="Cascadia Mono"/>
                <a:cs typeface="Cascadia Mono"/>
              </a:rPr>
              <a:t>46,749</a:t>
            </a:r>
          </a:p>
        </p:txBody>
      </p:sp>
      <p:sp>
        <p:nvSpPr>
          <p:cNvPr id="11" name="">
            <a:extLst xmlns:a="http://schemas.openxmlformats.org/drawingml/2006/main">
              <a:ext uri="{FF2B5EF4-FFF2-40B4-BE49-F238E27FC236}">
                <a16:creationId xmlns:a16="http://schemas.microsoft.com/office/drawing/2014/main" id="{2D4F75C0-B15C-49FE-8F19-D0085E914C0F}"/>
              </a:ext>
            </a:extLst>
          </p:cNvPr>
          <p:cNvSpPr>
            <a:spLocks xmlns:a="http://schemas.openxmlformats.org/drawingml/2006/main" noGrp="1"/>
          </p:cNvSpPr>
          <p:nvPr/>
        </p:nvSpPr>
        <p:spPr>
          <a:xfrm xmlns:a="http://schemas.openxmlformats.org/drawingml/2006/main">
            <a:off x="8858250" y="3381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תצפיות</a:t>
            </a:r>
          </a:p>
        </p:txBody>
      </p:sp>
      <p:sp>
        <p:nvSpPr>
          <p:cNvPr id="12" name="">
            <a:extLst xmlns:a="http://schemas.openxmlformats.org/drawingml/2006/main">
              <a:ext uri="{FF2B5EF4-FFF2-40B4-BE49-F238E27FC236}">
                <a16:creationId xmlns:a16="http://schemas.microsoft.com/office/drawing/2014/main" id="{25366949-6FD0-403F-925A-1A6558E57E59}"/>
              </a:ext>
            </a:extLst>
          </p:cNvPr>
          <p:cNvSpPr>
            <a:spLocks xmlns:a="http://schemas.openxmlformats.org/drawingml/2006/main" noGrp="1"/>
          </p:cNvSpPr>
          <p:nvPr/>
        </p:nvSpPr>
        <p:spPr>
          <a:xfrm xmlns:a="http://schemas.openxmlformats.org/drawingml/2006/main">
            <a:off x="8858250" y="38481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F4B94F"/>
                </a:solidFill>
                <a:latin typeface="Cascadia Mono"/>
                <a:ea typeface="Cascadia Mono"/>
                <a:cs typeface="Cascadia Mono"/>
              </a:defRPr>
            </a:pPr>
            <a:r>
              <a:rPr sz="2400" b="1">
                <a:solidFill>
                  <a:srgbClr val="F4B94F"/>
                </a:solidFill>
                <a:latin typeface="Cascadia Mono"/>
                <a:ea typeface="Cascadia Mono"/>
                <a:cs typeface="Cascadia Mono"/>
              </a:rPr>
              <a:t>1,059</a:t>
            </a:r>
          </a:p>
        </p:txBody>
      </p:sp>
      <p:sp>
        <p:nvSpPr>
          <p:cNvPr id="13" name="">
            <a:extLst xmlns:a="http://schemas.openxmlformats.org/drawingml/2006/main">
              <a:ext uri="{FF2B5EF4-FFF2-40B4-BE49-F238E27FC236}">
                <a16:creationId xmlns:a16="http://schemas.microsoft.com/office/drawing/2014/main" id="{1A5C392E-1051-4CE9-9023-FD4CD7C793DE}"/>
              </a:ext>
            </a:extLst>
          </p:cNvPr>
          <p:cNvSpPr>
            <a:spLocks xmlns:a="http://schemas.openxmlformats.org/drawingml/2006/main" noGrp="1"/>
          </p:cNvSpPr>
          <p:nvPr/>
        </p:nvSpPr>
        <p:spPr>
          <a:xfrm xmlns:a="http://schemas.openxmlformats.org/drawingml/2006/main">
            <a:off x="8858250" y="42767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שינויי פוזיציה</a:t>
            </a:r>
          </a:p>
        </p:txBody>
      </p:sp>
      <p:sp>
        <p:nvSpPr>
          <p:cNvPr id="14" name="">
            <a:extLst xmlns:a="http://schemas.openxmlformats.org/drawingml/2006/main">
              <a:ext uri="{FF2B5EF4-FFF2-40B4-BE49-F238E27FC236}">
                <a16:creationId xmlns:a16="http://schemas.microsoft.com/office/drawing/2014/main" id="{924F254E-C673-4F92-A2BA-20101D313163}"/>
              </a:ext>
            </a:extLst>
          </p:cNvPr>
          <p:cNvSpPr>
            <a:spLocks xmlns:a="http://schemas.openxmlformats.org/drawingml/2006/main" noGrp="1"/>
          </p:cNvSpPr>
          <p:nvPr/>
        </p:nvSpPr>
        <p:spPr>
          <a:xfrm xmlns:a="http://schemas.openxmlformats.org/drawingml/2006/main">
            <a:off x="8858250" y="4819650"/>
            <a:ext cx="26670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15" name="">
            <a:extLst xmlns:a="http://schemas.openxmlformats.org/drawingml/2006/main">
              <a:ext uri="{FF2B5EF4-FFF2-40B4-BE49-F238E27FC236}">
                <a16:creationId xmlns:a16="http://schemas.microsoft.com/office/drawing/2014/main" id="{DED0D836-A050-4600-A0C1-DCB4841ECEB7}"/>
              </a:ext>
            </a:extLst>
          </p:cNvPr>
          <p:cNvSpPr>
            <a:spLocks xmlns:a="http://schemas.openxmlformats.org/drawingml/2006/main" noGrp="1"/>
          </p:cNvSpPr>
          <p:nvPr/>
        </p:nvSpPr>
        <p:spPr>
          <a:xfrm xmlns:a="http://schemas.openxmlformats.org/drawingml/2006/main">
            <a:off x="8858250" y="50482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5B6B78"/>
                </a:solidFill>
                <a:latin typeface="Arial"/>
                <a:ea typeface="Arial"/>
                <a:cs typeface="Arial"/>
              </a:defRPr>
            </a:pPr>
            <a:r>
              <a:rPr sz="1500" b="0" lang="he-IL">
                <a:solidFill>
                  <a:srgbClr val="5B6B78"/>
                </a:solidFill>
                <a:latin typeface="Arial"/>
                <a:ea typeface="Arial"/>
                <a:cs typeface="Arial"/>
              </a:rPr>
              <a:t>האות של נר t משפיע רק על הנר הבא, והחישוב כולל עלויות והחלקת מחיר.</a:t>
            </a:r>
          </a:p>
        </p:txBody>
      </p:sp>
    </p:spTree>
    <p:extLst>
      <p:ext uri="{BB962C8B-B14F-4D97-AF65-F5344CB8AC3E}">
        <p14:creationId xmlns:p14="http://schemas.microsoft.com/office/powerpoint/2010/main" val="1849394329"/>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FA5AF9D-83AE-4A44-AF6F-FD14E80CE1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4AD4FA-1C7C-4F64-9E2B-FA38330C57D5}"/>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ENGINEERING CHALLENGES</a:t>
            </a:r>
          </a:p>
        </p:txBody>
      </p:sp>
      <p:sp>
        <p:nvSpPr>
          <p:cNvPr id="3" name="">
            <a:extLst xmlns:a="http://schemas.openxmlformats.org/drawingml/2006/main">
              <a:ext uri="{FF2B5EF4-FFF2-40B4-BE49-F238E27FC236}">
                <a16:creationId xmlns:a16="http://schemas.microsoft.com/office/drawing/2014/main" id="{E8DA4BF7-5CC3-40DA-9194-E6BB0C6D64C7}"/>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החלטות הנדסיות מרכזיות</a:t>
            </a:r>
          </a:p>
        </p:txBody>
      </p:sp>
      <p:sp>
        <p:nvSpPr>
          <p:cNvPr id="4" name="">
            <a:extLst xmlns:a="http://schemas.openxmlformats.org/drawingml/2006/main">
              <a:ext uri="{FF2B5EF4-FFF2-40B4-BE49-F238E27FC236}">
                <a16:creationId xmlns:a16="http://schemas.microsoft.com/office/drawing/2014/main" id="{B4C80544-D396-46B0-B21C-0DBA4C047AE0}"/>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10</a:t>
            </a:r>
          </a:p>
        </p:txBody>
      </p:sp>
      <p:sp>
        <p:nvSpPr>
          <p:cNvPr id="5" name="">
            <a:extLst xmlns:a="http://schemas.openxmlformats.org/drawingml/2006/main">
              <a:ext uri="{FF2B5EF4-FFF2-40B4-BE49-F238E27FC236}">
                <a16:creationId xmlns:a16="http://schemas.microsoft.com/office/drawing/2014/main" id="{227BDE0E-8BBB-4C20-93BF-2A456B8C03F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F3AC5D7C-55B6-4FF0-A180-0ACACB7E1EEE}"/>
              </a:ext>
            </a:extLst>
          </p:cNvPr>
          <p:cNvSpPr>
            <a:spLocks xmlns:a="http://schemas.openxmlformats.org/drawingml/2006/main" noGrp="1"/>
          </p:cNvSpPr>
          <p:nvPr/>
        </p:nvSpPr>
        <p:spPr>
          <a:xfrm xmlns:a="http://schemas.openxmlformats.org/drawingml/2006/main">
            <a:off x="8763000" y="12573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5B6B78"/>
                </a:solidFill>
                <a:latin typeface="Arial"/>
                <a:ea typeface="Arial"/>
                <a:cs typeface="Arial"/>
              </a:defRPr>
            </a:pPr>
            <a:r>
              <a:rPr sz="1200" b="1" lang="he-IL">
                <a:solidFill>
                  <a:srgbClr val="5B6B78"/>
                </a:solidFill>
                <a:latin typeface="Arial"/>
                <a:ea typeface="Arial"/>
                <a:cs typeface="Arial"/>
              </a:rPr>
              <a:t>המתח</a:t>
            </a:r>
          </a:p>
        </p:txBody>
      </p:sp>
      <p:sp>
        <p:nvSpPr>
          <p:cNvPr id="7" name="">
            <a:extLst xmlns:a="http://schemas.openxmlformats.org/drawingml/2006/main">
              <a:ext uri="{FF2B5EF4-FFF2-40B4-BE49-F238E27FC236}">
                <a16:creationId xmlns:a16="http://schemas.microsoft.com/office/drawing/2014/main" id="{350BC4A0-099E-4918-8501-A162547EC923}"/>
              </a:ext>
            </a:extLst>
          </p:cNvPr>
          <p:cNvSpPr>
            <a:spLocks xmlns:a="http://schemas.openxmlformats.org/drawingml/2006/main" noGrp="1"/>
          </p:cNvSpPr>
          <p:nvPr/>
        </p:nvSpPr>
        <p:spPr>
          <a:xfrm xmlns:a="http://schemas.openxmlformats.org/drawingml/2006/main">
            <a:off x="1047750" y="12573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5B6B78"/>
                </a:solidFill>
                <a:latin typeface="Arial"/>
                <a:ea typeface="Arial"/>
                <a:cs typeface="Arial"/>
              </a:defRPr>
            </a:pPr>
            <a:r>
              <a:rPr sz="1200" b="1" lang="he-IL">
                <a:solidFill>
                  <a:srgbClr val="5B6B78"/>
                </a:solidFill>
                <a:latin typeface="Arial"/>
                <a:ea typeface="Arial"/>
                <a:cs typeface="Arial"/>
              </a:rPr>
              <a:t>ההחלטה</a:t>
            </a:r>
          </a:p>
        </p:txBody>
      </p:sp>
      <p:sp>
        <p:nvSpPr>
          <p:cNvPr id="8" name="">
            <a:extLst xmlns:a="http://schemas.openxmlformats.org/drawingml/2006/main">
              <a:ext uri="{FF2B5EF4-FFF2-40B4-BE49-F238E27FC236}">
                <a16:creationId xmlns:a16="http://schemas.microsoft.com/office/drawing/2014/main" id="{B2739C97-80DA-48A7-8EF6-5D7A12D770DF}"/>
              </a:ext>
            </a:extLst>
          </p:cNvPr>
          <p:cNvSpPr>
            <a:spLocks xmlns:a="http://schemas.openxmlformats.org/drawingml/2006/main" noGrp="1"/>
          </p:cNvSpPr>
          <p:nvPr/>
        </p:nvSpPr>
        <p:spPr>
          <a:xfrm xmlns:a="http://schemas.openxmlformats.org/drawingml/2006/main">
            <a:off x="609600" y="1619250"/>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9" name="">
            <a:extLst xmlns:a="http://schemas.openxmlformats.org/drawingml/2006/main">
              <a:ext uri="{FF2B5EF4-FFF2-40B4-BE49-F238E27FC236}">
                <a16:creationId xmlns:a16="http://schemas.microsoft.com/office/drawing/2014/main" id="{8204289F-8B42-4B1D-A4A5-39FBC2D068C2}"/>
              </a:ext>
            </a:extLst>
          </p:cNvPr>
          <p:cNvSpPr>
            <a:spLocks xmlns:a="http://schemas.openxmlformats.org/drawingml/2006/main" noGrp="1"/>
          </p:cNvSpPr>
          <p:nvPr/>
        </p:nvSpPr>
        <p:spPr>
          <a:xfrm xmlns:a="http://schemas.openxmlformats.org/drawingml/2006/main">
            <a:off x="8305800" y="184785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מהירות מול אמינות</a:t>
            </a:r>
          </a:p>
        </p:txBody>
      </p:sp>
      <p:sp>
        <p:nvSpPr>
          <p:cNvPr id="10" name="">
            <a:extLst xmlns:a="http://schemas.openxmlformats.org/drawingml/2006/main">
              <a:ext uri="{FF2B5EF4-FFF2-40B4-BE49-F238E27FC236}">
                <a16:creationId xmlns:a16="http://schemas.microsoft.com/office/drawing/2014/main" id="{F996AD2C-429C-4489-ACA1-1485BCAC1BE6}"/>
              </a:ext>
            </a:extLst>
          </p:cNvPr>
          <p:cNvSpPr>
            <a:spLocks xmlns:a="http://schemas.openxmlformats.org/drawingml/2006/main" noGrp="1"/>
          </p:cNvSpPr>
          <p:nvPr/>
        </p:nvSpPr>
        <p:spPr>
          <a:xfrm xmlns:a="http://schemas.openxmlformats.org/drawingml/2006/main">
            <a:off x="7886700" y="1866900"/>
            <a:ext cx="38100" cy="55245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E9D756-EDA0-404B-8C32-3AC654DB9E6C}"/>
              </a:ext>
            </a:extLst>
          </p:cNvPr>
          <p:cNvSpPr>
            <a:spLocks xmlns:a="http://schemas.openxmlformats.org/drawingml/2006/main" noGrp="1"/>
          </p:cNvSpPr>
          <p:nvPr/>
        </p:nvSpPr>
        <p:spPr>
          <a:xfrm xmlns:a="http://schemas.openxmlformats.org/drawingml/2006/main">
            <a:off x="1047750" y="18288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נתון חי מוצג מיד. יום סגור נבנה מחדש ונבדק.</a:t>
            </a:r>
          </a:p>
        </p:txBody>
      </p:sp>
      <p:sp>
        <p:nvSpPr>
          <p:cNvPr id="12" name="">
            <a:extLst xmlns:a="http://schemas.openxmlformats.org/drawingml/2006/main">
              <a:ext uri="{FF2B5EF4-FFF2-40B4-BE49-F238E27FC236}">
                <a16:creationId xmlns:a16="http://schemas.microsoft.com/office/drawing/2014/main" id="{0BF78EED-65D1-462E-B593-08D93CCCDF4F}"/>
              </a:ext>
            </a:extLst>
          </p:cNvPr>
          <p:cNvSpPr>
            <a:spLocks xmlns:a="http://schemas.openxmlformats.org/drawingml/2006/main" noGrp="1"/>
          </p:cNvSpPr>
          <p:nvPr/>
        </p:nvSpPr>
        <p:spPr>
          <a:xfrm xmlns:a="http://schemas.openxmlformats.org/drawingml/2006/main">
            <a:off x="1047750" y="222885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PROVISIONAL / CERTIFIED</a:t>
            </a:r>
          </a:p>
        </p:txBody>
      </p:sp>
      <p:sp>
        <p:nvSpPr>
          <p:cNvPr id="13" name="">
            <a:extLst xmlns:a="http://schemas.openxmlformats.org/drawingml/2006/main">
              <a:ext uri="{FF2B5EF4-FFF2-40B4-BE49-F238E27FC236}">
                <a16:creationId xmlns:a16="http://schemas.microsoft.com/office/drawing/2014/main" id="{A75DE163-DC92-4B2B-AEB8-C1D1011A9AA1}"/>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14" name="">
            <a:extLst xmlns:a="http://schemas.openxmlformats.org/drawingml/2006/main">
              <a:ext uri="{FF2B5EF4-FFF2-40B4-BE49-F238E27FC236}">
                <a16:creationId xmlns:a16="http://schemas.microsoft.com/office/drawing/2014/main" id="{06325C7F-7FA1-458C-9410-1D2C5FC56279}"/>
              </a:ext>
            </a:extLst>
          </p:cNvPr>
          <p:cNvSpPr>
            <a:spLocks xmlns:a="http://schemas.openxmlformats.org/drawingml/2006/main" noGrp="1"/>
          </p:cNvSpPr>
          <p:nvPr/>
        </p:nvSpPr>
        <p:spPr>
          <a:xfrm xmlns:a="http://schemas.openxmlformats.org/drawingml/2006/main">
            <a:off x="8305800" y="28479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כשל וניסיון חוזר</a:t>
            </a:r>
          </a:p>
        </p:txBody>
      </p:sp>
      <p:sp>
        <p:nvSpPr>
          <p:cNvPr id="15" name="">
            <a:extLst xmlns:a="http://schemas.openxmlformats.org/drawingml/2006/main">
              <a:ext uri="{FF2B5EF4-FFF2-40B4-BE49-F238E27FC236}">
                <a16:creationId xmlns:a16="http://schemas.microsoft.com/office/drawing/2014/main" id="{8242C9BD-317A-407F-9B96-4BE208CE7E25}"/>
              </a:ext>
            </a:extLst>
          </p:cNvPr>
          <p:cNvSpPr>
            <a:spLocks xmlns:a="http://schemas.openxmlformats.org/drawingml/2006/main" noGrp="1"/>
          </p:cNvSpPr>
          <p:nvPr/>
        </p:nvSpPr>
        <p:spPr>
          <a:xfrm xmlns:a="http://schemas.openxmlformats.org/drawingml/2006/main">
            <a:off x="7886700" y="2867025"/>
            <a:ext cx="38100" cy="552450"/>
          </a:xfrm>
          <a:prstGeom xmlns:a="http://schemas.openxmlformats.org/drawingml/2006/main" prst="rect">
            <a:avLst/>
          </a:prstGeom>
          <a:solidFill xmlns:a="http://schemas.openxmlformats.org/drawingml/2006/main">
            <a:srgbClr val="5B91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C9398D-1E3A-4F9B-881D-36D00D8EE6BA}"/>
              </a:ext>
            </a:extLst>
          </p:cNvPr>
          <p:cNvSpPr>
            <a:spLocks xmlns:a="http://schemas.openxmlformats.org/drawingml/2006/main" noGrp="1"/>
          </p:cNvSpPr>
          <p:nvPr/>
        </p:nvSpPr>
        <p:spPr>
          <a:xfrm xmlns:a="http://schemas.openxmlformats.org/drawingml/2006/main">
            <a:off x="1047750" y="282892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הפעלה חוזרת אינה יוצרת רשומה עסקית כפולה.</a:t>
            </a:r>
          </a:p>
        </p:txBody>
      </p:sp>
      <p:sp>
        <p:nvSpPr>
          <p:cNvPr id="17" name="">
            <a:extLst xmlns:a="http://schemas.openxmlformats.org/drawingml/2006/main">
              <a:ext uri="{FF2B5EF4-FFF2-40B4-BE49-F238E27FC236}">
                <a16:creationId xmlns:a16="http://schemas.microsoft.com/office/drawing/2014/main" id="{5D598409-EB26-4E23-9218-C7E7CD7D69DE}"/>
              </a:ext>
            </a:extLst>
          </p:cNvPr>
          <p:cNvSpPr>
            <a:spLocks xmlns:a="http://schemas.openxmlformats.org/drawingml/2006/main" noGrp="1"/>
          </p:cNvSpPr>
          <p:nvPr/>
        </p:nvSpPr>
        <p:spPr>
          <a:xfrm xmlns:a="http://schemas.openxmlformats.org/drawingml/2006/main">
            <a:off x="1047750" y="322897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91FF"/>
                </a:solidFill>
                <a:latin typeface="Cascadia Mono"/>
                <a:ea typeface="Cascadia Mono"/>
                <a:cs typeface="Cascadia Mono"/>
              </a:defRPr>
            </a:pPr>
            <a:r>
              <a:rPr sz="1050" b="1">
                <a:solidFill>
                  <a:srgbClr val="5B91FF"/>
                </a:solidFill>
                <a:latin typeface="Cascadia Mono"/>
                <a:ea typeface="Cascadia Mono"/>
                <a:cs typeface="Cascadia Mono"/>
              </a:rPr>
              <a:t>CHECKPOINT · BUSINESS KEY · UPSERT</a:t>
            </a:r>
          </a:p>
        </p:txBody>
      </p:sp>
      <p:sp>
        <p:nvSpPr>
          <p:cNvPr id="18" name="">
            <a:extLst xmlns:a="http://schemas.openxmlformats.org/drawingml/2006/main">
              <a:ext uri="{FF2B5EF4-FFF2-40B4-BE49-F238E27FC236}">
                <a16:creationId xmlns:a16="http://schemas.microsoft.com/office/drawing/2014/main" id="{FDAE760A-3A35-44D4-8894-FAFE9EEE98EF}"/>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19" name="">
            <a:extLst xmlns:a="http://schemas.openxmlformats.org/drawingml/2006/main">
              <a:ext uri="{FF2B5EF4-FFF2-40B4-BE49-F238E27FC236}">
                <a16:creationId xmlns:a16="http://schemas.microsoft.com/office/drawing/2014/main" id="{A1D2EAD0-AC04-4A50-BDC8-BB3781A4E860}"/>
              </a:ext>
            </a:extLst>
          </p:cNvPr>
          <p:cNvSpPr>
            <a:spLocks xmlns:a="http://schemas.openxmlformats.org/drawingml/2006/main" noGrp="1"/>
          </p:cNvSpPr>
          <p:nvPr/>
        </p:nvSpPr>
        <p:spPr>
          <a:xfrm xmlns:a="http://schemas.openxmlformats.org/drawingml/2006/main">
            <a:off x="8305800" y="384810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היסטוריה בלי קיצור דרך</a:t>
            </a:r>
          </a:p>
        </p:txBody>
      </p:sp>
      <p:sp>
        <p:nvSpPr>
          <p:cNvPr id="20" name="">
            <a:extLst xmlns:a="http://schemas.openxmlformats.org/drawingml/2006/main">
              <a:ext uri="{FF2B5EF4-FFF2-40B4-BE49-F238E27FC236}">
                <a16:creationId xmlns:a16="http://schemas.microsoft.com/office/drawing/2014/main" id="{88845799-DEBD-4B5D-A21B-B5EC24558D42}"/>
              </a:ext>
            </a:extLst>
          </p:cNvPr>
          <p:cNvSpPr>
            <a:spLocks xmlns:a="http://schemas.openxmlformats.org/drawingml/2006/main" noGrp="1"/>
          </p:cNvSpPr>
          <p:nvPr/>
        </p:nvSpPr>
        <p:spPr>
          <a:xfrm xmlns:a="http://schemas.openxmlformats.org/drawingml/2006/main">
            <a:off x="7886700" y="3867150"/>
            <a:ext cx="38100" cy="552450"/>
          </a:xfrm>
          <a:prstGeom xmlns:a="http://schemas.openxmlformats.org/drawingml/2006/main" prst="rect">
            <a:avLst/>
          </a:prstGeom>
          <a:solidFill xmlns:a="http://schemas.openxmlformats.org/drawingml/2006/main">
            <a:srgbClr val="9A62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4BE4640-0C65-438F-8EA5-2B0B812FDA3A}"/>
              </a:ext>
            </a:extLst>
          </p:cNvPr>
          <p:cNvSpPr>
            <a:spLocks xmlns:a="http://schemas.openxmlformats.org/drawingml/2006/main" noGrp="1"/>
          </p:cNvSpPr>
          <p:nvPr/>
        </p:nvSpPr>
        <p:spPr>
          <a:xfrm xmlns:a="http://schemas.openxmlformats.org/drawingml/2006/main">
            <a:off x="1047750" y="382905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נתוני עבר עוברים שמירה גולמית ואיכות לפני פרסום.</a:t>
            </a:r>
          </a:p>
        </p:txBody>
      </p:sp>
      <p:sp>
        <p:nvSpPr>
          <p:cNvPr id="22" name="">
            <a:extLst xmlns:a="http://schemas.openxmlformats.org/drawingml/2006/main">
              <a:ext uri="{FF2B5EF4-FFF2-40B4-BE49-F238E27FC236}">
                <a16:creationId xmlns:a16="http://schemas.microsoft.com/office/drawing/2014/main" id="{F5C6AC59-BF1F-4C8A-B1BF-0D097C1F25F7}"/>
              </a:ext>
            </a:extLst>
          </p:cNvPr>
          <p:cNvSpPr>
            <a:spLocks xmlns:a="http://schemas.openxmlformats.org/drawingml/2006/main" noGrp="1"/>
          </p:cNvSpPr>
          <p:nvPr/>
        </p:nvSpPr>
        <p:spPr>
          <a:xfrm xmlns:a="http://schemas.openxmlformats.org/drawingml/2006/main">
            <a:off x="1047750" y="422910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9A6200"/>
                </a:solidFill>
                <a:latin typeface="Cascadia Mono"/>
                <a:ea typeface="Cascadia Mono"/>
                <a:cs typeface="Cascadia Mono"/>
              </a:defRPr>
            </a:pPr>
            <a:r>
              <a:rPr sz="1050" b="1">
                <a:solidFill>
                  <a:srgbClr val="9A6200"/>
                </a:solidFill>
                <a:latin typeface="Cascadia Mono"/>
                <a:ea typeface="Cascadia Mono"/>
                <a:cs typeface="Cascadia Mono"/>
              </a:rPr>
              <a:t>HISTORICAL TOPIC · BRONZE BARRIER</a:t>
            </a:r>
          </a:p>
        </p:txBody>
      </p:sp>
      <p:sp>
        <p:nvSpPr>
          <p:cNvPr id="23" name="">
            <a:extLst xmlns:a="http://schemas.openxmlformats.org/drawingml/2006/main">
              <a:ext uri="{FF2B5EF4-FFF2-40B4-BE49-F238E27FC236}">
                <a16:creationId xmlns:a16="http://schemas.microsoft.com/office/drawing/2014/main" id="{D01E7687-880F-4637-A39D-9AA94CB3692D}"/>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24" name="">
            <a:extLst xmlns:a="http://schemas.openxmlformats.org/drawingml/2006/main">
              <a:ext uri="{FF2B5EF4-FFF2-40B4-BE49-F238E27FC236}">
                <a16:creationId xmlns:a16="http://schemas.microsoft.com/office/drawing/2014/main" id="{BD3F61E6-A9DD-4E5E-9A8C-BEACBFC896B8}"/>
              </a:ext>
            </a:extLst>
          </p:cNvPr>
          <p:cNvSpPr>
            <a:spLocks xmlns:a="http://schemas.openxmlformats.org/drawingml/2006/main" noGrp="1"/>
          </p:cNvSpPr>
          <p:nvPr/>
        </p:nvSpPr>
        <p:spPr>
          <a:xfrm xmlns:a="http://schemas.openxmlformats.org/drawingml/2006/main">
            <a:off x="8305800" y="484822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091827"/>
                </a:solidFill>
                <a:latin typeface="Arial"/>
                <a:ea typeface="Arial"/>
                <a:cs typeface="Arial"/>
              </a:defRPr>
            </a:pPr>
            <a:r>
              <a:rPr sz="1875" b="1" lang="he-IL">
                <a:solidFill>
                  <a:srgbClr val="091827"/>
                </a:solidFill>
                <a:latin typeface="Arial"/>
                <a:ea typeface="Arial"/>
                <a:cs typeface="Arial"/>
              </a:rPr>
              <a:t>מוצר בלי חשיפת תשתית</a:t>
            </a:r>
          </a:p>
        </p:txBody>
      </p:sp>
      <p:sp>
        <p:nvSpPr>
          <p:cNvPr id="25" name="">
            <a:extLst xmlns:a="http://schemas.openxmlformats.org/drawingml/2006/main">
              <a:ext uri="{FF2B5EF4-FFF2-40B4-BE49-F238E27FC236}">
                <a16:creationId xmlns:a16="http://schemas.microsoft.com/office/drawing/2014/main" id="{D12606CC-19D5-4DD6-A91C-40945A0C67A7}"/>
              </a:ext>
            </a:extLst>
          </p:cNvPr>
          <p:cNvSpPr>
            <a:spLocks xmlns:a="http://schemas.openxmlformats.org/drawingml/2006/main" noGrp="1"/>
          </p:cNvSpPr>
          <p:nvPr/>
        </p:nvSpPr>
        <p:spPr>
          <a:xfrm xmlns:a="http://schemas.openxmlformats.org/drawingml/2006/main">
            <a:off x="7886700" y="4867275"/>
            <a:ext cx="38100" cy="552450"/>
          </a:xfrm>
          <a:prstGeom xmlns:a="http://schemas.openxmlformats.org/drawingml/2006/main" prst="rect">
            <a:avLst/>
          </a:prstGeom>
          <a:solidFill xmlns:a="http://schemas.openxmlformats.org/drawingml/2006/main">
            <a:srgbClr val="EF748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FA4B693-20F0-42A0-9996-A4128E4B9D77}"/>
              </a:ext>
            </a:extLst>
          </p:cNvPr>
          <p:cNvSpPr>
            <a:spLocks xmlns:a="http://schemas.openxmlformats.org/drawingml/2006/main" noGrp="1"/>
          </p:cNvSpPr>
          <p:nvPr/>
        </p:nvSpPr>
        <p:spPr>
          <a:xfrm xmlns:a="http://schemas.openxmlformats.org/drawingml/2006/main">
            <a:off x="1047750" y="48291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091827"/>
                </a:solidFill>
                <a:latin typeface="Arial"/>
                <a:ea typeface="Arial"/>
                <a:cs typeface="Arial"/>
              </a:defRPr>
            </a:pPr>
            <a:r>
              <a:rPr sz="1650" b="0" lang="he-IL">
                <a:solidFill>
                  <a:srgbClr val="091827"/>
                </a:solidFill>
                <a:latin typeface="Arial"/>
                <a:ea typeface="Arial"/>
                <a:cs typeface="Arial"/>
              </a:rPr>
              <a:t>הדפדפן מקבל מידע רק דרך ממשק מוגבל לקריאה.</a:t>
            </a:r>
          </a:p>
        </p:txBody>
      </p:sp>
      <p:sp>
        <p:nvSpPr>
          <p:cNvPr id="27" name="">
            <a:extLst xmlns:a="http://schemas.openxmlformats.org/drawingml/2006/main">
              <a:ext uri="{FF2B5EF4-FFF2-40B4-BE49-F238E27FC236}">
                <a16:creationId xmlns:a16="http://schemas.microsoft.com/office/drawing/2014/main" id="{BAD38843-2381-4283-BCBC-B7C385A306A1}"/>
              </a:ext>
            </a:extLst>
          </p:cNvPr>
          <p:cNvSpPr>
            <a:spLocks xmlns:a="http://schemas.openxmlformats.org/drawingml/2006/main" noGrp="1"/>
          </p:cNvSpPr>
          <p:nvPr/>
        </p:nvSpPr>
        <p:spPr>
          <a:xfrm xmlns:a="http://schemas.openxmlformats.org/drawingml/2006/main">
            <a:off x="1047750" y="522922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READ-ONLY BACKEND API</a:t>
            </a:r>
          </a:p>
        </p:txBody>
      </p:sp>
    </p:spTree>
    <p:extLst>
      <p:ext uri="{BB962C8B-B14F-4D97-AF65-F5344CB8AC3E}">
        <p14:creationId xmlns:p14="http://schemas.microsoft.com/office/powerpoint/2010/main" val="526930769"/>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D5D661E-13A7-4A5E-8CBF-930DB6BFF9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5CF1F9-93A4-426B-8443-CFE99B6942E6}"/>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ROADMAP</a:t>
            </a:r>
          </a:p>
        </p:txBody>
      </p:sp>
      <p:sp>
        <p:nvSpPr>
          <p:cNvPr id="3" name="">
            <a:extLst xmlns:a="http://schemas.openxmlformats.org/drawingml/2006/main">
              <a:ext uri="{FF2B5EF4-FFF2-40B4-BE49-F238E27FC236}">
                <a16:creationId xmlns:a16="http://schemas.microsoft.com/office/drawing/2014/main" id="{0C571BFE-8F03-478F-A78B-00AE7333281D}"/>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091827"/>
                </a:solidFill>
                <a:latin typeface="Arial"/>
                <a:ea typeface="Arial"/>
                <a:cs typeface="Arial"/>
              </a:defRPr>
            </a:pPr>
            <a:r>
              <a:rPr sz="2400" b="1" lang="he-IL">
                <a:solidFill>
                  <a:srgbClr val="091827"/>
                </a:solidFill>
                <a:latin typeface="Arial"/>
                <a:ea typeface="Arial"/>
                <a:cs typeface="Arial"/>
              </a:rPr>
              <a:t>מה עובד היום ומה מגיע בהמשך</a:t>
            </a:r>
          </a:p>
        </p:txBody>
      </p:sp>
      <p:sp>
        <p:nvSpPr>
          <p:cNvPr id="4" name="">
            <a:extLst xmlns:a="http://schemas.openxmlformats.org/drawingml/2006/main">
              <a:ext uri="{FF2B5EF4-FFF2-40B4-BE49-F238E27FC236}">
                <a16:creationId xmlns:a16="http://schemas.microsoft.com/office/drawing/2014/main" id="{5AC931E0-D655-4014-9504-80BDB05CA97F}"/>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11</a:t>
            </a:r>
          </a:p>
        </p:txBody>
      </p:sp>
      <p:sp>
        <p:nvSpPr>
          <p:cNvPr id="5" name="">
            <a:extLst xmlns:a="http://schemas.openxmlformats.org/drawingml/2006/main">
              <a:ext uri="{FF2B5EF4-FFF2-40B4-BE49-F238E27FC236}">
                <a16:creationId xmlns:a16="http://schemas.microsoft.com/office/drawing/2014/main" id="{9CD47815-79D9-4CC5-AAE6-AC36BB2ACFA4}"/>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
        <p:nvSpPr>
          <p:cNvPr id="6" name="">
            <a:extLst xmlns:a="http://schemas.openxmlformats.org/drawingml/2006/main">
              <a:ext uri="{FF2B5EF4-FFF2-40B4-BE49-F238E27FC236}">
                <a16:creationId xmlns:a16="http://schemas.microsoft.com/office/drawing/2014/main" id="{0B3E3A30-DE95-4E92-8972-7A9C40419E94}"/>
              </a:ext>
            </a:extLst>
          </p:cNvPr>
          <p:cNvSpPr>
            <a:spLocks xmlns:a="http://schemas.openxmlformats.org/drawingml/2006/main" noGrp="1"/>
          </p:cNvSpPr>
          <p:nvPr/>
        </p:nvSpPr>
        <p:spPr>
          <a:xfrm xmlns:a="http://schemas.openxmlformats.org/drawingml/2006/main">
            <a:off x="4810125" y="118110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5B6B78"/>
                </a:solidFill>
                <a:latin typeface="Arial"/>
                <a:ea typeface="Arial"/>
                <a:cs typeface="Arial"/>
              </a:defRPr>
            </a:pPr>
            <a:r>
              <a:rPr sz="1650" b="0" lang="he-IL">
                <a:solidFill>
                  <a:srgbClr val="5B6B78"/>
                </a:solidFill>
                <a:latin typeface="Arial"/>
                <a:ea typeface="Arial"/>
                <a:cs typeface="Arial"/>
              </a:rPr>
              <a:t>המטרה אינה להוסיף עוד טכנולוגיה. המטרה היא להרחיב אמון, כיסוי ותפעול.</a:t>
            </a:r>
          </a:p>
        </p:txBody>
      </p:sp>
      <p:sp>
        <p:nvSpPr>
          <p:cNvPr id="7" name="">
            <a:extLst xmlns:a="http://schemas.openxmlformats.org/drawingml/2006/main">
              <a:ext uri="{FF2B5EF4-FFF2-40B4-BE49-F238E27FC236}">
                <a16:creationId xmlns:a16="http://schemas.microsoft.com/office/drawing/2014/main" id="{9D945E5F-D687-4EFF-A176-DF0D1B56B489}"/>
              </a:ext>
            </a:extLst>
          </p:cNvPr>
          <p:cNvSpPr>
            <a:spLocks xmlns:a="http://schemas.openxmlformats.org/drawingml/2006/main" noGrp="1"/>
          </p:cNvSpPr>
          <p:nvPr/>
        </p:nvSpPr>
        <p:spPr>
          <a:xfrm xmlns:a="http://schemas.openxmlformats.org/drawingml/2006/main">
            <a:off x="1295400" y="3257550"/>
            <a:ext cx="9525000" cy="0"/>
          </a:xfrm>
          <a:prstGeom xmlns:a="http://schemas.openxmlformats.org/drawingml/2006/main" prst="line">
            <a:avLst/>
          </a:prstGeom>
          <a:noFill xmlns:a="http://schemas.openxmlformats.org/drawingml/2006/main"/>
          <a:ln xmlns:a="http://schemas.openxmlformats.org/drawingml/2006/main" w="38100">
            <a:solidFill>
              <a:srgbClr val="C9D2D8"/>
            </a:solidFill>
            <a:prstDash val="solid"/>
          </a:ln>
        </p:spPr>
      </p:sp>
      <p:sp>
        <p:nvSpPr>
          <p:cNvPr id="8" name="">
            <a:extLst xmlns:a="http://schemas.openxmlformats.org/drawingml/2006/main">
              <a:ext uri="{FF2B5EF4-FFF2-40B4-BE49-F238E27FC236}">
                <a16:creationId xmlns:a16="http://schemas.microsoft.com/office/drawing/2014/main" id="{4F53EF7C-12A0-4B49-B5A8-7E2C0E46CB55}"/>
              </a:ext>
            </a:extLst>
          </p:cNvPr>
          <p:cNvSpPr>
            <a:spLocks xmlns:a="http://schemas.openxmlformats.org/drawingml/2006/main" noGrp="1"/>
          </p:cNvSpPr>
          <p:nvPr/>
        </p:nvSpPr>
        <p:spPr>
          <a:xfrm xmlns:a="http://schemas.openxmlformats.org/drawingml/2006/main">
            <a:off x="9810750" y="3114675"/>
            <a:ext cx="285750" cy="2857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B860193-6658-4612-9569-9367060DBCAE}"/>
              </a:ext>
            </a:extLst>
          </p:cNvPr>
          <p:cNvSpPr>
            <a:spLocks xmlns:a="http://schemas.openxmlformats.org/drawingml/2006/main" noGrp="1"/>
          </p:cNvSpPr>
          <p:nvPr/>
        </p:nvSpPr>
        <p:spPr>
          <a:xfrm xmlns:a="http://schemas.openxmlformats.org/drawingml/2006/main">
            <a:off x="977265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01</a:t>
            </a:r>
          </a:p>
        </p:txBody>
      </p:sp>
      <p:sp>
        <p:nvSpPr>
          <p:cNvPr id="10" name="">
            <a:extLst xmlns:a="http://schemas.openxmlformats.org/drawingml/2006/main">
              <a:ext uri="{FF2B5EF4-FFF2-40B4-BE49-F238E27FC236}">
                <a16:creationId xmlns:a16="http://schemas.microsoft.com/office/drawing/2014/main" id="{5EB269FD-C626-4CE5-9252-5F6C8A0D9F6A}"/>
              </a:ext>
            </a:extLst>
          </p:cNvPr>
          <p:cNvSpPr>
            <a:spLocks xmlns:a="http://schemas.openxmlformats.org/drawingml/2006/main" noGrp="1"/>
          </p:cNvSpPr>
          <p:nvPr/>
        </p:nvSpPr>
        <p:spPr>
          <a:xfrm xmlns:a="http://schemas.openxmlformats.org/drawingml/2006/main">
            <a:off x="800100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091827"/>
                </a:solidFill>
                <a:latin typeface="Arial"/>
                <a:ea typeface="Arial"/>
                <a:cs typeface="Arial"/>
              </a:defRPr>
            </a:pPr>
            <a:r>
              <a:rPr sz="2025" b="1" lang="he-IL">
                <a:solidFill>
                  <a:srgbClr val="091827"/>
                </a:solidFill>
                <a:latin typeface="Arial"/>
                <a:ea typeface="Arial"/>
                <a:cs typeface="Arial"/>
              </a:rPr>
              <a:t>היום</a:t>
            </a:r>
          </a:p>
        </p:txBody>
      </p:sp>
      <p:sp>
        <p:nvSpPr>
          <p:cNvPr id="11" name="">
            <a:extLst xmlns:a="http://schemas.openxmlformats.org/drawingml/2006/main">
              <a:ext uri="{FF2B5EF4-FFF2-40B4-BE49-F238E27FC236}">
                <a16:creationId xmlns:a16="http://schemas.microsoft.com/office/drawing/2014/main" id="{02946966-2B75-40D8-90FE-9EBB80AEF07F}"/>
              </a:ext>
            </a:extLst>
          </p:cNvPr>
          <p:cNvSpPr>
            <a:spLocks xmlns:a="http://schemas.openxmlformats.org/drawingml/2006/main" noGrp="1"/>
          </p:cNvSpPr>
          <p:nvPr/>
        </p:nvSpPr>
        <p:spPr>
          <a:xfrm xmlns:a="http://schemas.openxmlformats.org/drawingml/2006/main">
            <a:off x="800100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סביבה מקומית עובדת</a:t>
            </a:r>
          </a:p>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41 ימים מאושרים</a:t>
            </a:r>
          </a:p>
          <a:p xmlns:a="http://schemas.openxmlformats.org/drawingml/2006/main">
            <a:pPr algn="r">
              <a:lnSpc>
                <a:spcPct val="105000"/>
              </a:lnSpc>
              <a:buNone/>
              <a:defRPr sz="1575" b="0">
                <a:solidFill>
                  <a:srgbClr val="5B6B78"/>
                </a:solidFill>
                <a:latin typeface="Arial"/>
                <a:ea typeface="Arial"/>
                <a:cs typeface="Arial"/>
              </a:defRPr>
            </a:pPr>
            <a:r>
              <a:rPr sz="1575" b="0">
                <a:solidFill>
                  <a:srgbClr val="5B6B78"/>
                </a:solidFill>
                <a:latin typeface="Arial"/>
                <a:ea typeface="Arial"/>
                <a:cs typeface="Arial"/>
              </a:rPr>
              <a:t>Shadow Mode 1/20</a:t>
            </a:r>
          </a:p>
        </p:txBody>
      </p:sp>
      <p:sp>
        <p:nvSpPr>
          <p:cNvPr id="12" name="">
            <a:extLst xmlns:a="http://schemas.openxmlformats.org/drawingml/2006/main">
              <a:ext uri="{FF2B5EF4-FFF2-40B4-BE49-F238E27FC236}">
                <a16:creationId xmlns:a16="http://schemas.microsoft.com/office/drawing/2014/main" id="{B77D520E-7888-4B07-957A-07E91EA9C6B7}"/>
              </a:ext>
            </a:extLst>
          </p:cNvPr>
          <p:cNvSpPr>
            <a:spLocks xmlns:a="http://schemas.openxmlformats.org/drawingml/2006/main" noGrp="1"/>
          </p:cNvSpPr>
          <p:nvPr/>
        </p:nvSpPr>
        <p:spPr>
          <a:xfrm xmlns:a="http://schemas.openxmlformats.org/drawingml/2006/main">
            <a:off x="6048375" y="3114675"/>
            <a:ext cx="285750" cy="2857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9E7F4A5-7CEF-4448-9F7B-E2ECDA4999DC}"/>
              </a:ext>
            </a:extLst>
          </p:cNvPr>
          <p:cNvSpPr>
            <a:spLocks xmlns:a="http://schemas.openxmlformats.org/drawingml/2006/main" noGrp="1"/>
          </p:cNvSpPr>
          <p:nvPr/>
        </p:nvSpPr>
        <p:spPr>
          <a:xfrm xmlns:a="http://schemas.openxmlformats.org/drawingml/2006/main">
            <a:off x="6010275"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02</a:t>
            </a:r>
          </a:p>
        </p:txBody>
      </p:sp>
      <p:sp>
        <p:nvSpPr>
          <p:cNvPr id="14" name="">
            <a:extLst xmlns:a="http://schemas.openxmlformats.org/drawingml/2006/main">
              <a:ext uri="{FF2B5EF4-FFF2-40B4-BE49-F238E27FC236}">
                <a16:creationId xmlns:a16="http://schemas.microsoft.com/office/drawing/2014/main" id="{DC183247-A679-414E-A5E3-3D1BAD169606}"/>
              </a:ext>
            </a:extLst>
          </p:cNvPr>
          <p:cNvSpPr>
            <a:spLocks xmlns:a="http://schemas.openxmlformats.org/drawingml/2006/main" noGrp="1"/>
          </p:cNvSpPr>
          <p:nvPr/>
        </p:nvSpPr>
        <p:spPr>
          <a:xfrm xmlns:a="http://schemas.openxmlformats.org/drawingml/2006/main">
            <a:off x="4238625"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091827"/>
                </a:solidFill>
                <a:latin typeface="Arial"/>
                <a:ea typeface="Arial"/>
                <a:cs typeface="Arial"/>
              </a:defRPr>
            </a:pPr>
            <a:r>
              <a:rPr sz="2025" b="1" lang="he-IL">
                <a:solidFill>
                  <a:srgbClr val="091827"/>
                </a:solidFill>
                <a:latin typeface="Arial"/>
                <a:ea typeface="Arial"/>
                <a:cs typeface="Arial"/>
              </a:rPr>
              <a:t>לאחר 20 ימים חיים</a:t>
            </a:r>
          </a:p>
        </p:txBody>
      </p:sp>
      <p:sp>
        <p:nvSpPr>
          <p:cNvPr id="15" name="">
            <a:extLst xmlns:a="http://schemas.openxmlformats.org/drawingml/2006/main">
              <a:ext uri="{FF2B5EF4-FFF2-40B4-BE49-F238E27FC236}">
                <a16:creationId xmlns:a16="http://schemas.microsoft.com/office/drawing/2014/main" id="{906030F8-76EC-42A9-9EEE-C4646955C02D}"/>
              </a:ext>
            </a:extLst>
          </p:cNvPr>
          <p:cNvSpPr>
            <a:spLocks xmlns:a="http://schemas.openxmlformats.org/drawingml/2006/main" noGrp="1"/>
          </p:cNvSpPr>
          <p:nvPr/>
        </p:nvSpPr>
        <p:spPr>
          <a:xfrm xmlns:a="http://schemas.openxmlformats.org/drawingml/2006/main">
            <a:off x="4238625"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בדיקת Calibration</a:t>
            </a:r>
          </a:p>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אישור אנושי נפרד</a:t>
            </a:r>
          </a:p>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פתיחת Decision Support</a:t>
            </a:r>
          </a:p>
        </p:txBody>
      </p:sp>
      <p:sp>
        <p:nvSpPr>
          <p:cNvPr id="16" name="">
            <a:extLst xmlns:a="http://schemas.openxmlformats.org/drawingml/2006/main">
              <a:ext uri="{FF2B5EF4-FFF2-40B4-BE49-F238E27FC236}">
                <a16:creationId xmlns:a16="http://schemas.microsoft.com/office/drawing/2014/main" id="{D511CE18-CB84-4F3D-9C4C-7510BA460DBC}"/>
              </a:ext>
            </a:extLst>
          </p:cNvPr>
          <p:cNvSpPr>
            <a:spLocks xmlns:a="http://schemas.openxmlformats.org/drawingml/2006/main" noGrp="1"/>
          </p:cNvSpPr>
          <p:nvPr/>
        </p:nvSpPr>
        <p:spPr>
          <a:xfrm xmlns:a="http://schemas.openxmlformats.org/drawingml/2006/main">
            <a:off x="2286000" y="3114675"/>
            <a:ext cx="285750" cy="2857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F40C55-C2E2-4649-B151-234831208E18}"/>
              </a:ext>
            </a:extLst>
          </p:cNvPr>
          <p:cNvSpPr>
            <a:spLocks xmlns:a="http://schemas.openxmlformats.org/drawingml/2006/main" noGrp="1"/>
          </p:cNvSpPr>
          <p:nvPr/>
        </p:nvSpPr>
        <p:spPr>
          <a:xfrm xmlns:a="http://schemas.openxmlformats.org/drawingml/2006/main">
            <a:off x="224790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03</a:t>
            </a:r>
          </a:p>
        </p:txBody>
      </p:sp>
      <p:sp>
        <p:nvSpPr>
          <p:cNvPr id="18" name="">
            <a:extLst xmlns:a="http://schemas.openxmlformats.org/drawingml/2006/main">
              <a:ext uri="{FF2B5EF4-FFF2-40B4-BE49-F238E27FC236}">
                <a16:creationId xmlns:a16="http://schemas.microsoft.com/office/drawing/2014/main" id="{8402FEEB-9614-409C-BFD7-8989F0069BCE}"/>
              </a:ext>
            </a:extLst>
          </p:cNvPr>
          <p:cNvSpPr>
            <a:spLocks xmlns:a="http://schemas.openxmlformats.org/drawingml/2006/main" noGrp="1"/>
          </p:cNvSpPr>
          <p:nvPr/>
        </p:nvSpPr>
        <p:spPr>
          <a:xfrm xmlns:a="http://schemas.openxmlformats.org/drawingml/2006/main">
            <a:off x="476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091827"/>
                </a:solidFill>
                <a:latin typeface="Arial"/>
                <a:ea typeface="Arial"/>
                <a:cs typeface="Arial"/>
              </a:defRPr>
            </a:pPr>
            <a:r>
              <a:rPr sz="2025" b="1" lang="he-IL">
                <a:solidFill>
                  <a:srgbClr val="091827"/>
                </a:solidFill>
                <a:latin typeface="Arial"/>
                <a:ea typeface="Arial"/>
                <a:cs typeface="Arial"/>
              </a:rPr>
              <a:t>הרחבה עתידית</a:t>
            </a:r>
          </a:p>
        </p:txBody>
      </p:sp>
      <p:sp>
        <p:nvSpPr>
          <p:cNvPr id="19" name="">
            <a:extLst xmlns:a="http://schemas.openxmlformats.org/drawingml/2006/main">
              <a:ext uri="{FF2B5EF4-FFF2-40B4-BE49-F238E27FC236}">
                <a16:creationId xmlns:a16="http://schemas.microsoft.com/office/drawing/2014/main" id="{56E375ED-9176-44AF-B5AE-A30B681CB079}"/>
              </a:ext>
            </a:extLst>
          </p:cNvPr>
          <p:cNvSpPr>
            <a:spLocks xmlns:a="http://schemas.openxmlformats.org/drawingml/2006/main" noGrp="1"/>
          </p:cNvSpPr>
          <p:nvPr/>
        </p:nvSpPr>
        <p:spPr>
          <a:xfrm xmlns:a="http://schemas.openxmlformats.org/drawingml/2006/main">
            <a:off x="47625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75" b="0">
                <a:solidFill>
                  <a:srgbClr val="5B6B78"/>
                </a:solidFill>
                <a:latin typeface="Arial"/>
                <a:ea typeface="Arial"/>
                <a:cs typeface="Arial"/>
              </a:defRPr>
            </a:pPr>
            <a:r>
              <a:rPr sz="1575" b="0">
                <a:solidFill>
                  <a:srgbClr val="5B6B78"/>
                </a:solidFill>
                <a:latin typeface="Arial"/>
                <a:ea typeface="Arial"/>
                <a:cs typeface="Arial"/>
              </a:rPr>
              <a:t>SIP / S3 / Elastic</a:t>
            </a:r>
          </a:p>
          <a:p xmlns:a="http://schemas.openxmlformats.org/drawingml/2006/main">
            <a:pPr algn="r">
              <a:lnSpc>
                <a:spcPct val="105000"/>
              </a:lnSpc>
              <a:buNone/>
              <a:defRPr sz="1575" b="0">
                <a:solidFill>
                  <a:srgbClr val="5B6B78"/>
                </a:solidFill>
                <a:latin typeface="Arial"/>
                <a:ea typeface="Arial"/>
                <a:cs typeface="Arial"/>
              </a:defRPr>
            </a:pPr>
            <a:r>
              <a:rPr sz="1575" b="0">
                <a:solidFill>
                  <a:srgbClr val="5B6B78"/>
                </a:solidFill>
                <a:latin typeface="Arial"/>
                <a:ea typeface="Arial"/>
                <a:cs typeface="Arial"/>
              </a:rPr>
              <a:t>Authentication + TLS</a:t>
            </a:r>
          </a:p>
          <a:p xmlns:a="http://schemas.openxmlformats.org/drawingml/2006/main">
            <a:pPr algn="r" rtl="1">
              <a:lnSpc>
                <a:spcPct val="105000"/>
              </a:lnSpc>
              <a:buNone/>
              <a:defRPr sz="1575" b="0" lang="he-IL">
                <a:solidFill>
                  <a:srgbClr val="5B6B78"/>
                </a:solidFill>
                <a:latin typeface="Arial"/>
                <a:ea typeface="Arial"/>
                <a:cs typeface="Arial"/>
              </a:defRPr>
            </a:pPr>
            <a:r>
              <a:rPr sz="1575" b="0" lang="he-IL">
                <a:solidFill>
                  <a:srgbClr val="5B6B78"/>
                </a:solidFill>
                <a:latin typeface="Arial"/>
                <a:ea typeface="Arial"/>
                <a:cs typeface="Arial"/>
              </a:rPr>
              <a:t>פריסה משותפת</a:t>
            </a:r>
          </a:p>
        </p:txBody>
      </p:sp>
      <p:sp>
        <p:nvSpPr>
          <p:cNvPr id="20" name="">
            <a:extLst xmlns:a="http://schemas.openxmlformats.org/drawingml/2006/main">
              <a:ext uri="{FF2B5EF4-FFF2-40B4-BE49-F238E27FC236}">
                <a16:creationId xmlns:a16="http://schemas.microsoft.com/office/drawing/2014/main" id="{D4D3ED93-BACD-4BB2-AFC4-8A0B5471E68C}"/>
              </a:ext>
            </a:extLst>
          </p:cNvPr>
          <p:cNvSpPr>
            <a:spLocks xmlns:a="http://schemas.openxmlformats.org/drawingml/2006/main" noGrp="1"/>
          </p:cNvSpPr>
          <p:nvPr/>
        </p:nvSpPr>
        <p:spPr>
          <a:xfrm xmlns:a="http://schemas.openxmlformats.org/drawingml/2006/main">
            <a:off x="4419600" y="52959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79"/>
          </a:bodyPr>
          <a:lstStyle xmlns:a="http://schemas.openxmlformats.org/drawingml/2006/main"/>
          <a:p xmlns:a="http://schemas.openxmlformats.org/drawingml/2006/main">
            <a:pPr algn="r" rtl="1">
              <a:lnSpc>
                <a:spcPct val="100000"/>
              </a:lnSpc>
              <a:buNone/>
              <a:defRPr sz="1575" b="1" lang="he-IL">
                <a:solidFill>
                  <a:srgbClr val="EF7484"/>
                </a:solidFill>
                <a:latin typeface="Arial"/>
                <a:ea typeface="Arial"/>
                <a:cs typeface="Arial"/>
              </a:defRPr>
            </a:pPr>
            <a:r>
              <a:rPr sz="1575" b="1" lang="he-IL">
                <a:solidFill>
                  <a:srgbClr val="EF7484"/>
                </a:solidFill>
                <a:latin typeface="Arial"/>
                <a:ea typeface="Arial"/>
                <a:cs typeface="Arial"/>
              </a:rPr>
              <a:t>הקידום יתאפשר רק לאחר ראיות חיות ובדיקה אנושית. תוצאות היסטוריות לבדן אינן מספיקות.</a:t>
            </a:r>
          </a:p>
        </p:txBody>
      </p:sp>
    </p:spTree>
    <p:extLst>
      <p:ext uri="{BB962C8B-B14F-4D97-AF65-F5344CB8AC3E}">
        <p14:creationId xmlns:p14="http://schemas.microsoft.com/office/powerpoint/2010/main" val="1615468577"/>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5886275-31FC-4512-84E8-B3E3745319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DA858E-BD7E-4032-8F04-A93B506BEC45}"/>
              </a:ext>
            </a:extLst>
          </p:cNvPr>
          <p:cNvSpPr>
            <a:spLocks xmlns:a="http://schemas.openxmlformats.org/drawingml/2006/main" noGrp="1"/>
          </p:cNvSpPr>
          <p:nvPr/>
        </p:nvSpPr>
        <p:spPr>
          <a:xfrm xmlns:a="http://schemas.openxmlformats.org/drawingml/2006/main">
            <a:off x="609600" y="4191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117C70"/>
                </a:solidFill>
                <a:latin typeface="Cascadia Mono"/>
                <a:ea typeface="Cascadia Mono"/>
                <a:cs typeface="Cascadia Mono"/>
              </a:defRPr>
            </a:pPr>
            <a:r>
              <a:rPr sz="975" b="1">
                <a:solidFill>
                  <a:srgbClr val="117C70"/>
                </a:solidFill>
                <a:latin typeface="Cascadia Mono"/>
                <a:ea typeface="Cascadia Mono"/>
                <a:cs typeface="Cascadia Mono"/>
              </a:rPr>
              <a:t>LIVE DEMO · 06:00</a:t>
            </a:r>
          </a:p>
        </p:txBody>
      </p:sp>
      <p:sp>
        <p:nvSpPr>
          <p:cNvPr id="3" name="">
            <a:extLst xmlns:a="http://schemas.openxmlformats.org/drawingml/2006/main">
              <a:ext uri="{FF2B5EF4-FFF2-40B4-BE49-F238E27FC236}">
                <a16:creationId xmlns:a16="http://schemas.microsoft.com/office/drawing/2014/main" id="{4EC52F30-59FF-403E-9F81-B126B5333640}"/>
              </a:ext>
            </a:extLst>
          </p:cNvPr>
          <p:cNvSpPr>
            <a:spLocks xmlns:a="http://schemas.openxmlformats.org/drawingml/2006/main" noGrp="1"/>
          </p:cNvSpPr>
          <p:nvPr/>
        </p:nvSpPr>
        <p:spPr>
          <a:xfrm xmlns:a="http://schemas.openxmlformats.org/drawingml/2006/main">
            <a:off x="4953000" y="933450"/>
            <a:ext cx="661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150" b="1" lang="he-IL">
                <a:solidFill>
                  <a:srgbClr val="091827"/>
                </a:solidFill>
                <a:latin typeface="Arial"/>
                <a:ea typeface="Arial"/>
                <a:cs typeface="Arial"/>
              </a:defRPr>
            </a:pPr>
            <a:r>
              <a:rPr sz="3150" b="1" lang="he-IL">
                <a:solidFill>
                  <a:srgbClr val="091827"/>
                </a:solidFill>
                <a:latin typeface="Arial"/>
                <a:ea typeface="Arial"/>
                <a:cs typeface="Arial"/>
              </a:rPr>
              <a:t>עכשיו מוכיחים את זה בלייב</a:t>
            </a:r>
          </a:p>
        </p:txBody>
      </p:sp>
      <p:sp>
        <p:nvSpPr>
          <p:cNvPr id="4" name="">
            <a:extLst xmlns:a="http://schemas.openxmlformats.org/drawingml/2006/main">
              <a:ext uri="{FF2B5EF4-FFF2-40B4-BE49-F238E27FC236}">
                <a16:creationId xmlns:a16="http://schemas.microsoft.com/office/drawing/2014/main" id="{D9A26F31-3B4E-4EF0-8D07-734AC4529B93}"/>
              </a:ext>
            </a:extLst>
          </p:cNvPr>
          <p:cNvSpPr>
            <a:spLocks xmlns:a="http://schemas.openxmlformats.org/drawingml/2006/main" noGrp="1"/>
          </p:cNvSpPr>
          <p:nvPr/>
        </p:nvSpPr>
        <p:spPr>
          <a:xfrm xmlns:a="http://schemas.openxmlformats.org/drawingml/2006/main">
            <a:off x="5619750" y="165735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5B6B78"/>
                </a:solidFill>
                <a:latin typeface="Arial"/>
                <a:ea typeface="Arial"/>
                <a:cs typeface="Arial"/>
              </a:defRPr>
            </a:pPr>
            <a:r>
              <a:rPr sz="1725" b="0" lang="he-IL">
                <a:solidFill>
                  <a:srgbClr val="5B6B78"/>
                </a:solidFill>
                <a:latin typeface="Arial"/>
                <a:ea typeface="Arial"/>
                <a:cs typeface="Arial"/>
              </a:rPr>
              <a:t>מהאירוע הגולמי ועד תרחיש החלטה שאפשר להסביר ולשחזר</a:t>
            </a:r>
          </a:p>
        </p:txBody>
      </p:sp>
      <p:sp>
        <p:nvSpPr>
          <p:cNvPr id="5" name="">
            <a:extLst xmlns:a="http://schemas.openxmlformats.org/drawingml/2006/main">
              <a:ext uri="{FF2B5EF4-FFF2-40B4-BE49-F238E27FC236}">
                <a16:creationId xmlns:a16="http://schemas.microsoft.com/office/drawing/2014/main" id="{6F7964B9-041A-4498-8585-64BB8B694B63}"/>
              </a:ext>
            </a:extLst>
          </p:cNvPr>
          <p:cNvSpPr>
            <a:spLocks xmlns:a="http://schemas.openxmlformats.org/drawingml/2006/main" noGrp="1"/>
          </p:cNvSpPr>
          <p:nvPr/>
        </p:nvSpPr>
        <p:spPr>
          <a:xfrm xmlns:a="http://schemas.openxmlformats.org/drawingml/2006/main">
            <a:off x="7048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6" name="">
            <a:extLst xmlns:a="http://schemas.openxmlformats.org/drawingml/2006/main">
              <a:ext uri="{FF2B5EF4-FFF2-40B4-BE49-F238E27FC236}">
                <a16:creationId xmlns:a16="http://schemas.microsoft.com/office/drawing/2014/main" id="{B81F44BB-9224-424C-A0A6-92570BE6858C}"/>
              </a:ext>
            </a:extLst>
          </p:cNvPr>
          <p:cNvSpPr>
            <a:spLocks xmlns:a="http://schemas.openxmlformats.org/drawingml/2006/main" noGrp="1"/>
          </p:cNvSpPr>
          <p:nvPr/>
        </p:nvSpPr>
        <p:spPr>
          <a:xfrm xmlns:a="http://schemas.openxmlformats.org/drawingml/2006/main">
            <a:off x="7048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06</a:t>
            </a:r>
          </a:p>
        </p:txBody>
      </p:sp>
      <p:sp>
        <p:nvSpPr>
          <p:cNvPr id="7" name="">
            <a:extLst xmlns:a="http://schemas.openxmlformats.org/drawingml/2006/main">
              <a:ext uri="{FF2B5EF4-FFF2-40B4-BE49-F238E27FC236}">
                <a16:creationId xmlns:a16="http://schemas.microsoft.com/office/drawing/2014/main" id="{B3E6BAB0-50A6-40A0-9A93-FF549305845C}"/>
              </a:ext>
            </a:extLst>
          </p:cNvPr>
          <p:cNvSpPr>
            <a:spLocks xmlns:a="http://schemas.openxmlformats.org/drawingml/2006/main" noGrp="1"/>
          </p:cNvSpPr>
          <p:nvPr/>
        </p:nvSpPr>
        <p:spPr>
          <a:xfrm xmlns:a="http://schemas.openxmlformats.org/drawingml/2006/main">
            <a:off x="2095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Backtesting</a:t>
            </a:r>
          </a:p>
        </p:txBody>
      </p:sp>
      <p:sp>
        <p:nvSpPr>
          <p:cNvPr id="8" name="">
            <a:extLst xmlns:a="http://schemas.openxmlformats.org/drawingml/2006/main">
              <a:ext uri="{FF2B5EF4-FFF2-40B4-BE49-F238E27FC236}">
                <a16:creationId xmlns:a16="http://schemas.microsoft.com/office/drawing/2014/main" id="{C80269DE-E9D4-47C9-AE71-EE9634B4B28B}"/>
              </a:ext>
            </a:extLst>
          </p:cNvPr>
          <p:cNvSpPr>
            <a:spLocks xmlns:a="http://schemas.openxmlformats.org/drawingml/2006/main" noGrp="1"/>
          </p:cNvSpPr>
          <p:nvPr/>
        </p:nvSpPr>
        <p:spPr>
          <a:xfrm xmlns:a="http://schemas.openxmlformats.org/drawingml/2006/main">
            <a:off x="25717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9" name="">
            <a:extLst xmlns:a="http://schemas.openxmlformats.org/drawingml/2006/main">
              <a:ext uri="{FF2B5EF4-FFF2-40B4-BE49-F238E27FC236}">
                <a16:creationId xmlns:a16="http://schemas.microsoft.com/office/drawing/2014/main" id="{5618FD13-DD79-4020-A3E1-F4D71F1035B2}"/>
              </a:ext>
            </a:extLst>
          </p:cNvPr>
          <p:cNvSpPr>
            <a:spLocks xmlns:a="http://schemas.openxmlformats.org/drawingml/2006/main" noGrp="1"/>
          </p:cNvSpPr>
          <p:nvPr/>
        </p:nvSpPr>
        <p:spPr>
          <a:xfrm xmlns:a="http://schemas.openxmlformats.org/drawingml/2006/main">
            <a:off x="25717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05</a:t>
            </a:r>
          </a:p>
        </p:txBody>
      </p:sp>
      <p:sp>
        <p:nvSpPr>
          <p:cNvPr id="10" name="">
            <a:extLst xmlns:a="http://schemas.openxmlformats.org/drawingml/2006/main">
              <a:ext uri="{FF2B5EF4-FFF2-40B4-BE49-F238E27FC236}">
                <a16:creationId xmlns:a16="http://schemas.microsoft.com/office/drawing/2014/main" id="{4F0B4C4F-ECF6-4E8F-A214-F2C97A7F973D}"/>
              </a:ext>
            </a:extLst>
          </p:cNvPr>
          <p:cNvSpPr>
            <a:spLocks xmlns:a="http://schemas.openxmlformats.org/drawingml/2006/main" noGrp="1"/>
          </p:cNvSpPr>
          <p:nvPr/>
        </p:nvSpPr>
        <p:spPr>
          <a:xfrm xmlns:a="http://schemas.openxmlformats.org/drawingml/2006/main">
            <a:off x="20764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Opportunity</a:t>
            </a:r>
          </a:p>
        </p:txBody>
      </p:sp>
      <p:sp>
        <p:nvSpPr>
          <p:cNvPr id="11" name="">
            <a:extLst xmlns:a="http://schemas.openxmlformats.org/drawingml/2006/main">
              <a:ext uri="{FF2B5EF4-FFF2-40B4-BE49-F238E27FC236}">
                <a16:creationId xmlns:a16="http://schemas.microsoft.com/office/drawing/2014/main" id="{33E598D6-0D9D-4D73-9937-5F9269044A11}"/>
              </a:ext>
            </a:extLst>
          </p:cNvPr>
          <p:cNvSpPr>
            <a:spLocks xmlns:a="http://schemas.openxmlformats.org/drawingml/2006/main" noGrp="1"/>
          </p:cNvSpPr>
          <p:nvPr/>
        </p:nvSpPr>
        <p:spPr>
          <a:xfrm xmlns:a="http://schemas.openxmlformats.org/drawingml/2006/main">
            <a:off x="44386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2" name="">
            <a:extLst xmlns:a="http://schemas.openxmlformats.org/drawingml/2006/main">
              <a:ext uri="{FF2B5EF4-FFF2-40B4-BE49-F238E27FC236}">
                <a16:creationId xmlns:a16="http://schemas.microsoft.com/office/drawing/2014/main" id="{1081B4D1-A150-4D2F-A4C0-021287630576}"/>
              </a:ext>
            </a:extLst>
          </p:cNvPr>
          <p:cNvSpPr>
            <a:spLocks xmlns:a="http://schemas.openxmlformats.org/drawingml/2006/main" noGrp="1"/>
          </p:cNvSpPr>
          <p:nvPr/>
        </p:nvSpPr>
        <p:spPr>
          <a:xfrm xmlns:a="http://schemas.openxmlformats.org/drawingml/2006/main">
            <a:off x="44386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04</a:t>
            </a:r>
          </a:p>
        </p:txBody>
      </p:sp>
      <p:sp>
        <p:nvSpPr>
          <p:cNvPr id="13" name="">
            <a:extLst xmlns:a="http://schemas.openxmlformats.org/drawingml/2006/main">
              <a:ext uri="{FF2B5EF4-FFF2-40B4-BE49-F238E27FC236}">
                <a16:creationId xmlns:a16="http://schemas.microsoft.com/office/drawing/2014/main" id="{0EDCA85A-12DA-4985-BFC8-8D2B0217A0D4}"/>
              </a:ext>
            </a:extLst>
          </p:cNvPr>
          <p:cNvSpPr>
            <a:spLocks xmlns:a="http://schemas.openxmlformats.org/drawingml/2006/main" noGrp="1"/>
          </p:cNvSpPr>
          <p:nvPr/>
        </p:nvSpPr>
        <p:spPr>
          <a:xfrm xmlns:a="http://schemas.openxmlformats.org/drawingml/2006/main">
            <a:off x="39433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Airflow</a:t>
            </a:r>
          </a:p>
        </p:txBody>
      </p:sp>
      <p:sp>
        <p:nvSpPr>
          <p:cNvPr id="14" name="">
            <a:extLst xmlns:a="http://schemas.openxmlformats.org/drawingml/2006/main">
              <a:ext uri="{FF2B5EF4-FFF2-40B4-BE49-F238E27FC236}">
                <a16:creationId xmlns:a16="http://schemas.microsoft.com/office/drawing/2014/main" id="{75E584E0-5E61-4507-A065-EBAA420A984B}"/>
              </a:ext>
            </a:extLst>
          </p:cNvPr>
          <p:cNvSpPr>
            <a:spLocks xmlns:a="http://schemas.openxmlformats.org/drawingml/2006/main" noGrp="1"/>
          </p:cNvSpPr>
          <p:nvPr/>
        </p:nvSpPr>
        <p:spPr>
          <a:xfrm xmlns:a="http://schemas.openxmlformats.org/drawingml/2006/main">
            <a:off x="63055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5" name="">
            <a:extLst xmlns:a="http://schemas.openxmlformats.org/drawingml/2006/main">
              <a:ext uri="{FF2B5EF4-FFF2-40B4-BE49-F238E27FC236}">
                <a16:creationId xmlns:a16="http://schemas.microsoft.com/office/drawing/2014/main" id="{18E73038-88C8-4A66-9993-27E4D7EFD64F}"/>
              </a:ext>
            </a:extLst>
          </p:cNvPr>
          <p:cNvSpPr>
            <a:spLocks xmlns:a="http://schemas.openxmlformats.org/drawingml/2006/main" noGrp="1"/>
          </p:cNvSpPr>
          <p:nvPr/>
        </p:nvSpPr>
        <p:spPr>
          <a:xfrm xmlns:a="http://schemas.openxmlformats.org/drawingml/2006/main">
            <a:off x="63055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03</a:t>
            </a:r>
          </a:p>
        </p:txBody>
      </p:sp>
      <p:sp>
        <p:nvSpPr>
          <p:cNvPr id="16" name="">
            <a:extLst xmlns:a="http://schemas.openxmlformats.org/drawingml/2006/main">
              <a:ext uri="{FF2B5EF4-FFF2-40B4-BE49-F238E27FC236}">
                <a16:creationId xmlns:a16="http://schemas.microsoft.com/office/drawing/2014/main" id="{99180A26-6430-4781-BAA1-FCA38D8119AA}"/>
              </a:ext>
            </a:extLst>
          </p:cNvPr>
          <p:cNvSpPr>
            <a:spLocks xmlns:a="http://schemas.openxmlformats.org/drawingml/2006/main" noGrp="1"/>
          </p:cNvSpPr>
          <p:nvPr/>
        </p:nvSpPr>
        <p:spPr>
          <a:xfrm xmlns:a="http://schemas.openxmlformats.org/drawingml/2006/main">
            <a:off x="58102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MinIO</a:t>
            </a:r>
          </a:p>
        </p:txBody>
      </p:sp>
      <p:sp>
        <p:nvSpPr>
          <p:cNvPr id="17" name="">
            <a:extLst xmlns:a="http://schemas.openxmlformats.org/drawingml/2006/main">
              <a:ext uri="{FF2B5EF4-FFF2-40B4-BE49-F238E27FC236}">
                <a16:creationId xmlns:a16="http://schemas.microsoft.com/office/drawing/2014/main" id="{049459C8-4686-42E9-92FA-416D7B843370}"/>
              </a:ext>
            </a:extLst>
          </p:cNvPr>
          <p:cNvSpPr>
            <a:spLocks xmlns:a="http://schemas.openxmlformats.org/drawingml/2006/main" noGrp="1"/>
          </p:cNvSpPr>
          <p:nvPr/>
        </p:nvSpPr>
        <p:spPr>
          <a:xfrm xmlns:a="http://schemas.openxmlformats.org/drawingml/2006/main">
            <a:off x="81724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8" name="">
            <a:extLst xmlns:a="http://schemas.openxmlformats.org/drawingml/2006/main">
              <a:ext uri="{FF2B5EF4-FFF2-40B4-BE49-F238E27FC236}">
                <a16:creationId xmlns:a16="http://schemas.microsoft.com/office/drawing/2014/main" id="{94A76BAE-E662-49D9-B09B-F434B633DB06}"/>
              </a:ext>
            </a:extLst>
          </p:cNvPr>
          <p:cNvSpPr>
            <a:spLocks xmlns:a="http://schemas.openxmlformats.org/drawingml/2006/main" noGrp="1"/>
          </p:cNvSpPr>
          <p:nvPr/>
        </p:nvSpPr>
        <p:spPr>
          <a:xfrm xmlns:a="http://schemas.openxmlformats.org/drawingml/2006/main">
            <a:off x="81724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9" name="">
            <a:extLst xmlns:a="http://schemas.openxmlformats.org/drawingml/2006/main">
              <a:ext uri="{FF2B5EF4-FFF2-40B4-BE49-F238E27FC236}">
                <a16:creationId xmlns:a16="http://schemas.microsoft.com/office/drawing/2014/main" id="{87E0C1CE-0720-4893-BE19-A60114A05867}"/>
              </a:ext>
            </a:extLst>
          </p:cNvPr>
          <p:cNvSpPr>
            <a:spLocks xmlns:a="http://schemas.openxmlformats.org/drawingml/2006/main" noGrp="1"/>
          </p:cNvSpPr>
          <p:nvPr/>
        </p:nvSpPr>
        <p:spPr>
          <a:xfrm xmlns:a="http://schemas.openxmlformats.org/drawingml/2006/main">
            <a:off x="76771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Kafka</a:t>
            </a:r>
          </a:p>
        </p:txBody>
      </p:sp>
      <p:sp>
        <p:nvSpPr>
          <p:cNvPr id="20" name="">
            <a:extLst xmlns:a="http://schemas.openxmlformats.org/drawingml/2006/main">
              <a:ext uri="{FF2B5EF4-FFF2-40B4-BE49-F238E27FC236}">
                <a16:creationId xmlns:a16="http://schemas.microsoft.com/office/drawing/2014/main" id="{4B539EE8-ED31-4120-BC13-B41AC09279C1}"/>
              </a:ext>
            </a:extLst>
          </p:cNvPr>
          <p:cNvSpPr>
            <a:spLocks xmlns:a="http://schemas.openxmlformats.org/drawingml/2006/main" noGrp="1"/>
          </p:cNvSpPr>
          <p:nvPr/>
        </p:nvSpPr>
        <p:spPr>
          <a:xfrm xmlns:a="http://schemas.openxmlformats.org/drawingml/2006/main">
            <a:off x="10039350" y="3181350"/>
            <a:ext cx="419100" cy="41910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14288">
            <a:solidFill>
              <a:srgbClr val="35D4B5"/>
            </a:solidFill>
            <a:prstDash val="solid"/>
          </a:ln>
        </p:spPr>
      </p:sp>
      <p:sp>
        <p:nvSpPr>
          <p:cNvPr id="21" name="">
            <a:extLst xmlns:a="http://schemas.openxmlformats.org/drawingml/2006/main">
              <a:ext uri="{FF2B5EF4-FFF2-40B4-BE49-F238E27FC236}">
                <a16:creationId xmlns:a16="http://schemas.microsoft.com/office/drawing/2014/main" id="{747CF741-EE52-4EB1-A38A-B71833E6CD98}"/>
              </a:ext>
            </a:extLst>
          </p:cNvPr>
          <p:cNvSpPr>
            <a:spLocks xmlns:a="http://schemas.openxmlformats.org/drawingml/2006/main" noGrp="1"/>
          </p:cNvSpPr>
          <p:nvPr/>
        </p:nvSpPr>
        <p:spPr>
          <a:xfrm xmlns:a="http://schemas.openxmlformats.org/drawingml/2006/main">
            <a:off x="100393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091827"/>
                </a:solidFill>
                <a:latin typeface="Cascadia Mono"/>
                <a:ea typeface="Cascadia Mono"/>
                <a:cs typeface="Cascadia Mono"/>
              </a:defRPr>
            </a:pPr>
            <a:r>
              <a:rPr sz="900" b="1">
                <a:solidFill>
                  <a:srgbClr val="091827"/>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8950D3FF-D6A6-43BE-A755-804865342DBE}"/>
              </a:ext>
            </a:extLst>
          </p:cNvPr>
          <p:cNvSpPr>
            <a:spLocks xmlns:a="http://schemas.openxmlformats.org/drawingml/2006/main" noGrp="1"/>
          </p:cNvSpPr>
          <p:nvPr/>
        </p:nvSpPr>
        <p:spPr>
          <a:xfrm xmlns:a="http://schemas.openxmlformats.org/drawingml/2006/main">
            <a:off x="95440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91827"/>
                </a:solidFill>
                <a:latin typeface="Cascadia Mono"/>
                <a:ea typeface="Cascadia Mono"/>
                <a:cs typeface="Cascadia Mono"/>
              </a:defRPr>
            </a:pPr>
            <a:r>
              <a:rPr sz="1275" b="1">
                <a:solidFill>
                  <a:srgbClr val="091827"/>
                </a:solidFill>
                <a:latin typeface="Cascadia Mono"/>
                <a:ea typeface="Cascadia Mono"/>
                <a:cs typeface="Cascadia Mono"/>
              </a:rPr>
              <a:t>Dashboard</a:t>
            </a:r>
          </a:p>
        </p:txBody>
      </p:sp>
      <p:cxnSp>
        <p:nvCxnSpPr>
          <p:cNvPr id="56" name=""/>
          <p:cNvCxnSpPr>
            <a:stCxn xmlns:a="http://schemas.openxmlformats.org/drawingml/2006/main" id="20" idx="1"/>
            <a:endCxn xmlns:a="http://schemas.openxmlformats.org/drawingml/2006/main" id="17" idx="3"/>
          </p:cNvCxnSpPr>
          <p:nvPr/>
        </p:nvCxnSpPr>
        <p:spPr>
          <a:xfrm xmlns:a="http://schemas.openxmlformats.org/drawingml/2006/main" flipH="1">
            <a:off x="8591550" y="3390900"/>
            <a:ext cx="14478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57" name=""/>
          <p:cNvCxnSpPr>
            <a:stCxn xmlns:a="http://schemas.openxmlformats.org/drawingml/2006/main" id="17" idx="1"/>
            <a:endCxn xmlns:a="http://schemas.openxmlformats.org/drawingml/2006/main" id="14" idx="3"/>
          </p:cNvCxnSpPr>
          <p:nvPr/>
        </p:nvCxnSpPr>
        <p:spPr>
          <a:xfrm xmlns:a="http://schemas.openxmlformats.org/drawingml/2006/main" flipH="1">
            <a:off x="6724650" y="3390900"/>
            <a:ext cx="14478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58" name=""/>
          <p:cNvCxnSpPr>
            <a:stCxn xmlns:a="http://schemas.openxmlformats.org/drawingml/2006/main" id="14" idx="1"/>
            <a:endCxn xmlns:a="http://schemas.openxmlformats.org/drawingml/2006/main" id="11" idx="3"/>
          </p:cNvCxnSpPr>
          <p:nvPr/>
        </p:nvCxnSpPr>
        <p:spPr>
          <a:xfrm xmlns:a="http://schemas.openxmlformats.org/drawingml/2006/main" flipH="1">
            <a:off x="4857750" y="3390900"/>
            <a:ext cx="14478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59" name=""/>
          <p:cNvCxnSpPr>
            <a:stCxn xmlns:a="http://schemas.openxmlformats.org/drawingml/2006/main" id="11" idx="1"/>
            <a:endCxn xmlns:a="http://schemas.openxmlformats.org/drawingml/2006/main" id="8" idx="3"/>
          </p:cNvCxnSpPr>
          <p:nvPr/>
        </p:nvCxnSpPr>
        <p:spPr>
          <a:xfrm xmlns:a="http://schemas.openxmlformats.org/drawingml/2006/main" flipH="1">
            <a:off x="2990850" y="3390900"/>
            <a:ext cx="14478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cxnSp>
        <p:nvCxnSpPr>
          <p:cNvPr id="60" name=""/>
          <p:cNvCxnSpPr>
            <a:stCxn xmlns:a="http://schemas.openxmlformats.org/drawingml/2006/main" id="8" idx="1"/>
            <a:endCxn xmlns:a="http://schemas.openxmlformats.org/drawingml/2006/main" id="5" idx="3"/>
          </p:cNvCxnSpPr>
          <p:nvPr/>
        </p:nvCxnSpPr>
        <p:spPr>
          <a:xfrm xmlns:a="http://schemas.openxmlformats.org/drawingml/2006/main" flipH="1">
            <a:off x="1123950" y="3390900"/>
            <a:ext cx="1447800" cy="0"/>
          </a:xfrm>
          <a:prstGeom xmlns:a="http://schemas.openxmlformats.org/drawingml/2006/main" prst="straightConnector1">
            <a:avLst/>
          </a:prstGeom>
          <a:ln xmlns:a="http://schemas.openxmlformats.org/drawingml/2006/main" w="19050">
            <a:solidFill>
              <a:srgbClr val="117C70"/>
            </a:solidFill>
            <a:prstDash val="solid"/>
            <a:tailEnd type="triangle" w="sm" len="sm"/>
          </a:ln>
        </p:spPr>
      </p:cxnSp>
      <p:sp>
        <p:nvSpPr>
          <p:cNvPr id="28" name="">
            <a:extLst xmlns:a="http://schemas.openxmlformats.org/drawingml/2006/main">
              <a:ext uri="{FF2B5EF4-FFF2-40B4-BE49-F238E27FC236}">
                <a16:creationId xmlns:a16="http://schemas.microsoft.com/office/drawing/2014/main" id="{B4537936-47FC-408C-9416-A0C0F3A3269E}"/>
              </a:ext>
            </a:extLst>
          </p:cNvPr>
          <p:cNvSpPr>
            <a:spLocks xmlns:a="http://schemas.openxmlformats.org/drawingml/2006/main" noGrp="1"/>
          </p:cNvSpPr>
          <p:nvPr/>
        </p:nvSpPr>
        <p:spPr>
          <a:xfrm xmlns:a="http://schemas.openxmlformats.org/drawingml/2006/main">
            <a:off x="60960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117C70"/>
                </a:solidFill>
                <a:latin typeface="Arial"/>
                <a:ea typeface="Arial"/>
                <a:cs typeface="Arial"/>
              </a:defRPr>
            </a:pPr>
            <a:r>
              <a:rPr sz="1650" b="1" lang="he-IL">
                <a:solidFill>
                  <a:srgbClr val="117C70"/>
                </a:solidFill>
                <a:latin typeface="Arial"/>
                <a:ea typeface="Arial"/>
                <a:cs typeface="Arial"/>
              </a:rPr>
              <a:t>החלטה ובדיקה</a:t>
            </a:r>
          </a:p>
        </p:txBody>
      </p:sp>
      <p:sp>
        <p:nvSpPr>
          <p:cNvPr id="29" name="">
            <a:extLst xmlns:a="http://schemas.openxmlformats.org/drawingml/2006/main">
              <a:ext uri="{FF2B5EF4-FFF2-40B4-BE49-F238E27FC236}">
                <a16:creationId xmlns:a16="http://schemas.microsoft.com/office/drawing/2014/main" id="{4586FC37-FD9B-4B01-8667-49558AD02A3A}"/>
              </a:ext>
            </a:extLst>
          </p:cNvPr>
          <p:cNvSpPr>
            <a:spLocks xmlns:a="http://schemas.openxmlformats.org/drawingml/2006/main" noGrp="1"/>
          </p:cNvSpPr>
          <p:nvPr/>
        </p:nvSpPr>
        <p:spPr>
          <a:xfrm xmlns:a="http://schemas.openxmlformats.org/drawingml/2006/main">
            <a:off x="485775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5B91FF"/>
                </a:solidFill>
                <a:latin typeface="Arial"/>
                <a:ea typeface="Arial"/>
                <a:cs typeface="Arial"/>
              </a:defRPr>
            </a:pPr>
            <a:r>
              <a:rPr sz="1650" b="1" lang="he-IL">
                <a:solidFill>
                  <a:srgbClr val="5B91FF"/>
                </a:solidFill>
                <a:latin typeface="Arial"/>
                <a:ea typeface="Arial"/>
                <a:cs typeface="Arial"/>
              </a:rPr>
              <a:t>מקור ואישור</a:t>
            </a:r>
          </a:p>
        </p:txBody>
      </p:sp>
      <p:sp>
        <p:nvSpPr>
          <p:cNvPr id="30" name="">
            <a:extLst xmlns:a="http://schemas.openxmlformats.org/drawingml/2006/main">
              <a:ext uri="{FF2B5EF4-FFF2-40B4-BE49-F238E27FC236}">
                <a16:creationId xmlns:a16="http://schemas.microsoft.com/office/drawing/2014/main" id="{20F905C4-B78D-4549-A56E-452C37FE194D}"/>
              </a:ext>
            </a:extLst>
          </p:cNvPr>
          <p:cNvSpPr>
            <a:spLocks xmlns:a="http://schemas.openxmlformats.org/drawingml/2006/main" noGrp="1"/>
          </p:cNvSpPr>
          <p:nvPr/>
        </p:nvSpPr>
        <p:spPr>
          <a:xfrm xmlns:a="http://schemas.openxmlformats.org/drawingml/2006/main">
            <a:off x="9048750" y="4686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9A6200"/>
                </a:solidFill>
                <a:latin typeface="Arial"/>
                <a:ea typeface="Arial"/>
                <a:cs typeface="Arial"/>
              </a:defRPr>
            </a:pPr>
            <a:r>
              <a:rPr sz="1650" b="1" lang="he-IL">
                <a:solidFill>
                  <a:srgbClr val="9A6200"/>
                </a:solidFill>
                <a:latin typeface="Arial"/>
                <a:ea typeface="Arial"/>
                <a:cs typeface="Arial"/>
              </a:rPr>
              <a:t>המוצר והאירוע</a:t>
            </a:r>
          </a:p>
        </p:txBody>
      </p:sp>
      <p:sp>
        <p:nvSpPr>
          <p:cNvPr id="31" name="">
            <a:extLst xmlns:a="http://schemas.openxmlformats.org/drawingml/2006/main">
              <a:ext uri="{FF2B5EF4-FFF2-40B4-BE49-F238E27FC236}">
                <a16:creationId xmlns:a16="http://schemas.microsoft.com/office/drawing/2014/main" id="{E0A5AAFE-310B-4A38-9852-4C585C6F33A9}"/>
              </a:ext>
            </a:extLst>
          </p:cNvPr>
          <p:cNvSpPr>
            <a:spLocks xmlns:a="http://schemas.openxmlformats.org/drawingml/2006/main" noGrp="1"/>
          </p:cNvSpPr>
          <p:nvPr/>
        </p:nvSpPr>
        <p:spPr>
          <a:xfrm xmlns:a="http://schemas.openxmlformats.org/drawingml/2006/main">
            <a:off x="3600450" y="5581650"/>
            <a:ext cx="796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הדמו לקריאה בלבד. לא מפעילים Backfill, לא משנים נתונים ולא מציגים סודות.</a:t>
            </a:r>
          </a:p>
        </p:txBody>
      </p:sp>
      <p:sp>
        <p:nvSpPr>
          <p:cNvPr id="32" name="">
            <a:extLst xmlns:a="http://schemas.openxmlformats.org/drawingml/2006/main">
              <a:ext uri="{FF2B5EF4-FFF2-40B4-BE49-F238E27FC236}">
                <a16:creationId xmlns:a16="http://schemas.microsoft.com/office/drawing/2014/main" id="{19A73A8A-D783-4F43-AB63-A18E0DCD176A}"/>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5B6B78"/>
                </a:solidFill>
                <a:latin typeface="Cascadia Mono"/>
                <a:ea typeface="Cascadia Mono"/>
                <a:cs typeface="Cascadia Mono"/>
              </a:defRPr>
            </a:pPr>
            <a:r>
              <a:rPr sz="825" b="1">
                <a:solidFill>
                  <a:srgbClr val="5B6B78"/>
                </a:solidFill>
                <a:latin typeface="Cascadia Mono"/>
                <a:ea typeface="Cascadia Mono"/>
                <a:cs typeface="Cascadia Mono"/>
              </a:rPr>
              <a:t>12</a:t>
            </a:r>
          </a:p>
        </p:txBody>
      </p:sp>
      <p:sp>
        <p:nvSpPr>
          <p:cNvPr id="33" name="">
            <a:extLst xmlns:a="http://schemas.openxmlformats.org/drawingml/2006/main">
              <a:ext uri="{FF2B5EF4-FFF2-40B4-BE49-F238E27FC236}">
                <a16:creationId xmlns:a16="http://schemas.microsoft.com/office/drawing/2014/main" id="{E616FAE6-7F9C-4422-84AB-AD8AF09B2E24}"/>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C9D2D8"/>
            </a:solidFill>
            <a:prstDash val="solid"/>
          </a:ln>
        </p:spPr>
      </p:sp>
    </p:spTree>
    <p:extLst>
      <p:ext uri="{BB962C8B-B14F-4D97-AF65-F5344CB8AC3E}">
        <p14:creationId xmlns:p14="http://schemas.microsoft.com/office/powerpoint/2010/main" val="505415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2026-09-16T11:50:42.9190000Z</dcterms:created>
  <dcterms:modified xsi:type="dcterms:W3CDTF">2026-09-16T11:50:42.9190000Z</dcterms:modified>
</coreProperties>
</file>