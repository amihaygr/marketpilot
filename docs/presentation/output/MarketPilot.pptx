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6c3e27490748d6" /><Relationship Type="http://schemas.openxmlformats.org/officeDocument/2006/relationships/extended-properties" Target="/docProps/app.xml" Id="R03394ebd66ed4ba4" /><Relationship Type="http://schemas.openxmlformats.org/officeDocument/2006/relationships/officeDocument" Target="/ppt/presentation.xml" Id="R1b0d95177f5b4775" /></Relationships>
</file>

<file path=ppt/presentation.xml><?xml version="1.0" encoding="utf-8"?>
<p:presentation xmlns:p="http://schemas.openxmlformats.org/presentationml/2006/main">
  <p:sldMasterIdLst>
    <p:sldMasterId xmlns:r="http://schemas.openxmlformats.org/officeDocument/2006/relationships" id="2147483648" r:id="R2e52c6231c25428c"/>
  </p:sldMasterIdLst>
  <p:notesMasterIdLst>
    <p:notesMasterId xmlns:r="http://schemas.openxmlformats.org/officeDocument/2006/relationships" r:id="R112e6a87ba874d7a"/>
  </p:notesMasterIdLst>
  <p:sldIdLst>
    <p:sldId xmlns:r="http://schemas.openxmlformats.org/officeDocument/2006/relationships" id="256" r:id="Ra7e445a1061f48e6"/>
    <p:sldId xmlns:r="http://schemas.openxmlformats.org/officeDocument/2006/relationships" id="257" r:id="Rb02ad20fe31b41cd"/>
    <p:sldId xmlns:r="http://schemas.openxmlformats.org/officeDocument/2006/relationships" id="258" r:id="R70ead9aa03d047e3"/>
    <p:sldId xmlns:r="http://schemas.openxmlformats.org/officeDocument/2006/relationships" id="259" r:id="R3efe82916d6d41cb"/>
    <p:sldId xmlns:r="http://schemas.openxmlformats.org/officeDocument/2006/relationships" id="260" r:id="R7fc2e74f56fb43ab"/>
    <p:sldId xmlns:r="http://schemas.openxmlformats.org/officeDocument/2006/relationships" id="261" r:id="R38a70f5e95d94d2e"/>
    <p:sldId xmlns:r="http://schemas.openxmlformats.org/officeDocument/2006/relationships" id="262" r:id="R93ce0924e8a94486"/>
    <p:sldId xmlns:r="http://schemas.openxmlformats.org/officeDocument/2006/relationships" id="263" r:id="R5232723a95f54fc0"/>
    <p:sldId xmlns:r="http://schemas.openxmlformats.org/officeDocument/2006/relationships" id="264" r:id="Reaa1ac706bc24ac7"/>
    <p:sldId xmlns:r="http://schemas.openxmlformats.org/officeDocument/2006/relationships" id="265" r:id="R1b38aa0849614dd3"/>
    <p:sldId xmlns:r="http://schemas.openxmlformats.org/officeDocument/2006/relationships" id="266" r:id="R734b976cb28944d3"/>
    <p:sldId xmlns:r="http://schemas.openxmlformats.org/officeDocument/2006/relationships" id="267" r:id="Rb1f579da0a3045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155eabadcd4567" /><Relationship Type="http://schemas.openxmlformats.org/officeDocument/2006/relationships/slideMaster" Target="/ppt/slideMasters/slideMaster1.xml" Id="R2e52c6231c25428c" /><Relationship Type="http://schemas.openxmlformats.org/officeDocument/2006/relationships/notesMaster" Target="/ppt/notesMasters/notesMaster1.xml" Id="R112e6a87ba874d7a" /><Relationship Type="http://schemas.openxmlformats.org/officeDocument/2006/relationships/presProps" Target="/ppt/presProps.xml" Id="R29d9244eb3a5492d" /><Relationship Type="http://schemas.openxmlformats.org/officeDocument/2006/relationships/tableStyles" Target="/ppt/tableStyles.xml" Id="R9e0e2888b29d486f" /><Relationship Type="http://schemas.openxmlformats.org/officeDocument/2006/relationships/slide" Target="/ppt/slides/slide1.xml" Id="Ra7e445a1061f48e6" /><Relationship Type="http://schemas.openxmlformats.org/officeDocument/2006/relationships/slide" Target="/ppt/slides/slide2.xml" Id="Rb02ad20fe31b41cd" /><Relationship Type="http://schemas.openxmlformats.org/officeDocument/2006/relationships/slide" Target="/ppt/slides/slide3.xml" Id="R70ead9aa03d047e3" /><Relationship Type="http://schemas.openxmlformats.org/officeDocument/2006/relationships/slide" Target="/ppt/slides/slide4.xml" Id="R3efe82916d6d41cb" /><Relationship Type="http://schemas.openxmlformats.org/officeDocument/2006/relationships/slide" Target="/ppt/slides/slide5.xml" Id="R7fc2e74f56fb43ab" /><Relationship Type="http://schemas.openxmlformats.org/officeDocument/2006/relationships/slide" Target="/ppt/slides/slide6.xml" Id="R38a70f5e95d94d2e" /><Relationship Type="http://schemas.openxmlformats.org/officeDocument/2006/relationships/slide" Target="/ppt/slides/slide7.xml" Id="R93ce0924e8a94486" /><Relationship Type="http://schemas.openxmlformats.org/officeDocument/2006/relationships/slide" Target="/ppt/slides/slide8.xml" Id="R5232723a95f54fc0" /><Relationship Type="http://schemas.openxmlformats.org/officeDocument/2006/relationships/slide" Target="/ppt/slides/slide9.xml" Id="Reaa1ac706bc24ac7" /><Relationship Type="http://schemas.openxmlformats.org/officeDocument/2006/relationships/slide" Target="/ppt/slides/slide10.xml" Id="R1b38aa0849614dd3" /><Relationship Type="http://schemas.openxmlformats.org/officeDocument/2006/relationships/slide" Target="/ppt/slides/slide11.xml" Id="R734b976cb28944d3" /><Relationship Type="http://schemas.openxmlformats.org/officeDocument/2006/relationships/slide" Target="/ppt/slides/slide12.xml" Id="Rb1f579da0a3045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45ce1acd70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8a675dfe264f37" /><Relationship Type="http://schemas.openxmlformats.org/officeDocument/2006/relationships/notesMaster" Target="/ppt/notesMasters/notesMaster1.xml" Id="Re56e71377fe440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bcf950e5b04a9f" /><Relationship Type="http://schemas.openxmlformats.org/officeDocument/2006/relationships/notesMaster" Target="/ppt/notesMasters/notesMaster1.xml" Id="Rec109c78235449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f298e9cdb84556" /><Relationship Type="http://schemas.openxmlformats.org/officeDocument/2006/relationships/notesMaster" Target="/ppt/notesMasters/notesMaster1.xml" Id="R79e6b66802224c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63d54a0b1846b8" /><Relationship Type="http://schemas.openxmlformats.org/officeDocument/2006/relationships/notesMaster" Target="/ppt/notesMasters/notesMaster1.xml" Id="R4ee5aa3940bc40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ba67b8fc714714" /><Relationship Type="http://schemas.openxmlformats.org/officeDocument/2006/relationships/notesMaster" Target="/ppt/notesMasters/notesMaster1.xml" Id="R013edc6f770240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8dfc46ce89439c" /><Relationship Type="http://schemas.openxmlformats.org/officeDocument/2006/relationships/notesMaster" Target="/ppt/notesMasters/notesMaster1.xml" Id="R3dcece8a35d342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26950e24fe42af" /><Relationship Type="http://schemas.openxmlformats.org/officeDocument/2006/relationships/notesMaster" Target="/ppt/notesMasters/notesMaster1.xml" Id="Rd1e060e4e27b45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7bbd58def2405a" /><Relationship Type="http://schemas.openxmlformats.org/officeDocument/2006/relationships/notesMaster" Target="/ppt/notesMasters/notesMaster1.xml" Id="R60f54415caa642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2bbf1903a84387" /><Relationship Type="http://schemas.openxmlformats.org/officeDocument/2006/relationships/notesMaster" Target="/ppt/notesMasters/notesMaster1.xml" Id="R43bba30eeec84d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a76ea152e84f5c" /><Relationship Type="http://schemas.openxmlformats.org/officeDocument/2006/relationships/notesMaster" Target="/ppt/notesMasters/notesMaster1.xml" Id="Re5c51a2196a849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b35773c45a4951" /><Relationship Type="http://schemas.openxmlformats.org/officeDocument/2006/relationships/notesMaster" Target="/ppt/notesMasters/notesMaster1.xml" Id="R245a77f98f3645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dfced5676b479b" /><Relationship Type="http://schemas.openxmlformats.org/officeDocument/2006/relationships/notesMaster" Target="/ppt/notesMasters/notesMaster1.xml" Id="R67c3bce019d745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40 שניות.</a:t>
            </a:r>
          </a:p>
          <a:p xmlns:a="http://schemas.openxmlformats.org/drawingml/2006/main">
            <a:r>
              <a:t>פתיחה: שלום, אני מציג את MarketPilot — מערכת Data Engineering מקומית שמחברת נתוני שוק ודיווחי חברות, שומרת ראיית מקור, מאשרת איכות ומתרגמת הכול לתרחיש החלטה ברור למשקיע.</a:t>
            </a:r>
          </a:p>
          <a:p xmlns:a="http://schemas.openxmlformats.org/drawingml/2006/main">
            <a:r>
              <a:t>הדגש: זו מערכת מחקר ותמיכה בהחלטות; היא אינה מבצעת מסחר ואינה מבטיחה תשואה.</a:t>
            </a:r>
          </a:p>
          <a:p xmlns:a="http://schemas.openxmlformats.org/drawingml/2006/main">
            <a:r>
              <a:t>מעבר: נתחיל מהבעיה שהמערכת פותרת.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a:t>
            </a:r>
          </a:p>
          <a:p xmlns:a="http://schemas.openxmlformats.org/drawingml/2006/main">
            <a:r>
              <a:t>מה לומר: כסוחר או משקיע אני לא צריך עוד גרף. אני צריך לדעת מאיפה הנתון הגיע, עד כמה הוא טרי, האם עבר בדיקות, ומה הסיכון אם התזה שגויה. MarketPilot מחברת את ארבעת הדברים למסלול אחד.</a:t>
            </a:r>
          </a:p>
          <a:p xmlns:a="http://schemas.openxmlformats.org/drawingml/2006/main">
            <a:r>
              <a:t>שאלה צפויה: האם זו מערכת מסחר? לא. היא מערכת Decision Support עם ביצוע ידני.</a:t>
            </a:r>
          </a:p>
          <a:p xmlns:a="http://schemas.openxmlformats.org/drawingml/2006/main">
            <a:r>
              <a:t>מעבר: כעת נראה בדיוק מה המשתמש מקבל.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a:t>
            </a:r>
          </a:p>
          <a:p xmlns:a="http://schemas.openxmlformats.org/drawingml/2006/main">
            <a:r>
              <a:t>מה לומר: המוצר בנוי סביב ארבע פעולות — לזהות, לתזמן, לנהל סיכון וללמוד. במקום מחיר יעד יחיד, הוא מציג טווח כניסה, נקודת ביטול ושני יעדים. גודל הפוזיציה נגזר מהסיכון המותר ולא מתחושת בטן.</a:t>
            </a:r>
          </a:p>
          <a:p xmlns:a="http://schemas.openxmlformats.org/drawingml/2006/main">
            <a:r>
              <a:t>הסתייגות: הנתונים החינמיים והניסוי הקצר מגבילים את הביטחון; המערכת מציגה זאת במפורש.</a:t>
            </a:r>
          </a:p>
          <a:p xmlns:a="http://schemas.openxmlformats.org/drawingml/2006/main">
            <a:r>
              <a:t>מעבר: כדי לתמוך במוצר כזה בחרנו בכלים עם תפקיד חד וברור.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 ורבע.</a:t>
            </a:r>
          </a:p>
          <a:p xmlns:a="http://schemas.openxmlformats.org/drawingml/2006/main">
            <a:r>
              <a:t>מה לומר: Kafka אינו מסד נתונים אלא צינור אירועים. MinIO שומר את המקור ואת שכבות הקבצים. Spark עושה את החישוב הכבד. Airflow אינו מנהל שירותים ארוכי חיים — הוא מתזמן עבודות Batch. MariaDB מחזיק Gold עבור האפליקציה, והדפדפן לעולם לא מתחבר אליו ישירות.</a:t>
            </a:r>
          </a:p>
          <a:p xmlns:a="http://schemas.openxmlformats.org/drawingml/2006/main">
            <a:r>
              <a:t>מעבר: עכשיו נחבר את הרכיבים לתמונה אחת.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 וחצי.</a:t>
            </a:r>
          </a:p>
          <a:p xmlns:a="http://schemas.openxmlformats.org/drawingml/2006/main">
            <a:r>
              <a:t>מה לומר: קראו את התרשים מימין לשמאל. Alpaca ו־SEC הם המקורות. Kafka מקבל אירועי שוק. במקביל, Raw Archive Sink שומר Bronze ב־MinIO. Spark מנרמל ומחשב; Silver היא שכבה נקייה ו־Gold היא שכבת המוצר ב־MariaDB. רק Backend API ניגש ל־Gold, והדפדפן מדבר רק איתו.</a:t>
            </a:r>
          </a:p>
          <a:p xmlns:a="http://schemas.openxmlformats.org/drawingml/2006/main">
            <a:r>
              <a:t>דגש: Bronze ו־Silver אינם קיימים רק במסד הנתונים ולכן אפשר לבצע replay ושחזור.</a:t>
            </a:r>
          </a:p>
          <a:p xmlns:a="http://schemas.openxmlformats.org/drawingml/2006/main">
            <a:r>
              <a:t>מעבר: הארכיטקטורה מפרידה בכוונה בין מהיר לבין מאושר.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a:t>
            </a:r>
          </a:p>
          <a:p xmlns:a="http://schemas.openxmlformats.org/drawingml/2006/main">
            <a:r>
              <a:t>מה לומר: המסלול החי נותן תגובה מהירה אבל מסומן Provisional. אחרי המסחר Airflow מפעיל Spark Batch, בונה את היום מחדש מה־Bronze, מפעיל בדיקות איכות ומפרסם Certified. אם יש סתירה, התוצאה המאושרת היא הסמכותית.</a:t>
            </a:r>
          </a:p>
          <a:p xmlns:a="http://schemas.openxmlformats.org/drawingml/2006/main">
            <a:r>
              <a:t>דגש ארכיטקטוני: Docker Compose מחזיק שירותים ארוכי חיים; Airflow לא מפעיל ולא מכבה אותם.</a:t>
            </a:r>
          </a:p>
          <a:p xmlns:a="http://schemas.openxmlformats.org/drawingml/2006/main">
            <a:r>
              <a:t>מעבר: מכאן נעבור לראיות מהמוצר עצמו.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50 שניות.</a:t>
            </a:r>
          </a:p>
          <a:p xmlns:a="http://schemas.openxmlformats.org/drawingml/2006/main">
            <a:r>
              <a:t>מה להראות: שלושת מוני העל, טריות הנתונים, בחירת הסמל והגרף.</a:t>
            </a:r>
          </a:p>
          <a:p xmlns:a="http://schemas.openxmlformats.org/drawingml/2006/main">
            <a:r>
              <a:t>מה לומר: זהו מסך המחקר הראשי. הוא לא רק מציג מחיר — הוא מציג גם את כמות הנתונים, מקורם ומצב האישור. נכון לצילום היו 11 נכסים, 57,217 רשומות שוק ו־937 דיווחי SEC.</a:t>
            </a:r>
          </a:p>
          <a:p xmlns:a="http://schemas.openxmlformats.org/drawingml/2006/main">
            <a:r>
              <a:t>מעבר: המסך הבא מתרגם את הנתונים לתרחיש החלטה.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a:t>
            </a:r>
          </a:p>
          <a:p xmlns:a="http://schemas.openxmlformats.org/drawingml/2006/main">
            <a:r>
              <a:t>מה להראות: Watchlist, הסטטוס Certified/Provisional, Buy Zone, Stop, Targets, Risk/Reward וגודל הפוזיציה.</a:t>
            </a:r>
          </a:p>
          <a:p xmlns:a="http://schemas.openxmlformats.org/drawingml/2006/main">
            <a:r>
              <a:t>מה לומר: ההמלצה משלבת 50% ניתוח טכני ו־50% פונדמנטלי. היא מתפרסמת רק כאשר הנתונים טריים והתנאים מספיקים; אחרת המערכת מציגה WAIT או INSUFFICIENT DATA. Shadow Mode דורש 20 ימי מסחר חיים לפני שהמצב הופך ל־Decision Support מלא.</a:t>
            </a:r>
          </a:p>
          <a:p xmlns:a="http://schemas.openxmlformats.org/drawingml/2006/main">
            <a:r>
              <a:t>מעבר: המלצה אינה שווה הרבה בלי בדיקה על ההיסטוריה.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a:t>
            </a:r>
          </a:p>
          <a:p xmlns:a="http://schemas.openxmlformats.org/drawingml/2006/main">
            <a:r>
              <a:t>מה לומר: הבדיקה משתמשת רק בנתונים Certified. כדי למנוע look-ahead, אות שנוצר בנר מסוים משפיע רק מהנר הבא. החישוב כולל עלויות ו־slippage ומשווה ל־SPY. בריצה המוצגת היו 41 ימי מסחר, 46,749 תצפיות ו־1,059 שינויי פוזיציה.</a:t>
            </a:r>
          </a:p>
          <a:p xmlns:a="http://schemas.openxmlformats.org/drawingml/2006/main">
            <a:r>
              <a:t>כנות מקצועית: בריצה אחת האסטרטגיה לא ניצחה את המדד; זה דווקא מוכיח שהמערכת אינה מסתירה תוצאה. צריך עוד תקופות, משטרי שוק וכיול.</a:t>
            </a:r>
          </a:p>
          <a:p xmlns:a="http://schemas.openxmlformats.org/drawingml/2006/main">
            <a:r>
              <a:t>מעבר: בדרך לשם התמודדנו עם כמה אתגרים אמיתיים.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 ורבע.</a:t>
            </a:r>
          </a:p>
          <a:p xmlns:a="http://schemas.openxmlformats.org/drawingml/2006/main">
            <a:r>
              <a:t>מה לומר: האתגרים לא היו קוסמטיים. Restart עלול ליצור כפילויות; פתרנו זאת עם מפתחות עסקיים ו־checkpoint. מהירות ואמינות מתנגשות; פתרנו עם שני מצבי פרסום. Splits יכולים להיראות כמו קריסה במחיר; לכן הוספנו Corporate Actions ובקרות איכות. גם התצוגה הדו־לשונית והדמו קיבלו בדיקות וכלי Preflight.</a:t>
            </a:r>
          </a:p>
          <a:p xmlns:a="http://schemas.openxmlformats.org/drawingml/2006/main">
            <a:r>
              <a:t>מעבר: עכשיו נראה את מסלול הדמו החי, בלי לאלתר מול הקהל.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40 שניות לפני מעבר לדמו.</a:t>
            </a:r>
          </a:p>
          <a:p xmlns:a="http://schemas.openxmlformats.org/drawingml/2006/main">
            <a:r>
              <a:t>מה לומר: הדמו אינו אלתור. לפני ההצגה אני מריץ Preflight שבודק את Compose, שירותי הליבה, שבעת הממשקים, Shadow Mode וה־DAG היומי. במסלול החי אני לא משנה נתונים ולא מפעיל backfill. אם ממשק אחד לא זמין, אני ממשיך מיד לצילום המסך המתאים.</a:t>
            </a:r>
          </a:p>
          <a:p xmlns:a="http://schemas.openxmlformats.org/drawingml/2006/main">
            <a:r>
              <a:t>לאחר השקופית: לעבור לסקריפט live-demo-script-he.md ולבצע את שש התחנות.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זמן: דקה + שאלות.</a:t>
            </a:r>
          </a:p>
          <a:p xmlns:a="http://schemas.openxmlformats.org/drawingml/2006/main">
            <a:r>
              <a:t>מה לומר: לפני מעבר לענן או למסחר אוטומטי צריך להשלים ראיות. השלב הראשון הוא 20 ימי Shadow Mode. אחר כך backfill ארוך יותר ו־walk-forward. Elastic נשאר אופציונלי לניטור, והענן ייבחר רק כשיש הצדקה כלכלית.</a:t>
            </a:r>
          </a:p>
          <a:p xmlns:a="http://schemas.openxmlformats.org/drawingml/2006/main">
            <a:r>
              <a:t>סיום: MarketPilot אינה מבטיחה איזה נכס לקנות. היא מוכיחה תהליך הנדסי שמאפשר לקבל החלטה טובה יותר, להבין את הסיכון ולשחזר את כל הדרך מהמקור לתוצאה. תודה — אשמח לשאלות.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2911f114e44e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e49a34b83b4633" /><Relationship Type="http://schemas.openxmlformats.org/officeDocument/2006/relationships/slideLayout" Target="/ppt/slideLayouts/slideLayout1.xml" Id="R9317031f6d1c43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17031f6d1c43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dd5cb00b6a41aa" /><Relationship Type="http://schemas.openxmlformats.org/officeDocument/2006/relationships/notesSlide" Target="/ppt/notesSlides/notesSlide1.xml" Id="Re3e7ca13151b44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1097e73c0248b7" /><Relationship Type="http://schemas.openxmlformats.org/officeDocument/2006/relationships/notesSlide" Target="/ppt/notesSlides/notesSlide2.xml" Id="R4dfed5d7a87043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77b07534c54f40" /><Relationship Type="http://schemas.openxmlformats.org/officeDocument/2006/relationships/notesSlide" Target="/ppt/notesSlides/notesSlide3.xml" Id="Rfc6e5f70c6b040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d688c228f54b2c" /><Relationship Type="http://schemas.openxmlformats.org/officeDocument/2006/relationships/notesSlide" Target="/ppt/notesSlides/notesSlide4.xml" Id="Raa27ae63a03d41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2808e9caa24394" /><Relationship Type="http://schemas.openxmlformats.org/officeDocument/2006/relationships/notesSlide" Target="/ppt/notesSlides/notesSlide5.xml" Id="R76420cee0a8441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7a82f63b334e1a" /><Relationship Type="http://schemas.openxmlformats.org/officeDocument/2006/relationships/notesSlide" Target="/ppt/notesSlides/notesSlide6.xml" Id="R72a3a27e5b754c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7372a5876b43d0" /><Relationship Type="http://schemas.openxmlformats.org/officeDocument/2006/relationships/image" Target="/ppt/media/image.png" Id="Rc33ffc8f08934304" /><Relationship Type="http://schemas.openxmlformats.org/officeDocument/2006/relationships/notesSlide" Target="/ppt/notesSlides/notesSlide7.xml" Id="R317338959dc645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fad8d8c2424d96" /><Relationship Type="http://schemas.openxmlformats.org/officeDocument/2006/relationships/image" Target="/ppt/media/image2.png" Id="Rd29602452b264291" /><Relationship Type="http://schemas.openxmlformats.org/officeDocument/2006/relationships/notesSlide" Target="/ppt/notesSlides/notesSlide8.xml" Id="R3104db41ce2845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cbe612266f438c" /><Relationship Type="http://schemas.openxmlformats.org/officeDocument/2006/relationships/image" Target="/ppt/media/image3.png" Id="Rf19a2782ccaf4a89" /><Relationship Type="http://schemas.openxmlformats.org/officeDocument/2006/relationships/notesSlide" Target="/ppt/notesSlides/notesSlide9.xml" Id="Rad329ed79f5042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07212a5dd74da7" /><Relationship Type="http://schemas.openxmlformats.org/officeDocument/2006/relationships/notesSlide" Target="/ppt/notesSlides/notesSlide10.xml" Id="Rc54678fff6bb4b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b1bd119e184920" /><Relationship Type="http://schemas.openxmlformats.org/officeDocument/2006/relationships/notesSlide" Target="/ppt/notesSlides/notesSlide11.xml" Id="Ra810845d33e047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1c3bb352684d0f" /><Relationship Type="http://schemas.openxmlformats.org/officeDocument/2006/relationships/notesSlide" Target="/ppt/notesSlides/notesSlide12.xml" Id="Rc16b3ac9228a4c0a" /></Relationships>
</file>

<file path=ppt/slides/slide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49E550-FA1F-4C52-9714-601348CB7C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A9063202-7527-4F4D-8EEC-5738B48C9B8F}"/>
              </a:ext>
            </a:extLst>
          </p:cNvPr>
          <p:cNvSpPr>
            <a:spLocks xmlns:a="http://schemas.openxmlformats.org/drawingml/2006/main" noGrp="1"/>
          </p:cNvSpPr>
          <p:nvPr/>
        </p:nvSpPr>
        <p:spPr>
          <a:xfrm xmlns:a="http://schemas.openxmlformats.org/drawingml/2006/main">
            <a:off x="7696200" y="190500"/>
            <a:ext cx="4191000" cy="4191000"/>
          </a:xfrm>
          <a:prstGeom xmlns:a="http://schemas.openxmlformats.org/drawingml/2006/main" prst="ellipse">
            <a:avLst/>
          </a:prstGeom>
          <a:solidFill xmlns:a="http://schemas.openxmlformats.org/drawingml/2006/main">
            <a:srgbClr val="0B2940"/>
          </a:solidFill>
          <a:ln xmlns:a="http://schemas.openxmlformats.org/drawingml/2006/main" w="19050">
            <a:solidFill>
              <a:srgbClr val="153B57"/>
            </a:solidFill>
          </a:ln>
        </p:spPr>
      </p:sp>
      <p:sp>
        <p:nvSpPr>
          <p:cNvPr id="3" name="">
            <a:extLst xmlns:a="http://schemas.openxmlformats.org/drawingml/2006/main">
              <a:ext uri="{FF2B5EF4-FFF2-40B4-BE49-F238E27FC236}">
                <a16:creationId xmlns:a16="http://schemas.microsoft.com/office/drawing/2014/main" id="{E29775C8-B4A9-482E-8094-2B9B4E51ACDA}"/>
              </a:ext>
            </a:extLst>
          </p:cNvPr>
          <p:cNvSpPr>
            <a:spLocks xmlns:a="http://schemas.openxmlformats.org/drawingml/2006/main" noGrp="1"/>
          </p:cNvSpPr>
          <p:nvPr/>
        </p:nvSpPr>
        <p:spPr>
          <a:xfrm xmlns:a="http://schemas.openxmlformats.org/drawingml/2006/main">
            <a:off x="8763000" y="800100"/>
            <a:ext cx="2857500" cy="2857500"/>
          </a:xfrm>
          <a:prstGeom xmlns:a="http://schemas.openxmlformats.org/drawingml/2006/main" prst="ellipse">
            <a:avLst/>
          </a:prstGeom>
          <a:solidFill xmlns:a="http://schemas.openxmlformats.org/drawingml/2006/main">
            <a:srgbClr val="0F3A4C"/>
          </a:solidFill>
          <a:ln xmlns:a="http://schemas.openxmlformats.org/drawingml/2006/main" w="19050">
            <a:solidFill>
              <a:srgbClr val="52DCC3"/>
            </a:solidFill>
          </a:ln>
        </p:spPr>
      </p:sp>
      <p:sp>
        <p:nvSpPr>
          <p:cNvPr id="4" name="">
            <a:extLst xmlns:a="http://schemas.openxmlformats.org/drawingml/2006/main">
              <a:ext uri="{FF2B5EF4-FFF2-40B4-BE49-F238E27FC236}">
                <a16:creationId xmlns:a16="http://schemas.microsoft.com/office/drawing/2014/main" id="{F060B940-EACF-4251-9C5E-ACB54A12DDC9}"/>
              </a:ext>
            </a:extLst>
          </p:cNvPr>
          <p:cNvSpPr>
            <a:spLocks xmlns:a="http://schemas.openxmlformats.org/drawingml/2006/main" noGrp="1"/>
          </p:cNvSpPr>
          <p:nvPr/>
        </p:nvSpPr>
        <p:spPr>
          <a:xfrm xmlns:a="http://schemas.openxmlformats.org/drawingml/2006/main">
            <a:off x="552450" y="552450"/>
            <a:ext cx="274320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52DCC3"/>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52DCC3"/>
                </a:solidFill>
                <a:latin typeface="Arial"/>
                <a:ea typeface="Arial"/>
                <a:cs typeface="Arial"/>
              </a:defRPr>
            </a:pPr>
            <a:r>
              <a:rPr sz="975" b="1">
                <a:solidFill>
                  <a:srgbClr val="52DCC3"/>
                </a:solidFill>
                <a:latin typeface="Arial"/>
                <a:ea typeface="Arial"/>
                <a:cs typeface="Arial"/>
              </a:rPr>
              <a:t>LIVE · CERTIFIED · EXPLAINABLE</a:t>
            </a:r>
          </a:p>
        </p:txBody>
      </p:sp>
      <p:sp>
        <p:nvSpPr>
          <p:cNvPr id="5" name="">
            <a:extLst xmlns:a="http://schemas.openxmlformats.org/drawingml/2006/main">
              <a:ext uri="{FF2B5EF4-FFF2-40B4-BE49-F238E27FC236}">
                <a16:creationId xmlns:a16="http://schemas.microsoft.com/office/drawing/2014/main" id="{3BF97D4F-AD92-477E-955D-849E2E5CF954}"/>
              </a:ext>
            </a:extLst>
          </p:cNvPr>
          <p:cNvSpPr>
            <a:spLocks xmlns:a="http://schemas.openxmlformats.org/drawingml/2006/main" noGrp="1"/>
          </p:cNvSpPr>
          <p:nvPr/>
        </p:nvSpPr>
        <p:spPr>
          <a:xfrm xmlns:a="http://schemas.openxmlformats.org/drawingml/2006/main">
            <a:off x="523875" y="1619250"/>
            <a:ext cx="647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4650" b="1">
                <a:solidFill>
                  <a:srgbClr val="F5F8FB"/>
                </a:solidFill>
                <a:latin typeface="Arial"/>
                <a:ea typeface="Arial"/>
                <a:cs typeface="Arial"/>
              </a:defRPr>
            </a:pPr>
            <a:r>
              <a:rPr sz="4650" b="1">
                <a:solidFill>
                  <a:srgbClr val="F5F8FB"/>
                </a:solidFill>
                <a:latin typeface="Arial"/>
                <a:ea typeface="Arial"/>
                <a:cs typeface="Arial"/>
              </a:rPr>
              <a:t>MarketPilot</a:t>
            </a:r>
          </a:p>
        </p:txBody>
      </p:sp>
      <p:sp>
        <p:nvSpPr>
          <p:cNvPr id="6" name="">
            <a:extLst xmlns:a="http://schemas.openxmlformats.org/drawingml/2006/main">
              <a:ext uri="{FF2B5EF4-FFF2-40B4-BE49-F238E27FC236}">
                <a16:creationId xmlns:a16="http://schemas.microsoft.com/office/drawing/2014/main" id="{BCDC3DEC-DD30-44D1-A3DB-838EC1A52491}"/>
              </a:ext>
            </a:extLst>
          </p:cNvPr>
          <p:cNvSpPr>
            <a:spLocks xmlns:a="http://schemas.openxmlformats.org/drawingml/2006/main" noGrp="1"/>
          </p:cNvSpPr>
          <p:nvPr/>
        </p:nvSpPr>
        <p:spPr>
          <a:xfrm xmlns:a="http://schemas.openxmlformats.org/drawingml/2006/main">
            <a:off x="523875" y="2533650"/>
            <a:ext cx="738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325" b="1">
                <a:solidFill>
                  <a:srgbClr val="F5F8FB"/>
                </a:solidFill>
                <a:latin typeface="Arial"/>
                <a:ea typeface="Arial"/>
                <a:cs typeface="Arial"/>
              </a:defRPr>
            </a:pPr>
            <a:r>
              <a:rPr sz="2325" b="1">
                <a:solidFill>
                  <a:srgbClr val="F5F8FB"/>
                </a:solidFill>
                <a:latin typeface="Arial"/>
                <a:ea typeface="Arial"/>
                <a:cs typeface="Arial"/>
              </a:rPr>
              <a:t>‫פלטפורמת נתונים ותמיכה בהחלטות למשקיע‬</a:t>
            </a:r>
          </a:p>
        </p:txBody>
      </p:sp>
      <p:sp>
        <p:nvSpPr>
          <p:cNvPr id="7" name="">
            <a:extLst xmlns:a="http://schemas.openxmlformats.org/drawingml/2006/main">
              <a:ext uri="{FF2B5EF4-FFF2-40B4-BE49-F238E27FC236}">
                <a16:creationId xmlns:a16="http://schemas.microsoft.com/office/drawing/2014/main" id="{4AFC4E33-29C1-4B3E-BA35-50B6E619D35A}"/>
              </a:ext>
            </a:extLst>
          </p:cNvPr>
          <p:cNvSpPr>
            <a:spLocks xmlns:a="http://schemas.openxmlformats.org/drawingml/2006/main" noGrp="1"/>
          </p:cNvSpPr>
          <p:nvPr/>
        </p:nvSpPr>
        <p:spPr>
          <a:xfrm xmlns:a="http://schemas.openxmlformats.org/drawingml/2006/main">
            <a:off x="523875" y="3314700"/>
            <a:ext cx="681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725" b="0">
                <a:solidFill>
                  <a:srgbClr val="A7BED3"/>
                </a:solidFill>
                <a:latin typeface="Arial"/>
                <a:ea typeface="Arial"/>
                <a:cs typeface="Arial"/>
              </a:defRPr>
            </a:pPr>
            <a:r>
              <a:rPr sz="1725" b="0">
                <a:solidFill>
                  <a:srgbClr val="A7BED3"/>
                </a:solidFill>
                <a:latin typeface="Arial"/>
                <a:ea typeface="Arial"/>
                <a:cs typeface="Arial"/>
              </a:rPr>
              <a:t>‫מהאירוע הגולמי ועד תרחיש קנייה מוסבר, בדוק ושחזורי‬</a:t>
            </a:r>
          </a:p>
        </p:txBody>
      </p:sp>
      <p:sp>
        <p:nvSpPr>
          <p:cNvPr id="8" name="">
            <a:extLst xmlns:a="http://schemas.openxmlformats.org/drawingml/2006/main">
              <a:ext uri="{FF2B5EF4-FFF2-40B4-BE49-F238E27FC236}">
                <a16:creationId xmlns:a16="http://schemas.microsoft.com/office/drawing/2014/main" id="{F0A5C27F-588E-4590-B6C4-EB2FC52F299F}"/>
              </a:ext>
            </a:extLst>
          </p:cNvPr>
          <p:cNvSpPr>
            <a:spLocks xmlns:a="http://schemas.openxmlformats.org/drawingml/2006/main" noGrp="1"/>
          </p:cNvSpPr>
          <p:nvPr/>
        </p:nvSpPr>
        <p:spPr>
          <a:xfrm xmlns:a="http://schemas.openxmlformats.org/drawingml/2006/main">
            <a:off x="552450" y="4438650"/>
            <a:ext cx="14287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APACHE KAFKA</a:t>
            </a:r>
          </a:p>
        </p:txBody>
      </p:sp>
      <p:sp>
        <p:nvSpPr>
          <p:cNvPr id="9" name="">
            <a:extLst xmlns:a="http://schemas.openxmlformats.org/drawingml/2006/main">
              <a:ext uri="{FF2B5EF4-FFF2-40B4-BE49-F238E27FC236}">
                <a16:creationId xmlns:a16="http://schemas.microsoft.com/office/drawing/2014/main" id="{FC850699-6A3B-44E3-B6EB-6ED2694AA751}"/>
              </a:ext>
            </a:extLst>
          </p:cNvPr>
          <p:cNvSpPr>
            <a:spLocks xmlns:a="http://schemas.openxmlformats.org/drawingml/2006/main" noGrp="1"/>
          </p:cNvSpPr>
          <p:nvPr/>
        </p:nvSpPr>
        <p:spPr>
          <a:xfrm xmlns:a="http://schemas.openxmlformats.org/drawingml/2006/main">
            <a:off x="2095500" y="4438650"/>
            <a:ext cx="14287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APACHE SPARK</a:t>
            </a:r>
          </a:p>
        </p:txBody>
      </p:sp>
      <p:sp>
        <p:nvSpPr>
          <p:cNvPr id="10" name="">
            <a:extLst xmlns:a="http://schemas.openxmlformats.org/drawingml/2006/main">
              <a:ext uri="{FF2B5EF4-FFF2-40B4-BE49-F238E27FC236}">
                <a16:creationId xmlns:a16="http://schemas.microsoft.com/office/drawing/2014/main" id="{B3849351-091B-489F-A656-9ECA9C572E6C}"/>
              </a:ext>
            </a:extLst>
          </p:cNvPr>
          <p:cNvSpPr>
            <a:spLocks xmlns:a="http://schemas.openxmlformats.org/drawingml/2006/main" noGrp="1"/>
          </p:cNvSpPr>
          <p:nvPr/>
        </p:nvSpPr>
        <p:spPr>
          <a:xfrm xmlns:a="http://schemas.openxmlformats.org/drawingml/2006/main">
            <a:off x="3638550" y="4438650"/>
            <a:ext cx="106680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AIRFLOW</a:t>
            </a:r>
          </a:p>
        </p:txBody>
      </p:sp>
      <p:sp>
        <p:nvSpPr>
          <p:cNvPr id="11" name="">
            <a:extLst xmlns:a="http://schemas.openxmlformats.org/drawingml/2006/main">
              <a:ext uri="{FF2B5EF4-FFF2-40B4-BE49-F238E27FC236}">
                <a16:creationId xmlns:a16="http://schemas.microsoft.com/office/drawing/2014/main" id="{7D1CDDF3-0DDD-494F-94EF-844FFB4679FF}"/>
              </a:ext>
            </a:extLst>
          </p:cNvPr>
          <p:cNvSpPr>
            <a:spLocks xmlns:a="http://schemas.openxmlformats.org/drawingml/2006/main" noGrp="1"/>
          </p:cNvSpPr>
          <p:nvPr/>
        </p:nvSpPr>
        <p:spPr>
          <a:xfrm xmlns:a="http://schemas.openxmlformats.org/drawingml/2006/main">
            <a:off x="4819650" y="4438650"/>
            <a:ext cx="87630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MINIO</a:t>
            </a:r>
          </a:p>
        </p:txBody>
      </p:sp>
      <p:sp>
        <p:nvSpPr>
          <p:cNvPr id="12" name="">
            <a:extLst xmlns:a="http://schemas.openxmlformats.org/drawingml/2006/main">
              <a:ext uri="{FF2B5EF4-FFF2-40B4-BE49-F238E27FC236}">
                <a16:creationId xmlns:a16="http://schemas.microsoft.com/office/drawing/2014/main" id="{6C621F4B-A9E9-4A6B-B755-6862F15C4EE9}"/>
              </a:ext>
            </a:extLst>
          </p:cNvPr>
          <p:cNvSpPr>
            <a:spLocks xmlns:a="http://schemas.openxmlformats.org/drawingml/2006/main" noGrp="1"/>
          </p:cNvSpPr>
          <p:nvPr/>
        </p:nvSpPr>
        <p:spPr>
          <a:xfrm xmlns:a="http://schemas.openxmlformats.org/drawingml/2006/main">
            <a:off x="5810250" y="4438650"/>
            <a:ext cx="11239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MARIADB</a:t>
            </a:r>
          </a:p>
        </p:txBody>
      </p:sp>
      <p:sp>
        <p:nvSpPr>
          <p:cNvPr id="13" name="">
            <a:extLst xmlns:a="http://schemas.openxmlformats.org/drawingml/2006/main">
              <a:ext uri="{FF2B5EF4-FFF2-40B4-BE49-F238E27FC236}">
                <a16:creationId xmlns:a16="http://schemas.microsoft.com/office/drawing/2014/main" id="{30E7835E-C910-443E-AE03-28D43AAAC3B9}"/>
              </a:ext>
            </a:extLst>
          </p:cNvPr>
          <p:cNvSpPr>
            <a:spLocks xmlns:a="http://schemas.openxmlformats.org/drawingml/2006/main" noGrp="1"/>
          </p:cNvSpPr>
          <p:nvPr/>
        </p:nvSpPr>
        <p:spPr>
          <a:xfrm xmlns:a="http://schemas.openxmlformats.org/drawingml/2006/main">
            <a:off x="552450" y="59626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0">
                <a:solidFill>
                  <a:srgbClr val="A7BED3"/>
                </a:solidFill>
                <a:latin typeface="Arial"/>
                <a:ea typeface="Arial"/>
                <a:cs typeface="Arial"/>
              </a:defRPr>
            </a:pPr>
            <a:r>
              <a:rPr sz="1200" b="0">
                <a:solidFill>
                  <a:srgbClr val="A7BED3"/>
                </a:solidFill>
                <a:latin typeface="Arial"/>
                <a:ea typeface="Arial"/>
                <a:cs typeface="Arial"/>
              </a:rPr>
              <a:t>NAYA COLLEGE · FINAL PROJECT · 2026</a:t>
            </a:r>
          </a:p>
        </p:txBody>
      </p:sp>
    </p:spTree>
    <p:extLst>
      <p:ext uri="{BB962C8B-B14F-4D97-AF65-F5344CB8AC3E}">
        <p14:creationId xmlns:p14="http://schemas.microsoft.com/office/powerpoint/2010/main" val="1788342431"/>
      </p:ext>
    </p:extLst>
  </p:cSld>
</p:sld>
</file>

<file path=ppt/slides/slide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BC1DFD6-FB55-4334-AA1A-B1AA937A91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7818C4A8-3F29-4707-9A88-DFE5F4D6F782}"/>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E914B801-529F-4055-B2E8-0705F6828E34}"/>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‫המשקיע רואה מספרים — אבל חסר לו אמון‬</a:t>
            </a:r>
          </a:p>
        </p:txBody>
      </p:sp>
      <p:sp>
        <p:nvSpPr>
          <p:cNvPr id="4" name="">
            <a:extLst xmlns:a="http://schemas.openxmlformats.org/drawingml/2006/main">
              <a:ext uri="{FF2B5EF4-FFF2-40B4-BE49-F238E27FC236}">
                <a16:creationId xmlns:a16="http://schemas.microsoft.com/office/drawing/2014/main" id="{8CCB2FF4-849F-445A-B680-F0B297449543}"/>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‫האתגר אינו רק לקבל מחיר מהר; האתגר הוא להבין אם הנתון אמין ומה נכון לעשות איתו‬</a:t>
            </a:r>
          </a:p>
        </p:txBody>
      </p:sp>
      <p:sp>
        <p:nvSpPr>
          <p:cNvPr id="5" name="">
            <a:extLst xmlns:a="http://schemas.openxmlformats.org/drawingml/2006/main">
              <a:ext uri="{FF2B5EF4-FFF2-40B4-BE49-F238E27FC236}">
                <a16:creationId xmlns:a16="http://schemas.microsoft.com/office/drawing/2014/main" id="{307117DF-5628-4FB3-A9BB-7E62592E3D4D}"/>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2C32A71-2A95-420D-8A95-A5AAC083A40C}"/>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6F431A66-BF8C-4DB8-8AF6-36D5E0A83F02}"/>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6A4130D9-BB38-4ABC-9436-F7D00A715230}"/>
              </a:ext>
            </a:extLst>
          </p:cNvPr>
          <p:cNvSpPr>
            <a:spLocks xmlns:a="http://schemas.openxmlformats.org/drawingml/2006/main" noGrp="1"/>
          </p:cNvSpPr>
          <p:nvPr/>
        </p:nvSpPr>
        <p:spPr>
          <a:xfrm xmlns:a="http://schemas.openxmlformats.org/drawingml/2006/main">
            <a:off x="533400" y="1676400"/>
            <a:ext cx="3333750" cy="4038600"/>
          </a:xfrm>
          <a:prstGeom xmlns:a="http://schemas.openxmlformats.org/drawingml/2006/main" prst="roundRect">
            <a:avLst>
              <a:gd name="adj" fmla="val 3429"/>
            </a:avLst>
          </a:prstGeom>
          <a:solidFill xmlns:a="http://schemas.openxmlformats.org/drawingml/2006/main">
            <a:srgbClr val="0D2035"/>
          </a:solidFill>
          <a:ln xmlns:a="http://schemas.openxmlformats.org/drawingml/2006/main" w="9525">
            <a:solidFill>
              <a:srgbClr val="24445F"/>
            </a:solidFill>
          </a:ln>
        </p:spPr>
      </p:sp>
      <p:sp>
        <p:nvSpPr>
          <p:cNvPr id="9" name="">
            <a:extLst xmlns:a="http://schemas.openxmlformats.org/drawingml/2006/main">
              <a:ext uri="{FF2B5EF4-FFF2-40B4-BE49-F238E27FC236}">
                <a16:creationId xmlns:a16="http://schemas.microsoft.com/office/drawing/2014/main" id="{588678DE-369C-4759-B7AC-CC43AC078D0B}"/>
              </a:ext>
            </a:extLst>
          </p:cNvPr>
          <p:cNvSpPr>
            <a:spLocks xmlns:a="http://schemas.openxmlformats.org/drawingml/2006/main" noGrp="1"/>
          </p:cNvSpPr>
          <p:nvPr/>
        </p:nvSpPr>
        <p:spPr>
          <a:xfrm xmlns:a="http://schemas.openxmlformats.org/drawingml/2006/main">
            <a:off x="742950" y="18669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1">
                <a:solidFill>
                  <a:srgbClr val="FF7B7B"/>
                </a:solidFill>
                <a:latin typeface="Arial"/>
                <a:ea typeface="Arial"/>
                <a:cs typeface="Arial"/>
              </a:defRPr>
            </a:pPr>
            <a:r>
              <a:rPr sz="1500" b="1">
                <a:solidFill>
                  <a:srgbClr val="FF7B7B"/>
                </a:solidFill>
                <a:latin typeface="Arial"/>
                <a:ea typeface="Arial"/>
                <a:cs typeface="Arial"/>
              </a:rPr>
              <a:t>‫היום‬</a:t>
            </a:r>
          </a:p>
        </p:txBody>
      </p:sp>
      <p:sp>
        <p:nvSpPr>
          <p:cNvPr id="10" name="">
            <a:extLst xmlns:a="http://schemas.openxmlformats.org/drawingml/2006/main">
              <a:ext uri="{FF2B5EF4-FFF2-40B4-BE49-F238E27FC236}">
                <a16:creationId xmlns:a16="http://schemas.microsoft.com/office/drawing/2014/main" id="{A5A3A74F-610B-4CEB-A72A-081FC5BF46F9}"/>
              </a:ext>
            </a:extLst>
          </p:cNvPr>
          <p:cNvSpPr>
            <a:spLocks xmlns:a="http://schemas.openxmlformats.org/drawingml/2006/main" noGrp="1"/>
          </p:cNvSpPr>
          <p:nvPr/>
        </p:nvSpPr>
        <p:spPr>
          <a:xfrm xmlns:a="http://schemas.openxmlformats.org/drawingml/2006/main">
            <a:off x="3400425" y="2495550"/>
            <a:ext cx="76200" cy="76200"/>
          </a:xfrm>
          <a:prstGeom xmlns:a="http://schemas.openxmlformats.org/drawingml/2006/main" prst="ellipse">
            <a:avLst/>
          </a:prstGeom>
          <a:solidFill xmlns:a="http://schemas.openxmlformats.org/drawingml/2006/main">
            <a:srgbClr val="FF7B7B"/>
          </a:solidFill>
          <a:ln xmlns:a="http://schemas.openxmlformats.org/drawingml/2006/main" w="0">
            <a:solidFill>
              <a:srgbClr val="FF7B7B"/>
            </a:solidFill>
          </a:ln>
        </p:spPr>
      </p:sp>
      <p:sp>
        <p:nvSpPr>
          <p:cNvPr id="11" name="">
            <a:extLst xmlns:a="http://schemas.openxmlformats.org/drawingml/2006/main">
              <a:ext uri="{FF2B5EF4-FFF2-40B4-BE49-F238E27FC236}">
                <a16:creationId xmlns:a16="http://schemas.microsoft.com/office/drawing/2014/main" id="{7F49D9F4-BE6F-4CB3-A333-B00F25D7B88E}"/>
              </a:ext>
            </a:extLst>
          </p:cNvPr>
          <p:cNvSpPr>
            <a:spLocks xmlns:a="http://schemas.openxmlformats.org/drawingml/2006/main" noGrp="1"/>
          </p:cNvSpPr>
          <p:nvPr/>
        </p:nvSpPr>
        <p:spPr>
          <a:xfrm xmlns:a="http://schemas.openxmlformats.org/drawingml/2006/main">
            <a:off x="781050" y="2400300"/>
            <a:ext cx="249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9797"/>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‫מקורות מידע מפוזרים ולא מסונכרנים‬</a:t>
            </a:r>
          </a:p>
        </p:txBody>
      </p:sp>
      <p:sp>
        <p:nvSpPr>
          <p:cNvPr id="12" name="">
            <a:extLst xmlns:a="http://schemas.openxmlformats.org/drawingml/2006/main">
              <a:ext uri="{FF2B5EF4-FFF2-40B4-BE49-F238E27FC236}">
                <a16:creationId xmlns:a16="http://schemas.microsoft.com/office/drawing/2014/main" id="{C1D8EFED-E3D7-4321-8443-189DCFC5AC38}"/>
              </a:ext>
            </a:extLst>
          </p:cNvPr>
          <p:cNvSpPr>
            <a:spLocks xmlns:a="http://schemas.openxmlformats.org/drawingml/2006/main" noGrp="1"/>
          </p:cNvSpPr>
          <p:nvPr/>
        </p:nvSpPr>
        <p:spPr>
          <a:xfrm xmlns:a="http://schemas.openxmlformats.org/drawingml/2006/main">
            <a:off x="781050" y="2695575"/>
            <a:ext cx="2495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FF7B7B"/>
                </a:solidFill>
                <a:latin typeface="Arial"/>
                <a:ea typeface="Arial"/>
                <a:cs typeface="Arial"/>
              </a:defRPr>
            </a:pPr>
            <a:r>
              <a:rPr sz="900" b="1">
                <a:solidFill>
                  <a:srgbClr val="FF7B7B"/>
                </a:solidFill>
                <a:latin typeface="Arial"/>
                <a:ea typeface="Arial"/>
                <a:cs typeface="Arial"/>
              </a:rPr>
              <a:t>Fragmented sources</a:t>
            </a:r>
          </a:p>
        </p:txBody>
      </p:sp>
      <p:sp>
        <p:nvSpPr>
          <p:cNvPr id="13" name="">
            <a:extLst xmlns:a="http://schemas.openxmlformats.org/drawingml/2006/main">
              <a:ext uri="{FF2B5EF4-FFF2-40B4-BE49-F238E27FC236}">
                <a16:creationId xmlns:a16="http://schemas.microsoft.com/office/drawing/2014/main" id="{2C908868-69E7-484D-B0D9-0DC4C9B504AF}"/>
              </a:ext>
            </a:extLst>
          </p:cNvPr>
          <p:cNvSpPr>
            <a:spLocks xmlns:a="http://schemas.openxmlformats.org/drawingml/2006/main" noGrp="1"/>
          </p:cNvSpPr>
          <p:nvPr/>
        </p:nvSpPr>
        <p:spPr>
          <a:xfrm xmlns:a="http://schemas.openxmlformats.org/drawingml/2006/main">
            <a:off x="3400425" y="3200400"/>
            <a:ext cx="76200" cy="76200"/>
          </a:xfrm>
          <a:prstGeom xmlns:a="http://schemas.openxmlformats.org/drawingml/2006/main" prst="ellipse">
            <a:avLst/>
          </a:prstGeom>
          <a:solidFill xmlns:a="http://schemas.openxmlformats.org/drawingml/2006/main">
            <a:srgbClr val="FF7B7B"/>
          </a:solidFill>
          <a:ln xmlns:a="http://schemas.openxmlformats.org/drawingml/2006/main" w="0">
            <a:solidFill>
              <a:srgbClr val="FF7B7B"/>
            </a:solidFill>
          </a:ln>
        </p:spPr>
      </p:sp>
      <p:sp>
        <p:nvSpPr>
          <p:cNvPr id="14" name="">
            <a:extLst xmlns:a="http://schemas.openxmlformats.org/drawingml/2006/main">
              <a:ext uri="{FF2B5EF4-FFF2-40B4-BE49-F238E27FC236}">
                <a16:creationId xmlns:a16="http://schemas.microsoft.com/office/drawing/2014/main" id="{DBB9F6C6-F238-42C8-9989-881F8F9A1441}"/>
              </a:ext>
            </a:extLst>
          </p:cNvPr>
          <p:cNvSpPr>
            <a:spLocks xmlns:a="http://schemas.openxmlformats.org/drawingml/2006/main" noGrp="1"/>
          </p:cNvSpPr>
          <p:nvPr/>
        </p:nvSpPr>
        <p:spPr>
          <a:xfrm xmlns:a="http://schemas.openxmlformats.org/drawingml/2006/main">
            <a:off x="781050" y="3105150"/>
            <a:ext cx="249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‫גרף ללא הסבר על איכות וטריות‬</a:t>
            </a:r>
          </a:p>
        </p:txBody>
      </p:sp>
      <p:sp>
        <p:nvSpPr>
          <p:cNvPr id="15" name="">
            <a:extLst xmlns:a="http://schemas.openxmlformats.org/drawingml/2006/main">
              <a:ext uri="{FF2B5EF4-FFF2-40B4-BE49-F238E27FC236}">
                <a16:creationId xmlns:a16="http://schemas.microsoft.com/office/drawing/2014/main" id="{DB401FAB-6273-4B0F-A4C4-7A64534DD073}"/>
              </a:ext>
            </a:extLst>
          </p:cNvPr>
          <p:cNvSpPr>
            <a:spLocks xmlns:a="http://schemas.openxmlformats.org/drawingml/2006/main" noGrp="1"/>
          </p:cNvSpPr>
          <p:nvPr/>
        </p:nvSpPr>
        <p:spPr>
          <a:xfrm xmlns:a="http://schemas.openxmlformats.org/drawingml/2006/main">
            <a:off x="781050" y="3400425"/>
            <a:ext cx="2495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FF7B7B"/>
                </a:solidFill>
                <a:latin typeface="Arial"/>
                <a:ea typeface="Arial"/>
                <a:cs typeface="Arial"/>
              </a:defRPr>
            </a:pPr>
            <a:r>
              <a:rPr sz="900" b="1">
                <a:solidFill>
                  <a:srgbClr val="FF7B7B"/>
                </a:solidFill>
                <a:latin typeface="Arial"/>
                <a:ea typeface="Arial"/>
                <a:cs typeface="Arial"/>
              </a:rPr>
              <a:t>No data confidence</a:t>
            </a:r>
          </a:p>
        </p:txBody>
      </p:sp>
      <p:sp>
        <p:nvSpPr>
          <p:cNvPr id="16" name="">
            <a:extLst xmlns:a="http://schemas.openxmlformats.org/drawingml/2006/main">
              <a:ext uri="{FF2B5EF4-FFF2-40B4-BE49-F238E27FC236}">
                <a16:creationId xmlns:a16="http://schemas.microsoft.com/office/drawing/2014/main" id="{5969B489-CE72-4559-BAC1-0115FD167FE0}"/>
              </a:ext>
            </a:extLst>
          </p:cNvPr>
          <p:cNvSpPr>
            <a:spLocks xmlns:a="http://schemas.openxmlformats.org/drawingml/2006/main" noGrp="1"/>
          </p:cNvSpPr>
          <p:nvPr/>
        </p:nvSpPr>
        <p:spPr>
          <a:xfrm xmlns:a="http://schemas.openxmlformats.org/drawingml/2006/main">
            <a:off x="3400425" y="3905250"/>
            <a:ext cx="76200" cy="76200"/>
          </a:xfrm>
          <a:prstGeom xmlns:a="http://schemas.openxmlformats.org/drawingml/2006/main" prst="ellipse">
            <a:avLst/>
          </a:prstGeom>
          <a:solidFill xmlns:a="http://schemas.openxmlformats.org/drawingml/2006/main">
            <a:srgbClr val="FF7B7B"/>
          </a:solidFill>
          <a:ln xmlns:a="http://schemas.openxmlformats.org/drawingml/2006/main" w="0">
            <a:solidFill>
              <a:srgbClr val="FF7B7B"/>
            </a:solidFill>
          </a:ln>
        </p:spPr>
      </p:sp>
      <p:sp>
        <p:nvSpPr>
          <p:cNvPr id="17" name="">
            <a:extLst xmlns:a="http://schemas.openxmlformats.org/drawingml/2006/main">
              <a:ext uri="{FF2B5EF4-FFF2-40B4-BE49-F238E27FC236}">
                <a16:creationId xmlns:a16="http://schemas.microsoft.com/office/drawing/2014/main" id="{D0B9589F-8BC0-4FB6-8DF1-094B3B206C1B}"/>
              </a:ext>
            </a:extLst>
          </p:cNvPr>
          <p:cNvSpPr>
            <a:spLocks xmlns:a="http://schemas.openxmlformats.org/drawingml/2006/main" noGrp="1"/>
          </p:cNvSpPr>
          <p:nvPr/>
        </p:nvSpPr>
        <p:spPr>
          <a:xfrm xmlns:a="http://schemas.openxmlformats.org/drawingml/2006/main">
            <a:off x="781050" y="3810000"/>
            <a:ext cx="249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8547"/>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‫מחיר יעד ללא סיכון וללא נקודת ביטול‬</a:t>
            </a:r>
          </a:p>
        </p:txBody>
      </p:sp>
      <p:sp>
        <p:nvSpPr>
          <p:cNvPr id="18" name="">
            <a:extLst xmlns:a="http://schemas.openxmlformats.org/drawingml/2006/main">
              <a:ext uri="{FF2B5EF4-FFF2-40B4-BE49-F238E27FC236}">
                <a16:creationId xmlns:a16="http://schemas.microsoft.com/office/drawing/2014/main" id="{51CEF633-FBE9-481E-826C-6FCDCADDF809}"/>
              </a:ext>
            </a:extLst>
          </p:cNvPr>
          <p:cNvSpPr>
            <a:spLocks xmlns:a="http://schemas.openxmlformats.org/drawingml/2006/main" noGrp="1"/>
          </p:cNvSpPr>
          <p:nvPr/>
        </p:nvSpPr>
        <p:spPr>
          <a:xfrm xmlns:a="http://schemas.openxmlformats.org/drawingml/2006/main">
            <a:off x="781050" y="4105275"/>
            <a:ext cx="2495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FF7B7B"/>
                </a:solidFill>
                <a:latin typeface="Arial"/>
                <a:ea typeface="Arial"/>
                <a:cs typeface="Arial"/>
              </a:defRPr>
            </a:pPr>
            <a:r>
              <a:rPr sz="900" b="1">
                <a:solidFill>
                  <a:srgbClr val="FF7B7B"/>
                </a:solidFill>
                <a:latin typeface="Arial"/>
                <a:ea typeface="Arial"/>
                <a:cs typeface="Arial"/>
              </a:rPr>
              <a:t>Magic-number target</a:t>
            </a:r>
          </a:p>
        </p:txBody>
      </p:sp>
      <p:sp>
        <p:nvSpPr>
          <p:cNvPr id="19" name="">
            <a:extLst xmlns:a="http://schemas.openxmlformats.org/drawingml/2006/main">
              <a:ext uri="{FF2B5EF4-FFF2-40B4-BE49-F238E27FC236}">
                <a16:creationId xmlns:a16="http://schemas.microsoft.com/office/drawing/2014/main" id="{0D34B794-040D-49A2-8E38-8E274C7F8FFC}"/>
              </a:ext>
            </a:extLst>
          </p:cNvPr>
          <p:cNvSpPr>
            <a:spLocks xmlns:a="http://schemas.openxmlformats.org/drawingml/2006/main" noGrp="1"/>
          </p:cNvSpPr>
          <p:nvPr/>
        </p:nvSpPr>
        <p:spPr>
          <a:xfrm xmlns:a="http://schemas.openxmlformats.org/drawingml/2006/main">
            <a:off x="3400425" y="4610100"/>
            <a:ext cx="76200" cy="76200"/>
          </a:xfrm>
          <a:prstGeom xmlns:a="http://schemas.openxmlformats.org/drawingml/2006/main" prst="ellipse">
            <a:avLst/>
          </a:prstGeom>
          <a:solidFill xmlns:a="http://schemas.openxmlformats.org/drawingml/2006/main">
            <a:srgbClr val="FF7B7B"/>
          </a:solidFill>
          <a:ln xmlns:a="http://schemas.openxmlformats.org/drawingml/2006/main" w="0">
            <a:solidFill>
              <a:srgbClr val="FF7B7B"/>
            </a:solidFill>
          </a:ln>
        </p:spPr>
      </p:sp>
      <p:sp>
        <p:nvSpPr>
          <p:cNvPr id="20" name="">
            <a:extLst xmlns:a="http://schemas.openxmlformats.org/drawingml/2006/main">
              <a:ext uri="{FF2B5EF4-FFF2-40B4-BE49-F238E27FC236}">
                <a16:creationId xmlns:a16="http://schemas.microsoft.com/office/drawing/2014/main" id="{1AA6FAAF-BAD4-4869-9D4C-6E2390760CB2}"/>
              </a:ext>
            </a:extLst>
          </p:cNvPr>
          <p:cNvSpPr>
            <a:spLocks xmlns:a="http://schemas.openxmlformats.org/drawingml/2006/main" noGrp="1"/>
          </p:cNvSpPr>
          <p:nvPr/>
        </p:nvSpPr>
        <p:spPr>
          <a:xfrm xmlns:a="http://schemas.openxmlformats.org/drawingml/2006/main">
            <a:off x="781050" y="4514850"/>
            <a:ext cx="249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4708"/>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‫קשה לשחזר בדיעבד למה התקבלה החלטה‬</a:t>
            </a:r>
          </a:p>
        </p:txBody>
      </p:sp>
      <p:sp>
        <p:nvSpPr>
          <p:cNvPr id="21" name="">
            <a:extLst xmlns:a="http://schemas.openxmlformats.org/drawingml/2006/main">
              <a:ext uri="{FF2B5EF4-FFF2-40B4-BE49-F238E27FC236}">
                <a16:creationId xmlns:a16="http://schemas.microsoft.com/office/drawing/2014/main" id="{126B017E-F952-4ACB-BB7A-94FF33870C40}"/>
              </a:ext>
            </a:extLst>
          </p:cNvPr>
          <p:cNvSpPr>
            <a:spLocks xmlns:a="http://schemas.openxmlformats.org/drawingml/2006/main" noGrp="1"/>
          </p:cNvSpPr>
          <p:nvPr/>
        </p:nvSpPr>
        <p:spPr>
          <a:xfrm xmlns:a="http://schemas.openxmlformats.org/drawingml/2006/main">
            <a:off x="781050" y="4810125"/>
            <a:ext cx="2495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FF7B7B"/>
                </a:solidFill>
                <a:latin typeface="Arial"/>
                <a:ea typeface="Arial"/>
                <a:cs typeface="Arial"/>
              </a:defRPr>
            </a:pPr>
            <a:r>
              <a:rPr sz="900" b="1">
                <a:solidFill>
                  <a:srgbClr val="FF7B7B"/>
                </a:solidFill>
                <a:latin typeface="Arial"/>
                <a:ea typeface="Arial"/>
                <a:cs typeface="Arial"/>
              </a:rPr>
              <a:t>Missing lineage</a:t>
            </a:r>
          </a:p>
        </p:txBody>
      </p:sp>
      <p:sp>
        <p:nvSpPr>
          <p:cNvPr id="22" name="">
            <a:extLst xmlns:a="http://schemas.openxmlformats.org/drawingml/2006/main">
              <a:ext uri="{FF2B5EF4-FFF2-40B4-BE49-F238E27FC236}">
                <a16:creationId xmlns:a16="http://schemas.microsoft.com/office/drawing/2014/main" id="{74424710-BE5B-464A-9BE3-4CDED43830F4}"/>
              </a:ext>
            </a:extLst>
          </p:cNvPr>
          <p:cNvSpPr>
            <a:spLocks xmlns:a="http://schemas.openxmlformats.org/drawingml/2006/main" noGrp="1"/>
          </p:cNvSpPr>
          <p:nvPr/>
        </p:nvSpPr>
        <p:spPr>
          <a:xfrm xmlns:a="http://schemas.openxmlformats.org/drawingml/2006/main">
            <a:off x="4171950" y="1676400"/>
            <a:ext cx="7448550" cy="4038600"/>
          </a:xfrm>
          <a:prstGeom xmlns:a="http://schemas.openxmlformats.org/drawingml/2006/main" prst="roundRect">
            <a:avLst>
              <a:gd name="adj" fmla="val 2830"/>
            </a:avLst>
          </a:prstGeom>
          <a:solidFill xmlns:a="http://schemas.openxmlformats.org/drawingml/2006/main">
            <a:srgbClr val="102940"/>
          </a:solidFill>
          <a:ln xmlns:a="http://schemas.openxmlformats.org/drawingml/2006/main" w="9525">
            <a:solidFill>
              <a:srgbClr val="52DCC3"/>
            </a:solidFill>
          </a:ln>
        </p:spPr>
      </p:sp>
      <p:sp>
        <p:nvSpPr>
          <p:cNvPr id="23" name="">
            <a:extLst xmlns:a="http://schemas.openxmlformats.org/drawingml/2006/main">
              <a:ext uri="{FF2B5EF4-FFF2-40B4-BE49-F238E27FC236}">
                <a16:creationId xmlns:a16="http://schemas.microsoft.com/office/drawing/2014/main" id="{DD5AC2A5-0C8C-4CC0-A572-64817D0ACB60}"/>
              </a:ext>
            </a:extLst>
          </p:cNvPr>
          <p:cNvSpPr>
            <a:spLocks xmlns:a="http://schemas.openxmlformats.org/drawingml/2006/main" noGrp="1"/>
          </p:cNvSpPr>
          <p:nvPr/>
        </p:nvSpPr>
        <p:spPr>
          <a:xfrm xmlns:a="http://schemas.openxmlformats.org/drawingml/2006/main">
            <a:off x="4533900" y="1924050"/>
            <a:ext cx="6705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025" b="1">
                <a:solidFill>
                  <a:srgbClr val="F5F8FB"/>
                </a:solidFill>
                <a:latin typeface="Arial"/>
                <a:ea typeface="Arial"/>
                <a:cs typeface="Arial"/>
              </a:defRPr>
            </a:pPr>
            <a:r>
              <a:rPr sz="2025" b="1">
                <a:solidFill>
                  <a:srgbClr val="F5F8FB"/>
                </a:solidFill>
                <a:latin typeface="Arial"/>
                <a:ea typeface="Arial"/>
                <a:cs typeface="Arial"/>
              </a:rPr>
              <a:t>‫מרקט־פיילוט הופכת זרם נתונים לתזה שניתנת לבדיקה‬</a:t>
            </a:r>
          </a:p>
        </p:txBody>
      </p:sp>
      <p:sp>
        <p:nvSpPr>
          <p:cNvPr id="24" name="">
            <a:extLst xmlns:a="http://schemas.openxmlformats.org/drawingml/2006/main">
              <a:ext uri="{FF2B5EF4-FFF2-40B4-BE49-F238E27FC236}">
                <a16:creationId xmlns:a16="http://schemas.microsoft.com/office/drawing/2014/main" id="{69404B4C-B13C-4EFF-92A0-6BABB1DFDA77}"/>
              </a:ext>
            </a:extLst>
          </p:cNvPr>
          <p:cNvSpPr>
            <a:spLocks xmlns:a="http://schemas.openxmlformats.org/drawingml/2006/main" noGrp="1"/>
          </p:cNvSpPr>
          <p:nvPr/>
        </p:nvSpPr>
        <p:spPr>
          <a:xfrm xmlns:a="http://schemas.openxmlformats.org/drawingml/2006/main">
            <a:off x="4514850" y="2762250"/>
            <a:ext cx="20002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25" name="">
            <a:extLst xmlns:a="http://schemas.openxmlformats.org/drawingml/2006/main">
              <a:ext uri="{FF2B5EF4-FFF2-40B4-BE49-F238E27FC236}">
                <a16:creationId xmlns:a16="http://schemas.microsoft.com/office/drawing/2014/main" id="{5CF3930B-029A-4245-9283-6641E56EA213}"/>
              </a:ext>
            </a:extLst>
          </p:cNvPr>
          <p:cNvSpPr>
            <a:spLocks xmlns:a="http://schemas.openxmlformats.org/drawingml/2006/main" noGrp="1"/>
          </p:cNvSpPr>
          <p:nvPr/>
        </p:nvSpPr>
        <p:spPr>
          <a:xfrm xmlns:a="http://schemas.openxmlformats.org/drawingml/2006/main">
            <a:off x="4686300" y="287655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52DCC3"/>
                </a:solidFill>
                <a:latin typeface="Arial"/>
                <a:ea typeface="Arial"/>
                <a:cs typeface="Arial"/>
              </a:defRPr>
            </a:pPr>
            <a:r>
              <a:rPr sz="2175" b="1">
                <a:solidFill>
                  <a:srgbClr val="52DCC3"/>
                </a:solidFill>
                <a:latin typeface="Arial"/>
                <a:ea typeface="Arial"/>
                <a:cs typeface="Arial"/>
              </a:rPr>
              <a:t>LIVE</a:t>
            </a:r>
          </a:p>
        </p:txBody>
      </p:sp>
      <p:sp>
        <p:nvSpPr>
          <p:cNvPr id="26" name="">
            <a:extLst xmlns:a="http://schemas.openxmlformats.org/drawingml/2006/main">
              <a:ext uri="{FF2B5EF4-FFF2-40B4-BE49-F238E27FC236}">
                <a16:creationId xmlns:a16="http://schemas.microsoft.com/office/drawing/2014/main" id="{5044C72E-6EB8-40DE-987D-C27A9233D27B}"/>
              </a:ext>
            </a:extLst>
          </p:cNvPr>
          <p:cNvSpPr>
            <a:spLocks xmlns:a="http://schemas.openxmlformats.org/drawingml/2006/main" noGrp="1"/>
          </p:cNvSpPr>
          <p:nvPr/>
        </p:nvSpPr>
        <p:spPr>
          <a:xfrm xmlns:a="http://schemas.openxmlformats.org/drawingml/2006/main">
            <a:off x="4686300" y="3352800"/>
            <a:ext cx="1657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‫תגובה מהירה‬</a:t>
            </a:r>
          </a:p>
        </p:txBody>
      </p:sp>
      <p:sp>
        <p:nvSpPr>
          <p:cNvPr id="27" name="">
            <a:extLst xmlns:a="http://schemas.openxmlformats.org/drawingml/2006/main">
              <a:ext uri="{FF2B5EF4-FFF2-40B4-BE49-F238E27FC236}">
                <a16:creationId xmlns:a16="http://schemas.microsoft.com/office/drawing/2014/main" id="{43A39E8C-0423-4584-9CED-3638596536BD}"/>
              </a:ext>
            </a:extLst>
          </p:cNvPr>
          <p:cNvSpPr>
            <a:spLocks xmlns:a="http://schemas.openxmlformats.org/drawingml/2006/main" noGrp="1"/>
          </p:cNvSpPr>
          <p:nvPr/>
        </p:nvSpPr>
        <p:spPr>
          <a:xfrm xmlns:a="http://schemas.openxmlformats.org/drawingml/2006/main">
            <a:off x="6705600" y="2762250"/>
            <a:ext cx="21526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28" name="">
            <a:extLst xmlns:a="http://schemas.openxmlformats.org/drawingml/2006/main">
              <a:ext uri="{FF2B5EF4-FFF2-40B4-BE49-F238E27FC236}">
                <a16:creationId xmlns:a16="http://schemas.microsoft.com/office/drawing/2014/main" id="{00A27954-87DC-4593-9492-B6A8328DB882}"/>
              </a:ext>
            </a:extLst>
          </p:cNvPr>
          <p:cNvSpPr>
            <a:spLocks xmlns:a="http://schemas.openxmlformats.org/drawingml/2006/main" noGrp="1"/>
          </p:cNvSpPr>
          <p:nvPr/>
        </p:nvSpPr>
        <p:spPr>
          <a:xfrm xmlns:a="http://schemas.openxmlformats.org/drawingml/2006/main">
            <a:off x="6877050" y="287655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73B7FF"/>
                </a:solidFill>
                <a:latin typeface="Arial"/>
                <a:ea typeface="Arial"/>
                <a:cs typeface="Arial"/>
              </a:defRPr>
            </a:pPr>
            <a:r>
              <a:rPr sz="2175" b="1">
                <a:solidFill>
                  <a:srgbClr val="73B7FF"/>
                </a:solidFill>
                <a:latin typeface="Arial"/>
                <a:ea typeface="Arial"/>
                <a:cs typeface="Arial"/>
              </a:rPr>
              <a:t>CERTIFIED</a:t>
            </a:r>
          </a:p>
        </p:txBody>
      </p:sp>
      <p:sp>
        <p:nvSpPr>
          <p:cNvPr id="29" name="">
            <a:extLst xmlns:a="http://schemas.openxmlformats.org/drawingml/2006/main">
              <a:ext uri="{FF2B5EF4-FFF2-40B4-BE49-F238E27FC236}">
                <a16:creationId xmlns:a16="http://schemas.microsoft.com/office/drawing/2014/main" id="{B95D07B0-64A1-470C-87E0-490A9D3AAD9F}"/>
              </a:ext>
            </a:extLst>
          </p:cNvPr>
          <p:cNvSpPr>
            <a:spLocks xmlns:a="http://schemas.openxmlformats.org/drawingml/2006/main" noGrp="1"/>
          </p:cNvSpPr>
          <p:nvPr/>
        </p:nvSpPr>
        <p:spPr>
          <a:xfrm xmlns:a="http://schemas.openxmlformats.org/drawingml/2006/main">
            <a:off x="6877050" y="3352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‫אימות יומי‬</a:t>
            </a:r>
          </a:p>
        </p:txBody>
      </p:sp>
      <p:sp>
        <p:nvSpPr>
          <p:cNvPr id="30" name="">
            <a:extLst xmlns:a="http://schemas.openxmlformats.org/drawingml/2006/main">
              <a:ext uri="{FF2B5EF4-FFF2-40B4-BE49-F238E27FC236}">
                <a16:creationId xmlns:a16="http://schemas.microsoft.com/office/drawing/2014/main" id="{41284F00-FCDF-4913-850D-2015877CBF58}"/>
              </a:ext>
            </a:extLst>
          </p:cNvPr>
          <p:cNvSpPr>
            <a:spLocks xmlns:a="http://schemas.openxmlformats.org/drawingml/2006/main" noGrp="1"/>
          </p:cNvSpPr>
          <p:nvPr/>
        </p:nvSpPr>
        <p:spPr>
          <a:xfrm xmlns:a="http://schemas.openxmlformats.org/drawingml/2006/main">
            <a:off x="9048750" y="2762250"/>
            <a:ext cx="21526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31" name="">
            <a:extLst xmlns:a="http://schemas.openxmlformats.org/drawingml/2006/main">
              <a:ext uri="{FF2B5EF4-FFF2-40B4-BE49-F238E27FC236}">
                <a16:creationId xmlns:a16="http://schemas.microsoft.com/office/drawing/2014/main" id="{425406A7-E322-4AA1-9D9D-031B1DFD501A}"/>
              </a:ext>
            </a:extLst>
          </p:cNvPr>
          <p:cNvSpPr>
            <a:spLocks xmlns:a="http://schemas.openxmlformats.org/drawingml/2006/main" noGrp="1"/>
          </p:cNvSpPr>
          <p:nvPr/>
        </p:nvSpPr>
        <p:spPr>
          <a:xfrm xmlns:a="http://schemas.openxmlformats.org/drawingml/2006/main">
            <a:off x="9220200" y="287655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F2B84B"/>
                </a:solidFill>
                <a:latin typeface="Arial"/>
                <a:ea typeface="Arial"/>
                <a:cs typeface="Arial"/>
              </a:defRPr>
            </a:pPr>
            <a:r>
              <a:rPr sz="2175" b="1">
                <a:solidFill>
                  <a:srgbClr val="F2B84B"/>
                </a:solidFill>
                <a:latin typeface="Arial"/>
                <a:ea typeface="Arial"/>
                <a:cs typeface="Arial"/>
              </a:rPr>
              <a:t>EXPLAINED</a:t>
            </a:r>
          </a:p>
        </p:txBody>
      </p:sp>
      <p:sp>
        <p:nvSpPr>
          <p:cNvPr id="32" name="">
            <a:extLst xmlns:a="http://schemas.openxmlformats.org/drawingml/2006/main">
              <a:ext uri="{FF2B5EF4-FFF2-40B4-BE49-F238E27FC236}">
                <a16:creationId xmlns:a16="http://schemas.microsoft.com/office/drawing/2014/main" id="{223293E4-BA25-469B-9DD6-2AD2F327A7D0}"/>
              </a:ext>
            </a:extLst>
          </p:cNvPr>
          <p:cNvSpPr>
            <a:spLocks xmlns:a="http://schemas.openxmlformats.org/drawingml/2006/main" noGrp="1"/>
          </p:cNvSpPr>
          <p:nvPr/>
        </p:nvSpPr>
        <p:spPr>
          <a:xfrm xmlns:a="http://schemas.openxmlformats.org/drawingml/2006/main">
            <a:off x="9220200" y="3352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‫למה עכשיו?‬</a:t>
            </a:r>
          </a:p>
        </p:txBody>
      </p:sp>
      <p:sp>
        <p:nvSpPr>
          <p:cNvPr id="33" name="">
            <a:extLst xmlns:a="http://schemas.openxmlformats.org/drawingml/2006/main">
              <a:ext uri="{FF2B5EF4-FFF2-40B4-BE49-F238E27FC236}">
                <a16:creationId xmlns:a16="http://schemas.microsoft.com/office/drawing/2014/main" id="{B89A2864-748B-4C2C-8B8F-E319FD10587E}"/>
              </a:ext>
            </a:extLst>
          </p:cNvPr>
          <p:cNvSpPr>
            <a:spLocks xmlns:a="http://schemas.openxmlformats.org/drawingml/2006/main" noGrp="1"/>
          </p:cNvSpPr>
          <p:nvPr/>
        </p:nvSpPr>
        <p:spPr>
          <a:xfrm xmlns:a="http://schemas.openxmlformats.org/drawingml/2006/main">
            <a:off x="4629150" y="4152900"/>
            <a:ext cx="647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800" b="1">
                <a:solidFill>
                  <a:srgbClr val="F5F8FB"/>
                </a:solidFill>
                <a:latin typeface="Arial"/>
                <a:ea typeface="Arial"/>
                <a:cs typeface="Arial"/>
              </a:defRPr>
            </a:pPr>
            <a:r>
              <a:rPr sz="1800" b="1">
                <a:solidFill>
                  <a:srgbClr val="F5F8FB"/>
                </a:solidFill>
                <a:latin typeface="Arial"/>
                <a:ea typeface="Arial"/>
                <a:cs typeface="Arial"/>
              </a:rPr>
              <a:t>‫המשתמש מקבל תמונת מצב, אזור כניסה, יעדים, נקודת עצירה, יחס סיכון וגודל פוזיציה — יחד עם מקור הנתון והסבר מלא.‬</a:t>
            </a:r>
          </a:p>
        </p:txBody>
      </p:sp>
    </p:spTree>
    <p:extLst>
      <p:ext uri="{BB962C8B-B14F-4D97-AF65-F5344CB8AC3E}">
        <p14:creationId xmlns:p14="http://schemas.microsoft.com/office/powerpoint/2010/main" val="607538973"/>
      </p:ext>
    </p:extLst>
  </p:cSld>
</p:sld>
</file>

<file path=ppt/slides/slide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231F506-E99B-4FD3-AAC1-FAA38F6044E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707D7AE6-20C7-4D2A-AFD8-8C5753766894}"/>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PRODUCT VALUE</a:t>
            </a:r>
          </a:p>
        </p:txBody>
      </p:sp>
      <p:sp>
        <p:nvSpPr>
          <p:cNvPr id="3" name="">
            <a:extLst xmlns:a="http://schemas.openxmlformats.org/drawingml/2006/main">
              <a:ext uri="{FF2B5EF4-FFF2-40B4-BE49-F238E27FC236}">
                <a16:creationId xmlns:a16="http://schemas.microsoft.com/office/drawing/2014/main" id="{0BA84113-48C3-4144-9E49-E6A57D7E110B}"/>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‫מה המערכת מאפשרת למשקיע?‬</a:t>
            </a:r>
          </a:p>
        </p:txBody>
      </p:sp>
      <p:sp>
        <p:nvSpPr>
          <p:cNvPr id="4" name="">
            <a:extLst xmlns:a="http://schemas.openxmlformats.org/drawingml/2006/main">
              <a:ext uri="{FF2B5EF4-FFF2-40B4-BE49-F238E27FC236}">
                <a16:creationId xmlns:a16="http://schemas.microsoft.com/office/drawing/2014/main" id="{87A4B0CD-749C-4E10-8030-BA096A29F1D3}"/>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‫לא אות בודד — תרחיש מלא, מוסבר ומוגבל סיכון‬</a:t>
            </a:r>
          </a:p>
        </p:txBody>
      </p:sp>
      <p:sp>
        <p:nvSpPr>
          <p:cNvPr id="5" name="">
            <a:extLst xmlns:a="http://schemas.openxmlformats.org/drawingml/2006/main">
              <a:ext uri="{FF2B5EF4-FFF2-40B4-BE49-F238E27FC236}">
                <a16:creationId xmlns:a16="http://schemas.microsoft.com/office/drawing/2014/main" id="{D5D40146-E904-45AB-9612-64A3684BE3A5}"/>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8464E7F9-3A91-48F9-8E1E-FE4C59ED244C}"/>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1720165E-3F88-4698-8E77-D7F1ED4C7587}"/>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9513A98E-D646-458C-8973-0074D8873616}"/>
              </a:ext>
            </a:extLst>
          </p:cNvPr>
          <p:cNvSpPr>
            <a:spLocks xmlns:a="http://schemas.openxmlformats.org/drawingml/2006/main" noGrp="1"/>
          </p:cNvSpPr>
          <p:nvPr/>
        </p:nvSpPr>
        <p:spPr>
          <a:xfrm xmlns:a="http://schemas.openxmlformats.org/drawingml/2006/main">
            <a:off x="8963025" y="1790700"/>
            <a:ext cx="2505075" cy="3562350"/>
          </a:xfrm>
          <a:prstGeom xmlns:a="http://schemas.openxmlformats.org/drawingml/2006/main" prst="roundRect">
            <a:avLst>
              <a:gd name="adj" fmla="val 4563"/>
            </a:avLst>
          </a:prstGeom>
          <a:solidFill xmlns:a="http://schemas.openxmlformats.org/drawingml/2006/main">
            <a:srgbClr val="0D2035"/>
          </a:solidFill>
          <a:ln xmlns:a="http://schemas.openxmlformats.org/drawingml/2006/main" w="9525">
            <a:solidFill>
              <a:srgbClr val="24445F"/>
            </a:solidFill>
          </a:ln>
        </p:spPr>
      </p:sp>
      <p:sp>
        <p:nvSpPr>
          <p:cNvPr id="9" name="">
            <a:extLst xmlns:a="http://schemas.openxmlformats.org/drawingml/2006/main">
              <a:ext uri="{FF2B5EF4-FFF2-40B4-BE49-F238E27FC236}">
                <a16:creationId xmlns:a16="http://schemas.microsoft.com/office/drawing/2014/main" id="{B6094130-5D80-45BD-A7E6-AC08038A1841}"/>
              </a:ext>
            </a:extLst>
          </p:cNvPr>
          <p:cNvSpPr>
            <a:spLocks xmlns:a="http://schemas.openxmlformats.org/drawingml/2006/main" noGrp="1"/>
          </p:cNvSpPr>
          <p:nvPr/>
        </p:nvSpPr>
        <p:spPr>
          <a:xfrm xmlns:a="http://schemas.openxmlformats.org/drawingml/2006/main">
            <a:off x="9172575" y="19716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F99E9F0-B0FE-4BAB-A2FB-206CF63DDF01}"/>
              </a:ext>
            </a:extLst>
          </p:cNvPr>
          <p:cNvSpPr>
            <a:spLocks xmlns:a="http://schemas.openxmlformats.org/drawingml/2006/main" noGrp="1"/>
          </p:cNvSpPr>
          <p:nvPr/>
        </p:nvSpPr>
        <p:spPr>
          <a:xfrm xmlns:a="http://schemas.openxmlformats.org/drawingml/2006/main">
            <a:off x="9172575" y="2314575"/>
            <a:ext cx="2076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73B7FF"/>
                </a:solidFill>
                <a:latin typeface="Arial"/>
                <a:ea typeface="Arial"/>
                <a:cs typeface="Arial"/>
              </a:defRPr>
            </a:pPr>
            <a:r>
              <a:rPr sz="900" b="1">
                <a:solidFill>
                  <a:srgbClr val="73B7FF"/>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FBF49B84-23A6-4EEB-94EE-23EFFA7ACDEC}"/>
              </a:ext>
            </a:extLst>
          </p:cNvPr>
          <p:cNvSpPr>
            <a:spLocks xmlns:a="http://schemas.openxmlformats.org/drawingml/2006/main" noGrp="1"/>
          </p:cNvSpPr>
          <p:nvPr/>
        </p:nvSpPr>
        <p:spPr>
          <a:xfrm xmlns:a="http://schemas.openxmlformats.org/drawingml/2006/main">
            <a:off x="9172575" y="27813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250" b="1">
                <a:solidFill>
                  <a:srgbClr val="F5F8FB"/>
                </a:solidFill>
                <a:latin typeface="Arial"/>
                <a:ea typeface="Arial"/>
                <a:cs typeface="Arial"/>
              </a:defRPr>
            </a:pPr>
            <a:r>
              <a:rPr sz="2250" b="1">
                <a:solidFill>
                  <a:srgbClr val="F5F8FB"/>
                </a:solidFill>
                <a:latin typeface="Arial"/>
                <a:ea typeface="Arial"/>
                <a:cs typeface="Arial"/>
              </a:rPr>
              <a:t>‫לזהות‬</a:t>
            </a:r>
          </a:p>
        </p:txBody>
      </p:sp>
      <p:sp>
        <p:nvSpPr>
          <p:cNvPr id="12" name="">
            <a:extLst xmlns:a="http://schemas.openxmlformats.org/drawingml/2006/main">
              <a:ext uri="{FF2B5EF4-FFF2-40B4-BE49-F238E27FC236}">
                <a16:creationId xmlns:a16="http://schemas.microsoft.com/office/drawing/2014/main" id="{E198C469-F85C-4C3C-8195-5ED681CB395E}"/>
              </a:ext>
            </a:extLst>
          </p:cNvPr>
          <p:cNvSpPr>
            <a:spLocks xmlns:a="http://schemas.openxmlformats.org/drawingml/2006/main" noGrp="1"/>
          </p:cNvSpPr>
          <p:nvPr/>
        </p:nvSpPr>
        <p:spPr>
          <a:xfrm xmlns:a="http://schemas.openxmlformats.org/drawingml/2006/main">
            <a:off x="9172575" y="3429000"/>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0">
                <a:solidFill>
                  <a:srgbClr val="A7BED3"/>
                </a:solidFill>
                <a:latin typeface="Arial"/>
                <a:ea typeface="Arial"/>
                <a:cs typeface="Arial"/>
              </a:defRPr>
            </a:pPr>
            <a:r>
              <a:rPr sz="1500" b="0">
                <a:solidFill>
                  <a:srgbClr val="A7BED3"/>
                </a:solidFill>
                <a:latin typeface="Arial"/>
                <a:ea typeface="Arial"/>
                <a:cs typeface="Arial"/>
              </a:rPr>
              <a:t>‫לדרג מניות ברשימת המעקב לפי שילוב טכני ופונדמנטלי.‬</a:t>
            </a:r>
          </a:p>
        </p:txBody>
      </p:sp>
      <p:sp>
        <p:nvSpPr>
          <p:cNvPr id="13" name="">
            <a:extLst xmlns:a="http://schemas.openxmlformats.org/drawingml/2006/main">
              <a:ext uri="{FF2B5EF4-FFF2-40B4-BE49-F238E27FC236}">
                <a16:creationId xmlns:a16="http://schemas.microsoft.com/office/drawing/2014/main" id="{3A8EB74B-E97F-43EB-9866-FA114B434EC4}"/>
              </a:ext>
            </a:extLst>
          </p:cNvPr>
          <p:cNvSpPr>
            <a:spLocks xmlns:a="http://schemas.openxmlformats.org/drawingml/2006/main" noGrp="1"/>
          </p:cNvSpPr>
          <p:nvPr/>
        </p:nvSpPr>
        <p:spPr>
          <a:xfrm xmlns:a="http://schemas.openxmlformats.org/drawingml/2006/main">
            <a:off x="6153150" y="1790700"/>
            <a:ext cx="2505075" cy="3562350"/>
          </a:xfrm>
          <a:prstGeom xmlns:a="http://schemas.openxmlformats.org/drawingml/2006/main" prst="roundRect">
            <a:avLst>
              <a:gd name="adj" fmla="val 4563"/>
            </a:avLst>
          </a:prstGeom>
          <a:solidFill xmlns:a="http://schemas.openxmlformats.org/drawingml/2006/main">
            <a:srgbClr val="102940"/>
          </a:solidFill>
          <a:ln xmlns:a="http://schemas.openxmlformats.org/drawingml/2006/main" w="9525">
            <a:solidFill>
              <a:srgbClr val="52DCC3"/>
            </a:solidFill>
          </a:ln>
        </p:spPr>
      </p:sp>
      <p:sp>
        <p:nvSpPr>
          <p:cNvPr id="14" name="">
            <a:extLst xmlns:a="http://schemas.openxmlformats.org/drawingml/2006/main">
              <a:ext uri="{FF2B5EF4-FFF2-40B4-BE49-F238E27FC236}">
                <a16:creationId xmlns:a16="http://schemas.microsoft.com/office/drawing/2014/main" id="{F1B959D0-A81C-4A65-B25C-ABB03BFE2BC8}"/>
              </a:ext>
            </a:extLst>
          </p:cNvPr>
          <p:cNvSpPr>
            <a:spLocks xmlns:a="http://schemas.openxmlformats.org/drawingml/2006/main" noGrp="1"/>
          </p:cNvSpPr>
          <p:nvPr/>
        </p:nvSpPr>
        <p:spPr>
          <a:xfrm xmlns:a="http://schemas.openxmlformats.org/drawingml/2006/main">
            <a:off x="6362700" y="19716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73735AB0-8C61-4B7D-BC45-32A508268119}"/>
              </a:ext>
            </a:extLst>
          </p:cNvPr>
          <p:cNvSpPr>
            <a:spLocks xmlns:a="http://schemas.openxmlformats.org/drawingml/2006/main" noGrp="1"/>
          </p:cNvSpPr>
          <p:nvPr/>
        </p:nvSpPr>
        <p:spPr>
          <a:xfrm xmlns:a="http://schemas.openxmlformats.org/drawingml/2006/main">
            <a:off x="6362700" y="2314575"/>
            <a:ext cx="2076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73B7FF"/>
                </a:solidFill>
                <a:latin typeface="Arial"/>
                <a:ea typeface="Arial"/>
                <a:cs typeface="Arial"/>
              </a:defRPr>
            </a:pPr>
            <a:r>
              <a:rPr sz="900" b="1">
                <a:solidFill>
                  <a:srgbClr val="73B7FF"/>
                </a:solidFill>
                <a:latin typeface="Arial"/>
                <a:ea typeface="Arial"/>
                <a:cs typeface="Arial"/>
              </a:rPr>
              <a:t>TIME</a:t>
            </a:r>
          </a:p>
        </p:txBody>
      </p:sp>
      <p:sp>
        <p:nvSpPr>
          <p:cNvPr id="16" name="">
            <a:extLst xmlns:a="http://schemas.openxmlformats.org/drawingml/2006/main">
              <a:ext uri="{FF2B5EF4-FFF2-40B4-BE49-F238E27FC236}">
                <a16:creationId xmlns:a16="http://schemas.microsoft.com/office/drawing/2014/main" id="{50F10312-7333-4444-83BB-DCC98817CD78}"/>
              </a:ext>
            </a:extLst>
          </p:cNvPr>
          <p:cNvSpPr>
            <a:spLocks xmlns:a="http://schemas.openxmlformats.org/drawingml/2006/main" noGrp="1"/>
          </p:cNvSpPr>
          <p:nvPr/>
        </p:nvSpPr>
        <p:spPr>
          <a:xfrm xmlns:a="http://schemas.openxmlformats.org/drawingml/2006/main">
            <a:off x="6362700" y="27813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250" b="1">
                <a:solidFill>
                  <a:srgbClr val="F5F8FB"/>
                </a:solidFill>
                <a:latin typeface="Arial"/>
                <a:ea typeface="Arial"/>
                <a:cs typeface="Arial"/>
              </a:defRPr>
            </a:pPr>
            <a:r>
              <a:rPr sz="2250" b="1">
                <a:solidFill>
                  <a:srgbClr val="F5F8FB"/>
                </a:solidFill>
                <a:latin typeface="Arial"/>
                <a:ea typeface="Arial"/>
                <a:cs typeface="Arial"/>
              </a:rPr>
              <a:t>‫לתזמן‬</a:t>
            </a:r>
          </a:p>
        </p:txBody>
      </p:sp>
      <p:sp>
        <p:nvSpPr>
          <p:cNvPr id="17" name="">
            <a:extLst xmlns:a="http://schemas.openxmlformats.org/drawingml/2006/main">
              <a:ext uri="{FF2B5EF4-FFF2-40B4-BE49-F238E27FC236}">
                <a16:creationId xmlns:a16="http://schemas.microsoft.com/office/drawing/2014/main" id="{A71ADADC-3BDD-4DFC-9133-8AB0C7839C82}"/>
              </a:ext>
            </a:extLst>
          </p:cNvPr>
          <p:cNvSpPr>
            <a:spLocks xmlns:a="http://schemas.openxmlformats.org/drawingml/2006/main" noGrp="1"/>
          </p:cNvSpPr>
          <p:nvPr/>
        </p:nvSpPr>
        <p:spPr>
          <a:xfrm xmlns:a="http://schemas.openxmlformats.org/drawingml/2006/main">
            <a:off x="6362700" y="3429000"/>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0">
                <a:solidFill>
                  <a:srgbClr val="A7BED3"/>
                </a:solidFill>
                <a:latin typeface="Arial"/>
                <a:ea typeface="Arial"/>
                <a:cs typeface="Arial"/>
              </a:defRPr>
            </a:pPr>
            <a:r>
              <a:rPr sz="1500" b="0">
                <a:solidFill>
                  <a:srgbClr val="A7BED3"/>
                </a:solidFill>
                <a:latin typeface="Arial"/>
                <a:ea typeface="Arial"/>
                <a:cs typeface="Arial"/>
              </a:rPr>
              <a:t>‫לקבל אזור כניסה, שני יעדים ונקודת ביטול על בסיס חלונות זמן שונים.‬</a:t>
            </a:r>
          </a:p>
        </p:txBody>
      </p:sp>
      <p:sp>
        <p:nvSpPr>
          <p:cNvPr id="18" name="">
            <a:extLst xmlns:a="http://schemas.openxmlformats.org/drawingml/2006/main">
              <a:ext uri="{FF2B5EF4-FFF2-40B4-BE49-F238E27FC236}">
                <a16:creationId xmlns:a16="http://schemas.microsoft.com/office/drawing/2014/main" id="{8933B65B-4B16-404B-B13C-988BDE5CD762}"/>
              </a:ext>
            </a:extLst>
          </p:cNvPr>
          <p:cNvSpPr>
            <a:spLocks xmlns:a="http://schemas.openxmlformats.org/drawingml/2006/main" noGrp="1"/>
          </p:cNvSpPr>
          <p:nvPr/>
        </p:nvSpPr>
        <p:spPr>
          <a:xfrm xmlns:a="http://schemas.openxmlformats.org/drawingml/2006/main">
            <a:off x="3343275" y="1790700"/>
            <a:ext cx="2505075" cy="3562350"/>
          </a:xfrm>
          <a:prstGeom xmlns:a="http://schemas.openxmlformats.org/drawingml/2006/main" prst="roundRect">
            <a:avLst>
              <a:gd name="adj" fmla="val 4563"/>
            </a:avLst>
          </a:prstGeom>
          <a:solidFill xmlns:a="http://schemas.openxmlformats.org/drawingml/2006/main">
            <a:srgbClr val="0D2035"/>
          </a:solidFill>
          <a:ln xmlns:a="http://schemas.openxmlformats.org/drawingml/2006/main" w="9525">
            <a:solidFill>
              <a:srgbClr val="24445F"/>
            </a:solidFill>
          </a:ln>
        </p:spPr>
      </p:sp>
      <p:sp>
        <p:nvSpPr>
          <p:cNvPr id="19" name="">
            <a:extLst xmlns:a="http://schemas.openxmlformats.org/drawingml/2006/main">
              <a:ext uri="{FF2B5EF4-FFF2-40B4-BE49-F238E27FC236}">
                <a16:creationId xmlns:a16="http://schemas.microsoft.com/office/drawing/2014/main" id="{B3021C0D-086D-4C8B-A83A-9FE5B4483135}"/>
              </a:ext>
            </a:extLst>
          </p:cNvPr>
          <p:cNvSpPr>
            <a:spLocks xmlns:a="http://schemas.openxmlformats.org/drawingml/2006/main" noGrp="1"/>
          </p:cNvSpPr>
          <p:nvPr/>
        </p:nvSpPr>
        <p:spPr>
          <a:xfrm xmlns:a="http://schemas.openxmlformats.org/drawingml/2006/main">
            <a:off x="3552825" y="19716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D5CD2F17-73DA-4841-92BD-9EBF3CAF6895}"/>
              </a:ext>
            </a:extLst>
          </p:cNvPr>
          <p:cNvSpPr>
            <a:spLocks xmlns:a="http://schemas.openxmlformats.org/drawingml/2006/main" noGrp="1"/>
          </p:cNvSpPr>
          <p:nvPr/>
        </p:nvSpPr>
        <p:spPr>
          <a:xfrm xmlns:a="http://schemas.openxmlformats.org/drawingml/2006/main">
            <a:off x="3552825" y="2314575"/>
            <a:ext cx="2076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73B7FF"/>
                </a:solidFill>
                <a:latin typeface="Arial"/>
                <a:ea typeface="Arial"/>
                <a:cs typeface="Arial"/>
              </a:defRPr>
            </a:pPr>
            <a:r>
              <a:rPr sz="900" b="1">
                <a:solidFill>
                  <a:srgbClr val="73B7FF"/>
                </a:solidFill>
                <a:latin typeface="Arial"/>
                <a:ea typeface="Arial"/>
                <a:cs typeface="Arial"/>
              </a:rPr>
              <a:t>CONTROL</a:t>
            </a:r>
          </a:p>
        </p:txBody>
      </p:sp>
      <p:sp>
        <p:nvSpPr>
          <p:cNvPr id="21" name="">
            <a:extLst xmlns:a="http://schemas.openxmlformats.org/drawingml/2006/main">
              <a:ext uri="{FF2B5EF4-FFF2-40B4-BE49-F238E27FC236}">
                <a16:creationId xmlns:a16="http://schemas.microsoft.com/office/drawing/2014/main" id="{7CE97899-B21A-4C56-B3A5-372D04283BE7}"/>
              </a:ext>
            </a:extLst>
          </p:cNvPr>
          <p:cNvSpPr>
            <a:spLocks xmlns:a="http://schemas.openxmlformats.org/drawingml/2006/main" noGrp="1"/>
          </p:cNvSpPr>
          <p:nvPr/>
        </p:nvSpPr>
        <p:spPr>
          <a:xfrm xmlns:a="http://schemas.openxmlformats.org/drawingml/2006/main">
            <a:off x="3552825" y="27813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250" b="1">
                <a:solidFill>
                  <a:srgbClr val="F5F8FB"/>
                </a:solidFill>
                <a:latin typeface="Arial"/>
                <a:ea typeface="Arial"/>
                <a:cs typeface="Arial"/>
              </a:defRPr>
            </a:pPr>
            <a:r>
              <a:rPr sz="2250" b="1">
                <a:solidFill>
                  <a:srgbClr val="F5F8FB"/>
                </a:solidFill>
                <a:latin typeface="Arial"/>
                <a:ea typeface="Arial"/>
                <a:cs typeface="Arial"/>
              </a:rPr>
              <a:t>‫לנהל סיכון‬</a:t>
            </a:r>
          </a:p>
        </p:txBody>
      </p:sp>
      <p:sp>
        <p:nvSpPr>
          <p:cNvPr id="22" name="">
            <a:extLst xmlns:a="http://schemas.openxmlformats.org/drawingml/2006/main">
              <a:ext uri="{FF2B5EF4-FFF2-40B4-BE49-F238E27FC236}">
                <a16:creationId xmlns:a16="http://schemas.microsoft.com/office/drawing/2014/main" id="{1949C619-51D9-4F41-BE49-7B28A212D8A3}"/>
              </a:ext>
            </a:extLst>
          </p:cNvPr>
          <p:cNvSpPr>
            <a:spLocks xmlns:a="http://schemas.openxmlformats.org/drawingml/2006/main" noGrp="1"/>
          </p:cNvSpPr>
          <p:nvPr/>
        </p:nvSpPr>
        <p:spPr>
          <a:xfrm xmlns:a="http://schemas.openxmlformats.org/drawingml/2006/main">
            <a:off x="3552825" y="3429000"/>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0">
                <a:solidFill>
                  <a:srgbClr val="A7BED3"/>
                </a:solidFill>
                <a:latin typeface="Arial"/>
                <a:ea typeface="Arial"/>
                <a:cs typeface="Arial"/>
              </a:defRPr>
            </a:pPr>
            <a:r>
              <a:rPr sz="1500" b="0">
                <a:solidFill>
                  <a:srgbClr val="A7BED3"/>
                </a:solidFill>
                <a:latin typeface="Arial"/>
                <a:ea typeface="Arial"/>
                <a:cs typeface="Arial"/>
              </a:rPr>
              <a:t>‫לחשב יחס סיכון־תשואה וגודל פוזיציה לפי הון וסיכון מרבי של שני אחוזים.‬</a:t>
            </a:r>
          </a:p>
        </p:txBody>
      </p:sp>
      <p:sp>
        <p:nvSpPr>
          <p:cNvPr id="23" name="">
            <a:extLst xmlns:a="http://schemas.openxmlformats.org/drawingml/2006/main">
              <a:ext uri="{FF2B5EF4-FFF2-40B4-BE49-F238E27FC236}">
                <a16:creationId xmlns:a16="http://schemas.microsoft.com/office/drawing/2014/main" id="{133331A5-3565-4ACD-B1FA-88917981B43E}"/>
              </a:ext>
            </a:extLst>
          </p:cNvPr>
          <p:cNvSpPr>
            <a:spLocks xmlns:a="http://schemas.openxmlformats.org/drawingml/2006/main" noGrp="1"/>
          </p:cNvSpPr>
          <p:nvPr/>
        </p:nvSpPr>
        <p:spPr>
          <a:xfrm xmlns:a="http://schemas.openxmlformats.org/drawingml/2006/main">
            <a:off x="533400" y="1790700"/>
            <a:ext cx="2505075" cy="3562350"/>
          </a:xfrm>
          <a:prstGeom xmlns:a="http://schemas.openxmlformats.org/drawingml/2006/main" prst="roundRect">
            <a:avLst>
              <a:gd name="adj" fmla="val 4563"/>
            </a:avLst>
          </a:prstGeom>
          <a:solidFill xmlns:a="http://schemas.openxmlformats.org/drawingml/2006/main">
            <a:srgbClr val="0D2035"/>
          </a:solidFill>
          <a:ln xmlns:a="http://schemas.openxmlformats.org/drawingml/2006/main" w="9525">
            <a:solidFill>
              <a:srgbClr val="24445F"/>
            </a:solidFill>
          </a:ln>
        </p:spPr>
      </p:sp>
      <p:sp>
        <p:nvSpPr>
          <p:cNvPr id="24" name="">
            <a:extLst xmlns:a="http://schemas.openxmlformats.org/drawingml/2006/main">
              <a:ext uri="{FF2B5EF4-FFF2-40B4-BE49-F238E27FC236}">
                <a16:creationId xmlns:a16="http://schemas.microsoft.com/office/drawing/2014/main" id="{C4D0CB3F-6A2E-4197-955A-E741AC7AA4EA}"/>
              </a:ext>
            </a:extLst>
          </p:cNvPr>
          <p:cNvSpPr>
            <a:spLocks xmlns:a="http://schemas.openxmlformats.org/drawingml/2006/main" noGrp="1"/>
          </p:cNvSpPr>
          <p:nvPr/>
        </p:nvSpPr>
        <p:spPr>
          <a:xfrm xmlns:a="http://schemas.openxmlformats.org/drawingml/2006/main">
            <a:off x="742950" y="1971675"/>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04</a:t>
            </a:r>
          </a:p>
        </p:txBody>
      </p:sp>
      <p:sp>
        <p:nvSpPr>
          <p:cNvPr id="25" name="">
            <a:extLst xmlns:a="http://schemas.openxmlformats.org/drawingml/2006/main">
              <a:ext uri="{FF2B5EF4-FFF2-40B4-BE49-F238E27FC236}">
                <a16:creationId xmlns:a16="http://schemas.microsoft.com/office/drawing/2014/main" id="{6AE0BD43-5391-4D80-829C-AA15072010AD}"/>
              </a:ext>
            </a:extLst>
          </p:cNvPr>
          <p:cNvSpPr>
            <a:spLocks xmlns:a="http://schemas.openxmlformats.org/drawingml/2006/main" noGrp="1"/>
          </p:cNvSpPr>
          <p:nvPr/>
        </p:nvSpPr>
        <p:spPr>
          <a:xfrm xmlns:a="http://schemas.openxmlformats.org/drawingml/2006/main">
            <a:off x="742950" y="2314575"/>
            <a:ext cx="2076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73B7FF"/>
                </a:solidFill>
                <a:latin typeface="Arial"/>
                <a:ea typeface="Arial"/>
                <a:cs typeface="Arial"/>
              </a:defRPr>
            </a:pPr>
            <a:r>
              <a:rPr sz="900" b="1">
                <a:solidFill>
                  <a:srgbClr val="73B7FF"/>
                </a:solidFill>
                <a:latin typeface="Arial"/>
                <a:ea typeface="Arial"/>
                <a:cs typeface="Arial"/>
              </a:rPr>
              <a:t>REVIEW</a:t>
            </a:r>
          </a:p>
        </p:txBody>
      </p:sp>
      <p:sp>
        <p:nvSpPr>
          <p:cNvPr id="26" name="">
            <a:extLst xmlns:a="http://schemas.openxmlformats.org/drawingml/2006/main">
              <a:ext uri="{FF2B5EF4-FFF2-40B4-BE49-F238E27FC236}">
                <a16:creationId xmlns:a16="http://schemas.microsoft.com/office/drawing/2014/main" id="{2C936882-7F62-420A-972A-531DF818ADC5}"/>
              </a:ext>
            </a:extLst>
          </p:cNvPr>
          <p:cNvSpPr>
            <a:spLocks xmlns:a="http://schemas.openxmlformats.org/drawingml/2006/main" noGrp="1"/>
          </p:cNvSpPr>
          <p:nvPr/>
        </p:nvSpPr>
        <p:spPr>
          <a:xfrm xmlns:a="http://schemas.openxmlformats.org/drawingml/2006/main">
            <a:off x="742950" y="27813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250" b="1">
                <a:solidFill>
                  <a:srgbClr val="F5F8FB"/>
                </a:solidFill>
                <a:latin typeface="Arial"/>
                <a:ea typeface="Arial"/>
                <a:cs typeface="Arial"/>
              </a:defRPr>
            </a:pPr>
            <a:r>
              <a:rPr sz="2250" b="1">
                <a:solidFill>
                  <a:srgbClr val="F5F8FB"/>
                </a:solidFill>
                <a:latin typeface="Arial"/>
                <a:ea typeface="Arial"/>
                <a:cs typeface="Arial"/>
              </a:rPr>
              <a:t>‫ללמוד‬</a:t>
            </a:r>
          </a:p>
        </p:txBody>
      </p:sp>
      <p:sp>
        <p:nvSpPr>
          <p:cNvPr id="27" name="">
            <a:extLst xmlns:a="http://schemas.openxmlformats.org/drawingml/2006/main">
              <a:ext uri="{FF2B5EF4-FFF2-40B4-BE49-F238E27FC236}">
                <a16:creationId xmlns:a16="http://schemas.microsoft.com/office/drawing/2014/main" id="{D7B6CDC9-A359-4A5B-A1D5-47956078ABE2}"/>
              </a:ext>
            </a:extLst>
          </p:cNvPr>
          <p:cNvSpPr>
            <a:spLocks xmlns:a="http://schemas.openxmlformats.org/drawingml/2006/main" noGrp="1"/>
          </p:cNvSpPr>
          <p:nvPr/>
        </p:nvSpPr>
        <p:spPr>
          <a:xfrm xmlns:a="http://schemas.openxmlformats.org/drawingml/2006/main">
            <a:off x="742950" y="3429000"/>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0">
                <a:solidFill>
                  <a:srgbClr val="A7BED3"/>
                </a:solidFill>
                <a:latin typeface="Arial"/>
                <a:ea typeface="Arial"/>
                <a:cs typeface="Arial"/>
              </a:defRPr>
            </a:pPr>
            <a:r>
              <a:rPr sz="1500" b="0">
                <a:solidFill>
                  <a:srgbClr val="A7BED3"/>
                </a:solidFill>
                <a:latin typeface="Arial"/>
                <a:ea typeface="Arial"/>
                <a:cs typeface="Arial"/>
              </a:rPr>
              <a:t>‫לשמור היסטוריית המלצות, להשוות לתוצאה בפועל ולשחזר את ההיגיון.‬</a:t>
            </a:r>
          </a:p>
        </p:txBody>
      </p:sp>
      <p:sp>
        <p:nvSpPr>
          <p:cNvPr id="28" name="">
            <a:extLst xmlns:a="http://schemas.openxmlformats.org/drawingml/2006/main">
              <a:ext uri="{FF2B5EF4-FFF2-40B4-BE49-F238E27FC236}">
                <a16:creationId xmlns:a16="http://schemas.microsoft.com/office/drawing/2014/main" id="{250B3BEB-A3DE-4008-9626-35FF9D54D136}"/>
              </a:ext>
            </a:extLst>
          </p:cNvPr>
          <p:cNvSpPr>
            <a:spLocks xmlns:a="http://schemas.openxmlformats.org/drawingml/2006/main" noGrp="1"/>
          </p:cNvSpPr>
          <p:nvPr/>
        </p:nvSpPr>
        <p:spPr>
          <a:xfrm xmlns:a="http://schemas.openxmlformats.org/drawingml/2006/main">
            <a:off x="533400" y="5638800"/>
            <a:ext cx="152400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F2B84B"/>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F2B84B"/>
                </a:solidFill>
                <a:latin typeface="Arial"/>
                <a:ea typeface="Arial"/>
                <a:cs typeface="Arial"/>
              </a:defRPr>
            </a:pPr>
            <a:r>
              <a:rPr sz="975" b="1">
                <a:solidFill>
                  <a:srgbClr val="F2B84B"/>
                </a:solidFill>
                <a:latin typeface="Arial"/>
                <a:ea typeface="Arial"/>
                <a:cs typeface="Arial"/>
              </a:rPr>
              <a:t>NO AUTO-TRADING</a:t>
            </a:r>
          </a:p>
        </p:txBody>
      </p:sp>
      <p:sp>
        <p:nvSpPr>
          <p:cNvPr id="29" name="">
            <a:extLst xmlns:a="http://schemas.openxmlformats.org/drawingml/2006/main">
              <a:ext uri="{FF2B5EF4-FFF2-40B4-BE49-F238E27FC236}">
                <a16:creationId xmlns:a16="http://schemas.microsoft.com/office/drawing/2014/main" id="{6E01DE31-74B3-4720-8956-15D1D39FBA81}"/>
              </a:ext>
            </a:extLst>
          </p:cNvPr>
          <p:cNvSpPr>
            <a:spLocks xmlns:a="http://schemas.openxmlformats.org/drawingml/2006/main" noGrp="1"/>
          </p:cNvSpPr>
          <p:nvPr/>
        </p:nvSpPr>
        <p:spPr>
          <a:xfrm xmlns:a="http://schemas.openxmlformats.org/drawingml/2006/main">
            <a:off x="2209800" y="56388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1">
                <a:solidFill>
                  <a:srgbClr val="F2B84B"/>
                </a:solidFill>
                <a:latin typeface="Arial"/>
                <a:ea typeface="Arial"/>
                <a:cs typeface="Arial"/>
              </a:defRPr>
            </a:pPr>
            <a:r>
              <a:rPr sz="1200" b="1">
                <a:solidFill>
                  <a:srgbClr val="F2B84B"/>
                </a:solidFill>
                <a:latin typeface="Arial"/>
                <a:ea typeface="Arial"/>
                <a:cs typeface="Arial"/>
              </a:rPr>
              <a:t>‫החלטה וביצוע נשארים בידי המשתמש‬</a:t>
            </a:r>
          </a:p>
        </p:txBody>
      </p:sp>
    </p:spTree>
    <p:extLst>
      <p:ext uri="{BB962C8B-B14F-4D97-AF65-F5344CB8AC3E}">
        <p14:creationId xmlns:p14="http://schemas.microsoft.com/office/powerpoint/2010/main" val="667667666"/>
      </p:ext>
    </p:extLst>
  </p:cSld>
</p:sld>
</file>

<file path=ppt/slides/slide4.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89DD982-F94D-4E8A-8E71-E35D948950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97665F7E-6840-43A6-BDEE-59BA586541B0}"/>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TECHNOLOGY CHOICES</a:t>
            </a:r>
          </a:p>
        </p:txBody>
      </p:sp>
      <p:sp>
        <p:nvSpPr>
          <p:cNvPr id="3" name="">
            <a:extLst xmlns:a="http://schemas.openxmlformats.org/drawingml/2006/main">
              <a:ext uri="{FF2B5EF4-FFF2-40B4-BE49-F238E27FC236}">
                <a16:creationId xmlns:a16="http://schemas.microsoft.com/office/drawing/2014/main" id="{A1F6CA0B-C6A6-4673-BF0F-E823786B6634}"/>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‫הטכנולוגיות — ולמה כל אחת נמצאת כאן‬</a:t>
            </a:r>
          </a:p>
        </p:txBody>
      </p:sp>
      <p:sp>
        <p:nvSpPr>
          <p:cNvPr id="4" name="">
            <a:extLst xmlns:a="http://schemas.openxmlformats.org/drawingml/2006/main">
              <a:ext uri="{FF2B5EF4-FFF2-40B4-BE49-F238E27FC236}">
                <a16:creationId xmlns:a16="http://schemas.microsoft.com/office/drawing/2014/main" id="{85F44E40-079B-4F7F-9539-E36FE02D2E52}"/>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‫כל רכיב פותר בעיה אחת בשרשרת הנתונים‬</a:t>
            </a:r>
          </a:p>
        </p:txBody>
      </p:sp>
      <p:sp>
        <p:nvSpPr>
          <p:cNvPr id="5" name="">
            <a:extLst xmlns:a="http://schemas.openxmlformats.org/drawingml/2006/main">
              <a:ext uri="{FF2B5EF4-FFF2-40B4-BE49-F238E27FC236}">
                <a16:creationId xmlns:a16="http://schemas.microsoft.com/office/drawing/2014/main" id="{4AE762C4-5F39-4066-862F-E8B2271D4E07}"/>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F4E04CA-325F-4B5D-9250-50B15CB1C018}"/>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2E3403C2-0C9E-4F17-B591-A25BD4CC7E3D}"/>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04189F6D-4C9E-4E6D-A0CF-D1F42FBA2A27}"/>
              </a:ext>
            </a:extLst>
          </p:cNvPr>
          <p:cNvSpPr>
            <a:spLocks xmlns:a="http://schemas.openxmlformats.org/drawingml/2006/main" noGrp="1"/>
          </p:cNvSpPr>
          <p:nvPr/>
        </p:nvSpPr>
        <p:spPr>
          <a:xfrm xmlns:a="http://schemas.openxmlformats.org/drawingml/2006/main">
            <a:off x="533400" y="167640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73B7FF"/>
            </a:solidFill>
          </a:ln>
        </p:spPr>
      </p:sp>
      <p:sp>
        <p:nvSpPr>
          <p:cNvPr id="9" name="">
            <a:extLst xmlns:a="http://schemas.openxmlformats.org/drawingml/2006/main">
              <a:ext uri="{FF2B5EF4-FFF2-40B4-BE49-F238E27FC236}">
                <a16:creationId xmlns:a16="http://schemas.microsoft.com/office/drawing/2014/main" id="{4BF7307C-AFBA-4DB5-A300-55566C82F518}"/>
              </a:ext>
            </a:extLst>
          </p:cNvPr>
          <p:cNvSpPr>
            <a:spLocks xmlns:a="http://schemas.openxmlformats.org/drawingml/2006/main" noGrp="1"/>
          </p:cNvSpPr>
          <p:nvPr/>
        </p:nvSpPr>
        <p:spPr>
          <a:xfrm xmlns:a="http://schemas.openxmlformats.org/drawingml/2006/main">
            <a:off x="742950" y="18383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Kafka</a:t>
            </a:r>
          </a:p>
        </p:txBody>
      </p:sp>
      <p:sp>
        <p:nvSpPr>
          <p:cNvPr id="10" name="">
            <a:extLst xmlns:a="http://schemas.openxmlformats.org/drawingml/2006/main">
              <a:ext uri="{FF2B5EF4-FFF2-40B4-BE49-F238E27FC236}">
                <a16:creationId xmlns:a16="http://schemas.microsoft.com/office/drawing/2014/main" id="{81A3D263-5A38-488D-A8C3-EF581BCEF01A}"/>
              </a:ext>
            </a:extLst>
          </p:cNvPr>
          <p:cNvSpPr>
            <a:spLocks xmlns:a="http://schemas.openxmlformats.org/drawingml/2006/main" noGrp="1"/>
          </p:cNvSpPr>
          <p:nvPr/>
        </p:nvSpPr>
        <p:spPr>
          <a:xfrm xmlns:a="http://schemas.openxmlformats.org/drawingml/2006/main">
            <a:off x="2514600" y="18478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‫הפרדה בין יצרנים לצרכנים, סדר אירועים ומיקום חד־משמעי‬</a:t>
            </a:r>
          </a:p>
        </p:txBody>
      </p:sp>
      <p:sp>
        <p:nvSpPr>
          <p:cNvPr id="11" name="">
            <a:extLst xmlns:a="http://schemas.openxmlformats.org/drawingml/2006/main">
              <a:ext uri="{FF2B5EF4-FFF2-40B4-BE49-F238E27FC236}">
                <a16:creationId xmlns:a16="http://schemas.microsoft.com/office/drawing/2014/main" id="{66F6CAB6-1B4F-4892-8184-6EFE8D936604}"/>
              </a:ext>
            </a:extLst>
          </p:cNvPr>
          <p:cNvSpPr>
            <a:spLocks xmlns:a="http://schemas.openxmlformats.org/drawingml/2006/main" noGrp="1"/>
          </p:cNvSpPr>
          <p:nvPr/>
        </p:nvSpPr>
        <p:spPr>
          <a:xfrm xmlns:a="http://schemas.openxmlformats.org/drawingml/2006/main">
            <a:off x="6191250" y="167640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52DCC3"/>
            </a:solidFill>
          </a:ln>
        </p:spPr>
      </p:sp>
      <p:sp>
        <p:nvSpPr>
          <p:cNvPr id="12" name="">
            <a:extLst xmlns:a="http://schemas.openxmlformats.org/drawingml/2006/main">
              <a:ext uri="{FF2B5EF4-FFF2-40B4-BE49-F238E27FC236}">
                <a16:creationId xmlns:a16="http://schemas.microsoft.com/office/drawing/2014/main" id="{D2E69C2D-2D20-417B-BA12-6FB08A119278}"/>
              </a:ext>
            </a:extLst>
          </p:cNvPr>
          <p:cNvSpPr>
            <a:spLocks xmlns:a="http://schemas.openxmlformats.org/drawingml/2006/main" noGrp="1"/>
          </p:cNvSpPr>
          <p:nvPr/>
        </p:nvSpPr>
        <p:spPr>
          <a:xfrm xmlns:a="http://schemas.openxmlformats.org/drawingml/2006/main">
            <a:off x="6400800" y="18383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52DCC3"/>
                </a:solidFill>
                <a:latin typeface="Arial"/>
                <a:ea typeface="Arial"/>
                <a:cs typeface="Arial"/>
              </a:defRPr>
            </a:pPr>
            <a:r>
              <a:rPr sz="1650" b="1">
                <a:solidFill>
                  <a:srgbClr val="52DCC3"/>
                </a:solidFill>
                <a:latin typeface="Arial"/>
                <a:ea typeface="Arial"/>
                <a:cs typeface="Arial"/>
              </a:rPr>
              <a:t>Spark</a:t>
            </a:r>
          </a:p>
        </p:txBody>
      </p:sp>
      <p:sp>
        <p:nvSpPr>
          <p:cNvPr id="13" name="">
            <a:extLst xmlns:a="http://schemas.openxmlformats.org/drawingml/2006/main">
              <a:ext uri="{FF2B5EF4-FFF2-40B4-BE49-F238E27FC236}">
                <a16:creationId xmlns:a16="http://schemas.microsoft.com/office/drawing/2014/main" id="{95C0111F-D205-4BDA-9E58-D0C152874059}"/>
              </a:ext>
            </a:extLst>
          </p:cNvPr>
          <p:cNvSpPr>
            <a:spLocks xmlns:a="http://schemas.openxmlformats.org/drawingml/2006/main" noGrp="1"/>
          </p:cNvSpPr>
          <p:nvPr/>
        </p:nvSpPr>
        <p:spPr>
          <a:xfrm xmlns:a="http://schemas.openxmlformats.org/drawingml/2006/main">
            <a:off x="8172450" y="18478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‫עיבוד חי ועבודות אצווה שחזוריות‬</a:t>
            </a:r>
          </a:p>
        </p:txBody>
      </p:sp>
      <p:sp>
        <p:nvSpPr>
          <p:cNvPr id="14" name="">
            <a:extLst xmlns:a="http://schemas.openxmlformats.org/drawingml/2006/main">
              <a:ext uri="{FF2B5EF4-FFF2-40B4-BE49-F238E27FC236}">
                <a16:creationId xmlns:a16="http://schemas.microsoft.com/office/drawing/2014/main" id="{01E99057-22CA-41FB-86ED-6692280241A6}"/>
              </a:ext>
            </a:extLst>
          </p:cNvPr>
          <p:cNvSpPr>
            <a:spLocks xmlns:a="http://schemas.openxmlformats.org/drawingml/2006/main" noGrp="1"/>
          </p:cNvSpPr>
          <p:nvPr/>
        </p:nvSpPr>
        <p:spPr>
          <a:xfrm xmlns:a="http://schemas.openxmlformats.org/drawingml/2006/main">
            <a:off x="533400" y="302895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F2B84B"/>
            </a:solidFill>
          </a:ln>
        </p:spPr>
      </p:sp>
      <p:sp>
        <p:nvSpPr>
          <p:cNvPr id="15" name="">
            <a:extLst xmlns:a="http://schemas.openxmlformats.org/drawingml/2006/main">
              <a:ext uri="{FF2B5EF4-FFF2-40B4-BE49-F238E27FC236}">
                <a16:creationId xmlns:a16="http://schemas.microsoft.com/office/drawing/2014/main" id="{DB235326-C076-411E-84A5-7161B8FCDC03}"/>
              </a:ext>
            </a:extLst>
          </p:cNvPr>
          <p:cNvSpPr>
            <a:spLocks xmlns:a="http://schemas.openxmlformats.org/drawingml/2006/main" noGrp="1"/>
          </p:cNvSpPr>
          <p:nvPr/>
        </p:nvSpPr>
        <p:spPr>
          <a:xfrm xmlns:a="http://schemas.openxmlformats.org/drawingml/2006/main">
            <a:off x="742950" y="31908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F2B84B"/>
                </a:solidFill>
                <a:latin typeface="Arial"/>
                <a:ea typeface="Arial"/>
                <a:cs typeface="Arial"/>
              </a:defRPr>
            </a:pPr>
            <a:r>
              <a:rPr sz="1650" b="1">
                <a:solidFill>
                  <a:srgbClr val="F2B84B"/>
                </a:solidFill>
                <a:latin typeface="Arial"/>
                <a:ea typeface="Arial"/>
                <a:cs typeface="Arial"/>
              </a:rPr>
              <a:t>Airflow</a:t>
            </a:r>
          </a:p>
        </p:txBody>
      </p:sp>
      <p:sp>
        <p:nvSpPr>
          <p:cNvPr id="16" name="">
            <a:extLst xmlns:a="http://schemas.openxmlformats.org/drawingml/2006/main">
              <a:ext uri="{FF2B5EF4-FFF2-40B4-BE49-F238E27FC236}">
                <a16:creationId xmlns:a16="http://schemas.microsoft.com/office/drawing/2014/main" id="{E4FA1714-EB74-4B61-BE42-854FCACC9A1A}"/>
              </a:ext>
            </a:extLst>
          </p:cNvPr>
          <p:cNvSpPr>
            <a:spLocks xmlns:a="http://schemas.openxmlformats.org/drawingml/2006/main" noGrp="1"/>
          </p:cNvSpPr>
          <p:nvPr/>
        </p:nvSpPr>
        <p:spPr>
          <a:xfrm xmlns:a="http://schemas.openxmlformats.org/drawingml/2006/main">
            <a:off x="2514600" y="320040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‫תזמון וניטור של עבודות תחומות בלבד‬</a:t>
            </a:r>
          </a:p>
        </p:txBody>
      </p:sp>
      <p:sp>
        <p:nvSpPr>
          <p:cNvPr id="17" name="">
            <a:extLst xmlns:a="http://schemas.openxmlformats.org/drawingml/2006/main">
              <a:ext uri="{FF2B5EF4-FFF2-40B4-BE49-F238E27FC236}">
                <a16:creationId xmlns:a16="http://schemas.microsoft.com/office/drawing/2014/main" id="{56151FAA-9BB4-4ECF-B037-72A050EDF705}"/>
              </a:ext>
            </a:extLst>
          </p:cNvPr>
          <p:cNvSpPr>
            <a:spLocks xmlns:a="http://schemas.openxmlformats.org/drawingml/2006/main" noGrp="1"/>
          </p:cNvSpPr>
          <p:nvPr/>
        </p:nvSpPr>
        <p:spPr>
          <a:xfrm xmlns:a="http://schemas.openxmlformats.org/drawingml/2006/main">
            <a:off x="6191250" y="302895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73B7FF"/>
            </a:solidFill>
          </a:ln>
        </p:spPr>
      </p:sp>
      <p:sp>
        <p:nvSpPr>
          <p:cNvPr id="18" name="">
            <a:extLst xmlns:a="http://schemas.openxmlformats.org/drawingml/2006/main">
              <a:ext uri="{FF2B5EF4-FFF2-40B4-BE49-F238E27FC236}">
                <a16:creationId xmlns:a16="http://schemas.microsoft.com/office/drawing/2014/main" id="{9F43B740-03D5-4FFB-9D66-A556C48900C7}"/>
              </a:ext>
            </a:extLst>
          </p:cNvPr>
          <p:cNvSpPr>
            <a:spLocks xmlns:a="http://schemas.openxmlformats.org/drawingml/2006/main" noGrp="1"/>
          </p:cNvSpPr>
          <p:nvPr/>
        </p:nvSpPr>
        <p:spPr>
          <a:xfrm xmlns:a="http://schemas.openxmlformats.org/drawingml/2006/main">
            <a:off x="6400800" y="319087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MinIO</a:t>
            </a:r>
          </a:p>
        </p:txBody>
      </p:sp>
      <p:sp>
        <p:nvSpPr>
          <p:cNvPr id="19" name="">
            <a:extLst xmlns:a="http://schemas.openxmlformats.org/drawingml/2006/main">
              <a:ext uri="{FF2B5EF4-FFF2-40B4-BE49-F238E27FC236}">
                <a16:creationId xmlns:a16="http://schemas.microsoft.com/office/drawing/2014/main" id="{606E70AF-EB8F-46DC-8FA3-06E8B6ACB8E9}"/>
              </a:ext>
            </a:extLst>
          </p:cNvPr>
          <p:cNvSpPr>
            <a:spLocks xmlns:a="http://schemas.openxmlformats.org/drawingml/2006/main" noGrp="1"/>
          </p:cNvSpPr>
          <p:nvPr/>
        </p:nvSpPr>
        <p:spPr>
          <a:xfrm xmlns:a="http://schemas.openxmlformats.org/drawingml/2006/main">
            <a:off x="8172450" y="320040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‫שכבת מקור גולמי ושכבת קבצים נקייה‬</a:t>
            </a:r>
          </a:p>
        </p:txBody>
      </p:sp>
      <p:sp>
        <p:nvSpPr>
          <p:cNvPr id="20" name="">
            <a:extLst xmlns:a="http://schemas.openxmlformats.org/drawingml/2006/main">
              <a:ext uri="{FF2B5EF4-FFF2-40B4-BE49-F238E27FC236}">
                <a16:creationId xmlns:a16="http://schemas.microsoft.com/office/drawing/2014/main" id="{516FE3CA-4DC9-4D42-8914-3D4FF6613CE4}"/>
              </a:ext>
            </a:extLst>
          </p:cNvPr>
          <p:cNvSpPr>
            <a:spLocks xmlns:a="http://schemas.openxmlformats.org/drawingml/2006/main" noGrp="1"/>
          </p:cNvSpPr>
          <p:nvPr/>
        </p:nvSpPr>
        <p:spPr>
          <a:xfrm xmlns:a="http://schemas.openxmlformats.org/drawingml/2006/main">
            <a:off x="533400" y="438150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52DCC3"/>
            </a:solidFill>
          </a:ln>
        </p:spPr>
      </p:sp>
      <p:sp>
        <p:nvSpPr>
          <p:cNvPr id="21" name="">
            <a:extLst xmlns:a="http://schemas.openxmlformats.org/drawingml/2006/main">
              <a:ext uri="{FF2B5EF4-FFF2-40B4-BE49-F238E27FC236}">
                <a16:creationId xmlns:a16="http://schemas.microsoft.com/office/drawing/2014/main" id="{C2B423F0-5B24-472E-B065-069370BFAAF4}"/>
              </a:ext>
            </a:extLst>
          </p:cNvPr>
          <p:cNvSpPr>
            <a:spLocks xmlns:a="http://schemas.openxmlformats.org/drawingml/2006/main" noGrp="1"/>
          </p:cNvSpPr>
          <p:nvPr/>
        </p:nvSpPr>
        <p:spPr>
          <a:xfrm xmlns:a="http://schemas.openxmlformats.org/drawingml/2006/main">
            <a:off x="742950" y="45434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52DCC3"/>
                </a:solidFill>
                <a:latin typeface="Arial"/>
                <a:ea typeface="Arial"/>
                <a:cs typeface="Arial"/>
              </a:defRPr>
            </a:pPr>
            <a:r>
              <a:rPr sz="1650" b="1">
                <a:solidFill>
                  <a:srgbClr val="52DCC3"/>
                </a:solidFill>
                <a:latin typeface="Arial"/>
                <a:ea typeface="Arial"/>
                <a:cs typeface="Arial"/>
              </a:rPr>
              <a:t>MariaDB</a:t>
            </a:r>
          </a:p>
        </p:txBody>
      </p:sp>
      <p:sp>
        <p:nvSpPr>
          <p:cNvPr id="22" name="">
            <a:extLst xmlns:a="http://schemas.openxmlformats.org/drawingml/2006/main">
              <a:ext uri="{FF2B5EF4-FFF2-40B4-BE49-F238E27FC236}">
                <a16:creationId xmlns:a16="http://schemas.microsoft.com/office/drawing/2014/main" id="{685C5EA1-B415-4CA4-B360-E5C75609BEDA}"/>
              </a:ext>
            </a:extLst>
          </p:cNvPr>
          <p:cNvSpPr>
            <a:spLocks xmlns:a="http://schemas.openxmlformats.org/drawingml/2006/main" noGrp="1"/>
          </p:cNvSpPr>
          <p:nvPr/>
        </p:nvSpPr>
        <p:spPr>
          <a:xfrm xmlns:a="http://schemas.openxmlformats.org/drawingml/2006/main">
            <a:off x="2514600" y="45529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‫שכבת מוצר מוכנה לממשק וליישום‬</a:t>
            </a:r>
          </a:p>
        </p:txBody>
      </p:sp>
      <p:sp>
        <p:nvSpPr>
          <p:cNvPr id="23" name="">
            <a:extLst xmlns:a="http://schemas.openxmlformats.org/drawingml/2006/main">
              <a:ext uri="{FF2B5EF4-FFF2-40B4-BE49-F238E27FC236}">
                <a16:creationId xmlns:a16="http://schemas.microsoft.com/office/drawing/2014/main" id="{DDA78B7F-87A2-4358-99B0-951A9DC9A477}"/>
              </a:ext>
            </a:extLst>
          </p:cNvPr>
          <p:cNvSpPr>
            <a:spLocks xmlns:a="http://schemas.openxmlformats.org/drawingml/2006/main" noGrp="1"/>
          </p:cNvSpPr>
          <p:nvPr/>
        </p:nvSpPr>
        <p:spPr>
          <a:xfrm xmlns:a="http://schemas.openxmlformats.org/drawingml/2006/main">
            <a:off x="6191250" y="4381500"/>
            <a:ext cx="5429250" cy="1123950"/>
          </a:xfrm>
          <a:prstGeom xmlns:a="http://schemas.openxmlformats.org/drawingml/2006/main" prst="roundRect">
            <a:avLst>
              <a:gd name="adj" fmla="val 10169"/>
            </a:avLst>
          </a:prstGeom>
          <a:solidFill xmlns:a="http://schemas.openxmlformats.org/drawingml/2006/main">
            <a:srgbClr val="0D2035"/>
          </a:solidFill>
          <a:ln xmlns:a="http://schemas.openxmlformats.org/drawingml/2006/main" w="9525">
            <a:solidFill>
              <a:srgbClr val="F2B84B"/>
            </a:solidFill>
          </a:ln>
        </p:spPr>
      </p:sp>
      <p:sp>
        <p:nvSpPr>
          <p:cNvPr id="24" name="">
            <a:extLst xmlns:a="http://schemas.openxmlformats.org/drawingml/2006/main">
              <a:ext uri="{FF2B5EF4-FFF2-40B4-BE49-F238E27FC236}">
                <a16:creationId xmlns:a16="http://schemas.microsoft.com/office/drawing/2014/main" id="{A4662F4A-122C-410C-9306-630932385522}"/>
              </a:ext>
            </a:extLst>
          </p:cNvPr>
          <p:cNvSpPr>
            <a:spLocks xmlns:a="http://schemas.openxmlformats.org/drawingml/2006/main" noGrp="1"/>
          </p:cNvSpPr>
          <p:nvPr/>
        </p:nvSpPr>
        <p:spPr>
          <a:xfrm xmlns:a="http://schemas.openxmlformats.org/drawingml/2006/main">
            <a:off x="6400800" y="45434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F2B84B"/>
                </a:solidFill>
                <a:latin typeface="Arial"/>
                <a:ea typeface="Arial"/>
                <a:cs typeface="Arial"/>
              </a:defRPr>
            </a:pPr>
            <a:r>
              <a:rPr sz="1650" b="1">
                <a:solidFill>
                  <a:srgbClr val="F2B84B"/>
                </a:solidFill>
                <a:latin typeface="Arial"/>
                <a:ea typeface="Arial"/>
                <a:cs typeface="Arial"/>
              </a:rPr>
              <a:t>FastAPI + Web</a:t>
            </a:r>
          </a:p>
        </p:txBody>
      </p:sp>
      <p:sp>
        <p:nvSpPr>
          <p:cNvPr id="25" name="">
            <a:extLst xmlns:a="http://schemas.openxmlformats.org/drawingml/2006/main">
              <a:ext uri="{FF2B5EF4-FFF2-40B4-BE49-F238E27FC236}">
                <a16:creationId xmlns:a16="http://schemas.microsoft.com/office/drawing/2014/main" id="{803E6ED4-F388-4D0A-905F-CADE8C240C2F}"/>
              </a:ext>
            </a:extLst>
          </p:cNvPr>
          <p:cNvSpPr>
            <a:spLocks xmlns:a="http://schemas.openxmlformats.org/drawingml/2006/main" noGrp="1"/>
          </p:cNvSpPr>
          <p:nvPr/>
        </p:nvSpPr>
        <p:spPr>
          <a:xfrm xmlns:a="http://schemas.openxmlformats.org/drawingml/2006/main">
            <a:off x="8172450" y="4552950"/>
            <a:ext cx="3181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‫ממשק בטוח: הדפדפן מתקשר רק עם שירות התווך‬</a:t>
            </a:r>
          </a:p>
        </p:txBody>
      </p:sp>
    </p:spTree>
    <p:extLst>
      <p:ext uri="{BB962C8B-B14F-4D97-AF65-F5344CB8AC3E}">
        <p14:creationId xmlns:p14="http://schemas.microsoft.com/office/powerpoint/2010/main" val="10461190"/>
      </p:ext>
    </p:extLst>
  </p:cSld>
</p:sld>
</file>

<file path=ppt/slides/slide5.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EA16205-B422-4DB0-BF7E-960565608C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9D18C7E1-9823-427A-907E-94A5ED7DFA98}"/>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B1299CC5-EFF3-4A61-9D96-69DED70C012E}"/>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9424"/>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‫מהמקור אל המוצר — בלי לאבד את ההיסטוריה‬</a:t>
            </a:r>
          </a:p>
        </p:txBody>
      </p:sp>
      <p:sp>
        <p:nvSpPr>
          <p:cNvPr id="4" name="">
            <a:extLst xmlns:a="http://schemas.openxmlformats.org/drawingml/2006/main">
              <a:ext uri="{FF2B5EF4-FFF2-40B4-BE49-F238E27FC236}">
                <a16:creationId xmlns:a16="http://schemas.microsoft.com/office/drawing/2014/main" id="{155DF73E-3CFD-4BD3-AAA7-0427DA16A2F3}"/>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‫החצים נעים מימין לשמאל, לפי סדר העיבוד‬</a:t>
            </a:r>
          </a:p>
        </p:txBody>
      </p:sp>
      <p:sp>
        <p:nvSpPr>
          <p:cNvPr id="5" name="">
            <a:extLst xmlns:a="http://schemas.openxmlformats.org/drawingml/2006/main">
              <a:ext uri="{FF2B5EF4-FFF2-40B4-BE49-F238E27FC236}">
                <a16:creationId xmlns:a16="http://schemas.microsoft.com/office/drawing/2014/main" id="{8BF59E18-8273-4889-AB51-0560F0DBA262}"/>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CDE56FF2-699E-4878-8263-B04535E91D92}"/>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428B5195-5490-4C35-9AE9-938C621AD67A}"/>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E53D18E9-194E-49BB-8D16-3F28124BCD32}"/>
              </a:ext>
            </a:extLst>
          </p:cNvPr>
          <p:cNvSpPr>
            <a:spLocks xmlns:a="http://schemas.openxmlformats.org/drawingml/2006/main" noGrp="1"/>
          </p:cNvSpPr>
          <p:nvPr/>
        </p:nvSpPr>
        <p:spPr>
          <a:xfrm xmlns:a="http://schemas.openxmlformats.org/drawingml/2006/main">
            <a:off x="9753600"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73B7FF"/>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73B7FF"/>
                </a:solidFill>
                <a:latin typeface="Arial"/>
                <a:ea typeface="Arial"/>
                <a:cs typeface="Arial"/>
              </a:defRPr>
            </a:pPr>
            <a:r>
              <a:rPr sz="1125" b="1">
                <a:solidFill>
                  <a:srgbClr val="73B7FF"/>
                </a:solidFill>
                <a:latin typeface="Arial"/>
                <a:ea typeface="Arial"/>
                <a:cs typeface="Arial"/>
              </a:rPr>
              <a:t>Alpaca + SEC</a:t>
            </a:r>
          </a:p>
        </p:txBody>
      </p:sp>
      <p:sp>
        <p:nvSpPr>
          <p:cNvPr id="9" name="">
            <a:extLst xmlns:a="http://schemas.openxmlformats.org/drawingml/2006/main">
              <a:ext uri="{FF2B5EF4-FFF2-40B4-BE49-F238E27FC236}">
                <a16:creationId xmlns:a16="http://schemas.microsoft.com/office/drawing/2014/main" id="{ED8735FA-6B50-440D-AF95-502B7F4CDCCF}"/>
              </a:ext>
            </a:extLst>
          </p:cNvPr>
          <p:cNvSpPr>
            <a:spLocks xmlns:a="http://schemas.openxmlformats.org/drawingml/2006/main" noGrp="1"/>
          </p:cNvSpPr>
          <p:nvPr/>
        </p:nvSpPr>
        <p:spPr>
          <a:xfrm xmlns:a="http://schemas.openxmlformats.org/drawingml/2006/main">
            <a:off x="9486900"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D193CBE-A645-470E-A247-4FBB3130A913}"/>
              </a:ext>
            </a:extLst>
          </p:cNvPr>
          <p:cNvSpPr>
            <a:spLocks xmlns:a="http://schemas.openxmlformats.org/drawingml/2006/main" noGrp="1"/>
          </p:cNvSpPr>
          <p:nvPr/>
        </p:nvSpPr>
        <p:spPr>
          <a:xfrm xmlns:a="http://schemas.openxmlformats.org/drawingml/2006/main">
            <a:off x="8391525"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73B7FF"/>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73B7FF"/>
                </a:solidFill>
                <a:latin typeface="Arial"/>
                <a:ea typeface="Arial"/>
                <a:cs typeface="Arial"/>
              </a:defRPr>
            </a:pPr>
            <a:r>
              <a:rPr sz="1125" b="1">
                <a:solidFill>
                  <a:srgbClr val="73B7FF"/>
                </a:solidFill>
                <a:latin typeface="Arial"/>
                <a:ea typeface="Arial"/>
                <a:cs typeface="Arial"/>
              </a:rPr>
              <a:t>Kafka</a:t>
            </a:r>
          </a:p>
        </p:txBody>
      </p:sp>
      <p:sp>
        <p:nvSpPr>
          <p:cNvPr id="11" name="">
            <a:extLst xmlns:a="http://schemas.openxmlformats.org/drawingml/2006/main">
              <a:ext uri="{FF2B5EF4-FFF2-40B4-BE49-F238E27FC236}">
                <a16:creationId xmlns:a16="http://schemas.microsoft.com/office/drawing/2014/main" id="{9D8E311B-2986-4BD7-B958-670A61B07DE0}"/>
              </a:ext>
            </a:extLst>
          </p:cNvPr>
          <p:cNvSpPr>
            <a:spLocks xmlns:a="http://schemas.openxmlformats.org/drawingml/2006/main" noGrp="1"/>
          </p:cNvSpPr>
          <p:nvPr/>
        </p:nvSpPr>
        <p:spPr>
          <a:xfrm xmlns:a="http://schemas.openxmlformats.org/drawingml/2006/main">
            <a:off x="8124825"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163F7592-6BE8-40B8-8939-4860CD0DCB64}"/>
              </a:ext>
            </a:extLst>
          </p:cNvPr>
          <p:cNvSpPr>
            <a:spLocks xmlns:a="http://schemas.openxmlformats.org/drawingml/2006/main" noGrp="1"/>
          </p:cNvSpPr>
          <p:nvPr/>
        </p:nvSpPr>
        <p:spPr>
          <a:xfrm xmlns:a="http://schemas.openxmlformats.org/drawingml/2006/main">
            <a:off x="7029450"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F2B84B"/>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F2B84B"/>
                </a:solidFill>
                <a:latin typeface="Arial"/>
                <a:ea typeface="Arial"/>
                <a:cs typeface="Arial"/>
              </a:defRPr>
            </a:pPr>
            <a:r>
              <a:rPr sz="1125" b="1">
                <a:solidFill>
                  <a:srgbClr val="F2B84B"/>
                </a:solidFill>
                <a:latin typeface="Arial"/>
                <a:ea typeface="Arial"/>
                <a:cs typeface="Arial"/>
              </a:rPr>
              <a:t>Bronze</a:t>
            </a:r>
          </a:p>
        </p:txBody>
      </p:sp>
      <p:sp>
        <p:nvSpPr>
          <p:cNvPr id="13" name="">
            <a:extLst xmlns:a="http://schemas.openxmlformats.org/drawingml/2006/main">
              <a:ext uri="{FF2B5EF4-FFF2-40B4-BE49-F238E27FC236}">
                <a16:creationId xmlns:a16="http://schemas.microsoft.com/office/drawing/2014/main" id="{1A9635E6-E4CB-4AE8-B0D5-501B62270EC1}"/>
              </a:ext>
            </a:extLst>
          </p:cNvPr>
          <p:cNvSpPr>
            <a:spLocks xmlns:a="http://schemas.openxmlformats.org/drawingml/2006/main" noGrp="1"/>
          </p:cNvSpPr>
          <p:nvPr/>
        </p:nvSpPr>
        <p:spPr>
          <a:xfrm xmlns:a="http://schemas.openxmlformats.org/drawingml/2006/main">
            <a:off x="6762750"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A196E45-0C8D-4C77-A505-EF18BAC4AC4D}"/>
              </a:ext>
            </a:extLst>
          </p:cNvPr>
          <p:cNvSpPr>
            <a:spLocks xmlns:a="http://schemas.openxmlformats.org/drawingml/2006/main" noGrp="1"/>
          </p:cNvSpPr>
          <p:nvPr/>
        </p:nvSpPr>
        <p:spPr>
          <a:xfrm xmlns:a="http://schemas.openxmlformats.org/drawingml/2006/main">
            <a:off x="5667375"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52DCC3"/>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52DCC3"/>
                </a:solidFill>
                <a:latin typeface="Arial"/>
                <a:ea typeface="Arial"/>
                <a:cs typeface="Arial"/>
              </a:defRPr>
            </a:pPr>
            <a:r>
              <a:rPr sz="1125" b="1">
                <a:solidFill>
                  <a:srgbClr val="52DCC3"/>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FB56CB9F-D038-4E51-9151-6E0FF3D5E02D}"/>
              </a:ext>
            </a:extLst>
          </p:cNvPr>
          <p:cNvSpPr>
            <a:spLocks xmlns:a="http://schemas.openxmlformats.org/drawingml/2006/main" noGrp="1"/>
          </p:cNvSpPr>
          <p:nvPr/>
        </p:nvSpPr>
        <p:spPr>
          <a:xfrm xmlns:a="http://schemas.openxmlformats.org/drawingml/2006/main">
            <a:off x="5400675"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9C13A505-76FF-4ACE-AF50-3AB8CD1AFCAD}"/>
              </a:ext>
            </a:extLst>
          </p:cNvPr>
          <p:cNvSpPr>
            <a:spLocks xmlns:a="http://schemas.openxmlformats.org/drawingml/2006/main" noGrp="1"/>
          </p:cNvSpPr>
          <p:nvPr/>
        </p:nvSpPr>
        <p:spPr>
          <a:xfrm xmlns:a="http://schemas.openxmlformats.org/drawingml/2006/main">
            <a:off x="4305300"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F2B84B"/>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F2B84B"/>
                </a:solidFill>
                <a:latin typeface="Arial"/>
                <a:ea typeface="Arial"/>
                <a:cs typeface="Arial"/>
              </a:defRPr>
            </a:pPr>
            <a:r>
              <a:rPr sz="1125" b="1">
                <a:solidFill>
                  <a:srgbClr val="F2B84B"/>
                </a:solidFill>
                <a:latin typeface="Arial"/>
                <a:ea typeface="Arial"/>
                <a:cs typeface="Arial"/>
              </a:rPr>
              <a:t>Silver</a:t>
            </a:r>
          </a:p>
        </p:txBody>
      </p:sp>
      <p:sp>
        <p:nvSpPr>
          <p:cNvPr id="17" name="">
            <a:extLst xmlns:a="http://schemas.openxmlformats.org/drawingml/2006/main">
              <a:ext uri="{FF2B5EF4-FFF2-40B4-BE49-F238E27FC236}">
                <a16:creationId xmlns:a16="http://schemas.microsoft.com/office/drawing/2014/main" id="{2AE05BB1-5D9F-4B65-9792-9EC685BC0D5A}"/>
              </a:ext>
            </a:extLst>
          </p:cNvPr>
          <p:cNvSpPr>
            <a:spLocks xmlns:a="http://schemas.openxmlformats.org/drawingml/2006/main" noGrp="1"/>
          </p:cNvSpPr>
          <p:nvPr/>
        </p:nvSpPr>
        <p:spPr>
          <a:xfrm xmlns:a="http://schemas.openxmlformats.org/drawingml/2006/main">
            <a:off x="4038600"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431C712-9812-4ECB-B0BF-8DE43CBFE516}"/>
              </a:ext>
            </a:extLst>
          </p:cNvPr>
          <p:cNvSpPr>
            <a:spLocks xmlns:a="http://schemas.openxmlformats.org/drawingml/2006/main" noGrp="1"/>
          </p:cNvSpPr>
          <p:nvPr/>
        </p:nvSpPr>
        <p:spPr>
          <a:xfrm xmlns:a="http://schemas.openxmlformats.org/drawingml/2006/main">
            <a:off x="2943225"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52DCC3"/>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52DCC3"/>
                </a:solidFill>
                <a:latin typeface="Arial"/>
                <a:ea typeface="Arial"/>
                <a:cs typeface="Arial"/>
              </a:defRPr>
            </a:pPr>
            <a:r>
              <a:rPr sz="1125" b="1">
                <a:solidFill>
                  <a:srgbClr val="52DCC3"/>
                </a:solidFill>
                <a:latin typeface="Arial"/>
                <a:ea typeface="Arial"/>
                <a:cs typeface="Arial"/>
              </a:rPr>
              <a:t>Gold</a:t>
            </a:r>
          </a:p>
        </p:txBody>
      </p:sp>
      <p:sp>
        <p:nvSpPr>
          <p:cNvPr id="19" name="">
            <a:extLst xmlns:a="http://schemas.openxmlformats.org/drawingml/2006/main">
              <a:ext uri="{FF2B5EF4-FFF2-40B4-BE49-F238E27FC236}">
                <a16:creationId xmlns:a16="http://schemas.microsoft.com/office/drawing/2014/main" id="{193E797D-AC23-4F58-9E73-377711571257}"/>
              </a:ext>
            </a:extLst>
          </p:cNvPr>
          <p:cNvSpPr>
            <a:spLocks xmlns:a="http://schemas.openxmlformats.org/drawingml/2006/main" noGrp="1"/>
          </p:cNvSpPr>
          <p:nvPr/>
        </p:nvSpPr>
        <p:spPr>
          <a:xfrm xmlns:a="http://schemas.openxmlformats.org/drawingml/2006/main">
            <a:off x="2676525"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F0C36656-A2C0-48D2-A32B-5C32972614F2}"/>
              </a:ext>
            </a:extLst>
          </p:cNvPr>
          <p:cNvSpPr>
            <a:spLocks xmlns:a="http://schemas.openxmlformats.org/drawingml/2006/main" noGrp="1"/>
          </p:cNvSpPr>
          <p:nvPr/>
        </p:nvSpPr>
        <p:spPr>
          <a:xfrm xmlns:a="http://schemas.openxmlformats.org/drawingml/2006/main">
            <a:off x="1581150"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73B7FF"/>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73B7FF"/>
                </a:solidFill>
                <a:latin typeface="Arial"/>
                <a:ea typeface="Arial"/>
                <a:cs typeface="Arial"/>
              </a:defRPr>
            </a:pPr>
            <a:r>
              <a:rPr sz="1125" b="1">
                <a:solidFill>
                  <a:srgbClr val="73B7FF"/>
                </a:solidFill>
                <a:latin typeface="Arial"/>
                <a:ea typeface="Arial"/>
                <a:cs typeface="Arial"/>
              </a:rPr>
              <a:t>Backend API</a:t>
            </a:r>
          </a:p>
        </p:txBody>
      </p:sp>
      <p:sp>
        <p:nvSpPr>
          <p:cNvPr id="21" name="">
            <a:extLst xmlns:a="http://schemas.openxmlformats.org/drawingml/2006/main">
              <a:ext uri="{FF2B5EF4-FFF2-40B4-BE49-F238E27FC236}">
                <a16:creationId xmlns:a16="http://schemas.microsoft.com/office/drawing/2014/main" id="{A1BC758F-261A-436A-B13E-5CB82029123B}"/>
              </a:ext>
            </a:extLst>
          </p:cNvPr>
          <p:cNvSpPr>
            <a:spLocks xmlns:a="http://schemas.openxmlformats.org/drawingml/2006/main" noGrp="1"/>
          </p:cNvSpPr>
          <p:nvPr/>
        </p:nvSpPr>
        <p:spPr>
          <a:xfrm xmlns:a="http://schemas.openxmlformats.org/drawingml/2006/main">
            <a:off x="1314450" y="2552700"/>
            <a:ext cx="323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D74C798-3FE4-4FD8-BCA2-B9FD825C8C60}"/>
              </a:ext>
            </a:extLst>
          </p:cNvPr>
          <p:cNvSpPr>
            <a:spLocks xmlns:a="http://schemas.openxmlformats.org/drawingml/2006/main" noGrp="1"/>
          </p:cNvSpPr>
          <p:nvPr/>
        </p:nvSpPr>
        <p:spPr>
          <a:xfrm xmlns:a="http://schemas.openxmlformats.org/drawingml/2006/main">
            <a:off x="219075" y="2381250"/>
            <a:ext cx="1162050" cy="819150"/>
          </a:xfrm>
          <a:prstGeom xmlns:a="http://schemas.openxmlformats.org/drawingml/2006/main" prst="roundRect">
            <a:avLst>
              <a:gd name="adj" fmla="val 13953"/>
            </a:avLst>
          </a:prstGeom>
          <a:solidFill xmlns:a="http://schemas.openxmlformats.org/drawingml/2006/main">
            <a:srgbClr val="0D2035"/>
          </a:solidFill>
          <a:ln xmlns:a="http://schemas.openxmlformats.org/drawingml/2006/main" w="9525">
            <a:solidFill>
              <a:srgbClr val="52DCC3"/>
            </a:solidFill>
          </a:ln>
        </p:spPr>
        <p:txBody>
          <a:bodyPr xmlns:a="http://schemas.openxmlformats.org/drawingml/2006/main" lIns="66675" tIns="38100" rIns="66675" bIns="38100" anchor="ctr">
            <a:normAutofit fontScale="100000"/>
          </a:bodyPr>
          <a:lstStyle xmlns:a="http://schemas.openxmlformats.org/drawingml/2006/main"/>
          <a:p xmlns:a="http://schemas.openxmlformats.org/drawingml/2006/main">
            <a:pPr algn="ctr">
              <a:defRPr sz="1125" b="1">
                <a:solidFill>
                  <a:srgbClr val="52DCC3"/>
                </a:solidFill>
                <a:latin typeface="Arial"/>
                <a:ea typeface="Arial"/>
                <a:cs typeface="Arial"/>
              </a:defRPr>
            </a:pPr>
            <a:r>
              <a:rPr sz="1125" b="1">
                <a:solidFill>
                  <a:srgbClr val="52DCC3"/>
                </a:solidFill>
                <a:latin typeface="Arial"/>
                <a:ea typeface="Arial"/>
                <a:cs typeface="Arial"/>
              </a:rPr>
              <a:t>Web App</a:t>
            </a:r>
          </a:p>
        </p:txBody>
      </p:sp>
      <p:sp>
        <p:nvSpPr>
          <p:cNvPr id="23" name="">
            <a:extLst xmlns:a="http://schemas.openxmlformats.org/drawingml/2006/main">
              <a:ext uri="{FF2B5EF4-FFF2-40B4-BE49-F238E27FC236}">
                <a16:creationId xmlns:a16="http://schemas.microsoft.com/office/drawing/2014/main" id="{F46D685A-C8F7-4AC2-90B6-9FDC71045F3D}"/>
              </a:ext>
            </a:extLst>
          </p:cNvPr>
          <p:cNvSpPr>
            <a:spLocks xmlns:a="http://schemas.openxmlformats.org/drawingml/2006/main" noGrp="1"/>
          </p:cNvSpPr>
          <p:nvPr/>
        </p:nvSpPr>
        <p:spPr>
          <a:xfrm xmlns:a="http://schemas.openxmlformats.org/drawingml/2006/main">
            <a:off x="9829800" y="34671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050" b="0">
                <a:solidFill>
                  <a:srgbClr val="A7BED3"/>
                </a:solidFill>
                <a:latin typeface="Arial"/>
                <a:ea typeface="Arial"/>
                <a:cs typeface="Arial"/>
              </a:defRPr>
            </a:pPr>
            <a:r>
              <a:rPr sz="1050" b="0">
                <a:solidFill>
                  <a:srgbClr val="A7BED3"/>
                </a:solidFill>
                <a:latin typeface="Arial"/>
                <a:ea typeface="Arial"/>
                <a:cs typeface="Arial"/>
              </a:rPr>
              <a:t>‫מקורות‬</a:t>
            </a:r>
          </a:p>
        </p:txBody>
      </p:sp>
      <p:sp>
        <p:nvSpPr>
          <p:cNvPr id="24" name="">
            <a:extLst xmlns:a="http://schemas.openxmlformats.org/drawingml/2006/main">
              <a:ext uri="{FF2B5EF4-FFF2-40B4-BE49-F238E27FC236}">
                <a16:creationId xmlns:a16="http://schemas.microsoft.com/office/drawing/2014/main" id="{4EA490BD-D5B8-4698-9309-7895122A7092}"/>
              </a:ext>
            </a:extLst>
          </p:cNvPr>
          <p:cNvSpPr>
            <a:spLocks xmlns:a="http://schemas.openxmlformats.org/drawingml/2006/main" noGrp="1"/>
          </p:cNvSpPr>
          <p:nvPr/>
        </p:nvSpPr>
        <p:spPr>
          <a:xfrm xmlns:a="http://schemas.openxmlformats.org/drawingml/2006/main">
            <a:off x="5219700" y="346710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050" b="0">
                <a:solidFill>
                  <a:srgbClr val="A7BED3"/>
                </a:solidFill>
                <a:latin typeface="Arial"/>
                <a:ea typeface="Arial"/>
                <a:cs typeface="Arial"/>
              </a:defRPr>
            </a:pPr>
            <a:r>
              <a:rPr sz="1050" b="0">
                <a:solidFill>
                  <a:srgbClr val="A7BED3"/>
                </a:solidFill>
                <a:latin typeface="Arial"/>
                <a:ea typeface="Arial"/>
                <a:cs typeface="Arial"/>
              </a:rPr>
              <a:t>‫תעבורה ושכבות נתונים‬</a:t>
            </a:r>
          </a:p>
        </p:txBody>
      </p:sp>
      <p:sp>
        <p:nvSpPr>
          <p:cNvPr id="25" name="">
            <a:extLst xmlns:a="http://schemas.openxmlformats.org/drawingml/2006/main">
              <a:ext uri="{FF2B5EF4-FFF2-40B4-BE49-F238E27FC236}">
                <a16:creationId xmlns:a16="http://schemas.microsoft.com/office/drawing/2014/main" id="{D2E7388F-CE79-4E49-B1EA-D34CC41C4B83}"/>
              </a:ext>
            </a:extLst>
          </p:cNvPr>
          <p:cNvSpPr>
            <a:spLocks xmlns:a="http://schemas.openxmlformats.org/drawingml/2006/main" noGrp="1"/>
          </p:cNvSpPr>
          <p:nvPr/>
        </p:nvSpPr>
        <p:spPr>
          <a:xfrm xmlns:a="http://schemas.openxmlformats.org/drawingml/2006/main">
            <a:off x="1000125" y="3467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050" b="0">
                <a:solidFill>
                  <a:srgbClr val="A7BED3"/>
                </a:solidFill>
                <a:latin typeface="Arial"/>
                <a:ea typeface="Arial"/>
                <a:cs typeface="Arial"/>
              </a:defRPr>
            </a:pPr>
            <a:r>
              <a:rPr sz="1050" b="0">
                <a:solidFill>
                  <a:srgbClr val="A7BED3"/>
                </a:solidFill>
                <a:latin typeface="Arial"/>
                <a:ea typeface="Arial"/>
                <a:cs typeface="Arial"/>
              </a:rPr>
              <a:t>‫צריכה‬</a:t>
            </a:r>
          </a:p>
        </p:txBody>
      </p:sp>
      <p:sp>
        <p:nvSpPr>
          <p:cNvPr id="26" name="">
            <a:extLst xmlns:a="http://schemas.openxmlformats.org/drawingml/2006/main">
              <a:ext uri="{FF2B5EF4-FFF2-40B4-BE49-F238E27FC236}">
                <a16:creationId xmlns:a16="http://schemas.microsoft.com/office/drawing/2014/main" id="{5F52BE0F-FC1A-41EE-9653-6E2397762376}"/>
              </a:ext>
            </a:extLst>
          </p:cNvPr>
          <p:cNvSpPr>
            <a:spLocks xmlns:a="http://schemas.openxmlformats.org/drawingml/2006/main" noGrp="1"/>
          </p:cNvSpPr>
          <p:nvPr/>
        </p:nvSpPr>
        <p:spPr>
          <a:xfrm xmlns:a="http://schemas.openxmlformats.org/drawingml/2006/main">
            <a:off x="533400" y="4105275"/>
            <a:ext cx="11087100" cy="1352550"/>
          </a:xfrm>
          <a:prstGeom xmlns:a="http://schemas.openxmlformats.org/drawingml/2006/main" prst="roundRect">
            <a:avLst>
              <a:gd name="adj" fmla="val 8451"/>
            </a:avLst>
          </a:prstGeom>
          <a:solidFill xmlns:a="http://schemas.openxmlformats.org/drawingml/2006/main">
            <a:srgbClr val="102940"/>
          </a:solidFill>
          <a:ln xmlns:a="http://schemas.openxmlformats.org/drawingml/2006/main" w="9525">
            <a:solidFill>
              <a:srgbClr val="24445F"/>
            </a:solidFill>
          </a:ln>
        </p:spPr>
      </p:sp>
      <p:sp>
        <p:nvSpPr>
          <p:cNvPr id="27" name="">
            <a:extLst xmlns:a="http://schemas.openxmlformats.org/drawingml/2006/main">
              <a:ext uri="{FF2B5EF4-FFF2-40B4-BE49-F238E27FC236}">
                <a16:creationId xmlns:a16="http://schemas.microsoft.com/office/drawing/2014/main" id="{CE1ADD93-D568-489B-A33B-54B177E8DDCF}"/>
              </a:ext>
            </a:extLst>
          </p:cNvPr>
          <p:cNvSpPr>
            <a:spLocks xmlns:a="http://schemas.openxmlformats.org/drawingml/2006/main" noGrp="1"/>
          </p:cNvSpPr>
          <p:nvPr/>
        </p:nvSpPr>
        <p:spPr>
          <a:xfrm xmlns:a="http://schemas.openxmlformats.org/drawingml/2006/main">
            <a:off x="9048750" y="4276725"/>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00" b="1">
                <a:solidFill>
                  <a:srgbClr val="F5F8FB"/>
                </a:solidFill>
                <a:latin typeface="Arial"/>
                <a:ea typeface="Arial"/>
                <a:cs typeface="Arial"/>
              </a:defRPr>
            </a:pPr>
            <a:r>
              <a:rPr sz="1500" b="1">
                <a:solidFill>
                  <a:srgbClr val="F5F8FB"/>
                </a:solidFill>
                <a:latin typeface="Arial"/>
                <a:ea typeface="Arial"/>
                <a:cs typeface="Arial"/>
              </a:rPr>
              <a:t>‫שלושה מסלולים משלימים‬</a:t>
            </a:r>
          </a:p>
        </p:txBody>
      </p:sp>
      <p:sp>
        <p:nvSpPr>
          <p:cNvPr id="28" name="">
            <a:extLst xmlns:a="http://schemas.openxmlformats.org/drawingml/2006/main">
              <a:ext uri="{FF2B5EF4-FFF2-40B4-BE49-F238E27FC236}">
                <a16:creationId xmlns:a16="http://schemas.microsoft.com/office/drawing/2014/main" id="{0F8BF057-A9D7-4DF3-B4AF-2B8FBED9B12E}"/>
              </a:ext>
            </a:extLst>
          </p:cNvPr>
          <p:cNvSpPr>
            <a:spLocks xmlns:a="http://schemas.openxmlformats.org/drawingml/2006/main" noGrp="1"/>
          </p:cNvSpPr>
          <p:nvPr/>
        </p:nvSpPr>
        <p:spPr>
          <a:xfrm xmlns:a="http://schemas.openxmlformats.org/drawingml/2006/main">
            <a:off x="857250" y="4743450"/>
            <a:ext cx="8572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52DCC3"/>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52DCC3"/>
                </a:solidFill>
                <a:latin typeface="Arial"/>
                <a:ea typeface="Arial"/>
                <a:cs typeface="Arial"/>
              </a:defRPr>
            </a:pPr>
            <a:r>
              <a:rPr sz="975" b="1">
                <a:solidFill>
                  <a:srgbClr val="52DCC3"/>
                </a:solidFill>
                <a:latin typeface="Arial"/>
                <a:ea typeface="Arial"/>
                <a:cs typeface="Arial"/>
              </a:rPr>
              <a:t>LIVE</a:t>
            </a:r>
          </a:p>
        </p:txBody>
      </p:sp>
      <p:sp>
        <p:nvSpPr>
          <p:cNvPr id="29" name="">
            <a:extLst xmlns:a="http://schemas.openxmlformats.org/drawingml/2006/main">
              <a:ext uri="{FF2B5EF4-FFF2-40B4-BE49-F238E27FC236}">
                <a16:creationId xmlns:a16="http://schemas.microsoft.com/office/drawing/2014/main" id="{0EBC13E9-E6B8-4A0B-91BD-8790E009F0C9}"/>
              </a:ext>
            </a:extLst>
          </p:cNvPr>
          <p:cNvSpPr>
            <a:spLocks xmlns:a="http://schemas.openxmlformats.org/drawingml/2006/main" noGrp="1"/>
          </p:cNvSpPr>
          <p:nvPr/>
        </p:nvSpPr>
        <p:spPr>
          <a:xfrm xmlns:a="http://schemas.openxmlformats.org/drawingml/2006/main">
            <a:off x="1809750" y="474345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‫מחיר מהיר ושכבת מוצר זמנית‬</a:t>
            </a:r>
          </a:p>
        </p:txBody>
      </p:sp>
      <p:sp>
        <p:nvSpPr>
          <p:cNvPr id="30" name="">
            <a:extLst xmlns:a="http://schemas.openxmlformats.org/drawingml/2006/main">
              <a:ext uri="{FF2B5EF4-FFF2-40B4-BE49-F238E27FC236}">
                <a16:creationId xmlns:a16="http://schemas.microsoft.com/office/drawing/2014/main" id="{B17DA162-3650-48A0-B127-98D3D38DD94E}"/>
              </a:ext>
            </a:extLst>
          </p:cNvPr>
          <p:cNvSpPr>
            <a:spLocks xmlns:a="http://schemas.openxmlformats.org/drawingml/2006/main" noGrp="1"/>
          </p:cNvSpPr>
          <p:nvPr/>
        </p:nvSpPr>
        <p:spPr>
          <a:xfrm xmlns:a="http://schemas.openxmlformats.org/drawingml/2006/main">
            <a:off x="4333875" y="4743450"/>
            <a:ext cx="12382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CERTIFIED</a:t>
            </a:r>
          </a:p>
        </p:txBody>
      </p:sp>
      <p:sp>
        <p:nvSpPr>
          <p:cNvPr id="31" name="">
            <a:extLst xmlns:a="http://schemas.openxmlformats.org/drawingml/2006/main">
              <a:ext uri="{FF2B5EF4-FFF2-40B4-BE49-F238E27FC236}">
                <a16:creationId xmlns:a16="http://schemas.microsoft.com/office/drawing/2014/main" id="{6C07F618-DEB0-49A8-83AA-27CE53465867}"/>
              </a:ext>
            </a:extLst>
          </p:cNvPr>
          <p:cNvSpPr>
            <a:spLocks xmlns:a="http://schemas.openxmlformats.org/drawingml/2006/main" noGrp="1"/>
          </p:cNvSpPr>
          <p:nvPr/>
        </p:nvSpPr>
        <p:spPr>
          <a:xfrm xmlns:a="http://schemas.openxmlformats.org/drawingml/2006/main">
            <a:off x="5667375" y="474345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‫אישור יומי דרך שכבה נקייה‬</a:t>
            </a:r>
          </a:p>
        </p:txBody>
      </p:sp>
      <p:sp>
        <p:nvSpPr>
          <p:cNvPr id="32" name="">
            <a:extLst xmlns:a="http://schemas.openxmlformats.org/drawingml/2006/main">
              <a:ext uri="{FF2B5EF4-FFF2-40B4-BE49-F238E27FC236}">
                <a16:creationId xmlns:a16="http://schemas.microsoft.com/office/drawing/2014/main" id="{14A568A3-A461-4588-999F-D052546FE8F7}"/>
              </a:ext>
            </a:extLst>
          </p:cNvPr>
          <p:cNvSpPr>
            <a:spLocks xmlns:a="http://schemas.openxmlformats.org/drawingml/2006/main" noGrp="1"/>
          </p:cNvSpPr>
          <p:nvPr/>
        </p:nvSpPr>
        <p:spPr>
          <a:xfrm xmlns:a="http://schemas.openxmlformats.org/drawingml/2006/main">
            <a:off x="8210550" y="4743450"/>
            <a:ext cx="83820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F2B84B"/>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F2B84B"/>
                </a:solidFill>
                <a:latin typeface="Arial"/>
                <a:ea typeface="Arial"/>
                <a:cs typeface="Arial"/>
              </a:defRPr>
            </a:pPr>
            <a:r>
              <a:rPr sz="975" b="1">
                <a:solidFill>
                  <a:srgbClr val="F2B84B"/>
                </a:solidFill>
                <a:latin typeface="Arial"/>
                <a:ea typeface="Arial"/>
                <a:cs typeface="Arial"/>
              </a:rPr>
              <a:t>RAW</a:t>
            </a:r>
          </a:p>
        </p:txBody>
      </p:sp>
      <p:sp>
        <p:nvSpPr>
          <p:cNvPr id="33" name="">
            <a:extLst xmlns:a="http://schemas.openxmlformats.org/drawingml/2006/main">
              <a:ext uri="{FF2B5EF4-FFF2-40B4-BE49-F238E27FC236}">
                <a16:creationId xmlns:a16="http://schemas.microsoft.com/office/drawing/2014/main" id="{6343D8C1-410F-4709-B57C-043B0B326E89}"/>
              </a:ext>
            </a:extLst>
          </p:cNvPr>
          <p:cNvSpPr>
            <a:spLocks xmlns:a="http://schemas.openxmlformats.org/drawingml/2006/main" noGrp="1"/>
          </p:cNvSpPr>
          <p:nvPr/>
        </p:nvSpPr>
        <p:spPr>
          <a:xfrm xmlns:a="http://schemas.openxmlformats.org/drawingml/2006/main">
            <a:off x="9144000" y="4743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‫ראיית מקור בלתי משתנה‬</a:t>
            </a:r>
          </a:p>
        </p:txBody>
      </p:sp>
    </p:spTree>
    <p:extLst>
      <p:ext uri="{BB962C8B-B14F-4D97-AF65-F5344CB8AC3E}">
        <p14:creationId xmlns:p14="http://schemas.microsoft.com/office/powerpoint/2010/main" val="1565639411"/>
      </p:ext>
    </p:extLst>
  </p:cSld>
</p:sld>
</file>

<file path=ppt/slides/slide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03A7A3D-722E-4BAB-97DB-523186E848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226FBDC2-2194-4FCB-A655-220FB21D7692}"/>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TWO SPEEDS</a:t>
            </a:r>
          </a:p>
        </p:txBody>
      </p:sp>
      <p:sp>
        <p:nvSpPr>
          <p:cNvPr id="3" name="">
            <a:extLst xmlns:a="http://schemas.openxmlformats.org/drawingml/2006/main">
              <a:ext uri="{FF2B5EF4-FFF2-40B4-BE49-F238E27FC236}">
                <a16:creationId xmlns:a16="http://schemas.microsoft.com/office/drawing/2014/main" id="{2C1B5851-82AE-4AA3-9312-64F5343F76C4}"/>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‫מהיר עכשיו, מאושר בהמשך‬</a:t>
            </a:r>
          </a:p>
        </p:txBody>
      </p:sp>
      <p:sp>
        <p:nvSpPr>
          <p:cNvPr id="4" name="">
            <a:extLst xmlns:a="http://schemas.openxmlformats.org/drawingml/2006/main">
              <a:ext uri="{FF2B5EF4-FFF2-40B4-BE49-F238E27FC236}">
                <a16:creationId xmlns:a16="http://schemas.microsoft.com/office/drawing/2014/main" id="{44A9FD16-53F1-41F4-ACF6-D5C584326148}"/>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‫שני מסלולים משרתים מטרות שונות — ומתחברים בשכבת המוצר‬</a:t>
            </a:r>
          </a:p>
        </p:txBody>
      </p:sp>
      <p:sp>
        <p:nvSpPr>
          <p:cNvPr id="5" name="">
            <a:extLst xmlns:a="http://schemas.openxmlformats.org/drawingml/2006/main">
              <a:ext uri="{FF2B5EF4-FFF2-40B4-BE49-F238E27FC236}">
                <a16:creationId xmlns:a16="http://schemas.microsoft.com/office/drawing/2014/main" id="{02420971-B618-4495-B4CB-4E3021724E9F}"/>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305A98B1-CF39-4837-B3FD-B75E7DBA6198}"/>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C9F0209B-6D26-486C-9CAB-0CF66B2B0E5C}"/>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BAA88FA7-F0A9-4C9B-B580-9EE332FEF711}"/>
              </a:ext>
            </a:extLst>
          </p:cNvPr>
          <p:cNvSpPr>
            <a:spLocks xmlns:a="http://schemas.openxmlformats.org/drawingml/2006/main" noGrp="1"/>
          </p:cNvSpPr>
          <p:nvPr/>
        </p:nvSpPr>
        <p:spPr>
          <a:xfrm xmlns:a="http://schemas.openxmlformats.org/drawingml/2006/main">
            <a:off x="533400" y="1714500"/>
            <a:ext cx="5314950" cy="3714750"/>
          </a:xfrm>
          <a:prstGeom xmlns:a="http://schemas.openxmlformats.org/drawingml/2006/main" prst="roundRect">
            <a:avLst>
              <a:gd name="adj" fmla="val 3077"/>
            </a:avLst>
          </a:prstGeom>
          <a:solidFill xmlns:a="http://schemas.openxmlformats.org/drawingml/2006/main">
            <a:srgbClr val="102940"/>
          </a:solidFill>
          <a:ln xmlns:a="http://schemas.openxmlformats.org/drawingml/2006/main" w="9525">
            <a:solidFill>
              <a:srgbClr val="52DCC3"/>
            </a:solidFill>
          </a:ln>
        </p:spPr>
      </p:sp>
      <p:sp>
        <p:nvSpPr>
          <p:cNvPr id="9" name="">
            <a:extLst xmlns:a="http://schemas.openxmlformats.org/drawingml/2006/main">
              <a:ext uri="{FF2B5EF4-FFF2-40B4-BE49-F238E27FC236}">
                <a16:creationId xmlns:a16="http://schemas.microsoft.com/office/drawing/2014/main" id="{EA293476-05AB-4E89-96DF-74C40148B9E7}"/>
              </a:ext>
            </a:extLst>
          </p:cNvPr>
          <p:cNvSpPr>
            <a:spLocks xmlns:a="http://schemas.openxmlformats.org/drawingml/2006/main" noGrp="1"/>
          </p:cNvSpPr>
          <p:nvPr/>
        </p:nvSpPr>
        <p:spPr>
          <a:xfrm xmlns:a="http://schemas.openxmlformats.org/drawingml/2006/main">
            <a:off x="800100" y="1943100"/>
            <a:ext cx="13144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52DCC3"/>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52DCC3"/>
                </a:solidFill>
                <a:latin typeface="Arial"/>
                <a:ea typeface="Arial"/>
                <a:cs typeface="Arial"/>
              </a:defRPr>
            </a:pPr>
            <a:r>
              <a:rPr sz="975" b="1">
                <a:solidFill>
                  <a:srgbClr val="52DCC3"/>
                </a:solidFill>
                <a:latin typeface="Arial"/>
                <a:ea typeface="Arial"/>
                <a:cs typeface="Arial"/>
              </a:rPr>
              <a:t>PROVISIONAL</a:t>
            </a:r>
          </a:p>
        </p:txBody>
      </p:sp>
      <p:sp>
        <p:nvSpPr>
          <p:cNvPr id="10" name="">
            <a:extLst xmlns:a="http://schemas.openxmlformats.org/drawingml/2006/main">
              <a:ext uri="{FF2B5EF4-FFF2-40B4-BE49-F238E27FC236}">
                <a16:creationId xmlns:a16="http://schemas.microsoft.com/office/drawing/2014/main" id="{730DFDE7-37D7-43B5-B917-C58A2CE9D940}"/>
              </a:ext>
            </a:extLst>
          </p:cNvPr>
          <p:cNvSpPr>
            <a:spLocks xmlns:a="http://schemas.openxmlformats.org/drawingml/2006/main" noGrp="1"/>
          </p:cNvSpPr>
          <p:nvPr/>
        </p:nvSpPr>
        <p:spPr>
          <a:xfrm xmlns:a="http://schemas.openxmlformats.org/drawingml/2006/main">
            <a:off x="3124200" y="19335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75" b="1">
                <a:solidFill>
                  <a:srgbClr val="F5F8FB"/>
                </a:solidFill>
                <a:latin typeface="Arial"/>
                <a:ea typeface="Arial"/>
                <a:cs typeface="Arial"/>
              </a:defRPr>
            </a:pPr>
            <a:r>
              <a:rPr sz="2175" b="1">
                <a:solidFill>
                  <a:srgbClr val="F5F8FB"/>
                </a:solidFill>
                <a:latin typeface="Arial"/>
                <a:ea typeface="Arial"/>
                <a:cs typeface="Arial"/>
              </a:rPr>
              <a:t>‫המסלול החי‬</a:t>
            </a:r>
          </a:p>
        </p:txBody>
      </p:sp>
      <p:sp>
        <p:nvSpPr>
          <p:cNvPr id="11" name="">
            <a:extLst xmlns:a="http://schemas.openxmlformats.org/drawingml/2006/main">
              <a:ext uri="{FF2B5EF4-FFF2-40B4-BE49-F238E27FC236}">
                <a16:creationId xmlns:a16="http://schemas.microsoft.com/office/drawing/2014/main" id="{39D3D2F7-8A7B-43E2-90FB-47A3D37B4FBF}"/>
              </a:ext>
            </a:extLst>
          </p:cNvPr>
          <p:cNvSpPr>
            <a:spLocks xmlns:a="http://schemas.openxmlformats.org/drawingml/2006/main" noGrp="1"/>
          </p:cNvSpPr>
          <p:nvPr/>
        </p:nvSpPr>
        <p:spPr>
          <a:xfrm xmlns:a="http://schemas.openxmlformats.org/drawingml/2006/main">
            <a:off x="800100" y="2657475"/>
            <a:ext cx="470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425" b="1">
                <a:solidFill>
                  <a:srgbClr val="52DCC3"/>
                </a:solidFill>
                <a:latin typeface="Arial"/>
                <a:ea typeface="Arial"/>
                <a:cs typeface="Arial"/>
              </a:defRPr>
            </a:pPr>
            <a:r>
              <a:rPr sz="1425" b="1">
                <a:solidFill>
                  <a:srgbClr val="52DCC3"/>
                </a:solidFill>
                <a:latin typeface="Arial"/>
                <a:ea typeface="Arial"/>
                <a:cs typeface="Arial"/>
              </a:rPr>
              <a:t>Alpaca  ←  Kafka  ←  Spark Streaming</a:t>
            </a:r>
          </a:p>
        </p:txBody>
      </p:sp>
      <p:sp>
        <p:nvSpPr>
          <p:cNvPr id="12" name="">
            <a:extLst xmlns:a="http://schemas.openxmlformats.org/drawingml/2006/main">
              <a:ext uri="{FF2B5EF4-FFF2-40B4-BE49-F238E27FC236}">
                <a16:creationId xmlns:a16="http://schemas.microsoft.com/office/drawing/2014/main" id="{17AC749B-E2AB-430B-AF98-CDC26386615E}"/>
              </a:ext>
            </a:extLst>
          </p:cNvPr>
          <p:cNvSpPr>
            <a:spLocks xmlns:a="http://schemas.openxmlformats.org/drawingml/2006/main" noGrp="1"/>
          </p:cNvSpPr>
          <p:nvPr/>
        </p:nvSpPr>
        <p:spPr>
          <a:xfrm xmlns:a="http://schemas.openxmlformats.org/drawingml/2006/main">
            <a:off x="5267325" y="3333750"/>
            <a:ext cx="76200" cy="76200"/>
          </a:xfrm>
          <a:prstGeom xmlns:a="http://schemas.openxmlformats.org/drawingml/2006/main" prst="ellipse">
            <a:avLst/>
          </a:prstGeom>
          <a:solidFill xmlns:a="http://schemas.openxmlformats.org/drawingml/2006/main">
            <a:srgbClr val="52DCC3"/>
          </a:solidFill>
          <a:ln xmlns:a="http://schemas.openxmlformats.org/drawingml/2006/main" w="0">
            <a:solidFill>
              <a:srgbClr val="52DCC3"/>
            </a:solidFill>
          </a:ln>
        </p:spPr>
      </p:sp>
      <p:sp>
        <p:nvSpPr>
          <p:cNvPr id="13" name="">
            <a:extLst xmlns:a="http://schemas.openxmlformats.org/drawingml/2006/main">
              <a:ext uri="{FF2B5EF4-FFF2-40B4-BE49-F238E27FC236}">
                <a16:creationId xmlns:a16="http://schemas.microsoft.com/office/drawing/2014/main" id="{BA1FB58A-5124-4CA1-8C07-11A082146DA7}"/>
              </a:ext>
            </a:extLst>
          </p:cNvPr>
          <p:cNvSpPr>
            <a:spLocks xmlns:a="http://schemas.openxmlformats.org/drawingml/2006/main" noGrp="1"/>
          </p:cNvSpPr>
          <p:nvPr/>
        </p:nvSpPr>
        <p:spPr>
          <a:xfrm xmlns:a="http://schemas.openxmlformats.org/drawingml/2006/main">
            <a:off x="838200" y="32385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‫מתעדכן בסיום נר של רבע שעה‬</a:t>
            </a:r>
          </a:p>
        </p:txBody>
      </p:sp>
      <p:sp>
        <p:nvSpPr>
          <p:cNvPr id="14" name="">
            <a:extLst xmlns:a="http://schemas.openxmlformats.org/drawingml/2006/main">
              <a:ext uri="{FF2B5EF4-FFF2-40B4-BE49-F238E27FC236}">
                <a16:creationId xmlns:a16="http://schemas.microsoft.com/office/drawing/2014/main" id="{DAE70627-6B77-4DFB-AFF8-5CA44BF9CD30}"/>
              </a:ext>
            </a:extLst>
          </p:cNvPr>
          <p:cNvSpPr>
            <a:spLocks xmlns:a="http://schemas.openxmlformats.org/drawingml/2006/main" noGrp="1"/>
          </p:cNvSpPr>
          <p:nvPr/>
        </p:nvSpPr>
        <p:spPr>
          <a:xfrm xmlns:a="http://schemas.openxmlformats.org/drawingml/2006/main">
            <a:off x="838200" y="3533775"/>
            <a:ext cx="430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52DCC3"/>
                </a:solidFill>
                <a:latin typeface="Arial"/>
                <a:ea typeface="Arial"/>
                <a:cs typeface="Arial"/>
              </a:defRPr>
            </a:pPr>
            <a:r>
              <a:rPr sz="900" b="1">
                <a:solidFill>
                  <a:srgbClr val="52DCC3"/>
                </a:solidFill>
                <a:latin typeface="Arial"/>
                <a:ea typeface="Arial"/>
                <a:cs typeface="Arial"/>
              </a:rPr>
              <a:t>LOW LATENCY</a:t>
            </a:r>
          </a:p>
        </p:txBody>
      </p:sp>
      <p:sp>
        <p:nvSpPr>
          <p:cNvPr id="15" name="">
            <a:extLst xmlns:a="http://schemas.openxmlformats.org/drawingml/2006/main">
              <a:ext uri="{FF2B5EF4-FFF2-40B4-BE49-F238E27FC236}">
                <a16:creationId xmlns:a16="http://schemas.microsoft.com/office/drawing/2014/main" id="{4B50CE47-4C5D-457C-A6AF-62F34CDAF21E}"/>
              </a:ext>
            </a:extLst>
          </p:cNvPr>
          <p:cNvSpPr>
            <a:spLocks xmlns:a="http://schemas.openxmlformats.org/drawingml/2006/main" noGrp="1"/>
          </p:cNvSpPr>
          <p:nvPr/>
        </p:nvSpPr>
        <p:spPr>
          <a:xfrm xmlns:a="http://schemas.openxmlformats.org/drawingml/2006/main">
            <a:off x="5267325" y="3981450"/>
            <a:ext cx="76200" cy="76200"/>
          </a:xfrm>
          <a:prstGeom xmlns:a="http://schemas.openxmlformats.org/drawingml/2006/main" prst="ellipse">
            <a:avLst/>
          </a:prstGeom>
          <a:solidFill xmlns:a="http://schemas.openxmlformats.org/drawingml/2006/main">
            <a:srgbClr val="52DCC3"/>
          </a:solidFill>
          <a:ln xmlns:a="http://schemas.openxmlformats.org/drawingml/2006/main" w="0">
            <a:solidFill>
              <a:srgbClr val="52DCC3"/>
            </a:solidFill>
          </a:ln>
        </p:spPr>
      </p:sp>
      <p:sp>
        <p:nvSpPr>
          <p:cNvPr id="16" name="">
            <a:extLst xmlns:a="http://schemas.openxmlformats.org/drawingml/2006/main">
              <a:ext uri="{FF2B5EF4-FFF2-40B4-BE49-F238E27FC236}">
                <a16:creationId xmlns:a16="http://schemas.microsoft.com/office/drawing/2014/main" id="{7AB681E6-9290-4D80-9A72-D45B0669D6D9}"/>
              </a:ext>
            </a:extLst>
          </p:cNvPr>
          <p:cNvSpPr>
            <a:spLocks xmlns:a="http://schemas.openxmlformats.org/drawingml/2006/main" noGrp="1"/>
          </p:cNvSpPr>
          <p:nvPr/>
        </p:nvSpPr>
        <p:spPr>
          <a:xfrm xmlns:a="http://schemas.openxmlformats.org/drawingml/2006/main">
            <a:off x="838200" y="38862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‫שומר נקודת התאוששות ומונע כפילויות‬</a:t>
            </a:r>
          </a:p>
        </p:txBody>
      </p:sp>
      <p:sp>
        <p:nvSpPr>
          <p:cNvPr id="17" name="">
            <a:extLst xmlns:a="http://schemas.openxmlformats.org/drawingml/2006/main">
              <a:ext uri="{FF2B5EF4-FFF2-40B4-BE49-F238E27FC236}">
                <a16:creationId xmlns:a16="http://schemas.microsoft.com/office/drawing/2014/main" id="{C2FBC294-2A79-4A3C-93B2-A74ED0895D00}"/>
              </a:ext>
            </a:extLst>
          </p:cNvPr>
          <p:cNvSpPr>
            <a:spLocks xmlns:a="http://schemas.openxmlformats.org/drawingml/2006/main" noGrp="1"/>
          </p:cNvSpPr>
          <p:nvPr/>
        </p:nvSpPr>
        <p:spPr>
          <a:xfrm xmlns:a="http://schemas.openxmlformats.org/drawingml/2006/main">
            <a:off x="838200" y="4181475"/>
            <a:ext cx="430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52DCC3"/>
                </a:solidFill>
                <a:latin typeface="Arial"/>
                <a:ea typeface="Arial"/>
                <a:cs typeface="Arial"/>
              </a:defRPr>
            </a:pPr>
            <a:r>
              <a:rPr sz="900" b="1">
                <a:solidFill>
                  <a:srgbClr val="52DCC3"/>
                </a:solidFill>
                <a:latin typeface="Arial"/>
                <a:ea typeface="Arial"/>
                <a:cs typeface="Arial"/>
              </a:rPr>
              <a:t>STATEFUL</a:t>
            </a:r>
          </a:p>
        </p:txBody>
      </p:sp>
      <p:sp>
        <p:nvSpPr>
          <p:cNvPr id="18" name="">
            <a:extLst xmlns:a="http://schemas.openxmlformats.org/drawingml/2006/main">
              <a:ext uri="{FF2B5EF4-FFF2-40B4-BE49-F238E27FC236}">
                <a16:creationId xmlns:a16="http://schemas.microsoft.com/office/drawing/2014/main" id="{F579C079-59A2-44FB-8C8F-C16FF8F26BA6}"/>
              </a:ext>
            </a:extLst>
          </p:cNvPr>
          <p:cNvSpPr>
            <a:spLocks xmlns:a="http://schemas.openxmlformats.org/drawingml/2006/main" noGrp="1"/>
          </p:cNvSpPr>
          <p:nvPr/>
        </p:nvSpPr>
        <p:spPr>
          <a:xfrm xmlns:a="http://schemas.openxmlformats.org/drawingml/2006/main">
            <a:off x="5267325" y="4629150"/>
            <a:ext cx="76200" cy="76200"/>
          </a:xfrm>
          <a:prstGeom xmlns:a="http://schemas.openxmlformats.org/drawingml/2006/main" prst="ellipse">
            <a:avLst/>
          </a:prstGeom>
          <a:solidFill xmlns:a="http://schemas.openxmlformats.org/drawingml/2006/main">
            <a:srgbClr val="52DCC3"/>
          </a:solidFill>
          <a:ln xmlns:a="http://schemas.openxmlformats.org/drawingml/2006/main" w="0">
            <a:solidFill>
              <a:srgbClr val="52DCC3"/>
            </a:solidFill>
          </a:ln>
        </p:spPr>
      </p:sp>
      <p:sp>
        <p:nvSpPr>
          <p:cNvPr id="19" name="">
            <a:extLst xmlns:a="http://schemas.openxmlformats.org/drawingml/2006/main">
              <a:ext uri="{FF2B5EF4-FFF2-40B4-BE49-F238E27FC236}">
                <a16:creationId xmlns:a16="http://schemas.microsoft.com/office/drawing/2014/main" id="{7BBA13E2-3404-41D0-AFF3-F7DB0277985B}"/>
              </a:ext>
            </a:extLst>
          </p:cNvPr>
          <p:cNvSpPr>
            <a:spLocks xmlns:a="http://schemas.openxmlformats.org/drawingml/2006/main" noGrp="1"/>
          </p:cNvSpPr>
          <p:nvPr/>
        </p:nvSpPr>
        <p:spPr>
          <a:xfrm xmlns:a="http://schemas.openxmlformats.org/drawingml/2006/main">
            <a:off x="838200" y="4533900"/>
            <a:ext cx="430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‫מסומן זמני עד לאימות היומי‬</a:t>
            </a:r>
          </a:p>
        </p:txBody>
      </p:sp>
      <p:sp>
        <p:nvSpPr>
          <p:cNvPr id="20" name="">
            <a:extLst xmlns:a="http://schemas.openxmlformats.org/drawingml/2006/main">
              <a:ext uri="{FF2B5EF4-FFF2-40B4-BE49-F238E27FC236}">
                <a16:creationId xmlns:a16="http://schemas.microsoft.com/office/drawing/2014/main" id="{FEE9AEDA-0440-41EC-996D-C74001D14E2D}"/>
              </a:ext>
            </a:extLst>
          </p:cNvPr>
          <p:cNvSpPr>
            <a:spLocks xmlns:a="http://schemas.openxmlformats.org/drawingml/2006/main" noGrp="1"/>
          </p:cNvSpPr>
          <p:nvPr/>
        </p:nvSpPr>
        <p:spPr>
          <a:xfrm xmlns:a="http://schemas.openxmlformats.org/drawingml/2006/main">
            <a:off x="838200" y="4829175"/>
            <a:ext cx="430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52DCC3"/>
                </a:solidFill>
                <a:latin typeface="Arial"/>
                <a:ea typeface="Arial"/>
                <a:cs typeface="Arial"/>
              </a:defRPr>
            </a:pPr>
            <a:r>
              <a:rPr sz="900" b="1">
                <a:solidFill>
                  <a:srgbClr val="52DCC3"/>
                </a:solidFill>
                <a:latin typeface="Arial"/>
                <a:ea typeface="Arial"/>
                <a:cs typeface="Arial"/>
              </a:rPr>
              <a:t>PROVISIONAL</a:t>
            </a:r>
          </a:p>
        </p:txBody>
      </p:sp>
      <p:sp>
        <p:nvSpPr>
          <p:cNvPr id="21" name="">
            <a:extLst xmlns:a="http://schemas.openxmlformats.org/drawingml/2006/main">
              <a:ext uri="{FF2B5EF4-FFF2-40B4-BE49-F238E27FC236}">
                <a16:creationId xmlns:a16="http://schemas.microsoft.com/office/drawing/2014/main" id="{7C1645B2-59A6-4FB7-8CC2-D3C10AD5B99E}"/>
              </a:ext>
            </a:extLst>
          </p:cNvPr>
          <p:cNvSpPr>
            <a:spLocks xmlns:a="http://schemas.openxmlformats.org/drawingml/2006/main" noGrp="1"/>
          </p:cNvSpPr>
          <p:nvPr/>
        </p:nvSpPr>
        <p:spPr>
          <a:xfrm xmlns:a="http://schemas.openxmlformats.org/drawingml/2006/main">
            <a:off x="6115050" y="1714500"/>
            <a:ext cx="5505450" cy="3714750"/>
          </a:xfrm>
          <a:prstGeom xmlns:a="http://schemas.openxmlformats.org/drawingml/2006/main" prst="roundRect">
            <a:avLst>
              <a:gd name="adj" fmla="val 3077"/>
            </a:avLst>
          </a:prstGeom>
          <a:solidFill xmlns:a="http://schemas.openxmlformats.org/drawingml/2006/main">
            <a:srgbClr val="0D2035"/>
          </a:solidFill>
          <a:ln xmlns:a="http://schemas.openxmlformats.org/drawingml/2006/main" w="9525">
            <a:solidFill>
              <a:srgbClr val="73B7FF"/>
            </a:solidFill>
          </a:ln>
        </p:spPr>
      </p:sp>
      <p:sp>
        <p:nvSpPr>
          <p:cNvPr id="22" name="">
            <a:extLst xmlns:a="http://schemas.openxmlformats.org/drawingml/2006/main">
              <a:ext uri="{FF2B5EF4-FFF2-40B4-BE49-F238E27FC236}">
                <a16:creationId xmlns:a16="http://schemas.microsoft.com/office/drawing/2014/main" id="{4B7DD496-E5F8-4AAB-B10D-ACF9AB96E36F}"/>
              </a:ext>
            </a:extLst>
          </p:cNvPr>
          <p:cNvSpPr>
            <a:spLocks xmlns:a="http://schemas.openxmlformats.org/drawingml/2006/main" noGrp="1"/>
          </p:cNvSpPr>
          <p:nvPr/>
        </p:nvSpPr>
        <p:spPr>
          <a:xfrm xmlns:a="http://schemas.openxmlformats.org/drawingml/2006/main">
            <a:off x="6381750" y="1943100"/>
            <a:ext cx="12001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CERTIFIED</a:t>
            </a:r>
          </a:p>
        </p:txBody>
      </p:sp>
      <p:sp>
        <p:nvSpPr>
          <p:cNvPr id="23" name="">
            <a:extLst xmlns:a="http://schemas.openxmlformats.org/drawingml/2006/main">
              <a:ext uri="{FF2B5EF4-FFF2-40B4-BE49-F238E27FC236}">
                <a16:creationId xmlns:a16="http://schemas.microsoft.com/office/drawing/2014/main" id="{76C465D1-6D4C-4962-BEC4-83F193B5E013}"/>
              </a:ext>
            </a:extLst>
          </p:cNvPr>
          <p:cNvSpPr>
            <a:spLocks xmlns:a="http://schemas.openxmlformats.org/drawingml/2006/main" noGrp="1"/>
          </p:cNvSpPr>
          <p:nvPr/>
        </p:nvSpPr>
        <p:spPr>
          <a:xfrm xmlns:a="http://schemas.openxmlformats.org/drawingml/2006/main">
            <a:off x="8820150" y="1933575"/>
            <a:ext cx="243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75" b="1">
                <a:solidFill>
                  <a:srgbClr val="F5F8FB"/>
                </a:solidFill>
                <a:latin typeface="Arial"/>
                <a:ea typeface="Arial"/>
                <a:cs typeface="Arial"/>
              </a:defRPr>
            </a:pPr>
            <a:r>
              <a:rPr sz="2175" b="1">
                <a:solidFill>
                  <a:srgbClr val="F5F8FB"/>
                </a:solidFill>
                <a:latin typeface="Arial"/>
                <a:ea typeface="Arial"/>
                <a:cs typeface="Arial"/>
              </a:rPr>
              <a:t>‫המסלול המאושר‬</a:t>
            </a:r>
          </a:p>
        </p:txBody>
      </p:sp>
      <p:sp>
        <p:nvSpPr>
          <p:cNvPr id="24" name="">
            <a:extLst xmlns:a="http://schemas.openxmlformats.org/drawingml/2006/main">
              <a:ext uri="{FF2B5EF4-FFF2-40B4-BE49-F238E27FC236}">
                <a16:creationId xmlns:a16="http://schemas.microsoft.com/office/drawing/2014/main" id="{6A467BCE-44E6-4604-B116-83C936A8AEEA}"/>
              </a:ext>
            </a:extLst>
          </p:cNvPr>
          <p:cNvSpPr>
            <a:spLocks xmlns:a="http://schemas.openxmlformats.org/drawingml/2006/main" noGrp="1"/>
          </p:cNvSpPr>
          <p:nvPr/>
        </p:nvSpPr>
        <p:spPr>
          <a:xfrm xmlns:a="http://schemas.openxmlformats.org/drawingml/2006/main">
            <a:off x="6381750" y="26574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350" b="1">
                <a:solidFill>
                  <a:srgbClr val="73B7FF"/>
                </a:solidFill>
                <a:latin typeface="Arial"/>
                <a:ea typeface="Arial"/>
                <a:cs typeface="Arial"/>
              </a:defRPr>
            </a:pPr>
            <a:r>
              <a:rPr sz="1350" b="1">
                <a:solidFill>
                  <a:srgbClr val="73B7FF"/>
                </a:solidFill>
                <a:latin typeface="Arial"/>
                <a:ea typeface="Arial"/>
                <a:cs typeface="Arial"/>
              </a:rPr>
              <a:t>Bronze  ←  Spark Batch  ←  Silver  ←  Gold</a:t>
            </a:r>
          </a:p>
        </p:txBody>
      </p:sp>
      <p:sp>
        <p:nvSpPr>
          <p:cNvPr id="25" name="">
            <a:extLst xmlns:a="http://schemas.openxmlformats.org/drawingml/2006/main">
              <a:ext uri="{FF2B5EF4-FFF2-40B4-BE49-F238E27FC236}">
                <a16:creationId xmlns:a16="http://schemas.microsoft.com/office/drawing/2014/main" id="{5E3D357C-0DD4-4484-B303-E5CF12057E59}"/>
              </a:ext>
            </a:extLst>
          </p:cNvPr>
          <p:cNvSpPr>
            <a:spLocks xmlns:a="http://schemas.openxmlformats.org/drawingml/2006/main" noGrp="1"/>
          </p:cNvSpPr>
          <p:nvPr/>
        </p:nvSpPr>
        <p:spPr>
          <a:xfrm xmlns:a="http://schemas.openxmlformats.org/drawingml/2006/main">
            <a:off x="11001375" y="3333750"/>
            <a:ext cx="76200" cy="76200"/>
          </a:xfrm>
          <a:prstGeom xmlns:a="http://schemas.openxmlformats.org/drawingml/2006/main" prst="ellipse">
            <a:avLst/>
          </a:prstGeom>
          <a:solidFill xmlns:a="http://schemas.openxmlformats.org/drawingml/2006/main">
            <a:srgbClr val="73B7FF"/>
          </a:solidFill>
          <a:ln xmlns:a="http://schemas.openxmlformats.org/drawingml/2006/main" w="0">
            <a:solidFill>
              <a:srgbClr val="73B7FF"/>
            </a:solidFill>
          </a:ln>
        </p:spPr>
      </p:sp>
      <p:sp>
        <p:nvSpPr>
          <p:cNvPr id="26" name="">
            <a:extLst xmlns:a="http://schemas.openxmlformats.org/drawingml/2006/main">
              <a:ext uri="{FF2B5EF4-FFF2-40B4-BE49-F238E27FC236}">
                <a16:creationId xmlns:a16="http://schemas.microsoft.com/office/drawing/2014/main" id="{23FFFBE1-E035-43C3-894C-B292F110D4BF}"/>
              </a:ext>
            </a:extLst>
          </p:cNvPr>
          <p:cNvSpPr>
            <a:spLocks xmlns:a="http://schemas.openxmlformats.org/drawingml/2006/main" noGrp="1"/>
          </p:cNvSpPr>
          <p:nvPr/>
        </p:nvSpPr>
        <p:spPr>
          <a:xfrm xmlns:a="http://schemas.openxmlformats.org/drawingml/2006/main">
            <a:off x="6419850" y="3238500"/>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‫המתזמן מפעיל עבודות תחומות‬</a:t>
            </a:r>
          </a:p>
        </p:txBody>
      </p:sp>
      <p:sp>
        <p:nvSpPr>
          <p:cNvPr id="27" name="">
            <a:extLst xmlns:a="http://schemas.openxmlformats.org/drawingml/2006/main">
              <a:ext uri="{FF2B5EF4-FFF2-40B4-BE49-F238E27FC236}">
                <a16:creationId xmlns:a16="http://schemas.microsoft.com/office/drawing/2014/main" id="{8BA35D1F-F50B-4CB5-A986-11B77DBC2AE9}"/>
              </a:ext>
            </a:extLst>
          </p:cNvPr>
          <p:cNvSpPr>
            <a:spLocks xmlns:a="http://schemas.openxmlformats.org/drawingml/2006/main" noGrp="1"/>
          </p:cNvSpPr>
          <p:nvPr/>
        </p:nvSpPr>
        <p:spPr>
          <a:xfrm xmlns:a="http://schemas.openxmlformats.org/drawingml/2006/main">
            <a:off x="6419850" y="3533775"/>
            <a:ext cx="445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73B7FF"/>
                </a:solidFill>
                <a:latin typeface="Arial"/>
                <a:ea typeface="Arial"/>
                <a:cs typeface="Arial"/>
              </a:defRPr>
            </a:pPr>
            <a:r>
              <a:rPr sz="900" b="1">
                <a:solidFill>
                  <a:srgbClr val="73B7FF"/>
                </a:solidFill>
                <a:latin typeface="Arial"/>
                <a:ea typeface="Arial"/>
                <a:cs typeface="Arial"/>
              </a:rPr>
              <a:t>ORCHESTRATED</a:t>
            </a:r>
          </a:p>
        </p:txBody>
      </p:sp>
      <p:sp>
        <p:nvSpPr>
          <p:cNvPr id="28" name="">
            <a:extLst xmlns:a="http://schemas.openxmlformats.org/drawingml/2006/main">
              <a:ext uri="{FF2B5EF4-FFF2-40B4-BE49-F238E27FC236}">
                <a16:creationId xmlns:a16="http://schemas.microsoft.com/office/drawing/2014/main" id="{22BAEBFC-EB01-4AB8-A1AD-DEA0F7048299}"/>
              </a:ext>
            </a:extLst>
          </p:cNvPr>
          <p:cNvSpPr>
            <a:spLocks xmlns:a="http://schemas.openxmlformats.org/drawingml/2006/main" noGrp="1"/>
          </p:cNvSpPr>
          <p:nvPr/>
        </p:nvSpPr>
        <p:spPr>
          <a:xfrm xmlns:a="http://schemas.openxmlformats.org/drawingml/2006/main">
            <a:off x="11001375" y="3981450"/>
            <a:ext cx="76200" cy="76200"/>
          </a:xfrm>
          <a:prstGeom xmlns:a="http://schemas.openxmlformats.org/drawingml/2006/main" prst="ellipse">
            <a:avLst/>
          </a:prstGeom>
          <a:solidFill xmlns:a="http://schemas.openxmlformats.org/drawingml/2006/main">
            <a:srgbClr val="73B7FF"/>
          </a:solidFill>
          <a:ln xmlns:a="http://schemas.openxmlformats.org/drawingml/2006/main" w="0">
            <a:solidFill>
              <a:srgbClr val="73B7FF"/>
            </a:solidFill>
          </a:ln>
        </p:spPr>
      </p:sp>
      <p:sp>
        <p:nvSpPr>
          <p:cNvPr id="29" name="">
            <a:extLst xmlns:a="http://schemas.openxmlformats.org/drawingml/2006/main">
              <a:ext uri="{FF2B5EF4-FFF2-40B4-BE49-F238E27FC236}">
                <a16:creationId xmlns:a16="http://schemas.microsoft.com/office/drawing/2014/main" id="{F3EC3419-0980-4FB9-B137-E3AE57FE81C3}"/>
              </a:ext>
            </a:extLst>
          </p:cNvPr>
          <p:cNvSpPr>
            <a:spLocks xmlns:a="http://schemas.openxmlformats.org/drawingml/2006/main" noGrp="1"/>
          </p:cNvSpPr>
          <p:nvPr/>
        </p:nvSpPr>
        <p:spPr>
          <a:xfrm xmlns:a="http://schemas.openxmlformats.org/drawingml/2006/main">
            <a:off x="6419850" y="3886200"/>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‫בדיקות איכות לפני פרסום‬</a:t>
            </a:r>
          </a:p>
        </p:txBody>
      </p:sp>
      <p:sp>
        <p:nvSpPr>
          <p:cNvPr id="30" name="">
            <a:extLst xmlns:a="http://schemas.openxmlformats.org/drawingml/2006/main">
              <a:ext uri="{FF2B5EF4-FFF2-40B4-BE49-F238E27FC236}">
                <a16:creationId xmlns:a16="http://schemas.microsoft.com/office/drawing/2014/main" id="{CFDA7FF6-E276-4002-88D1-548100259401}"/>
              </a:ext>
            </a:extLst>
          </p:cNvPr>
          <p:cNvSpPr>
            <a:spLocks xmlns:a="http://schemas.openxmlformats.org/drawingml/2006/main" noGrp="1"/>
          </p:cNvSpPr>
          <p:nvPr/>
        </p:nvSpPr>
        <p:spPr>
          <a:xfrm xmlns:a="http://schemas.openxmlformats.org/drawingml/2006/main">
            <a:off x="6419850" y="4181475"/>
            <a:ext cx="445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73B7FF"/>
                </a:solidFill>
                <a:latin typeface="Arial"/>
                <a:ea typeface="Arial"/>
                <a:cs typeface="Arial"/>
              </a:defRPr>
            </a:pPr>
            <a:r>
              <a:rPr sz="900" b="1">
                <a:solidFill>
                  <a:srgbClr val="73B7FF"/>
                </a:solidFill>
                <a:latin typeface="Arial"/>
                <a:ea typeface="Arial"/>
                <a:cs typeface="Arial"/>
              </a:rPr>
              <a:t>DATA QUALITY</a:t>
            </a:r>
          </a:p>
        </p:txBody>
      </p:sp>
      <p:sp>
        <p:nvSpPr>
          <p:cNvPr id="31" name="">
            <a:extLst xmlns:a="http://schemas.openxmlformats.org/drawingml/2006/main">
              <a:ext uri="{FF2B5EF4-FFF2-40B4-BE49-F238E27FC236}">
                <a16:creationId xmlns:a16="http://schemas.microsoft.com/office/drawing/2014/main" id="{75A8893A-C93C-4DFD-9E75-C49A9C05821F}"/>
              </a:ext>
            </a:extLst>
          </p:cNvPr>
          <p:cNvSpPr>
            <a:spLocks xmlns:a="http://schemas.openxmlformats.org/drawingml/2006/main" noGrp="1"/>
          </p:cNvSpPr>
          <p:nvPr/>
        </p:nvSpPr>
        <p:spPr>
          <a:xfrm xmlns:a="http://schemas.openxmlformats.org/drawingml/2006/main">
            <a:off x="11001375" y="4629150"/>
            <a:ext cx="76200" cy="76200"/>
          </a:xfrm>
          <a:prstGeom xmlns:a="http://schemas.openxmlformats.org/drawingml/2006/main" prst="ellipse">
            <a:avLst/>
          </a:prstGeom>
          <a:solidFill xmlns:a="http://schemas.openxmlformats.org/drawingml/2006/main">
            <a:srgbClr val="73B7FF"/>
          </a:solidFill>
          <a:ln xmlns:a="http://schemas.openxmlformats.org/drawingml/2006/main" w="0">
            <a:solidFill>
              <a:srgbClr val="73B7FF"/>
            </a:solidFill>
          </a:ln>
        </p:spPr>
      </p:sp>
      <p:sp>
        <p:nvSpPr>
          <p:cNvPr id="32" name="">
            <a:extLst xmlns:a="http://schemas.openxmlformats.org/drawingml/2006/main">
              <a:ext uri="{FF2B5EF4-FFF2-40B4-BE49-F238E27FC236}">
                <a16:creationId xmlns:a16="http://schemas.microsoft.com/office/drawing/2014/main" id="{F1BC9713-C481-44C8-A551-372F34A727A4}"/>
              </a:ext>
            </a:extLst>
          </p:cNvPr>
          <p:cNvSpPr>
            <a:spLocks xmlns:a="http://schemas.openxmlformats.org/drawingml/2006/main" noGrp="1"/>
          </p:cNvSpPr>
          <p:nvPr/>
        </p:nvSpPr>
        <p:spPr>
          <a:xfrm xmlns:a="http://schemas.openxmlformats.org/drawingml/2006/main">
            <a:off x="6419850" y="4533900"/>
            <a:ext cx="445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F5F8FB"/>
                </a:solidFill>
                <a:latin typeface="Arial"/>
                <a:ea typeface="Arial"/>
                <a:cs typeface="Arial"/>
              </a:defRPr>
            </a:pPr>
            <a:r>
              <a:rPr sz="1350" b="0">
                <a:solidFill>
                  <a:srgbClr val="F5F8FB"/>
                </a:solidFill>
                <a:latin typeface="Arial"/>
                <a:ea typeface="Arial"/>
                <a:cs typeface="Arial"/>
              </a:rPr>
              <a:t>‫תוצאה סמכותית ושחזורית‬</a:t>
            </a:r>
          </a:p>
        </p:txBody>
      </p:sp>
      <p:sp>
        <p:nvSpPr>
          <p:cNvPr id="33" name="">
            <a:extLst xmlns:a="http://schemas.openxmlformats.org/drawingml/2006/main">
              <a:ext uri="{FF2B5EF4-FFF2-40B4-BE49-F238E27FC236}">
                <a16:creationId xmlns:a16="http://schemas.microsoft.com/office/drawing/2014/main" id="{4491AE2A-0EDF-456B-9E7A-794A0B429A4F}"/>
              </a:ext>
            </a:extLst>
          </p:cNvPr>
          <p:cNvSpPr>
            <a:spLocks xmlns:a="http://schemas.openxmlformats.org/drawingml/2006/main" noGrp="1"/>
          </p:cNvSpPr>
          <p:nvPr/>
        </p:nvSpPr>
        <p:spPr>
          <a:xfrm xmlns:a="http://schemas.openxmlformats.org/drawingml/2006/main">
            <a:off x="6419850" y="4829175"/>
            <a:ext cx="4457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900" b="1">
                <a:solidFill>
                  <a:srgbClr val="73B7FF"/>
                </a:solidFill>
                <a:latin typeface="Arial"/>
                <a:ea typeface="Arial"/>
                <a:cs typeface="Arial"/>
              </a:defRPr>
            </a:pPr>
            <a:r>
              <a:rPr sz="900" b="1">
                <a:solidFill>
                  <a:srgbClr val="73B7FF"/>
                </a:solidFill>
                <a:latin typeface="Arial"/>
                <a:ea typeface="Arial"/>
                <a:cs typeface="Arial"/>
              </a:rPr>
              <a:t>AUTHORITATIVE</a:t>
            </a:r>
          </a:p>
        </p:txBody>
      </p:sp>
    </p:spTree>
    <p:extLst>
      <p:ext uri="{BB962C8B-B14F-4D97-AF65-F5344CB8AC3E}">
        <p14:creationId xmlns:p14="http://schemas.microsoft.com/office/powerpoint/2010/main" val="2146675523"/>
      </p:ext>
    </p:extLst>
  </p:cSld>
</p:sld>
</file>

<file path=ppt/slides/slide7.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FC92F1-2F81-402A-91AA-427CBBF69B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F2646E21-BFFA-4FA3-BB4A-A19E90A7FE19}"/>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PRODUCT EVIDENCE</a:t>
            </a:r>
          </a:p>
        </p:txBody>
      </p:sp>
      <p:sp>
        <p:nvSpPr>
          <p:cNvPr id="3" name="">
            <a:extLst xmlns:a="http://schemas.openxmlformats.org/drawingml/2006/main">
              <a:ext uri="{FF2B5EF4-FFF2-40B4-BE49-F238E27FC236}">
                <a16:creationId xmlns:a16="http://schemas.microsoft.com/office/drawing/2014/main" id="{765FE284-EC19-4FC9-84BE-334461162CBE}"/>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‫מסך המחקר הראשי‬</a:t>
            </a:r>
          </a:p>
        </p:txBody>
      </p:sp>
      <p:sp>
        <p:nvSpPr>
          <p:cNvPr id="4" name="">
            <a:extLst xmlns:a="http://schemas.openxmlformats.org/drawingml/2006/main">
              <a:ext uri="{FF2B5EF4-FFF2-40B4-BE49-F238E27FC236}">
                <a16:creationId xmlns:a16="http://schemas.microsoft.com/office/drawing/2014/main" id="{2DD56554-76FD-46E7-9D7F-171A13E5F14B}"/>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‫תמונת מצב אחת שמחברת שוק, איכות, דיווחי חברות וטריות‬</a:t>
            </a:r>
          </a:p>
        </p:txBody>
      </p:sp>
      <p:sp>
        <p:nvSpPr>
          <p:cNvPr id="5" name="">
            <a:extLst xmlns:a="http://schemas.openxmlformats.org/drawingml/2006/main">
              <a:ext uri="{FF2B5EF4-FFF2-40B4-BE49-F238E27FC236}">
                <a16:creationId xmlns:a16="http://schemas.microsoft.com/office/drawing/2014/main" id="{5BDAEB5A-3B8B-483C-A249-05B7E590DCA5}"/>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C7E52BF1-31ED-4452-9B6B-7D6CE4054E2D}"/>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2FB98668-F317-4D38-8300-3A1A5506CA4D}"/>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E47011B0-817E-4E3D-AB75-9F1BA04FDF14}"/>
              </a:ext>
            </a:extLst>
          </p:cNvPr>
          <p:cNvSpPr>
            <a:spLocks xmlns:a="http://schemas.openxmlformats.org/drawingml/2006/main" noGrp="1"/>
          </p:cNvSpPr>
          <p:nvPr/>
        </p:nvSpPr>
        <p:spPr>
          <a:xfrm xmlns:a="http://schemas.openxmlformats.org/drawingml/2006/main">
            <a:off x="466725" y="1571625"/>
            <a:ext cx="7943850" cy="4438650"/>
          </a:xfrm>
          <a:prstGeom xmlns:a="http://schemas.openxmlformats.org/drawingml/2006/main" prst="roundRect">
            <a:avLst>
              <a:gd name="adj" fmla="val 2575"/>
            </a:avLst>
          </a:prstGeom>
          <a:solidFill xmlns:a="http://schemas.openxmlformats.org/drawingml/2006/main">
            <a:srgbClr val="102940"/>
          </a:solidFill>
          <a:ln xmlns:a="http://schemas.openxmlformats.org/drawingml/2006/main" w="9525">
            <a:solidFill>
              <a:srgbClr val="24445F"/>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33ffc8f08934304"/>
          <a:stretch xmlns:a="http://schemas.openxmlformats.org/drawingml/2006/main"/>
        </p:blipFill>
        <p:spPr>
          <a:xfrm xmlns:a="http://schemas.openxmlformats.org/drawingml/2006/main">
            <a:off x="611717" y="1638300"/>
            <a:ext cx="7653867" cy="4305300"/>
          </a:xfrm>
          <a:prstGeom xmlns:a="http://schemas.openxmlformats.org/drawingml/2006/main" prst="roundRect">
            <a:avLst>
              <a:gd name="adj" fmla="val 1770"/>
            </a:avLst>
          </a:prstGeom>
        </p:spPr>
      </p:pic>
      <p:sp>
        <p:nvSpPr>
          <p:cNvPr id="10" name="">
            <a:extLst xmlns:a="http://schemas.openxmlformats.org/drawingml/2006/main">
              <a:ext uri="{FF2B5EF4-FFF2-40B4-BE49-F238E27FC236}">
                <a16:creationId xmlns:a16="http://schemas.microsoft.com/office/drawing/2014/main" id="{493F4447-C24E-41EF-87D3-F40A94305A23}"/>
              </a:ext>
            </a:extLst>
          </p:cNvPr>
          <p:cNvSpPr>
            <a:spLocks xmlns:a="http://schemas.openxmlformats.org/drawingml/2006/main" noGrp="1"/>
          </p:cNvSpPr>
          <p:nvPr/>
        </p:nvSpPr>
        <p:spPr>
          <a:xfrm xmlns:a="http://schemas.openxmlformats.org/drawingml/2006/main">
            <a:off x="8667750" y="1771650"/>
            <a:ext cx="25717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1" name="">
            <a:extLst xmlns:a="http://schemas.openxmlformats.org/drawingml/2006/main">
              <a:ext uri="{FF2B5EF4-FFF2-40B4-BE49-F238E27FC236}">
                <a16:creationId xmlns:a16="http://schemas.microsoft.com/office/drawing/2014/main" id="{97E470E1-67EA-41B5-A5AA-821C897D3167}"/>
              </a:ext>
            </a:extLst>
          </p:cNvPr>
          <p:cNvSpPr>
            <a:spLocks xmlns:a="http://schemas.openxmlformats.org/drawingml/2006/main" noGrp="1"/>
          </p:cNvSpPr>
          <p:nvPr/>
        </p:nvSpPr>
        <p:spPr>
          <a:xfrm xmlns:a="http://schemas.openxmlformats.org/drawingml/2006/main">
            <a:off x="8839200" y="1885950"/>
            <a:ext cx="2228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52DCC3"/>
                </a:solidFill>
                <a:latin typeface="Arial"/>
                <a:ea typeface="Arial"/>
                <a:cs typeface="Arial"/>
              </a:defRPr>
            </a:pPr>
            <a:r>
              <a:rPr sz="2175" b="1">
                <a:solidFill>
                  <a:srgbClr val="52DCC3"/>
                </a:solidFill>
                <a:latin typeface="Arial"/>
                <a:ea typeface="Arial"/>
                <a:cs typeface="Arial"/>
              </a:rPr>
              <a:t>11</a:t>
            </a:r>
          </a:p>
        </p:txBody>
      </p:sp>
      <p:sp>
        <p:nvSpPr>
          <p:cNvPr id="12" name="">
            <a:extLst xmlns:a="http://schemas.openxmlformats.org/drawingml/2006/main">
              <a:ext uri="{FF2B5EF4-FFF2-40B4-BE49-F238E27FC236}">
                <a16:creationId xmlns:a16="http://schemas.microsoft.com/office/drawing/2014/main" id="{63012667-C1CA-4E40-B7FB-7EE3986A336F}"/>
              </a:ext>
            </a:extLst>
          </p:cNvPr>
          <p:cNvSpPr>
            <a:spLocks xmlns:a="http://schemas.openxmlformats.org/drawingml/2006/main" noGrp="1"/>
          </p:cNvSpPr>
          <p:nvPr/>
        </p:nvSpPr>
        <p:spPr>
          <a:xfrm xmlns:a="http://schemas.openxmlformats.org/drawingml/2006/main">
            <a:off x="8839200" y="23622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‫נכסים במעקב‬</a:t>
            </a:r>
          </a:p>
        </p:txBody>
      </p:sp>
      <p:sp>
        <p:nvSpPr>
          <p:cNvPr id="13" name="">
            <a:extLst xmlns:a="http://schemas.openxmlformats.org/drawingml/2006/main">
              <a:ext uri="{FF2B5EF4-FFF2-40B4-BE49-F238E27FC236}">
                <a16:creationId xmlns:a16="http://schemas.microsoft.com/office/drawing/2014/main" id="{30B87230-012B-4638-81F0-CACA9715DA44}"/>
              </a:ext>
            </a:extLst>
          </p:cNvPr>
          <p:cNvSpPr>
            <a:spLocks xmlns:a="http://schemas.openxmlformats.org/drawingml/2006/main" noGrp="1"/>
          </p:cNvSpPr>
          <p:nvPr/>
        </p:nvSpPr>
        <p:spPr>
          <a:xfrm xmlns:a="http://schemas.openxmlformats.org/drawingml/2006/main">
            <a:off x="8667750" y="2990850"/>
            <a:ext cx="25717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4" name="">
            <a:extLst xmlns:a="http://schemas.openxmlformats.org/drawingml/2006/main">
              <a:ext uri="{FF2B5EF4-FFF2-40B4-BE49-F238E27FC236}">
                <a16:creationId xmlns:a16="http://schemas.microsoft.com/office/drawing/2014/main" id="{68B26F48-34F3-4593-901E-36C1C7DBF803}"/>
              </a:ext>
            </a:extLst>
          </p:cNvPr>
          <p:cNvSpPr>
            <a:spLocks xmlns:a="http://schemas.openxmlformats.org/drawingml/2006/main" noGrp="1"/>
          </p:cNvSpPr>
          <p:nvPr/>
        </p:nvSpPr>
        <p:spPr>
          <a:xfrm xmlns:a="http://schemas.openxmlformats.org/drawingml/2006/main">
            <a:off x="8839200" y="3105150"/>
            <a:ext cx="2228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73B7FF"/>
                </a:solidFill>
                <a:latin typeface="Arial"/>
                <a:ea typeface="Arial"/>
                <a:cs typeface="Arial"/>
              </a:defRPr>
            </a:pPr>
            <a:r>
              <a:rPr sz="2175" b="1">
                <a:solidFill>
                  <a:srgbClr val="73B7FF"/>
                </a:solidFill>
                <a:latin typeface="Arial"/>
                <a:ea typeface="Arial"/>
                <a:cs typeface="Arial"/>
              </a:rPr>
              <a:t>57,217</a:t>
            </a:r>
          </a:p>
        </p:txBody>
      </p:sp>
      <p:sp>
        <p:nvSpPr>
          <p:cNvPr id="15" name="">
            <a:extLst xmlns:a="http://schemas.openxmlformats.org/drawingml/2006/main">
              <a:ext uri="{FF2B5EF4-FFF2-40B4-BE49-F238E27FC236}">
                <a16:creationId xmlns:a16="http://schemas.microsoft.com/office/drawing/2014/main" id="{A07F653E-D30D-4AC7-A719-5D9B267CB53F}"/>
              </a:ext>
            </a:extLst>
          </p:cNvPr>
          <p:cNvSpPr>
            <a:spLocks xmlns:a="http://schemas.openxmlformats.org/drawingml/2006/main" noGrp="1"/>
          </p:cNvSpPr>
          <p:nvPr/>
        </p:nvSpPr>
        <p:spPr>
          <a:xfrm xmlns:a="http://schemas.openxmlformats.org/drawingml/2006/main">
            <a:off x="8839200" y="35814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‫רשומות שוק בשכבת המוצר‬</a:t>
            </a:r>
          </a:p>
        </p:txBody>
      </p:sp>
      <p:sp>
        <p:nvSpPr>
          <p:cNvPr id="16" name="">
            <a:extLst xmlns:a="http://schemas.openxmlformats.org/drawingml/2006/main">
              <a:ext uri="{FF2B5EF4-FFF2-40B4-BE49-F238E27FC236}">
                <a16:creationId xmlns:a16="http://schemas.microsoft.com/office/drawing/2014/main" id="{1B4B5F46-A741-4BD3-B835-58DC5C332E2A}"/>
              </a:ext>
            </a:extLst>
          </p:cNvPr>
          <p:cNvSpPr>
            <a:spLocks xmlns:a="http://schemas.openxmlformats.org/drawingml/2006/main" noGrp="1"/>
          </p:cNvSpPr>
          <p:nvPr/>
        </p:nvSpPr>
        <p:spPr>
          <a:xfrm xmlns:a="http://schemas.openxmlformats.org/drawingml/2006/main">
            <a:off x="8667750" y="4210050"/>
            <a:ext cx="25717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7" name="">
            <a:extLst xmlns:a="http://schemas.openxmlformats.org/drawingml/2006/main">
              <a:ext uri="{FF2B5EF4-FFF2-40B4-BE49-F238E27FC236}">
                <a16:creationId xmlns:a16="http://schemas.microsoft.com/office/drawing/2014/main" id="{1732F720-9735-427C-A5E4-263C694E1D39}"/>
              </a:ext>
            </a:extLst>
          </p:cNvPr>
          <p:cNvSpPr>
            <a:spLocks xmlns:a="http://schemas.openxmlformats.org/drawingml/2006/main" noGrp="1"/>
          </p:cNvSpPr>
          <p:nvPr/>
        </p:nvSpPr>
        <p:spPr>
          <a:xfrm xmlns:a="http://schemas.openxmlformats.org/drawingml/2006/main">
            <a:off x="8839200" y="4324350"/>
            <a:ext cx="2228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F2B84B"/>
                </a:solidFill>
                <a:latin typeface="Arial"/>
                <a:ea typeface="Arial"/>
                <a:cs typeface="Arial"/>
              </a:defRPr>
            </a:pPr>
            <a:r>
              <a:rPr sz="2175" b="1">
                <a:solidFill>
                  <a:srgbClr val="F2B84B"/>
                </a:solidFill>
                <a:latin typeface="Arial"/>
                <a:ea typeface="Arial"/>
                <a:cs typeface="Arial"/>
              </a:rPr>
              <a:t>937</a:t>
            </a:r>
          </a:p>
        </p:txBody>
      </p:sp>
      <p:sp>
        <p:nvSpPr>
          <p:cNvPr id="18" name="">
            <a:extLst xmlns:a="http://schemas.openxmlformats.org/drawingml/2006/main">
              <a:ext uri="{FF2B5EF4-FFF2-40B4-BE49-F238E27FC236}">
                <a16:creationId xmlns:a16="http://schemas.microsoft.com/office/drawing/2014/main" id="{87494D7E-6528-4444-99E7-2D0A422E366B}"/>
              </a:ext>
            </a:extLst>
          </p:cNvPr>
          <p:cNvSpPr>
            <a:spLocks xmlns:a="http://schemas.openxmlformats.org/drawingml/2006/main" noGrp="1"/>
          </p:cNvSpPr>
          <p:nvPr/>
        </p:nvSpPr>
        <p:spPr>
          <a:xfrm xmlns:a="http://schemas.openxmlformats.org/drawingml/2006/main">
            <a:off x="8839200" y="48006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‫דיווחי חברות‬</a:t>
            </a:r>
          </a:p>
        </p:txBody>
      </p:sp>
      <p:sp>
        <p:nvSpPr>
          <p:cNvPr id="19" name="">
            <a:extLst xmlns:a="http://schemas.openxmlformats.org/drawingml/2006/main">
              <a:ext uri="{FF2B5EF4-FFF2-40B4-BE49-F238E27FC236}">
                <a16:creationId xmlns:a16="http://schemas.microsoft.com/office/drawing/2014/main" id="{83E94F79-8D2F-49F4-B74B-15BB3983B612}"/>
              </a:ext>
            </a:extLst>
          </p:cNvPr>
          <p:cNvSpPr>
            <a:spLocks xmlns:a="http://schemas.openxmlformats.org/drawingml/2006/main" noGrp="1"/>
          </p:cNvSpPr>
          <p:nvPr/>
        </p:nvSpPr>
        <p:spPr>
          <a:xfrm xmlns:a="http://schemas.openxmlformats.org/drawingml/2006/main">
            <a:off x="8667750" y="54292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1">
                <a:solidFill>
                  <a:srgbClr val="F5F8FB"/>
                </a:solidFill>
                <a:latin typeface="Arial"/>
                <a:ea typeface="Arial"/>
                <a:cs typeface="Arial"/>
              </a:defRPr>
            </a:pPr>
            <a:r>
              <a:rPr sz="1200" b="1">
                <a:solidFill>
                  <a:srgbClr val="F5F8FB"/>
                </a:solidFill>
                <a:latin typeface="Arial"/>
                <a:ea typeface="Arial"/>
                <a:cs typeface="Arial"/>
              </a:rPr>
              <a:t>‫הנתון העסקי מוצג יחד עם מצבו: טרי, זמני או מאושר.‬</a:t>
            </a:r>
          </a:p>
        </p:txBody>
      </p:sp>
    </p:spTree>
    <p:extLst>
      <p:ext uri="{BB962C8B-B14F-4D97-AF65-F5344CB8AC3E}">
        <p14:creationId xmlns:p14="http://schemas.microsoft.com/office/powerpoint/2010/main" val="1507551478"/>
      </p:ext>
    </p:extLst>
  </p:cSld>
</p:sld>
</file>

<file path=ppt/slides/slide8.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D83302-9A7E-4294-B104-111E8B55E0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65E7B743-3160-436E-B6D6-6354C01A6620}"/>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DECISION INTELLIGENCE</a:t>
            </a:r>
          </a:p>
        </p:txBody>
      </p:sp>
      <p:sp>
        <p:nvSpPr>
          <p:cNvPr id="3" name="">
            <a:extLst xmlns:a="http://schemas.openxmlformats.org/drawingml/2006/main">
              <a:ext uri="{FF2B5EF4-FFF2-40B4-BE49-F238E27FC236}">
                <a16:creationId xmlns:a16="http://schemas.microsoft.com/office/drawing/2014/main" id="{BA4B35DC-852A-4AF5-A04C-F77240A294AD}"/>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Opportunity Center</a:t>
            </a:r>
          </a:p>
        </p:txBody>
      </p:sp>
      <p:sp>
        <p:nvSpPr>
          <p:cNvPr id="4" name="">
            <a:extLst xmlns:a="http://schemas.openxmlformats.org/drawingml/2006/main">
              <a:ext uri="{FF2B5EF4-FFF2-40B4-BE49-F238E27FC236}">
                <a16:creationId xmlns:a16="http://schemas.microsoft.com/office/drawing/2014/main" id="{AC7095DC-F5BA-40FE-91CB-73CD56406A41}"/>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‫תרחיש החלטה מוסבר — לא הבטחת תשואה‬</a:t>
            </a:r>
          </a:p>
        </p:txBody>
      </p:sp>
      <p:sp>
        <p:nvSpPr>
          <p:cNvPr id="5" name="">
            <a:extLst xmlns:a="http://schemas.openxmlformats.org/drawingml/2006/main">
              <a:ext uri="{FF2B5EF4-FFF2-40B4-BE49-F238E27FC236}">
                <a16:creationId xmlns:a16="http://schemas.microsoft.com/office/drawing/2014/main" id="{9A67200F-B226-4BAB-AE7F-B5452B8C099D}"/>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11CEA1B2-5D99-4DB1-BC14-9A0BB8187A0A}"/>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47FDEC01-22BF-4538-8740-DD567F93F17A}"/>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557D0EF9-2635-4D19-ABF0-7AF54473A61F}"/>
              </a:ext>
            </a:extLst>
          </p:cNvPr>
          <p:cNvSpPr>
            <a:spLocks xmlns:a="http://schemas.openxmlformats.org/drawingml/2006/main" noGrp="1"/>
          </p:cNvSpPr>
          <p:nvPr/>
        </p:nvSpPr>
        <p:spPr>
          <a:xfrm xmlns:a="http://schemas.openxmlformats.org/drawingml/2006/main">
            <a:off x="466725" y="1552575"/>
            <a:ext cx="7848600" cy="4495800"/>
          </a:xfrm>
          <a:prstGeom xmlns:a="http://schemas.openxmlformats.org/drawingml/2006/main" prst="roundRect">
            <a:avLst>
              <a:gd name="adj" fmla="val 2542"/>
            </a:avLst>
          </a:prstGeom>
          <a:solidFill xmlns:a="http://schemas.openxmlformats.org/drawingml/2006/main">
            <a:srgbClr val="102940"/>
          </a:solidFill>
          <a:ln xmlns:a="http://schemas.openxmlformats.org/drawingml/2006/main" w="9525">
            <a:solidFill>
              <a:srgbClr val="24445F"/>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29602452b264291"/>
          <a:stretch xmlns:a="http://schemas.openxmlformats.org/drawingml/2006/main"/>
        </p:blipFill>
        <p:spPr>
          <a:xfrm xmlns:a="http://schemas.openxmlformats.org/drawingml/2006/main">
            <a:off x="533400" y="1630561"/>
            <a:ext cx="7715250" cy="4339828"/>
          </a:xfrm>
          <a:prstGeom xmlns:a="http://schemas.openxmlformats.org/drawingml/2006/main" prst="roundRect">
            <a:avLst>
              <a:gd name="adj" fmla="val 1747"/>
            </a:avLst>
          </a:prstGeom>
        </p:spPr>
      </p:pic>
      <p:sp>
        <p:nvSpPr>
          <p:cNvPr id="10" name="">
            <a:extLst xmlns:a="http://schemas.openxmlformats.org/drawingml/2006/main">
              <a:ext uri="{FF2B5EF4-FFF2-40B4-BE49-F238E27FC236}">
                <a16:creationId xmlns:a16="http://schemas.microsoft.com/office/drawing/2014/main" id="{D4FABEDA-0951-4E69-8519-5A35FDD52B0C}"/>
              </a:ext>
            </a:extLst>
          </p:cNvPr>
          <p:cNvSpPr>
            <a:spLocks xmlns:a="http://schemas.openxmlformats.org/drawingml/2006/main" noGrp="1"/>
          </p:cNvSpPr>
          <p:nvPr/>
        </p:nvSpPr>
        <p:spPr>
          <a:xfrm xmlns:a="http://schemas.openxmlformats.org/drawingml/2006/main">
            <a:off x="8667750" y="17240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52DCC3"/>
                </a:solidFill>
                <a:latin typeface="Arial"/>
                <a:ea typeface="Arial"/>
                <a:cs typeface="Arial"/>
              </a:defRPr>
            </a:pPr>
            <a:r>
              <a:rPr sz="1125" b="1">
                <a:solidFill>
                  <a:srgbClr val="52DCC3"/>
                </a:solidFill>
                <a:latin typeface="Arial"/>
                <a:ea typeface="Arial"/>
                <a:cs typeface="Arial"/>
              </a:rPr>
              <a:t>Buy Zone</a:t>
            </a:r>
          </a:p>
        </p:txBody>
      </p:sp>
      <p:sp>
        <p:nvSpPr>
          <p:cNvPr id="11" name="">
            <a:extLst xmlns:a="http://schemas.openxmlformats.org/drawingml/2006/main">
              <a:ext uri="{FF2B5EF4-FFF2-40B4-BE49-F238E27FC236}">
                <a16:creationId xmlns:a16="http://schemas.microsoft.com/office/drawing/2014/main" id="{23B6608E-2E45-4C35-B748-D57EE4767D2A}"/>
              </a:ext>
            </a:extLst>
          </p:cNvPr>
          <p:cNvSpPr>
            <a:spLocks xmlns:a="http://schemas.openxmlformats.org/drawingml/2006/main" noGrp="1"/>
          </p:cNvSpPr>
          <p:nvPr/>
        </p:nvSpPr>
        <p:spPr>
          <a:xfrm xmlns:a="http://schemas.openxmlformats.org/drawingml/2006/main">
            <a:off x="8667750" y="197167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75" b="0">
                <a:solidFill>
                  <a:srgbClr val="F5F8FB"/>
                </a:solidFill>
                <a:latin typeface="Arial"/>
                <a:ea typeface="Arial"/>
                <a:cs typeface="Arial"/>
              </a:defRPr>
            </a:pPr>
            <a:r>
              <a:rPr sz="1275" b="0">
                <a:solidFill>
                  <a:srgbClr val="F5F8FB"/>
                </a:solidFill>
                <a:latin typeface="Arial"/>
                <a:ea typeface="Arial"/>
                <a:cs typeface="Arial"/>
              </a:rPr>
              <a:t>‫טווח כניסה, לא מחיר קסם‬</a:t>
            </a:r>
          </a:p>
        </p:txBody>
      </p:sp>
      <p:sp>
        <p:nvSpPr>
          <p:cNvPr id="12" name="">
            <a:extLst xmlns:a="http://schemas.openxmlformats.org/drawingml/2006/main">
              <a:ext uri="{FF2B5EF4-FFF2-40B4-BE49-F238E27FC236}">
                <a16:creationId xmlns:a16="http://schemas.microsoft.com/office/drawing/2014/main" id="{800E0E09-FE9D-47E7-840E-6E4033119837}"/>
              </a:ext>
            </a:extLst>
          </p:cNvPr>
          <p:cNvSpPr>
            <a:spLocks xmlns:a="http://schemas.openxmlformats.org/drawingml/2006/main" noGrp="1"/>
          </p:cNvSpPr>
          <p:nvPr/>
        </p:nvSpPr>
        <p:spPr>
          <a:xfrm xmlns:a="http://schemas.openxmlformats.org/drawingml/2006/main">
            <a:off x="8667750" y="25050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52DCC3"/>
                </a:solidFill>
                <a:latin typeface="Arial"/>
                <a:ea typeface="Arial"/>
                <a:cs typeface="Arial"/>
              </a:defRPr>
            </a:pPr>
            <a:r>
              <a:rPr sz="1125" b="1">
                <a:solidFill>
                  <a:srgbClr val="52DCC3"/>
                </a:solidFill>
                <a:latin typeface="Arial"/>
                <a:ea typeface="Arial"/>
                <a:cs typeface="Arial"/>
              </a:rPr>
              <a:t>Targets + Stop</a:t>
            </a:r>
          </a:p>
        </p:txBody>
      </p:sp>
      <p:sp>
        <p:nvSpPr>
          <p:cNvPr id="13" name="">
            <a:extLst xmlns:a="http://schemas.openxmlformats.org/drawingml/2006/main">
              <a:ext uri="{FF2B5EF4-FFF2-40B4-BE49-F238E27FC236}">
                <a16:creationId xmlns:a16="http://schemas.microsoft.com/office/drawing/2014/main" id="{AE2E11F7-D2D3-499C-812E-CEEB0C6D64D8}"/>
              </a:ext>
            </a:extLst>
          </p:cNvPr>
          <p:cNvSpPr>
            <a:spLocks xmlns:a="http://schemas.openxmlformats.org/drawingml/2006/main" noGrp="1"/>
          </p:cNvSpPr>
          <p:nvPr/>
        </p:nvSpPr>
        <p:spPr>
          <a:xfrm xmlns:a="http://schemas.openxmlformats.org/drawingml/2006/main">
            <a:off x="8667750" y="275272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75" b="0">
                <a:solidFill>
                  <a:srgbClr val="F5F8FB"/>
                </a:solidFill>
                <a:latin typeface="Arial"/>
                <a:ea typeface="Arial"/>
                <a:cs typeface="Arial"/>
              </a:defRPr>
            </a:pPr>
            <a:r>
              <a:rPr sz="1275" b="0">
                <a:solidFill>
                  <a:srgbClr val="F5F8FB"/>
                </a:solidFill>
                <a:latin typeface="Arial"/>
                <a:ea typeface="Arial"/>
                <a:cs typeface="Arial"/>
              </a:rPr>
              <a:t>‫יעדים ונקודת ביטול‬</a:t>
            </a:r>
          </a:p>
        </p:txBody>
      </p:sp>
      <p:sp>
        <p:nvSpPr>
          <p:cNvPr id="14" name="">
            <a:extLst xmlns:a="http://schemas.openxmlformats.org/drawingml/2006/main">
              <a:ext uri="{FF2B5EF4-FFF2-40B4-BE49-F238E27FC236}">
                <a16:creationId xmlns:a16="http://schemas.microsoft.com/office/drawing/2014/main" id="{860DC5BB-A388-4C57-8E17-5EFA129EE879}"/>
              </a:ext>
            </a:extLst>
          </p:cNvPr>
          <p:cNvSpPr>
            <a:spLocks xmlns:a="http://schemas.openxmlformats.org/drawingml/2006/main" noGrp="1"/>
          </p:cNvSpPr>
          <p:nvPr/>
        </p:nvSpPr>
        <p:spPr>
          <a:xfrm xmlns:a="http://schemas.openxmlformats.org/drawingml/2006/main">
            <a:off x="8667750" y="32861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52DCC3"/>
                </a:solidFill>
                <a:latin typeface="Arial"/>
                <a:ea typeface="Arial"/>
                <a:cs typeface="Arial"/>
              </a:defRPr>
            </a:pPr>
            <a:r>
              <a:rPr sz="1125" b="1">
                <a:solidFill>
                  <a:srgbClr val="52DCC3"/>
                </a:solidFill>
                <a:latin typeface="Arial"/>
                <a:ea typeface="Arial"/>
                <a:cs typeface="Arial"/>
              </a:rPr>
              <a:t>Risk / Reward</a:t>
            </a:r>
          </a:p>
        </p:txBody>
      </p:sp>
      <p:sp>
        <p:nvSpPr>
          <p:cNvPr id="15" name="">
            <a:extLst xmlns:a="http://schemas.openxmlformats.org/drawingml/2006/main">
              <a:ext uri="{FF2B5EF4-FFF2-40B4-BE49-F238E27FC236}">
                <a16:creationId xmlns:a16="http://schemas.microsoft.com/office/drawing/2014/main" id="{442D4ED5-F4EB-40BB-917B-9D17CC822D7B}"/>
              </a:ext>
            </a:extLst>
          </p:cNvPr>
          <p:cNvSpPr>
            <a:spLocks xmlns:a="http://schemas.openxmlformats.org/drawingml/2006/main" noGrp="1"/>
          </p:cNvSpPr>
          <p:nvPr/>
        </p:nvSpPr>
        <p:spPr>
          <a:xfrm xmlns:a="http://schemas.openxmlformats.org/drawingml/2006/main">
            <a:off x="8667750" y="353377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75" b="0">
                <a:solidFill>
                  <a:srgbClr val="F5F8FB"/>
                </a:solidFill>
                <a:latin typeface="Arial"/>
                <a:ea typeface="Arial"/>
                <a:cs typeface="Arial"/>
              </a:defRPr>
            </a:pPr>
            <a:r>
              <a:rPr sz="1275" b="0">
                <a:solidFill>
                  <a:srgbClr val="F5F8FB"/>
                </a:solidFill>
                <a:latin typeface="Arial"/>
                <a:ea typeface="Arial"/>
                <a:cs typeface="Arial"/>
              </a:rPr>
              <a:t>‫כדאיות מול הסיכון‬</a:t>
            </a:r>
          </a:p>
        </p:txBody>
      </p:sp>
      <p:sp>
        <p:nvSpPr>
          <p:cNvPr id="16" name="">
            <a:extLst xmlns:a="http://schemas.openxmlformats.org/drawingml/2006/main">
              <a:ext uri="{FF2B5EF4-FFF2-40B4-BE49-F238E27FC236}">
                <a16:creationId xmlns:a16="http://schemas.microsoft.com/office/drawing/2014/main" id="{6EE3C2BB-4779-42DA-AE7C-2888D4AE455C}"/>
              </a:ext>
            </a:extLst>
          </p:cNvPr>
          <p:cNvSpPr>
            <a:spLocks xmlns:a="http://schemas.openxmlformats.org/drawingml/2006/main" noGrp="1"/>
          </p:cNvSpPr>
          <p:nvPr/>
        </p:nvSpPr>
        <p:spPr>
          <a:xfrm xmlns:a="http://schemas.openxmlformats.org/drawingml/2006/main">
            <a:off x="8667750" y="40671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52DCC3"/>
                </a:solidFill>
                <a:latin typeface="Arial"/>
                <a:ea typeface="Arial"/>
                <a:cs typeface="Arial"/>
              </a:defRPr>
            </a:pPr>
            <a:r>
              <a:rPr sz="1125" b="1">
                <a:solidFill>
                  <a:srgbClr val="52DCC3"/>
                </a:solidFill>
                <a:latin typeface="Arial"/>
                <a:ea typeface="Arial"/>
                <a:cs typeface="Arial"/>
              </a:rPr>
              <a:t>Position Size</a:t>
            </a:r>
          </a:p>
        </p:txBody>
      </p:sp>
      <p:sp>
        <p:nvSpPr>
          <p:cNvPr id="17" name="">
            <a:extLst xmlns:a="http://schemas.openxmlformats.org/drawingml/2006/main">
              <a:ext uri="{FF2B5EF4-FFF2-40B4-BE49-F238E27FC236}">
                <a16:creationId xmlns:a16="http://schemas.microsoft.com/office/drawing/2014/main" id="{820EFE1C-E12A-4483-9AFE-ACA91482D9C0}"/>
              </a:ext>
            </a:extLst>
          </p:cNvPr>
          <p:cNvSpPr>
            <a:spLocks xmlns:a="http://schemas.openxmlformats.org/drawingml/2006/main" noGrp="1"/>
          </p:cNvSpPr>
          <p:nvPr/>
        </p:nvSpPr>
        <p:spPr>
          <a:xfrm xmlns:a="http://schemas.openxmlformats.org/drawingml/2006/main">
            <a:off x="8667750" y="431482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75" b="0">
                <a:solidFill>
                  <a:srgbClr val="F5F8FB"/>
                </a:solidFill>
                <a:latin typeface="Arial"/>
                <a:ea typeface="Arial"/>
                <a:cs typeface="Arial"/>
              </a:defRPr>
            </a:pPr>
            <a:r>
              <a:rPr sz="1275" b="0">
                <a:solidFill>
                  <a:srgbClr val="F5F8FB"/>
                </a:solidFill>
                <a:latin typeface="Arial"/>
                <a:ea typeface="Arial"/>
                <a:cs typeface="Arial"/>
              </a:rPr>
              <a:t>‫חשיפה לפי שני אחוזים מהתיק‬</a:t>
            </a:r>
          </a:p>
        </p:txBody>
      </p:sp>
      <p:sp>
        <p:nvSpPr>
          <p:cNvPr id="18" name="">
            <a:extLst xmlns:a="http://schemas.openxmlformats.org/drawingml/2006/main">
              <a:ext uri="{FF2B5EF4-FFF2-40B4-BE49-F238E27FC236}">
                <a16:creationId xmlns:a16="http://schemas.microsoft.com/office/drawing/2014/main" id="{C6683DEB-18D2-406A-8F69-A642A2ED3B1D}"/>
              </a:ext>
            </a:extLst>
          </p:cNvPr>
          <p:cNvSpPr>
            <a:spLocks xmlns:a="http://schemas.openxmlformats.org/drawingml/2006/main" noGrp="1"/>
          </p:cNvSpPr>
          <p:nvPr/>
        </p:nvSpPr>
        <p:spPr>
          <a:xfrm xmlns:a="http://schemas.openxmlformats.org/drawingml/2006/main">
            <a:off x="8667750" y="484822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F2B84B"/>
                </a:solidFill>
                <a:latin typeface="Arial"/>
                <a:ea typeface="Arial"/>
                <a:cs typeface="Arial"/>
              </a:defRPr>
            </a:pPr>
            <a:r>
              <a:rPr sz="1125" b="1">
                <a:solidFill>
                  <a:srgbClr val="F2B84B"/>
                </a:solidFill>
                <a:latin typeface="Arial"/>
                <a:ea typeface="Arial"/>
                <a:cs typeface="Arial"/>
              </a:rPr>
              <a:t>Shadow Mode</a:t>
            </a:r>
          </a:p>
        </p:txBody>
      </p:sp>
      <p:sp>
        <p:nvSpPr>
          <p:cNvPr id="19" name="">
            <a:extLst xmlns:a="http://schemas.openxmlformats.org/drawingml/2006/main">
              <a:ext uri="{FF2B5EF4-FFF2-40B4-BE49-F238E27FC236}">
                <a16:creationId xmlns:a16="http://schemas.microsoft.com/office/drawing/2014/main" id="{6099DA34-01E3-4C7B-94D8-C8446B527BAD}"/>
              </a:ext>
            </a:extLst>
          </p:cNvPr>
          <p:cNvSpPr>
            <a:spLocks xmlns:a="http://schemas.openxmlformats.org/drawingml/2006/main" noGrp="1"/>
          </p:cNvSpPr>
          <p:nvPr/>
        </p:nvSpPr>
        <p:spPr>
          <a:xfrm xmlns:a="http://schemas.openxmlformats.org/drawingml/2006/main">
            <a:off x="8667750" y="5095875"/>
            <a:ext cx="2524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75" b="0">
                <a:solidFill>
                  <a:srgbClr val="F5F8FB"/>
                </a:solidFill>
                <a:latin typeface="Arial"/>
                <a:ea typeface="Arial"/>
                <a:cs typeface="Arial"/>
              </a:defRPr>
            </a:pPr>
            <a:r>
              <a:rPr sz="1275" b="0">
                <a:solidFill>
                  <a:srgbClr val="F5F8FB"/>
                </a:solidFill>
                <a:latin typeface="Arial"/>
                <a:ea typeface="Arial"/>
                <a:cs typeface="Arial"/>
              </a:rPr>
              <a:t>‫איסוף ראיות לפני קידום‬</a:t>
            </a:r>
          </a:p>
        </p:txBody>
      </p:sp>
    </p:spTree>
    <p:extLst>
      <p:ext uri="{BB962C8B-B14F-4D97-AF65-F5344CB8AC3E}">
        <p14:creationId xmlns:p14="http://schemas.microsoft.com/office/powerpoint/2010/main" val="1151567556"/>
      </p:ext>
    </p:extLst>
  </p:cSld>
</p:sld>
</file>

<file path=ppt/slides/slide9.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1ED28FA-B9AD-482F-96FE-064CB5C010A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FFB762D6-629E-4B98-8B02-6C24E2D060FB}"/>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VALIDATION</a:t>
            </a:r>
          </a:p>
        </p:txBody>
      </p:sp>
      <p:sp>
        <p:nvSpPr>
          <p:cNvPr id="3" name="">
            <a:extLst xmlns:a="http://schemas.openxmlformats.org/drawingml/2006/main">
              <a:ext uri="{FF2B5EF4-FFF2-40B4-BE49-F238E27FC236}">
                <a16:creationId xmlns:a16="http://schemas.microsoft.com/office/drawing/2014/main" id="{84D63649-8247-47F7-990A-D7BA3187B0A1}"/>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‫בדיקה היסטורית בלי להסתיר תוצאות לא יפות‬</a:t>
            </a:r>
          </a:p>
        </p:txBody>
      </p:sp>
      <p:sp>
        <p:nvSpPr>
          <p:cNvPr id="4" name="">
            <a:extLst xmlns:a="http://schemas.openxmlformats.org/drawingml/2006/main">
              <a:ext uri="{FF2B5EF4-FFF2-40B4-BE49-F238E27FC236}">
                <a16:creationId xmlns:a16="http://schemas.microsoft.com/office/drawing/2014/main" id="{839FFCA9-C8FD-423A-8A62-C853F9EE950A}"/>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‫המטרה היא ניסוי אמין ושחזורי, לא גרף שמבטיח כסף‬</a:t>
            </a:r>
          </a:p>
        </p:txBody>
      </p:sp>
      <p:sp>
        <p:nvSpPr>
          <p:cNvPr id="5" name="">
            <a:extLst xmlns:a="http://schemas.openxmlformats.org/drawingml/2006/main">
              <a:ext uri="{FF2B5EF4-FFF2-40B4-BE49-F238E27FC236}">
                <a16:creationId xmlns:a16="http://schemas.microsoft.com/office/drawing/2014/main" id="{0BE80399-2019-4FC1-9D6F-A45569ED3F26}"/>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59F2A7D3-C92E-4AA5-B14C-51A043A49C88}"/>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B5E55117-27DD-44A6-86D8-E823E905718E}"/>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5BC84B3F-17D7-47D2-81A3-B17577243BC1}"/>
              </a:ext>
            </a:extLst>
          </p:cNvPr>
          <p:cNvSpPr>
            <a:spLocks xmlns:a="http://schemas.openxmlformats.org/drawingml/2006/main" noGrp="1"/>
          </p:cNvSpPr>
          <p:nvPr/>
        </p:nvSpPr>
        <p:spPr>
          <a:xfrm xmlns:a="http://schemas.openxmlformats.org/drawingml/2006/main">
            <a:off x="466725" y="1552575"/>
            <a:ext cx="7753350" cy="4495800"/>
          </a:xfrm>
          <a:prstGeom xmlns:a="http://schemas.openxmlformats.org/drawingml/2006/main" prst="roundRect">
            <a:avLst>
              <a:gd name="adj" fmla="val 2542"/>
            </a:avLst>
          </a:prstGeom>
          <a:solidFill xmlns:a="http://schemas.openxmlformats.org/drawingml/2006/main">
            <a:srgbClr val="102940"/>
          </a:solidFill>
          <a:ln xmlns:a="http://schemas.openxmlformats.org/drawingml/2006/main" w="9525">
            <a:solidFill>
              <a:srgbClr val="24445F"/>
            </a:solid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19a2782ccaf4a89"/>
          <a:stretch xmlns:a="http://schemas.openxmlformats.org/drawingml/2006/main"/>
        </p:blipFill>
        <p:spPr>
          <a:xfrm xmlns:a="http://schemas.openxmlformats.org/drawingml/2006/main">
            <a:off x="533400" y="1657350"/>
            <a:ext cx="7620000" cy="4286250"/>
          </a:xfrm>
          <a:prstGeom xmlns:a="http://schemas.openxmlformats.org/drawingml/2006/main" prst="roundRect">
            <a:avLst>
              <a:gd name="adj" fmla="val 1747"/>
            </a:avLst>
          </a:prstGeom>
        </p:spPr>
      </p:pic>
      <p:sp>
        <p:nvSpPr>
          <p:cNvPr id="10" name="">
            <a:extLst xmlns:a="http://schemas.openxmlformats.org/drawingml/2006/main">
              <a:ext uri="{FF2B5EF4-FFF2-40B4-BE49-F238E27FC236}">
                <a16:creationId xmlns:a16="http://schemas.microsoft.com/office/drawing/2014/main" id="{C8425DB1-B738-4F52-94EE-9CB6CF703FA6}"/>
              </a:ext>
            </a:extLst>
          </p:cNvPr>
          <p:cNvSpPr>
            <a:spLocks xmlns:a="http://schemas.openxmlformats.org/drawingml/2006/main" noGrp="1"/>
          </p:cNvSpPr>
          <p:nvPr/>
        </p:nvSpPr>
        <p:spPr>
          <a:xfrm xmlns:a="http://schemas.openxmlformats.org/drawingml/2006/main">
            <a:off x="8496300" y="1695450"/>
            <a:ext cx="28003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1" name="">
            <a:extLst xmlns:a="http://schemas.openxmlformats.org/drawingml/2006/main">
              <a:ext uri="{FF2B5EF4-FFF2-40B4-BE49-F238E27FC236}">
                <a16:creationId xmlns:a16="http://schemas.microsoft.com/office/drawing/2014/main" id="{DE9DA727-8062-4AFC-BB8E-9549C0C4AEDE}"/>
              </a:ext>
            </a:extLst>
          </p:cNvPr>
          <p:cNvSpPr>
            <a:spLocks xmlns:a="http://schemas.openxmlformats.org/drawingml/2006/main" noGrp="1"/>
          </p:cNvSpPr>
          <p:nvPr/>
        </p:nvSpPr>
        <p:spPr>
          <a:xfrm xmlns:a="http://schemas.openxmlformats.org/drawingml/2006/main">
            <a:off x="8667750" y="1809750"/>
            <a:ext cx="2457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73B7FF"/>
                </a:solidFill>
                <a:latin typeface="Arial"/>
                <a:ea typeface="Arial"/>
                <a:cs typeface="Arial"/>
              </a:defRPr>
            </a:pPr>
            <a:r>
              <a:rPr sz="2175" b="1">
                <a:solidFill>
                  <a:srgbClr val="73B7FF"/>
                </a:solidFill>
                <a:latin typeface="Arial"/>
                <a:ea typeface="Arial"/>
                <a:cs typeface="Arial"/>
              </a:rPr>
              <a:t>41</a:t>
            </a:r>
          </a:p>
        </p:txBody>
      </p:sp>
      <p:sp>
        <p:nvSpPr>
          <p:cNvPr id="12" name="">
            <a:extLst xmlns:a="http://schemas.openxmlformats.org/drawingml/2006/main">
              <a:ext uri="{FF2B5EF4-FFF2-40B4-BE49-F238E27FC236}">
                <a16:creationId xmlns:a16="http://schemas.microsoft.com/office/drawing/2014/main" id="{1DB6935D-C4B7-4BCB-935E-715C904ED5F8}"/>
              </a:ext>
            </a:extLst>
          </p:cNvPr>
          <p:cNvSpPr>
            <a:spLocks xmlns:a="http://schemas.openxmlformats.org/drawingml/2006/main" noGrp="1"/>
          </p:cNvSpPr>
          <p:nvPr/>
        </p:nvSpPr>
        <p:spPr>
          <a:xfrm xmlns:a="http://schemas.openxmlformats.org/drawingml/2006/main">
            <a:off x="8667750" y="22860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‫ימי מסחר מאושרים‬</a:t>
            </a:r>
          </a:p>
        </p:txBody>
      </p:sp>
      <p:sp>
        <p:nvSpPr>
          <p:cNvPr id="13" name="">
            <a:extLst xmlns:a="http://schemas.openxmlformats.org/drawingml/2006/main">
              <a:ext uri="{FF2B5EF4-FFF2-40B4-BE49-F238E27FC236}">
                <a16:creationId xmlns:a16="http://schemas.microsoft.com/office/drawing/2014/main" id="{8B0E8DE2-78F8-42BE-8D3C-64C022B1AFCC}"/>
              </a:ext>
            </a:extLst>
          </p:cNvPr>
          <p:cNvSpPr>
            <a:spLocks xmlns:a="http://schemas.openxmlformats.org/drawingml/2006/main" noGrp="1"/>
          </p:cNvSpPr>
          <p:nvPr/>
        </p:nvSpPr>
        <p:spPr>
          <a:xfrm xmlns:a="http://schemas.openxmlformats.org/drawingml/2006/main">
            <a:off x="8496300" y="2876550"/>
            <a:ext cx="28003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4" name="">
            <a:extLst xmlns:a="http://schemas.openxmlformats.org/drawingml/2006/main">
              <a:ext uri="{FF2B5EF4-FFF2-40B4-BE49-F238E27FC236}">
                <a16:creationId xmlns:a16="http://schemas.microsoft.com/office/drawing/2014/main" id="{7A9E40A2-B163-4DAD-BDFE-B93883077FD2}"/>
              </a:ext>
            </a:extLst>
          </p:cNvPr>
          <p:cNvSpPr>
            <a:spLocks xmlns:a="http://schemas.openxmlformats.org/drawingml/2006/main" noGrp="1"/>
          </p:cNvSpPr>
          <p:nvPr/>
        </p:nvSpPr>
        <p:spPr>
          <a:xfrm xmlns:a="http://schemas.openxmlformats.org/drawingml/2006/main">
            <a:off x="8667750" y="2990850"/>
            <a:ext cx="2457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52DCC3"/>
                </a:solidFill>
                <a:latin typeface="Arial"/>
                <a:ea typeface="Arial"/>
                <a:cs typeface="Arial"/>
              </a:defRPr>
            </a:pPr>
            <a:r>
              <a:rPr sz="2175" b="1">
                <a:solidFill>
                  <a:srgbClr val="52DCC3"/>
                </a:solidFill>
                <a:latin typeface="Arial"/>
                <a:ea typeface="Arial"/>
                <a:cs typeface="Arial"/>
              </a:rPr>
              <a:t>46,749</a:t>
            </a:r>
          </a:p>
        </p:txBody>
      </p:sp>
      <p:sp>
        <p:nvSpPr>
          <p:cNvPr id="15" name="">
            <a:extLst xmlns:a="http://schemas.openxmlformats.org/drawingml/2006/main">
              <a:ext uri="{FF2B5EF4-FFF2-40B4-BE49-F238E27FC236}">
                <a16:creationId xmlns:a16="http://schemas.microsoft.com/office/drawing/2014/main" id="{F11EA73C-8277-4034-882C-BC8D57C5DB72}"/>
              </a:ext>
            </a:extLst>
          </p:cNvPr>
          <p:cNvSpPr>
            <a:spLocks xmlns:a="http://schemas.openxmlformats.org/drawingml/2006/main" noGrp="1"/>
          </p:cNvSpPr>
          <p:nvPr/>
        </p:nvSpPr>
        <p:spPr>
          <a:xfrm xmlns:a="http://schemas.openxmlformats.org/drawingml/2006/main">
            <a:off x="8667750" y="34671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‫תצפיות‬</a:t>
            </a:r>
          </a:p>
        </p:txBody>
      </p:sp>
      <p:sp>
        <p:nvSpPr>
          <p:cNvPr id="16" name="">
            <a:extLst xmlns:a="http://schemas.openxmlformats.org/drawingml/2006/main">
              <a:ext uri="{FF2B5EF4-FFF2-40B4-BE49-F238E27FC236}">
                <a16:creationId xmlns:a16="http://schemas.microsoft.com/office/drawing/2014/main" id="{9A16357B-EDBD-4927-9E3B-929A4F5B05B1}"/>
              </a:ext>
            </a:extLst>
          </p:cNvPr>
          <p:cNvSpPr>
            <a:spLocks xmlns:a="http://schemas.openxmlformats.org/drawingml/2006/main" noGrp="1"/>
          </p:cNvSpPr>
          <p:nvPr/>
        </p:nvSpPr>
        <p:spPr>
          <a:xfrm xmlns:a="http://schemas.openxmlformats.org/drawingml/2006/main">
            <a:off x="8496300" y="4057650"/>
            <a:ext cx="2800350" cy="1066800"/>
          </a:xfrm>
          <a:prstGeom xmlns:a="http://schemas.openxmlformats.org/drawingml/2006/main" prst="roundRect">
            <a:avLst>
              <a:gd name="adj" fmla="val 10714"/>
            </a:avLst>
          </a:prstGeom>
          <a:solidFill xmlns:a="http://schemas.openxmlformats.org/drawingml/2006/main">
            <a:srgbClr val="0D2035"/>
          </a:solidFill>
          <a:ln xmlns:a="http://schemas.openxmlformats.org/drawingml/2006/main" w="9525">
            <a:solidFill>
              <a:srgbClr val="24445F"/>
            </a:solidFill>
          </a:ln>
        </p:spPr>
      </p:sp>
      <p:sp>
        <p:nvSpPr>
          <p:cNvPr id="17" name="">
            <a:extLst xmlns:a="http://schemas.openxmlformats.org/drawingml/2006/main">
              <a:ext uri="{FF2B5EF4-FFF2-40B4-BE49-F238E27FC236}">
                <a16:creationId xmlns:a16="http://schemas.microsoft.com/office/drawing/2014/main" id="{C25402B8-17F4-4931-9AEF-722C6D496D6C}"/>
              </a:ext>
            </a:extLst>
          </p:cNvPr>
          <p:cNvSpPr>
            <a:spLocks xmlns:a="http://schemas.openxmlformats.org/drawingml/2006/main" noGrp="1"/>
          </p:cNvSpPr>
          <p:nvPr/>
        </p:nvSpPr>
        <p:spPr>
          <a:xfrm xmlns:a="http://schemas.openxmlformats.org/drawingml/2006/main">
            <a:off x="8667750" y="4171950"/>
            <a:ext cx="2457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175" b="1">
                <a:solidFill>
                  <a:srgbClr val="F2B84B"/>
                </a:solidFill>
                <a:latin typeface="Arial"/>
                <a:ea typeface="Arial"/>
                <a:cs typeface="Arial"/>
              </a:defRPr>
            </a:pPr>
            <a:r>
              <a:rPr sz="2175" b="1">
                <a:solidFill>
                  <a:srgbClr val="F2B84B"/>
                </a:solidFill>
                <a:latin typeface="Arial"/>
                <a:ea typeface="Arial"/>
                <a:cs typeface="Arial"/>
              </a:rPr>
              <a:t>1,059</a:t>
            </a:r>
          </a:p>
        </p:txBody>
      </p:sp>
      <p:sp>
        <p:nvSpPr>
          <p:cNvPr id="18" name="">
            <a:extLst xmlns:a="http://schemas.openxmlformats.org/drawingml/2006/main">
              <a:ext uri="{FF2B5EF4-FFF2-40B4-BE49-F238E27FC236}">
                <a16:creationId xmlns:a16="http://schemas.microsoft.com/office/drawing/2014/main" id="{72E19972-5A03-4028-AEBA-0CDDBD6C27FB}"/>
              </a:ext>
            </a:extLst>
          </p:cNvPr>
          <p:cNvSpPr>
            <a:spLocks xmlns:a="http://schemas.openxmlformats.org/drawingml/2006/main" noGrp="1"/>
          </p:cNvSpPr>
          <p:nvPr/>
        </p:nvSpPr>
        <p:spPr>
          <a:xfrm xmlns:a="http://schemas.openxmlformats.org/drawingml/2006/main">
            <a:off x="8667750" y="464820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0">
                <a:solidFill>
                  <a:srgbClr val="A7BED3"/>
                </a:solidFill>
                <a:latin typeface="Arial"/>
                <a:ea typeface="Arial"/>
                <a:cs typeface="Arial"/>
              </a:defRPr>
            </a:pPr>
            <a:r>
              <a:rPr sz="1125" b="0">
                <a:solidFill>
                  <a:srgbClr val="A7BED3"/>
                </a:solidFill>
                <a:latin typeface="Arial"/>
                <a:ea typeface="Arial"/>
                <a:cs typeface="Arial"/>
              </a:rPr>
              <a:t>‫שינויי פוזיציה‬</a:t>
            </a:r>
          </a:p>
        </p:txBody>
      </p:sp>
      <p:sp>
        <p:nvSpPr>
          <p:cNvPr id="19" name="">
            <a:extLst xmlns:a="http://schemas.openxmlformats.org/drawingml/2006/main">
              <a:ext uri="{FF2B5EF4-FFF2-40B4-BE49-F238E27FC236}">
                <a16:creationId xmlns:a16="http://schemas.microsoft.com/office/drawing/2014/main" id="{7936177C-9D08-490F-929C-919377DDE400}"/>
              </a:ext>
            </a:extLst>
          </p:cNvPr>
          <p:cNvSpPr>
            <a:spLocks xmlns:a="http://schemas.openxmlformats.org/drawingml/2006/main" noGrp="1"/>
          </p:cNvSpPr>
          <p:nvPr/>
        </p:nvSpPr>
        <p:spPr>
          <a:xfrm xmlns:a="http://schemas.openxmlformats.org/drawingml/2006/main">
            <a:off x="8496300" y="5362575"/>
            <a:ext cx="2800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050" b="1">
                <a:solidFill>
                  <a:srgbClr val="A7BED3"/>
                </a:solidFill>
                <a:latin typeface="Arial"/>
                <a:ea typeface="Arial"/>
                <a:cs typeface="Arial"/>
              </a:defRPr>
            </a:pPr>
            <a:r>
              <a:rPr sz="1050" b="1">
                <a:solidFill>
                  <a:srgbClr val="A7BED3"/>
                </a:solidFill>
                <a:latin typeface="Arial"/>
                <a:ea typeface="Arial"/>
                <a:cs typeface="Arial"/>
              </a:rPr>
              <a:t>NEXT-BAR · COSTS · SLIPPAGE · SPY</a:t>
            </a:r>
          </a:p>
        </p:txBody>
      </p:sp>
    </p:spTree>
    <p:extLst>
      <p:ext uri="{BB962C8B-B14F-4D97-AF65-F5344CB8AC3E}">
        <p14:creationId xmlns:p14="http://schemas.microsoft.com/office/powerpoint/2010/main" val="1460810132"/>
      </p:ext>
    </p:extLst>
  </p:cSld>
</p:sld>
</file>

<file path=ppt/slides/slide10.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944ECF-FB78-42A3-B7FB-EB454A1248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5B33DC70-6FA8-491A-9241-5E81FE1300C9}"/>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ENGINEERING CHALLENGES</a:t>
            </a:r>
          </a:p>
        </p:txBody>
      </p:sp>
      <p:sp>
        <p:nvSpPr>
          <p:cNvPr id="3" name="">
            <a:extLst xmlns:a="http://schemas.openxmlformats.org/drawingml/2006/main">
              <a:ext uri="{FF2B5EF4-FFF2-40B4-BE49-F238E27FC236}">
                <a16:creationId xmlns:a16="http://schemas.microsoft.com/office/drawing/2014/main" id="{A59B56E8-8D70-4B62-A98B-6B07740A9123}"/>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9774"/>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‫האתגרים שהפכו את הפרויקט למערכת אמיתית‬</a:t>
            </a:r>
          </a:p>
        </p:txBody>
      </p:sp>
      <p:sp>
        <p:nvSpPr>
          <p:cNvPr id="4" name="">
            <a:extLst xmlns:a="http://schemas.openxmlformats.org/drawingml/2006/main">
              <a:ext uri="{FF2B5EF4-FFF2-40B4-BE49-F238E27FC236}">
                <a16:creationId xmlns:a16="http://schemas.microsoft.com/office/drawing/2014/main" id="{CA357567-173A-4BC2-B46F-0DB583070716}"/>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‫כל תקלה הובילה לבקרת איכות או החלטה ארכיטקטונית‬</a:t>
            </a:r>
          </a:p>
        </p:txBody>
      </p:sp>
      <p:sp>
        <p:nvSpPr>
          <p:cNvPr id="5" name="">
            <a:extLst xmlns:a="http://schemas.openxmlformats.org/drawingml/2006/main">
              <a:ext uri="{FF2B5EF4-FFF2-40B4-BE49-F238E27FC236}">
                <a16:creationId xmlns:a16="http://schemas.microsoft.com/office/drawing/2014/main" id="{EE7FCA99-8535-4793-8EE0-A79AC7A7FD80}"/>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2A03A49F-4B01-4915-B334-E038064E6521}"/>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D0801B04-F3FA-4177-9AC7-0953AB851502}"/>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628CAB21-ED4A-4BC2-BD16-5CE71F188C17}"/>
              </a:ext>
            </a:extLst>
          </p:cNvPr>
          <p:cNvSpPr>
            <a:spLocks xmlns:a="http://schemas.openxmlformats.org/drawingml/2006/main" noGrp="1"/>
          </p:cNvSpPr>
          <p:nvPr/>
        </p:nvSpPr>
        <p:spPr>
          <a:xfrm xmlns:a="http://schemas.openxmlformats.org/drawingml/2006/main">
            <a:off x="533400" y="1657350"/>
            <a:ext cx="11087100" cy="685800"/>
          </a:xfrm>
          <a:prstGeom xmlns:a="http://schemas.openxmlformats.org/drawingml/2006/main" prst="roundRect">
            <a:avLst>
              <a:gd name="adj" fmla="val 16667"/>
            </a:avLst>
          </a:prstGeom>
          <a:solidFill xmlns:a="http://schemas.openxmlformats.org/drawingml/2006/main">
            <a:srgbClr val="0D2035"/>
          </a:solidFill>
          <a:ln xmlns:a="http://schemas.openxmlformats.org/drawingml/2006/main" w="9525">
            <a:solidFill>
              <a:srgbClr val="24445F"/>
            </a:solidFill>
          </a:ln>
        </p:spPr>
      </p:sp>
      <p:sp>
        <p:nvSpPr>
          <p:cNvPr id="9" name="">
            <a:extLst xmlns:a="http://schemas.openxmlformats.org/drawingml/2006/main">
              <a:ext uri="{FF2B5EF4-FFF2-40B4-BE49-F238E27FC236}">
                <a16:creationId xmlns:a16="http://schemas.microsoft.com/office/drawing/2014/main" id="{614DCEFB-AC71-4231-BD97-5BAA9CB7149B}"/>
              </a:ext>
            </a:extLst>
          </p:cNvPr>
          <p:cNvSpPr>
            <a:spLocks xmlns:a="http://schemas.openxmlformats.org/drawingml/2006/main" noGrp="1"/>
          </p:cNvSpPr>
          <p:nvPr/>
        </p:nvSpPr>
        <p:spPr>
          <a:xfrm xmlns:a="http://schemas.openxmlformats.org/drawingml/2006/main">
            <a:off x="723900" y="1838325"/>
            <a:ext cx="5143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52DCC3"/>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52DCC3"/>
                </a:solidFill>
                <a:latin typeface="Arial"/>
                <a:ea typeface="Arial"/>
                <a:cs typeface="Arial"/>
              </a:defRPr>
            </a:pPr>
            <a:r>
              <a:rPr sz="975" b="1">
                <a:solidFill>
                  <a:srgbClr val="52DCC3"/>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1AEA27C4-2374-4442-88A7-63AE25FC9301}"/>
              </a:ext>
            </a:extLst>
          </p:cNvPr>
          <p:cNvSpPr>
            <a:spLocks xmlns:a="http://schemas.openxmlformats.org/drawingml/2006/main" noGrp="1"/>
          </p:cNvSpPr>
          <p:nvPr/>
        </p:nvSpPr>
        <p:spPr>
          <a:xfrm xmlns:a="http://schemas.openxmlformats.org/drawingml/2006/main">
            <a:off x="7858125" y="17811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75" b="1">
                <a:solidFill>
                  <a:srgbClr val="F5F8FB"/>
                </a:solidFill>
                <a:latin typeface="Arial"/>
                <a:ea typeface="Arial"/>
                <a:cs typeface="Arial"/>
              </a:defRPr>
            </a:pPr>
            <a:r>
              <a:rPr sz="1575" b="1">
                <a:solidFill>
                  <a:srgbClr val="F5F8FB"/>
                </a:solidFill>
                <a:latin typeface="Arial"/>
                <a:ea typeface="Arial"/>
                <a:cs typeface="Arial"/>
              </a:rPr>
              <a:t>‫התאוששות וכפילויות‬</a:t>
            </a:r>
          </a:p>
        </p:txBody>
      </p:sp>
      <p:sp>
        <p:nvSpPr>
          <p:cNvPr id="11" name="">
            <a:extLst xmlns:a="http://schemas.openxmlformats.org/drawingml/2006/main">
              <a:ext uri="{FF2B5EF4-FFF2-40B4-BE49-F238E27FC236}">
                <a16:creationId xmlns:a16="http://schemas.microsoft.com/office/drawing/2014/main" id="{F9A20041-2C95-47AD-B246-51D289D68075}"/>
              </a:ext>
            </a:extLst>
          </p:cNvPr>
          <p:cNvSpPr>
            <a:spLocks xmlns:a="http://schemas.openxmlformats.org/drawingml/2006/main" noGrp="1"/>
          </p:cNvSpPr>
          <p:nvPr/>
        </p:nvSpPr>
        <p:spPr>
          <a:xfrm xmlns:a="http://schemas.openxmlformats.org/drawingml/2006/main">
            <a:off x="1524000" y="1781175"/>
            <a:ext cx="595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‫מפתחות עסקיים, כתיבה חוזרת בטוחה ונקודת התאוששות עמידה‬</a:t>
            </a:r>
          </a:p>
        </p:txBody>
      </p:sp>
      <p:sp>
        <p:nvSpPr>
          <p:cNvPr id="12" name="">
            <a:extLst xmlns:a="http://schemas.openxmlformats.org/drawingml/2006/main">
              <a:ext uri="{FF2B5EF4-FFF2-40B4-BE49-F238E27FC236}">
                <a16:creationId xmlns:a16="http://schemas.microsoft.com/office/drawing/2014/main" id="{8715A8F2-C5D5-47C5-A3D8-76C485352990}"/>
              </a:ext>
            </a:extLst>
          </p:cNvPr>
          <p:cNvSpPr>
            <a:spLocks xmlns:a="http://schemas.openxmlformats.org/drawingml/2006/main" noGrp="1"/>
          </p:cNvSpPr>
          <p:nvPr/>
        </p:nvSpPr>
        <p:spPr>
          <a:xfrm xmlns:a="http://schemas.openxmlformats.org/drawingml/2006/main">
            <a:off x="533400" y="2495550"/>
            <a:ext cx="11087100" cy="685800"/>
          </a:xfrm>
          <a:prstGeom xmlns:a="http://schemas.openxmlformats.org/drawingml/2006/main" prst="roundRect">
            <a:avLst>
              <a:gd name="adj" fmla="val 16667"/>
            </a:avLst>
          </a:prstGeom>
          <a:solidFill xmlns:a="http://schemas.openxmlformats.org/drawingml/2006/main">
            <a:srgbClr val="0D2035"/>
          </a:solidFill>
          <a:ln xmlns:a="http://schemas.openxmlformats.org/drawingml/2006/main" w="9525">
            <a:solidFill>
              <a:srgbClr val="24445F"/>
            </a:solidFill>
          </a:ln>
        </p:spPr>
      </p:sp>
      <p:sp>
        <p:nvSpPr>
          <p:cNvPr id="13" name="">
            <a:extLst xmlns:a="http://schemas.openxmlformats.org/drawingml/2006/main">
              <a:ext uri="{FF2B5EF4-FFF2-40B4-BE49-F238E27FC236}">
                <a16:creationId xmlns:a16="http://schemas.microsoft.com/office/drawing/2014/main" id="{D1027CFA-09FE-44B2-9440-BD6F51BC24DA}"/>
              </a:ext>
            </a:extLst>
          </p:cNvPr>
          <p:cNvSpPr>
            <a:spLocks xmlns:a="http://schemas.openxmlformats.org/drawingml/2006/main" noGrp="1"/>
          </p:cNvSpPr>
          <p:nvPr/>
        </p:nvSpPr>
        <p:spPr>
          <a:xfrm xmlns:a="http://schemas.openxmlformats.org/drawingml/2006/main">
            <a:off x="723900" y="2676525"/>
            <a:ext cx="5143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333EF9BC-705F-4361-9439-0508404C0E91}"/>
              </a:ext>
            </a:extLst>
          </p:cNvPr>
          <p:cNvSpPr>
            <a:spLocks xmlns:a="http://schemas.openxmlformats.org/drawingml/2006/main" noGrp="1"/>
          </p:cNvSpPr>
          <p:nvPr/>
        </p:nvSpPr>
        <p:spPr>
          <a:xfrm xmlns:a="http://schemas.openxmlformats.org/drawingml/2006/main">
            <a:off x="7858125" y="26193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75" b="1">
                <a:solidFill>
                  <a:srgbClr val="F5F8FB"/>
                </a:solidFill>
                <a:latin typeface="Arial"/>
                <a:ea typeface="Arial"/>
                <a:cs typeface="Arial"/>
              </a:defRPr>
            </a:pPr>
            <a:r>
              <a:rPr sz="1575" b="1">
                <a:solidFill>
                  <a:srgbClr val="F5F8FB"/>
                </a:solidFill>
                <a:latin typeface="Arial"/>
                <a:ea typeface="Arial"/>
                <a:cs typeface="Arial"/>
              </a:rPr>
              <a:t>‫מהירות מול אמינות‬</a:t>
            </a:r>
          </a:p>
        </p:txBody>
      </p:sp>
      <p:sp>
        <p:nvSpPr>
          <p:cNvPr id="15" name="">
            <a:extLst xmlns:a="http://schemas.openxmlformats.org/drawingml/2006/main">
              <a:ext uri="{FF2B5EF4-FFF2-40B4-BE49-F238E27FC236}">
                <a16:creationId xmlns:a16="http://schemas.microsoft.com/office/drawing/2014/main" id="{8CE80DC7-CB39-4E37-8F27-F673A1A2F083}"/>
              </a:ext>
            </a:extLst>
          </p:cNvPr>
          <p:cNvSpPr>
            <a:spLocks xmlns:a="http://schemas.openxmlformats.org/drawingml/2006/main" noGrp="1"/>
          </p:cNvSpPr>
          <p:nvPr/>
        </p:nvSpPr>
        <p:spPr>
          <a:xfrm xmlns:a="http://schemas.openxmlformats.org/drawingml/2006/main">
            <a:off x="1524000" y="2619375"/>
            <a:ext cx="595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‫הפרדת תוצאה זמנית מתוצאה מאושרת והשלמה יומית‬</a:t>
            </a:r>
          </a:p>
        </p:txBody>
      </p:sp>
      <p:sp>
        <p:nvSpPr>
          <p:cNvPr id="16" name="">
            <a:extLst xmlns:a="http://schemas.openxmlformats.org/drawingml/2006/main">
              <a:ext uri="{FF2B5EF4-FFF2-40B4-BE49-F238E27FC236}">
                <a16:creationId xmlns:a16="http://schemas.microsoft.com/office/drawing/2014/main" id="{191DF4F4-9D18-4F28-87BE-E86111C2FEBC}"/>
              </a:ext>
            </a:extLst>
          </p:cNvPr>
          <p:cNvSpPr>
            <a:spLocks xmlns:a="http://schemas.openxmlformats.org/drawingml/2006/main" noGrp="1"/>
          </p:cNvSpPr>
          <p:nvPr/>
        </p:nvSpPr>
        <p:spPr>
          <a:xfrm xmlns:a="http://schemas.openxmlformats.org/drawingml/2006/main">
            <a:off x="533400" y="3333750"/>
            <a:ext cx="11087100" cy="685800"/>
          </a:xfrm>
          <a:prstGeom xmlns:a="http://schemas.openxmlformats.org/drawingml/2006/main" prst="roundRect">
            <a:avLst>
              <a:gd name="adj" fmla="val 16667"/>
            </a:avLst>
          </a:prstGeom>
          <a:solidFill xmlns:a="http://schemas.openxmlformats.org/drawingml/2006/main">
            <a:srgbClr val="0D2035"/>
          </a:solidFill>
          <a:ln xmlns:a="http://schemas.openxmlformats.org/drawingml/2006/main" w="9525">
            <a:solidFill>
              <a:srgbClr val="24445F"/>
            </a:solidFill>
          </a:ln>
        </p:spPr>
      </p:sp>
      <p:sp>
        <p:nvSpPr>
          <p:cNvPr id="17" name="">
            <a:extLst xmlns:a="http://schemas.openxmlformats.org/drawingml/2006/main">
              <a:ext uri="{FF2B5EF4-FFF2-40B4-BE49-F238E27FC236}">
                <a16:creationId xmlns:a16="http://schemas.microsoft.com/office/drawing/2014/main" id="{E95DE912-3920-4488-AA77-37B183A7132F}"/>
              </a:ext>
            </a:extLst>
          </p:cNvPr>
          <p:cNvSpPr>
            <a:spLocks xmlns:a="http://schemas.openxmlformats.org/drawingml/2006/main" noGrp="1"/>
          </p:cNvSpPr>
          <p:nvPr/>
        </p:nvSpPr>
        <p:spPr>
          <a:xfrm xmlns:a="http://schemas.openxmlformats.org/drawingml/2006/main">
            <a:off x="723900" y="3514725"/>
            <a:ext cx="5143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F2B84B"/>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F2B84B"/>
                </a:solidFill>
                <a:latin typeface="Arial"/>
                <a:ea typeface="Arial"/>
                <a:cs typeface="Arial"/>
              </a:defRPr>
            </a:pPr>
            <a:r>
              <a:rPr sz="975" b="1">
                <a:solidFill>
                  <a:srgbClr val="F2B84B"/>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112A1790-5D63-4138-A4BF-4DF30E3ADCAF}"/>
              </a:ext>
            </a:extLst>
          </p:cNvPr>
          <p:cNvSpPr>
            <a:spLocks xmlns:a="http://schemas.openxmlformats.org/drawingml/2006/main" noGrp="1"/>
          </p:cNvSpPr>
          <p:nvPr/>
        </p:nvSpPr>
        <p:spPr>
          <a:xfrm xmlns:a="http://schemas.openxmlformats.org/drawingml/2006/main">
            <a:off x="7858125" y="34575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75" b="1">
                <a:solidFill>
                  <a:srgbClr val="F5F8FB"/>
                </a:solidFill>
                <a:latin typeface="Arial"/>
                <a:ea typeface="Arial"/>
                <a:cs typeface="Arial"/>
              </a:defRPr>
            </a:pPr>
            <a:r>
              <a:rPr sz="1575" b="1">
                <a:solidFill>
                  <a:srgbClr val="F5F8FB"/>
                </a:solidFill>
                <a:latin typeface="Arial"/>
                <a:ea typeface="Arial"/>
                <a:cs typeface="Arial"/>
              </a:rPr>
              <a:t>‫קפיצות מחיר‬</a:t>
            </a:r>
          </a:p>
        </p:txBody>
      </p:sp>
      <p:sp>
        <p:nvSpPr>
          <p:cNvPr id="19" name="">
            <a:extLst xmlns:a="http://schemas.openxmlformats.org/drawingml/2006/main">
              <a:ext uri="{FF2B5EF4-FFF2-40B4-BE49-F238E27FC236}">
                <a16:creationId xmlns:a16="http://schemas.microsoft.com/office/drawing/2014/main" id="{961B7258-EA88-43E3-8ED4-EC8900890096}"/>
              </a:ext>
            </a:extLst>
          </p:cNvPr>
          <p:cNvSpPr>
            <a:spLocks xmlns:a="http://schemas.openxmlformats.org/drawingml/2006/main" noGrp="1"/>
          </p:cNvSpPr>
          <p:nvPr/>
        </p:nvSpPr>
        <p:spPr>
          <a:xfrm xmlns:a="http://schemas.openxmlformats.org/drawingml/2006/main">
            <a:off x="1524000" y="3457575"/>
            <a:ext cx="595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‫אירועי חברה, הסגר לרשומות חריגות ובדיקות עקביות‬</a:t>
            </a:r>
          </a:p>
        </p:txBody>
      </p:sp>
      <p:sp>
        <p:nvSpPr>
          <p:cNvPr id="20" name="">
            <a:extLst xmlns:a="http://schemas.openxmlformats.org/drawingml/2006/main">
              <a:ext uri="{FF2B5EF4-FFF2-40B4-BE49-F238E27FC236}">
                <a16:creationId xmlns:a16="http://schemas.microsoft.com/office/drawing/2014/main" id="{A781FA23-F4A9-448C-8D8D-50AB30C7FCFC}"/>
              </a:ext>
            </a:extLst>
          </p:cNvPr>
          <p:cNvSpPr>
            <a:spLocks xmlns:a="http://schemas.openxmlformats.org/drawingml/2006/main" noGrp="1"/>
          </p:cNvSpPr>
          <p:nvPr/>
        </p:nvSpPr>
        <p:spPr>
          <a:xfrm xmlns:a="http://schemas.openxmlformats.org/drawingml/2006/main">
            <a:off x="533400" y="4171950"/>
            <a:ext cx="11087100" cy="685800"/>
          </a:xfrm>
          <a:prstGeom xmlns:a="http://schemas.openxmlformats.org/drawingml/2006/main" prst="roundRect">
            <a:avLst>
              <a:gd name="adj" fmla="val 16667"/>
            </a:avLst>
          </a:prstGeom>
          <a:solidFill xmlns:a="http://schemas.openxmlformats.org/drawingml/2006/main">
            <a:srgbClr val="0D2035"/>
          </a:solidFill>
          <a:ln xmlns:a="http://schemas.openxmlformats.org/drawingml/2006/main" w="9525">
            <a:solidFill>
              <a:srgbClr val="24445F"/>
            </a:solidFill>
          </a:ln>
        </p:spPr>
      </p:sp>
      <p:sp>
        <p:nvSpPr>
          <p:cNvPr id="21" name="">
            <a:extLst xmlns:a="http://schemas.openxmlformats.org/drawingml/2006/main">
              <a:ext uri="{FF2B5EF4-FFF2-40B4-BE49-F238E27FC236}">
                <a16:creationId xmlns:a16="http://schemas.microsoft.com/office/drawing/2014/main" id="{162868EF-6357-478F-833A-A291D86EC3C2}"/>
              </a:ext>
            </a:extLst>
          </p:cNvPr>
          <p:cNvSpPr>
            <a:spLocks xmlns:a="http://schemas.openxmlformats.org/drawingml/2006/main" noGrp="1"/>
          </p:cNvSpPr>
          <p:nvPr/>
        </p:nvSpPr>
        <p:spPr>
          <a:xfrm xmlns:a="http://schemas.openxmlformats.org/drawingml/2006/main">
            <a:off x="723900" y="4352925"/>
            <a:ext cx="5143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52DCC3"/>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52DCC3"/>
                </a:solidFill>
                <a:latin typeface="Arial"/>
                <a:ea typeface="Arial"/>
                <a:cs typeface="Arial"/>
              </a:defRPr>
            </a:pPr>
            <a:r>
              <a:rPr sz="975" b="1">
                <a:solidFill>
                  <a:srgbClr val="52DCC3"/>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A3834F18-ED44-4CCB-AE15-A06C2E6D2857}"/>
              </a:ext>
            </a:extLst>
          </p:cNvPr>
          <p:cNvSpPr>
            <a:spLocks xmlns:a="http://schemas.openxmlformats.org/drawingml/2006/main" noGrp="1"/>
          </p:cNvSpPr>
          <p:nvPr/>
        </p:nvSpPr>
        <p:spPr>
          <a:xfrm xmlns:a="http://schemas.openxmlformats.org/drawingml/2006/main">
            <a:off x="7858125" y="42957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75" b="1">
                <a:solidFill>
                  <a:srgbClr val="F5F8FB"/>
                </a:solidFill>
                <a:latin typeface="Arial"/>
                <a:ea typeface="Arial"/>
                <a:cs typeface="Arial"/>
              </a:defRPr>
            </a:pPr>
            <a:r>
              <a:rPr sz="1575" b="1">
                <a:solidFill>
                  <a:srgbClr val="F5F8FB"/>
                </a:solidFill>
                <a:latin typeface="Arial"/>
                <a:ea typeface="Arial"/>
                <a:cs typeface="Arial"/>
              </a:rPr>
              <a:t>‫עברית ואנגלית‬</a:t>
            </a:r>
          </a:p>
        </p:txBody>
      </p:sp>
      <p:sp>
        <p:nvSpPr>
          <p:cNvPr id="23" name="">
            <a:extLst xmlns:a="http://schemas.openxmlformats.org/drawingml/2006/main">
              <a:ext uri="{FF2B5EF4-FFF2-40B4-BE49-F238E27FC236}">
                <a16:creationId xmlns:a16="http://schemas.microsoft.com/office/drawing/2014/main" id="{0541D9CA-D274-4DB4-8ED4-07AEE24C6135}"/>
              </a:ext>
            </a:extLst>
          </p:cNvPr>
          <p:cNvSpPr>
            <a:spLocks xmlns:a="http://schemas.openxmlformats.org/drawingml/2006/main" noGrp="1"/>
          </p:cNvSpPr>
          <p:nvPr/>
        </p:nvSpPr>
        <p:spPr>
          <a:xfrm xmlns:a="http://schemas.openxmlformats.org/drawingml/2006/main">
            <a:off x="1524000" y="4295775"/>
            <a:ext cx="595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‫הפרדת תיבות, יישור נכון ובדיקת מסמכים אוטומטית‬</a:t>
            </a:r>
          </a:p>
        </p:txBody>
      </p:sp>
      <p:sp>
        <p:nvSpPr>
          <p:cNvPr id="24" name="">
            <a:extLst xmlns:a="http://schemas.openxmlformats.org/drawingml/2006/main">
              <a:ext uri="{FF2B5EF4-FFF2-40B4-BE49-F238E27FC236}">
                <a16:creationId xmlns:a16="http://schemas.microsoft.com/office/drawing/2014/main" id="{B8BC2DF9-A7A4-42FE-A07C-5136AF65B43E}"/>
              </a:ext>
            </a:extLst>
          </p:cNvPr>
          <p:cNvSpPr>
            <a:spLocks xmlns:a="http://schemas.openxmlformats.org/drawingml/2006/main" noGrp="1"/>
          </p:cNvSpPr>
          <p:nvPr/>
        </p:nvSpPr>
        <p:spPr>
          <a:xfrm xmlns:a="http://schemas.openxmlformats.org/drawingml/2006/main">
            <a:off x="533400" y="5010150"/>
            <a:ext cx="11087100" cy="685800"/>
          </a:xfrm>
          <a:prstGeom xmlns:a="http://schemas.openxmlformats.org/drawingml/2006/main" prst="roundRect">
            <a:avLst>
              <a:gd name="adj" fmla="val 16667"/>
            </a:avLst>
          </a:prstGeom>
          <a:solidFill xmlns:a="http://schemas.openxmlformats.org/drawingml/2006/main">
            <a:srgbClr val="0D2035"/>
          </a:solidFill>
          <a:ln xmlns:a="http://schemas.openxmlformats.org/drawingml/2006/main" w="9525">
            <a:solidFill>
              <a:srgbClr val="24445F"/>
            </a:solidFill>
          </a:ln>
        </p:spPr>
      </p:sp>
      <p:sp>
        <p:nvSpPr>
          <p:cNvPr id="25" name="">
            <a:extLst xmlns:a="http://schemas.openxmlformats.org/drawingml/2006/main">
              <a:ext uri="{FF2B5EF4-FFF2-40B4-BE49-F238E27FC236}">
                <a16:creationId xmlns:a16="http://schemas.microsoft.com/office/drawing/2014/main" id="{699BF73F-94F5-4143-9F92-EBF9D1B1CFAF}"/>
              </a:ext>
            </a:extLst>
          </p:cNvPr>
          <p:cNvSpPr>
            <a:spLocks xmlns:a="http://schemas.openxmlformats.org/drawingml/2006/main" noGrp="1"/>
          </p:cNvSpPr>
          <p:nvPr/>
        </p:nvSpPr>
        <p:spPr>
          <a:xfrm xmlns:a="http://schemas.openxmlformats.org/drawingml/2006/main">
            <a:off x="723900" y="5191125"/>
            <a:ext cx="5143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73B7FF"/>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73B7FF"/>
                </a:solidFill>
                <a:latin typeface="Arial"/>
                <a:ea typeface="Arial"/>
                <a:cs typeface="Arial"/>
              </a:defRPr>
            </a:pPr>
            <a:r>
              <a:rPr sz="975" b="1">
                <a:solidFill>
                  <a:srgbClr val="73B7FF"/>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C7540952-B771-487B-8F4E-B08FA27CA9AE}"/>
              </a:ext>
            </a:extLst>
          </p:cNvPr>
          <p:cNvSpPr>
            <a:spLocks xmlns:a="http://schemas.openxmlformats.org/drawingml/2006/main" noGrp="1"/>
          </p:cNvSpPr>
          <p:nvPr/>
        </p:nvSpPr>
        <p:spPr>
          <a:xfrm xmlns:a="http://schemas.openxmlformats.org/drawingml/2006/main">
            <a:off x="7858125" y="51339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575" b="1">
                <a:solidFill>
                  <a:srgbClr val="F5F8FB"/>
                </a:solidFill>
                <a:latin typeface="Arial"/>
                <a:ea typeface="Arial"/>
                <a:cs typeface="Arial"/>
              </a:defRPr>
            </a:pPr>
            <a:r>
              <a:rPr sz="1575" b="1">
                <a:solidFill>
                  <a:srgbClr val="F5F8FB"/>
                </a:solidFill>
                <a:latin typeface="Arial"/>
                <a:ea typeface="Arial"/>
                <a:cs typeface="Arial"/>
              </a:rPr>
              <a:t>‫דמו עמיד לתקלות‬</a:t>
            </a:r>
          </a:p>
        </p:txBody>
      </p:sp>
      <p:sp>
        <p:nvSpPr>
          <p:cNvPr id="27" name="">
            <a:extLst xmlns:a="http://schemas.openxmlformats.org/drawingml/2006/main">
              <a:ext uri="{FF2B5EF4-FFF2-40B4-BE49-F238E27FC236}">
                <a16:creationId xmlns:a16="http://schemas.microsoft.com/office/drawing/2014/main" id="{8C87281D-07A2-4AAC-BEBA-122C5939961B}"/>
              </a:ext>
            </a:extLst>
          </p:cNvPr>
          <p:cNvSpPr>
            <a:spLocks xmlns:a="http://schemas.openxmlformats.org/drawingml/2006/main" noGrp="1"/>
          </p:cNvSpPr>
          <p:nvPr/>
        </p:nvSpPr>
        <p:spPr>
          <a:xfrm xmlns:a="http://schemas.openxmlformats.org/drawingml/2006/main">
            <a:off x="1524000" y="5133975"/>
            <a:ext cx="595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‫בדיקה מקדימה, מסלול קריאה בלבד וראיות חלופיות‬</a:t>
            </a:r>
          </a:p>
        </p:txBody>
      </p:sp>
    </p:spTree>
    <p:extLst>
      <p:ext uri="{BB962C8B-B14F-4D97-AF65-F5344CB8AC3E}">
        <p14:creationId xmlns:p14="http://schemas.microsoft.com/office/powerpoint/2010/main" val="1618819302"/>
      </p:ext>
    </p:extLst>
  </p:cSld>
</p:sld>
</file>

<file path=ppt/slides/slide1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B4D2A30-09D2-4EC6-B157-716F2094035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C2D6BECD-BA6B-40C7-AD01-22A7499B5F7C}"/>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LIVE DEMO</a:t>
            </a:r>
          </a:p>
        </p:txBody>
      </p:sp>
      <p:sp>
        <p:nvSpPr>
          <p:cNvPr id="3" name="">
            <a:extLst xmlns:a="http://schemas.openxmlformats.org/drawingml/2006/main">
              <a:ext uri="{FF2B5EF4-FFF2-40B4-BE49-F238E27FC236}">
                <a16:creationId xmlns:a16="http://schemas.microsoft.com/office/drawing/2014/main" id="{95FCBE75-5F7F-4D86-A69C-1A21BE704D54}"/>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‫שש דקות: מהאירוע ועד החלטה מוסברת‬</a:t>
            </a:r>
          </a:p>
        </p:txBody>
      </p:sp>
      <p:sp>
        <p:nvSpPr>
          <p:cNvPr id="4" name="">
            <a:extLst xmlns:a="http://schemas.openxmlformats.org/drawingml/2006/main">
              <a:ext uri="{FF2B5EF4-FFF2-40B4-BE49-F238E27FC236}">
                <a16:creationId xmlns:a16="http://schemas.microsoft.com/office/drawing/2014/main" id="{5C3A0AD5-F8A6-421E-8995-757991A2452E}"/>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‫מסלול קריאה בלבד עם נקודת יציאה בטוחה בכל תחנה‬</a:t>
            </a:r>
          </a:p>
        </p:txBody>
      </p:sp>
      <p:sp>
        <p:nvSpPr>
          <p:cNvPr id="5" name="">
            <a:extLst xmlns:a="http://schemas.openxmlformats.org/drawingml/2006/main">
              <a:ext uri="{FF2B5EF4-FFF2-40B4-BE49-F238E27FC236}">
                <a16:creationId xmlns:a16="http://schemas.microsoft.com/office/drawing/2014/main" id="{A65C09D1-CA57-41AA-90C7-0D5B7AE522F3}"/>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AE8927B-0BBE-4DEF-AC47-1DF6879A1062}"/>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14D27201-0361-4144-A917-BAC18D767232}"/>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D77F9CFF-D1FE-498B-8D6F-2866F701374A}"/>
              </a:ext>
            </a:extLst>
          </p:cNvPr>
          <p:cNvSpPr>
            <a:spLocks xmlns:a="http://schemas.openxmlformats.org/drawingml/2006/main" noGrp="1"/>
          </p:cNvSpPr>
          <p:nvPr/>
        </p:nvSpPr>
        <p:spPr>
          <a:xfrm xmlns:a="http://schemas.openxmlformats.org/drawingml/2006/main">
            <a:off x="7962900" y="17716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24445F"/>
            </a:solidFill>
          </a:ln>
        </p:spPr>
      </p:sp>
      <p:sp>
        <p:nvSpPr>
          <p:cNvPr id="9" name="">
            <a:extLst xmlns:a="http://schemas.openxmlformats.org/drawingml/2006/main">
              <a:ext uri="{FF2B5EF4-FFF2-40B4-BE49-F238E27FC236}">
                <a16:creationId xmlns:a16="http://schemas.microsoft.com/office/drawing/2014/main" id="{D2DB9C40-8CFE-4D2E-9DF8-26B1A969C0C0}"/>
              </a:ext>
            </a:extLst>
          </p:cNvPr>
          <p:cNvSpPr>
            <a:spLocks xmlns:a="http://schemas.openxmlformats.org/drawingml/2006/main" noGrp="1"/>
          </p:cNvSpPr>
          <p:nvPr/>
        </p:nvSpPr>
        <p:spPr>
          <a:xfrm xmlns:a="http://schemas.openxmlformats.org/drawingml/2006/main">
            <a:off x="8172450" y="19431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A0C78731-8220-4E8D-B0F5-B32DE3ECB8DA}"/>
              </a:ext>
            </a:extLst>
          </p:cNvPr>
          <p:cNvSpPr>
            <a:spLocks xmlns:a="http://schemas.openxmlformats.org/drawingml/2006/main" noGrp="1"/>
          </p:cNvSpPr>
          <p:nvPr/>
        </p:nvSpPr>
        <p:spPr>
          <a:xfrm xmlns:a="http://schemas.openxmlformats.org/drawingml/2006/main">
            <a:off x="8172450" y="22574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Dashboard</a:t>
            </a:r>
          </a:p>
        </p:txBody>
      </p:sp>
      <p:sp>
        <p:nvSpPr>
          <p:cNvPr id="11" name="">
            <a:extLst xmlns:a="http://schemas.openxmlformats.org/drawingml/2006/main">
              <a:ext uri="{FF2B5EF4-FFF2-40B4-BE49-F238E27FC236}">
                <a16:creationId xmlns:a16="http://schemas.microsoft.com/office/drawing/2014/main" id="{418D4FE1-F796-4DBA-AF33-01542776C226}"/>
              </a:ext>
            </a:extLst>
          </p:cNvPr>
          <p:cNvSpPr>
            <a:spLocks xmlns:a="http://schemas.openxmlformats.org/drawingml/2006/main" noGrp="1"/>
          </p:cNvSpPr>
          <p:nvPr/>
        </p:nvSpPr>
        <p:spPr>
          <a:xfrm xmlns:a="http://schemas.openxmlformats.org/drawingml/2006/main">
            <a:off x="8172450" y="2638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‫תוצאה עסקית וטריות‬</a:t>
            </a:r>
          </a:p>
        </p:txBody>
      </p:sp>
      <p:sp>
        <p:nvSpPr>
          <p:cNvPr id="12" name="">
            <a:extLst xmlns:a="http://schemas.openxmlformats.org/drawingml/2006/main">
              <a:ext uri="{FF2B5EF4-FFF2-40B4-BE49-F238E27FC236}">
                <a16:creationId xmlns:a16="http://schemas.microsoft.com/office/drawing/2014/main" id="{C9B56C29-10AA-4B5D-A7DD-04FE9639E0DB}"/>
              </a:ext>
            </a:extLst>
          </p:cNvPr>
          <p:cNvSpPr>
            <a:spLocks xmlns:a="http://schemas.openxmlformats.org/drawingml/2006/main" noGrp="1"/>
          </p:cNvSpPr>
          <p:nvPr/>
        </p:nvSpPr>
        <p:spPr>
          <a:xfrm xmlns:a="http://schemas.openxmlformats.org/drawingml/2006/main">
            <a:off x="4248150" y="17716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24445F"/>
            </a:solidFill>
          </a:ln>
        </p:spPr>
      </p:sp>
      <p:sp>
        <p:nvSpPr>
          <p:cNvPr id="13" name="">
            <a:extLst xmlns:a="http://schemas.openxmlformats.org/drawingml/2006/main">
              <a:ext uri="{FF2B5EF4-FFF2-40B4-BE49-F238E27FC236}">
                <a16:creationId xmlns:a16="http://schemas.microsoft.com/office/drawing/2014/main" id="{F9CEC273-E49A-4E8E-BDBA-75D03575904D}"/>
              </a:ext>
            </a:extLst>
          </p:cNvPr>
          <p:cNvSpPr>
            <a:spLocks xmlns:a="http://schemas.openxmlformats.org/drawingml/2006/main" noGrp="1"/>
          </p:cNvSpPr>
          <p:nvPr/>
        </p:nvSpPr>
        <p:spPr>
          <a:xfrm xmlns:a="http://schemas.openxmlformats.org/drawingml/2006/main">
            <a:off x="4457700" y="19431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4ACA6AD-AA0E-4D9A-A53C-0DCCFE9D82A1}"/>
              </a:ext>
            </a:extLst>
          </p:cNvPr>
          <p:cNvSpPr>
            <a:spLocks xmlns:a="http://schemas.openxmlformats.org/drawingml/2006/main" noGrp="1"/>
          </p:cNvSpPr>
          <p:nvPr/>
        </p:nvSpPr>
        <p:spPr>
          <a:xfrm xmlns:a="http://schemas.openxmlformats.org/drawingml/2006/main">
            <a:off x="4457700" y="22574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Kafka UI</a:t>
            </a:r>
          </a:p>
        </p:txBody>
      </p:sp>
      <p:sp>
        <p:nvSpPr>
          <p:cNvPr id="15" name="">
            <a:extLst xmlns:a="http://schemas.openxmlformats.org/drawingml/2006/main">
              <a:ext uri="{FF2B5EF4-FFF2-40B4-BE49-F238E27FC236}">
                <a16:creationId xmlns:a16="http://schemas.microsoft.com/office/drawing/2014/main" id="{E83FB2C6-5138-4F1B-8D3E-ED8304099D1A}"/>
              </a:ext>
            </a:extLst>
          </p:cNvPr>
          <p:cNvSpPr>
            <a:spLocks xmlns:a="http://schemas.openxmlformats.org/drawingml/2006/main" noGrp="1"/>
          </p:cNvSpPr>
          <p:nvPr/>
        </p:nvSpPr>
        <p:spPr>
          <a:xfrm xmlns:a="http://schemas.openxmlformats.org/drawingml/2006/main">
            <a:off x="4457700" y="2638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‫אירוע ומיקומו החד־משמעי‬</a:t>
            </a:r>
          </a:p>
        </p:txBody>
      </p:sp>
      <p:sp>
        <p:nvSpPr>
          <p:cNvPr id="16" name="">
            <a:extLst xmlns:a="http://schemas.openxmlformats.org/drawingml/2006/main">
              <a:ext uri="{FF2B5EF4-FFF2-40B4-BE49-F238E27FC236}">
                <a16:creationId xmlns:a16="http://schemas.microsoft.com/office/drawing/2014/main" id="{E309B3FA-A0F2-4004-B079-397BAA21EE3E}"/>
              </a:ext>
            </a:extLst>
          </p:cNvPr>
          <p:cNvSpPr>
            <a:spLocks xmlns:a="http://schemas.openxmlformats.org/drawingml/2006/main" noGrp="1"/>
          </p:cNvSpPr>
          <p:nvPr/>
        </p:nvSpPr>
        <p:spPr>
          <a:xfrm xmlns:a="http://schemas.openxmlformats.org/drawingml/2006/main">
            <a:off x="533400" y="17716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24445F"/>
            </a:solidFill>
          </a:ln>
        </p:spPr>
      </p:sp>
      <p:sp>
        <p:nvSpPr>
          <p:cNvPr id="17" name="">
            <a:extLst xmlns:a="http://schemas.openxmlformats.org/drawingml/2006/main">
              <a:ext uri="{FF2B5EF4-FFF2-40B4-BE49-F238E27FC236}">
                <a16:creationId xmlns:a16="http://schemas.microsoft.com/office/drawing/2014/main" id="{F2237E10-F136-421B-BCFE-453DFAE3540F}"/>
              </a:ext>
            </a:extLst>
          </p:cNvPr>
          <p:cNvSpPr>
            <a:spLocks xmlns:a="http://schemas.openxmlformats.org/drawingml/2006/main" noGrp="1"/>
          </p:cNvSpPr>
          <p:nvPr/>
        </p:nvSpPr>
        <p:spPr>
          <a:xfrm xmlns:a="http://schemas.openxmlformats.org/drawingml/2006/main">
            <a:off x="742950" y="19431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1BB36BA-ED7D-4B39-B81F-78F97EAA14E3}"/>
              </a:ext>
            </a:extLst>
          </p:cNvPr>
          <p:cNvSpPr>
            <a:spLocks xmlns:a="http://schemas.openxmlformats.org/drawingml/2006/main" noGrp="1"/>
          </p:cNvSpPr>
          <p:nvPr/>
        </p:nvSpPr>
        <p:spPr>
          <a:xfrm xmlns:a="http://schemas.openxmlformats.org/drawingml/2006/main">
            <a:off x="742950" y="22574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MinIO</a:t>
            </a:r>
          </a:p>
        </p:txBody>
      </p:sp>
      <p:sp>
        <p:nvSpPr>
          <p:cNvPr id="19" name="">
            <a:extLst xmlns:a="http://schemas.openxmlformats.org/drawingml/2006/main">
              <a:ext uri="{FF2B5EF4-FFF2-40B4-BE49-F238E27FC236}">
                <a16:creationId xmlns:a16="http://schemas.microsoft.com/office/drawing/2014/main" id="{89C56191-99C2-4491-AC48-7600DA7EC653}"/>
              </a:ext>
            </a:extLst>
          </p:cNvPr>
          <p:cNvSpPr>
            <a:spLocks xmlns:a="http://schemas.openxmlformats.org/drawingml/2006/main" noGrp="1"/>
          </p:cNvSpPr>
          <p:nvPr/>
        </p:nvSpPr>
        <p:spPr>
          <a:xfrm xmlns:a="http://schemas.openxmlformats.org/drawingml/2006/main">
            <a:off x="742950" y="2638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‫ראיית המקור הגולמית‬</a:t>
            </a:r>
          </a:p>
        </p:txBody>
      </p:sp>
      <p:sp>
        <p:nvSpPr>
          <p:cNvPr id="20" name="">
            <a:extLst xmlns:a="http://schemas.openxmlformats.org/drawingml/2006/main">
              <a:ext uri="{FF2B5EF4-FFF2-40B4-BE49-F238E27FC236}">
                <a16:creationId xmlns:a16="http://schemas.microsoft.com/office/drawing/2014/main" id="{AE7655AB-537C-4CAA-AE0A-4B2F5FDF7731}"/>
              </a:ext>
            </a:extLst>
          </p:cNvPr>
          <p:cNvSpPr>
            <a:spLocks xmlns:a="http://schemas.openxmlformats.org/drawingml/2006/main" noGrp="1"/>
          </p:cNvSpPr>
          <p:nvPr/>
        </p:nvSpPr>
        <p:spPr>
          <a:xfrm xmlns:a="http://schemas.openxmlformats.org/drawingml/2006/main">
            <a:off x="7962900" y="34480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24445F"/>
            </a:solidFill>
          </a:ln>
        </p:spPr>
      </p:sp>
      <p:sp>
        <p:nvSpPr>
          <p:cNvPr id="21" name="">
            <a:extLst xmlns:a="http://schemas.openxmlformats.org/drawingml/2006/main">
              <a:ext uri="{FF2B5EF4-FFF2-40B4-BE49-F238E27FC236}">
                <a16:creationId xmlns:a16="http://schemas.microsoft.com/office/drawing/2014/main" id="{8E1B171C-54AC-4EEE-98B4-58759A8445DC}"/>
              </a:ext>
            </a:extLst>
          </p:cNvPr>
          <p:cNvSpPr>
            <a:spLocks xmlns:a="http://schemas.openxmlformats.org/drawingml/2006/main" noGrp="1"/>
          </p:cNvSpPr>
          <p:nvPr/>
        </p:nvSpPr>
        <p:spPr>
          <a:xfrm xmlns:a="http://schemas.openxmlformats.org/drawingml/2006/main">
            <a:off x="8172450" y="36195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1C236284-A0A6-43B8-9C55-CF43083A6C77}"/>
              </a:ext>
            </a:extLst>
          </p:cNvPr>
          <p:cNvSpPr>
            <a:spLocks xmlns:a="http://schemas.openxmlformats.org/drawingml/2006/main" noGrp="1"/>
          </p:cNvSpPr>
          <p:nvPr/>
        </p:nvSpPr>
        <p:spPr>
          <a:xfrm xmlns:a="http://schemas.openxmlformats.org/drawingml/2006/main">
            <a:off x="8172450" y="39338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Airflow</a:t>
            </a:r>
          </a:p>
        </p:txBody>
      </p:sp>
      <p:sp>
        <p:nvSpPr>
          <p:cNvPr id="23" name="">
            <a:extLst xmlns:a="http://schemas.openxmlformats.org/drawingml/2006/main">
              <a:ext uri="{FF2B5EF4-FFF2-40B4-BE49-F238E27FC236}">
                <a16:creationId xmlns:a16="http://schemas.microsoft.com/office/drawing/2014/main" id="{D6A7E423-60B0-4EF2-834E-2993A7DB9391}"/>
              </a:ext>
            </a:extLst>
          </p:cNvPr>
          <p:cNvSpPr>
            <a:spLocks xmlns:a="http://schemas.openxmlformats.org/drawingml/2006/main" noGrp="1"/>
          </p:cNvSpPr>
          <p:nvPr/>
        </p:nvSpPr>
        <p:spPr>
          <a:xfrm xmlns:a="http://schemas.openxmlformats.org/drawingml/2006/main">
            <a:off x="8172450" y="43148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‫אישור יומי ובקרת התקדמות‬</a:t>
            </a:r>
          </a:p>
        </p:txBody>
      </p:sp>
      <p:sp>
        <p:nvSpPr>
          <p:cNvPr id="24" name="">
            <a:extLst xmlns:a="http://schemas.openxmlformats.org/drawingml/2006/main">
              <a:ext uri="{FF2B5EF4-FFF2-40B4-BE49-F238E27FC236}">
                <a16:creationId xmlns:a16="http://schemas.microsoft.com/office/drawing/2014/main" id="{CD243543-8DF5-428A-9FC9-7BADA93D3118}"/>
              </a:ext>
            </a:extLst>
          </p:cNvPr>
          <p:cNvSpPr>
            <a:spLocks xmlns:a="http://schemas.openxmlformats.org/drawingml/2006/main" noGrp="1"/>
          </p:cNvSpPr>
          <p:nvPr/>
        </p:nvSpPr>
        <p:spPr>
          <a:xfrm xmlns:a="http://schemas.openxmlformats.org/drawingml/2006/main">
            <a:off x="4248150" y="34480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52DCC3"/>
            </a:solidFill>
          </a:ln>
        </p:spPr>
      </p:sp>
      <p:sp>
        <p:nvSpPr>
          <p:cNvPr id="25" name="">
            <a:extLst xmlns:a="http://schemas.openxmlformats.org/drawingml/2006/main">
              <a:ext uri="{FF2B5EF4-FFF2-40B4-BE49-F238E27FC236}">
                <a16:creationId xmlns:a16="http://schemas.microsoft.com/office/drawing/2014/main" id="{CAC46920-146A-4A1D-8875-1BADEF9FA5D9}"/>
              </a:ext>
            </a:extLst>
          </p:cNvPr>
          <p:cNvSpPr>
            <a:spLocks xmlns:a="http://schemas.openxmlformats.org/drawingml/2006/main" noGrp="1"/>
          </p:cNvSpPr>
          <p:nvPr/>
        </p:nvSpPr>
        <p:spPr>
          <a:xfrm xmlns:a="http://schemas.openxmlformats.org/drawingml/2006/main">
            <a:off x="4457700" y="36195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A3572A60-03FC-429A-ADC4-58ECD7A1D4E6}"/>
              </a:ext>
            </a:extLst>
          </p:cNvPr>
          <p:cNvSpPr>
            <a:spLocks xmlns:a="http://schemas.openxmlformats.org/drawingml/2006/main" noGrp="1"/>
          </p:cNvSpPr>
          <p:nvPr/>
        </p:nvSpPr>
        <p:spPr>
          <a:xfrm xmlns:a="http://schemas.openxmlformats.org/drawingml/2006/main">
            <a:off x="4457700" y="39338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52DCC3"/>
                </a:solidFill>
                <a:latin typeface="Arial"/>
                <a:ea typeface="Arial"/>
                <a:cs typeface="Arial"/>
              </a:defRPr>
            </a:pPr>
            <a:r>
              <a:rPr sz="1650" b="1">
                <a:solidFill>
                  <a:srgbClr val="52DCC3"/>
                </a:solidFill>
                <a:latin typeface="Arial"/>
                <a:ea typeface="Arial"/>
                <a:cs typeface="Arial"/>
              </a:rPr>
              <a:t>Opportunity</a:t>
            </a:r>
          </a:p>
        </p:txBody>
      </p:sp>
      <p:sp>
        <p:nvSpPr>
          <p:cNvPr id="27" name="">
            <a:extLst xmlns:a="http://schemas.openxmlformats.org/drawingml/2006/main">
              <a:ext uri="{FF2B5EF4-FFF2-40B4-BE49-F238E27FC236}">
                <a16:creationId xmlns:a16="http://schemas.microsoft.com/office/drawing/2014/main" id="{0A9CA582-CB32-4F2A-9283-DBC3549453ED}"/>
              </a:ext>
            </a:extLst>
          </p:cNvPr>
          <p:cNvSpPr>
            <a:spLocks xmlns:a="http://schemas.openxmlformats.org/drawingml/2006/main" noGrp="1"/>
          </p:cNvSpPr>
          <p:nvPr/>
        </p:nvSpPr>
        <p:spPr>
          <a:xfrm xmlns:a="http://schemas.openxmlformats.org/drawingml/2006/main">
            <a:off x="4457700" y="43148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‫אזור כניסה, עצירה ויעדים‬</a:t>
            </a:r>
          </a:p>
        </p:txBody>
      </p:sp>
      <p:sp>
        <p:nvSpPr>
          <p:cNvPr id="28" name="">
            <a:extLst xmlns:a="http://schemas.openxmlformats.org/drawingml/2006/main">
              <a:ext uri="{FF2B5EF4-FFF2-40B4-BE49-F238E27FC236}">
                <a16:creationId xmlns:a16="http://schemas.microsoft.com/office/drawing/2014/main" id="{63CBA5E7-9B37-4615-8CB6-F91D1343573B}"/>
              </a:ext>
            </a:extLst>
          </p:cNvPr>
          <p:cNvSpPr>
            <a:spLocks xmlns:a="http://schemas.openxmlformats.org/drawingml/2006/main" noGrp="1"/>
          </p:cNvSpPr>
          <p:nvPr/>
        </p:nvSpPr>
        <p:spPr>
          <a:xfrm xmlns:a="http://schemas.openxmlformats.org/drawingml/2006/main">
            <a:off x="533400" y="3448050"/>
            <a:ext cx="3371850" cy="1352550"/>
          </a:xfrm>
          <a:prstGeom xmlns:a="http://schemas.openxmlformats.org/drawingml/2006/main" prst="roundRect">
            <a:avLst>
              <a:gd name="adj" fmla="val 8451"/>
            </a:avLst>
          </a:prstGeom>
          <a:solidFill xmlns:a="http://schemas.openxmlformats.org/drawingml/2006/main">
            <a:srgbClr val="0D2035"/>
          </a:solidFill>
          <a:ln xmlns:a="http://schemas.openxmlformats.org/drawingml/2006/main" w="9525">
            <a:solidFill>
              <a:srgbClr val="24445F"/>
            </a:solidFill>
          </a:ln>
        </p:spPr>
      </p:sp>
      <p:sp>
        <p:nvSpPr>
          <p:cNvPr id="29" name="">
            <a:extLst xmlns:a="http://schemas.openxmlformats.org/drawingml/2006/main">
              <a:ext uri="{FF2B5EF4-FFF2-40B4-BE49-F238E27FC236}">
                <a16:creationId xmlns:a16="http://schemas.microsoft.com/office/drawing/2014/main" id="{08BBD5FE-D859-43FF-BFA7-971CC1D4EFB7}"/>
              </a:ext>
            </a:extLst>
          </p:cNvPr>
          <p:cNvSpPr>
            <a:spLocks xmlns:a="http://schemas.openxmlformats.org/drawingml/2006/main" noGrp="1"/>
          </p:cNvSpPr>
          <p:nvPr/>
        </p:nvSpPr>
        <p:spPr>
          <a:xfrm xmlns:a="http://schemas.openxmlformats.org/drawingml/2006/main">
            <a:off x="742950" y="36195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06</a:t>
            </a:r>
          </a:p>
        </p:txBody>
      </p:sp>
      <p:sp>
        <p:nvSpPr>
          <p:cNvPr id="30" name="">
            <a:extLst xmlns:a="http://schemas.openxmlformats.org/drawingml/2006/main">
              <a:ext uri="{FF2B5EF4-FFF2-40B4-BE49-F238E27FC236}">
                <a16:creationId xmlns:a16="http://schemas.microsoft.com/office/drawing/2014/main" id="{8AD48E0D-AC7A-48FA-9D5D-EBE6BD4BC1CE}"/>
              </a:ext>
            </a:extLst>
          </p:cNvPr>
          <p:cNvSpPr>
            <a:spLocks xmlns:a="http://schemas.openxmlformats.org/drawingml/2006/main" noGrp="1"/>
          </p:cNvSpPr>
          <p:nvPr/>
        </p:nvSpPr>
        <p:spPr>
          <a:xfrm xmlns:a="http://schemas.openxmlformats.org/drawingml/2006/main">
            <a:off x="742950" y="39338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1">
                <a:solidFill>
                  <a:srgbClr val="73B7FF"/>
                </a:solidFill>
                <a:latin typeface="Arial"/>
                <a:ea typeface="Arial"/>
                <a:cs typeface="Arial"/>
              </a:defRPr>
            </a:pPr>
            <a:r>
              <a:rPr sz="1650" b="1">
                <a:solidFill>
                  <a:srgbClr val="73B7FF"/>
                </a:solidFill>
                <a:latin typeface="Arial"/>
                <a:ea typeface="Arial"/>
                <a:cs typeface="Arial"/>
              </a:rPr>
              <a:t>Backtesting</a:t>
            </a:r>
          </a:p>
        </p:txBody>
      </p:sp>
      <p:sp>
        <p:nvSpPr>
          <p:cNvPr id="31" name="">
            <a:extLst xmlns:a="http://schemas.openxmlformats.org/drawingml/2006/main">
              <a:ext uri="{FF2B5EF4-FFF2-40B4-BE49-F238E27FC236}">
                <a16:creationId xmlns:a16="http://schemas.microsoft.com/office/drawing/2014/main" id="{B88C5B93-AF58-4BFF-8D3A-CABAE5A9794F}"/>
              </a:ext>
            </a:extLst>
          </p:cNvPr>
          <p:cNvSpPr>
            <a:spLocks xmlns:a="http://schemas.openxmlformats.org/drawingml/2006/main" noGrp="1"/>
          </p:cNvSpPr>
          <p:nvPr/>
        </p:nvSpPr>
        <p:spPr>
          <a:xfrm xmlns:a="http://schemas.openxmlformats.org/drawingml/2006/main">
            <a:off x="742950" y="43148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200" b="0">
                <a:solidFill>
                  <a:srgbClr val="F5F8FB"/>
                </a:solidFill>
                <a:latin typeface="Arial"/>
                <a:ea typeface="Arial"/>
                <a:cs typeface="Arial"/>
              </a:defRPr>
            </a:pPr>
            <a:r>
              <a:rPr sz="1200" b="0">
                <a:solidFill>
                  <a:srgbClr val="F5F8FB"/>
                </a:solidFill>
                <a:latin typeface="Arial"/>
                <a:ea typeface="Arial"/>
                <a:cs typeface="Arial"/>
              </a:rPr>
              <a:t>‫ראיות, מגבלות והשוואה‬</a:t>
            </a:r>
          </a:p>
        </p:txBody>
      </p:sp>
      <p:sp>
        <p:nvSpPr>
          <p:cNvPr id="32" name="">
            <a:extLst xmlns:a="http://schemas.openxmlformats.org/drawingml/2006/main">
              <a:ext uri="{FF2B5EF4-FFF2-40B4-BE49-F238E27FC236}">
                <a16:creationId xmlns:a16="http://schemas.microsoft.com/office/drawing/2014/main" id="{4BC19D46-5775-4C47-83EF-AAD96487DF26}"/>
              </a:ext>
            </a:extLst>
          </p:cNvPr>
          <p:cNvSpPr>
            <a:spLocks xmlns:a="http://schemas.openxmlformats.org/drawingml/2006/main" noGrp="1"/>
          </p:cNvSpPr>
          <p:nvPr/>
        </p:nvSpPr>
        <p:spPr>
          <a:xfrm xmlns:a="http://schemas.openxmlformats.org/drawingml/2006/main">
            <a:off x="533400" y="5295900"/>
            <a:ext cx="1809750" cy="323850"/>
          </a:xfrm>
          <a:prstGeom xmlns:a="http://schemas.openxmlformats.org/drawingml/2006/main" prst="roundRect">
            <a:avLst>
              <a:gd name="adj" fmla="val 50000"/>
            </a:avLst>
          </a:prstGeom>
          <a:solidFill xmlns:a="http://schemas.openxmlformats.org/drawingml/2006/main">
            <a:srgbClr val="03101D"/>
          </a:solidFill>
          <a:ln xmlns:a="http://schemas.openxmlformats.org/drawingml/2006/main" w="9525">
            <a:solidFill>
              <a:srgbClr val="F2B84B"/>
            </a:solidFill>
          </a:ln>
        </p:spPr>
        <p:txBody>
          <a:bodyPr xmlns:a="http://schemas.openxmlformats.org/drawingml/2006/main" lIns="76200" tIns="9525" rIns="76200" bIns="9525" anchor="ctr">
            <a:normAutofit fontScale="100000"/>
          </a:bodyPr>
          <a:lstStyle xmlns:a="http://schemas.openxmlformats.org/drawingml/2006/main"/>
          <a:p xmlns:a="http://schemas.openxmlformats.org/drawingml/2006/main">
            <a:pPr algn="ctr">
              <a:defRPr sz="975" b="1">
                <a:solidFill>
                  <a:srgbClr val="F2B84B"/>
                </a:solidFill>
                <a:latin typeface="Arial"/>
                <a:ea typeface="Arial"/>
                <a:cs typeface="Arial"/>
              </a:defRPr>
            </a:pPr>
            <a:r>
              <a:rPr sz="975" b="1">
                <a:solidFill>
                  <a:srgbClr val="F2B84B"/>
                </a:solidFill>
                <a:latin typeface="Arial"/>
                <a:ea typeface="Arial"/>
                <a:cs typeface="Arial"/>
              </a:rPr>
              <a:t>PRE-FLIGHT REQUIRED</a:t>
            </a:r>
          </a:p>
        </p:txBody>
      </p:sp>
      <p:sp>
        <p:nvSpPr>
          <p:cNvPr id="33" name="">
            <a:extLst xmlns:a="http://schemas.openxmlformats.org/drawingml/2006/main">
              <a:ext uri="{FF2B5EF4-FFF2-40B4-BE49-F238E27FC236}">
                <a16:creationId xmlns:a16="http://schemas.microsoft.com/office/drawing/2014/main" id="{94859692-9B64-4FE3-9F7A-4108C68087FE}"/>
              </a:ext>
            </a:extLst>
          </p:cNvPr>
          <p:cNvSpPr>
            <a:spLocks xmlns:a="http://schemas.openxmlformats.org/drawingml/2006/main" noGrp="1"/>
          </p:cNvSpPr>
          <p:nvPr/>
        </p:nvSpPr>
        <p:spPr>
          <a:xfrm xmlns:a="http://schemas.openxmlformats.org/drawingml/2006/main">
            <a:off x="2514600" y="5295900"/>
            <a:ext cx="421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125" b="1">
                <a:solidFill>
                  <a:srgbClr val="F2B84B"/>
                </a:solidFill>
                <a:latin typeface="Arial"/>
                <a:ea typeface="Arial"/>
                <a:cs typeface="Arial"/>
              </a:defRPr>
            </a:pPr>
            <a:r>
              <a:rPr sz="1125" b="1">
                <a:solidFill>
                  <a:srgbClr val="F2B84B"/>
                </a:solidFill>
                <a:latin typeface="Arial"/>
                <a:ea typeface="Arial"/>
                <a:cs typeface="Arial"/>
              </a:rPr>
              <a:t>./scripts/demo-preflight.ps1 -OpenPages</a:t>
            </a:r>
          </a:p>
        </p:txBody>
      </p:sp>
      <p:sp>
        <p:nvSpPr>
          <p:cNvPr id="34" name="">
            <a:extLst xmlns:a="http://schemas.openxmlformats.org/drawingml/2006/main">
              <a:ext uri="{FF2B5EF4-FFF2-40B4-BE49-F238E27FC236}">
                <a16:creationId xmlns:a16="http://schemas.microsoft.com/office/drawing/2014/main" id="{522BBBBD-8113-432C-A2B1-63E1ADAA4C53}"/>
              </a:ext>
            </a:extLst>
          </p:cNvPr>
          <p:cNvSpPr>
            <a:spLocks xmlns:a="http://schemas.openxmlformats.org/drawingml/2006/main" noGrp="1"/>
          </p:cNvSpPr>
          <p:nvPr/>
        </p:nvSpPr>
        <p:spPr>
          <a:xfrm xmlns:a="http://schemas.openxmlformats.org/drawingml/2006/main">
            <a:off x="7239000" y="52959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1">
                <a:solidFill>
                  <a:srgbClr val="F5F8FB"/>
                </a:solidFill>
                <a:latin typeface="Arial"/>
                <a:ea typeface="Arial"/>
                <a:cs typeface="Arial"/>
              </a:defRPr>
            </a:pPr>
            <a:r>
              <a:rPr sz="1350" b="1">
                <a:solidFill>
                  <a:srgbClr val="F5F8FB"/>
                </a:solidFill>
                <a:latin typeface="Arial"/>
                <a:ea typeface="Arial"/>
                <a:cs typeface="Arial"/>
              </a:rPr>
              <a:t>‫אם תחנה נכשלת — עוברים מיד לצילום המסך במצגת.‬</a:t>
            </a:r>
          </a:p>
        </p:txBody>
      </p:sp>
    </p:spTree>
    <p:extLst>
      <p:ext uri="{BB962C8B-B14F-4D97-AF65-F5344CB8AC3E}">
        <p14:creationId xmlns:p14="http://schemas.microsoft.com/office/powerpoint/2010/main" val="1958622598"/>
      </p:ext>
    </p:extLst>
  </p:cSld>
</p:sld>
</file>

<file path=ppt/slides/slide1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A744EDD-25CE-4A87-9FD5-1702B3B63F3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52DCC3"/>
          </a:solidFill>
          <a:ln xmlns:a="http://schemas.openxmlformats.org/drawingml/2006/main" w="0">
            <a:solidFill>
              <a:srgbClr val="52DCC3"/>
            </a:solidFill>
          </a:ln>
        </p:spPr>
      </p:sp>
      <p:sp>
        <p:nvSpPr>
          <p:cNvPr id="2" name="">
            <a:extLst xmlns:a="http://schemas.openxmlformats.org/drawingml/2006/main">
              <a:ext uri="{FF2B5EF4-FFF2-40B4-BE49-F238E27FC236}">
                <a16:creationId xmlns:a16="http://schemas.microsoft.com/office/drawing/2014/main" id="{CA0931FE-A328-45AF-A454-7AE472A5D6B7}"/>
              </a:ext>
            </a:extLst>
          </p:cNvPr>
          <p:cNvSpPr>
            <a:spLocks xmlns:a="http://schemas.openxmlformats.org/drawingml/2006/main" noGrp="1"/>
          </p:cNvSpPr>
          <p:nvPr/>
        </p:nvSpPr>
        <p:spPr>
          <a:xfrm xmlns:a="http://schemas.openxmlformats.org/drawingml/2006/main">
            <a:off x="533400" y="2667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75" b="1">
                <a:solidFill>
                  <a:srgbClr val="52DCC3"/>
                </a:solidFill>
                <a:latin typeface="Arial"/>
                <a:ea typeface="Arial"/>
                <a:cs typeface="Arial"/>
              </a:defRPr>
            </a:pPr>
            <a:r>
              <a:rPr sz="975" b="1">
                <a:solidFill>
                  <a:srgbClr val="52DCC3"/>
                </a:solidFill>
                <a:latin typeface="Arial"/>
                <a:ea typeface="Arial"/>
                <a:cs typeface="Arial"/>
              </a:rPr>
              <a:t>ROADMAP</a:t>
            </a:r>
          </a:p>
        </p:txBody>
      </p:sp>
      <p:sp>
        <p:nvSpPr>
          <p:cNvPr id="3" name="">
            <a:extLst xmlns:a="http://schemas.openxmlformats.org/drawingml/2006/main">
              <a:ext uri="{FF2B5EF4-FFF2-40B4-BE49-F238E27FC236}">
                <a16:creationId xmlns:a16="http://schemas.microsoft.com/office/drawing/2014/main" id="{EFCDB1AB-B15E-46DB-809A-D46894B9069E}"/>
              </a:ext>
            </a:extLst>
          </p:cNvPr>
          <p:cNvSpPr>
            <a:spLocks xmlns:a="http://schemas.openxmlformats.org/drawingml/2006/main" noGrp="1"/>
          </p:cNvSpPr>
          <p:nvPr/>
        </p:nvSpPr>
        <p:spPr>
          <a:xfrm xmlns:a="http://schemas.openxmlformats.org/drawingml/2006/main">
            <a:off x="5048250" y="438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700" b="1">
                <a:solidFill>
                  <a:srgbClr val="F5F8FB"/>
                </a:solidFill>
                <a:latin typeface="Arial"/>
                <a:ea typeface="Arial"/>
                <a:cs typeface="Arial"/>
              </a:defRPr>
            </a:pPr>
            <a:r>
              <a:rPr sz="2700" b="1">
                <a:solidFill>
                  <a:srgbClr val="F5F8FB"/>
                </a:solidFill>
                <a:latin typeface="Arial"/>
                <a:ea typeface="Arial"/>
                <a:cs typeface="Arial"/>
              </a:rPr>
              <a:t>‫מהוכחת יכולת הנדסית למוצר בשל‬</a:t>
            </a:r>
          </a:p>
        </p:txBody>
      </p:sp>
      <p:sp>
        <p:nvSpPr>
          <p:cNvPr id="4" name="">
            <a:extLst xmlns:a="http://schemas.openxmlformats.org/drawingml/2006/main">
              <a:ext uri="{FF2B5EF4-FFF2-40B4-BE49-F238E27FC236}">
                <a16:creationId xmlns:a16="http://schemas.microsoft.com/office/drawing/2014/main" id="{3E0DBD6F-17BB-4E1D-9AE3-AFAD7056E57F}"/>
              </a:ext>
            </a:extLst>
          </p:cNvPr>
          <p:cNvSpPr>
            <a:spLocks xmlns:a="http://schemas.openxmlformats.org/drawingml/2006/main" noGrp="1"/>
          </p:cNvSpPr>
          <p:nvPr/>
        </p:nvSpPr>
        <p:spPr>
          <a:xfrm xmlns:a="http://schemas.openxmlformats.org/drawingml/2006/main">
            <a:off x="4000500" y="10287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350" b="0">
                <a:solidFill>
                  <a:srgbClr val="A7BED3"/>
                </a:solidFill>
                <a:latin typeface="Arial"/>
                <a:ea typeface="Arial"/>
                <a:cs typeface="Arial"/>
              </a:defRPr>
            </a:pPr>
            <a:r>
              <a:rPr sz="1350" b="0">
                <a:solidFill>
                  <a:srgbClr val="A7BED3"/>
                </a:solidFill>
                <a:latin typeface="Arial"/>
                <a:ea typeface="Arial"/>
                <a:cs typeface="Arial"/>
              </a:rPr>
              <a:t>‫השלב הבא אינו עוד מסך — אלא הרחבת הראיות והאמינות‬</a:t>
            </a:r>
          </a:p>
        </p:txBody>
      </p:sp>
      <p:sp>
        <p:nvSpPr>
          <p:cNvPr id="5" name="">
            <a:extLst xmlns:a="http://schemas.openxmlformats.org/drawingml/2006/main">
              <a:ext uri="{FF2B5EF4-FFF2-40B4-BE49-F238E27FC236}">
                <a16:creationId xmlns:a16="http://schemas.microsoft.com/office/drawing/2014/main" id="{DDAB1407-8CF0-4FCB-A5C7-5BD561238A45}"/>
              </a:ext>
            </a:extLst>
          </p:cNvPr>
          <p:cNvSpPr>
            <a:spLocks xmlns:a="http://schemas.openxmlformats.org/drawingml/2006/main" noGrp="1"/>
          </p:cNvSpPr>
          <p:nvPr/>
        </p:nvSpPr>
        <p:spPr>
          <a:xfrm xmlns:a="http://schemas.openxmlformats.org/drawingml/2006/main">
            <a:off x="533400" y="64389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825" b="0">
                <a:solidFill>
                  <a:srgbClr val="A7BED3"/>
                </a:solidFill>
                <a:latin typeface="Arial"/>
                <a:ea typeface="Arial"/>
                <a:cs typeface="Arial"/>
              </a:defRPr>
            </a:pPr>
            <a:r>
              <a:rPr sz="825" b="0">
                <a:solidFill>
                  <a:srgbClr val="A7BED3"/>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DD6A35FB-B44C-43A2-8B8B-613665AE5C2C}"/>
              </a:ext>
            </a:extLst>
          </p:cNvPr>
          <p:cNvSpPr>
            <a:spLocks xmlns:a="http://schemas.openxmlformats.org/drawingml/2006/main" noGrp="1"/>
          </p:cNvSpPr>
          <p:nvPr/>
        </p:nvSpPr>
        <p:spPr>
          <a:xfrm xmlns:a="http://schemas.openxmlformats.org/drawingml/2006/main">
            <a:off x="952500" y="643890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750" b="0">
                <a:solidFill>
                  <a:srgbClr val="A7BED3"/>
                </a:solidFill>
                <a:latin typeface="Arial"/>
                <a:ea typeface="Arial"/>
                <a:cs typeface="Arial"/>
              </a:defRPr>
            </a:pPr>
            <a:r>
              <a:rPr sz="750" b="0">
                <a:solidFill>
                  <a:srgbClr val="A7BED3"/>
                </a:solidFill>
                <a:latin typeface="Arial"/>
                <a:ea typeface="Arial"/>
                <a:cs typeface="Arial"/>
              </a:rPr>
              <a:t>MARKETPILOT · DATA ENGINEERING</a:t>
            </a:r>
          </a:p>
        </p:txBody>
      </p:sp>
      <p:sp>
        <p:nvSpPr>
          <p:cNvPr id="7" name="">
            <a:extLst xmlns:a="http://schemas.openxmlformats.org/drawingml/2006/main">
              <a:ext uri="{FF2B5EF4-FFF2-40B4-BE49-F238E27FC236}">
                <a16:creationId xmlns:a16="http://schemas.microsoft.com/office/drawing/2014/main" id="{69A92ACD-B05A-405B-BC7A-E49F728F650F}"/>
              </a:ext>
            </a:extLst>
          </p:cNvPr>
          <p:cNvSpPr>
            <a:spLocks xmlns:a="http://schemas.openxmlformats.org/drawingml/2006/main" noGrp="1"/>
          </p:cNvSpPr>
          <p:nvPr/>
        </p:nvSpPr>
        <p:spPr>
          <a:xfrm xmlns:a="http://schemas.openxmlformats.org/drawingml/2006/main">
            <a:off x="533400" y="6305550"/>
            <a:ext cx="11087100" cy="0"/>
          </a:xfrm>
          <a:prstGeom xmlns:a="http://schemas.openxmlformats.org/drawingml/2006/main" prst="line">
            <a:avLst/>
          </a:prstGeom>
          <a:ln xmlns:a="http://schemas.openxmlformats.org/drawingml/2006/main" w="9525">
            <a:solidFill>
              <a:srgbClr val="24445F"/>
            </a:solidFill>
          </a:ln>
        </p:spPr>
      </p:sp>
      <p:sp>
        <p:nvSpPr>
          <p:cNvPr id="8" name="">
            <a:extLst xmlns:a="http://schemas.openxmlformats.org/drawingml/2006/main">
              <a:ext uri="{FF2B5EF4-FFF2-40B4-BE49-F238E27FC236}">
                <a16:creationId xmlns:a16="http://schemas.microsoft.com/office/drawing/2014/main" id="{743DAA5C-FDA6-42D3-98A5-5A74A4FDB443}"/>
              </a:ext>
            </a:extLst>
          </p:cNvPr>
          <p:cNvSpPr>
            <a:spLocks xmlns:a="http://schemas.openxmlformats.org/drawingml/2006/main" noGrp="1"/>
          </p:cNvSpPr>
          <p:nvPr/>
        </p:nvSpPr>
        <p:spPr>
          <a:xfrm xmlns:a="http://schemas.openxmlformats.org/drawingml/2006/main">
            <a:off x="533400" y="1809750"/>
            <a:ext cx="2495550" cy="3105150"/>
          </a:xfrm>
          <a:prstGeom xmlns:a="http://schemas.openxmlformats.org/drawingml/2006/main" prst="roundRect">
            <a:avLst>
              <a:gd name="adj" fmla="val 4580"/>
            </a:avLst>
          </a:prstGeom>
          <a:solidFill xmlns:a="http://schemas.openxmlformats.org/drawingml/2006/main">
            <a:srgbClr val="0D2035"/>
          </a:solidFill>
          <a:ln xmlns:a="http://schemas.openxmlformats.org/drawingml/2006/main" w="9525">
            <a:solidFill>
              <a:srgbClr val="52DCC3"/>
            </a:solidFill>
          </a:ln>
        </p:spPr>
      </p:sp>
      <p:sp>
        <p:nvSpPr>
          <p:cNvPr id="9" name="">
            <a:extLst xmlns:a="http://schemas.openxmlformats.org/drawingml/2006/main">
              <a:ext uri="{FF2B5EF4-FFF2-40B4-BE49-F238E27FC236}">
                <a16:creationId xmlns:a16="http://schemas.microsoft.com/office/drawing/2014/main" id="{5F2E648C-E866-4146-BF1B-350299033C72}"/>
              </a:ext>
            </a:extLst>
          </p:cNvPr>
          <p:cNvSpPr>
            <a:spLocks xmlns:a="http://schemas.openxmlformats.org/drawingml/2006/main" noGrp="1"/>
          </p:cNvSpPr>
          <p:nvPr/>
        </p:nvSpPr>
        <p:spPr>
          <a:xfrm xmlns:a="http://schemas.openxmlformats.org/drawingml/2006/main">
            <a:off x="723900" y="20193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52DCC3"/>
                </a:solidFill>
                <a:latin typeface="Arial"/>
                <a:ea typeface="Arial"/>
                <a:cs typeface="Arial"/>
              </a:defRPr>
            </a:pPr>
            <a:r>
              <a:rPr sz="900" b="1">
                <a:solidFill>
                  <a:srgbClr val="52DCC3"/>
                </a:solidFill>
                <a:latin typeface="Arial"/>
                <a:ea typeface="Arial"/>
                <a:cs typeface="Arial"/>
              </a:rPr>
              <a:t>CLOUD</a:t>
            </a:r>
          </a:p>
        </p:txBody>
      </p:sp>
      <p:sp>
        <p:nvSpPr>
          <p:cNvPr id="10" name="">
            <a:extLst xmlns:a="http://schemas.openxmlformats.org/drawingml/2006/main">
              <a:ext uri="{FF2B5EF4-FFF2-40B4-BE49-F238E27FC236}">
                <a16:creationId xmlns:a16="http://schemas.microsoft.com/office/drawing/2014/main" id="{191F3E6E-7850-4D51-95B6-F82DE56F7A0B}"/>
              </a:ext>
            </a:extLst>
          </p:cNvPr>
          <p:cNvSpPr>
            <a:spLocks xmlns:a="http://schemas.openxmlformats.org/drawingml/2006/main" noGrp="1"/>
          </p:cNvSpPr>
          <p:nvPr/>
        </p:nvSpPr>
        <p:spPr>
          <a:xfrm xmlns:a="http://schemas.openxmlformats.org/drawingml/2006/main">
            <a:off x="723900" y="24955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00" b="1">
                <a:solidFill>
                  <a:srgbClr val="F5F8FB"/>
                </a:solidFill>
                <a:latin typeface="Arial"/>
                <a:ea typeface="Arial"/>
                <a:cs typeface="Arial"/>
              </a:defRPr>
            </a:pPr>
            <a:r>
              <a:rPr sz="2100" b="1">
                <a:solidFill>
                  <a:srgbClr val="F5F8FB"/>
                </a:solidFill>
                <a:latin typeface="Arial"/>
                <a:ea typeface="Arial"/>
                <a:cs typeface="Arial"/>
              </a:rPr>
              <a:t>‫עתיד‬</a:t>
            </a:r>
          </a:p>
        </p:txBody>
      </p:sp>
      <p:sp>
        <p:nvSpPr>
          <p:cNvPr id="11" name="">
            <a:extLst xmlns:a="http://schemas.openxmlformats.org/drawingml/2006/main">
              <a:ext uri="{FF2B5EF4-FFF2-40B4-BE49-F238E27FC236}">
                <a16:creationId xmlns:a16="http://schemas.microsoft.com/office/drawing/2014/main" id="{C1B4F549-1864-45A6-BACE-6D134101BCA6}"/>
              </a:ext>
            </a:extLst>
          </p:cNvPr>
          <p:cNvSpPr>
            <a:spLocks xmlns:a="http://schemas.openxmlformats.org/drawingml/2006/main" noGrp="1"/>
          </p:cNvSpPr>
          <p:nvPr/>
        </p:nvSpPr>
        <p:spPr>
          <a:xfrm xmlns:a="http://schemas.openxmlformats.org/drawingml/2006/main">
            <a:off x="723900" y="316230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425" b="0">
                <a:solidFill>
                  <a:srgbClr val="A7BED3"/>
                </a:solidFill>
                <a:latin typeface="Arial"/>
                <a:ea typeface="Arial"/>
                <a:cs typeface="Arial"/>
              </a:defRPr>
            </a:pPr>
            <a:r>
              <a:rPr sz="1425" b="0">
                <a:solidFill>
                  <a:srgbClr val="A7BED3"/>
                </a:solidFill>
                <a:latin typeface="Arial"/>
                <a:ea typeface="Arial"/>
                <a:cs typeface="Arial"/>
              </a:rPr>
              <a:t>‫מעבר לענן רק לאחר הצדקת העלות והתפעול‬</a:t>
            </a:r>
          </a:p>
        </p:txBody>
      </p:sp>
      <p:sp>
        <p:nvSpPr>
          <p:cNvPr id="12" name="">
            <a:extLst xmlns:a="http://schemas.openxmlformats.org/drawingml/2006/main">
              <a:ext uri="{FF2B5EF4-FFF2-40B4-BE49-F238E27FC236}">
                <a16:creationId xmlns:a16="http://schemas.microsoft.com/office/drawing/2014/main" id="{323086A5-5C7A-4105-98B3-C8CB91E74385}"/>
              </a:ext>
            </a:extLst>
          </p:cNvPr>
          <p:cNvSpPr>
            <a:spLocks xmlns:a="http://schemas.openxmlformats.org/drawingml/2006/main" noGrp="1"/>
          </p:cNvSpPr>
          <p:nvPr/>
        </p:nvSpPr>
        <p:spPr>
          <a:xfrm xmlns:a="http://schemas.openxmlformats.org/drawingml/2006/main">
            <a:off x="3048000" y="31432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0342"/>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2741993A-6602-478B-B069-ECD851B05D3E}"/>
              </a:ext>
            </a:extLst>
          </p:cNvPr>
          <p:cNvSpPr>
            <a:spLocks xmlns:a="http://schemas.openxmlformats.org/drawingml/2006/main" noGrp="1"/>
          </p:cNvSpPr>
          <p:nvPr/>
        </p:nvSpPr>
        <p:spPr>
          <a:xfrm xmlns:a="http://schemas.openxmlformats.org/drawingml/2006/main">
            <a:off x="3314700" y="1809750"/>
            <a:ext cx="2495550" cy="3105150"/>
          </a:xfrm>
          <a:prstGeom xmlns:a="http://schemas.openxmlformats.org/drawingml/2006/main" prst="roundRect">
            <a:avLst>
              <a:gd name="adj" fmla="val 4580"/>
            </a:avLst>
          </a:prstGeom>
          <a:solidFill xmlns:a="http://schemas.openxmlformats.org/drawingml/2006/main">
            <a:srgbClr val="0D2035"/>
          </a:solidFill>
          <a:ln xmlns:a="http://schemas.openxmlformats.org/drawingml/2006/main" w="9525">
            <a:solidFill>
              <a:srgbClr val="F2B84B"/>
            </a:solidFill>
          </a:ln>
        </p:spPr>
      </p:sp>
      <p:sp>
        <p:nvSpPr>
          <p:cNvPr id="14" name="">
            <a:extLst xmlns:a="http://schemas.openxmlformats.org/drawingml/2006/main">
              <a:ext uri="{FF2B5EF4-FFF2-40B4-BE49-F238E27FC236}">
                <a16:creationId xmlns:a16="http://schemas.microsoft.com/office/drawing/2014/main" id="{1DA9DC0A-768F-431C-A4B6-24E9B2B05AD2}"/>
              </a:ext>
            </a:extLst>
          </p:cNvPr>
          <p:cNvSpPr>
            <a:spLocks xmlns:a="http://schemas.openxmlformats.org/drawingml/2006/main" noGrp="1"/>
          </p:cNvSpPr>
          <p:nvPr/>
        </p:nvSpPr>
        <p:spPr>
          <a:xfrm xmlns:a="http://schemas.openxmlformats.org/drawingml/2006/main">
            <a:off x="3505200" y="20193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F2B84B"/>
                </a:solidFill>
                <a:latin typeface="Arial"/>
                <a:ea typeface="Arial"/>
                <a:cs typeface="Arial"/>
              </a:defRPr>
            </a:pPr>
            <a:r>
              <a:rPr sz="900" b="1">
                <a:solidFill>
                  <a:srgbClr val="F2B84B"/>
                </a:solidFill>
                <a:latin typeface="Arial"/>
                <a:ea typeface="Arial"/>
                <a:cs typeface="Arial"/>
              </a:rPr>
              <a:t>OBSERVE</a:t>
            </a:r>
          </a:p>
        </p:txBody>
      </p:sp>
      <p:sp>
        <p:nvSpPr>
          <p:cNvPr id="15" name="">
            <a:extLst xmlns:a="http://schemas.openxmlformats.org/drawingml/2006/main">
              <a:ext uri="{FF2B5EF4-FFF2-40B4-BE49-F238E27FC236}">
                <a16:creationId xmlns:a16="http://schemas.microsoft.com/office/drawing/2014/main" id="{829F4B6B-5EC1-484A-B886-20364BA3E1EC}"/>
              </a:ext>
            </a:extLst>
          </p:cNvPr>
          <p:cNvSpPr>
            <a:spLocks xmlns:a="http://schemas.openxmlformats.org/drawingml/2006/main" noGrp="1"/>
          </p:cNvSpPr>
          <p:nvPr/>
        </p:nvSpPr>
        <p:spPr>
          <a:xfrm xmlns:a="http://schemas.openxmlformats.org/drawingml/2006/main">
            <a:off x="3505200" y="24955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00" b="1">
                <a:solidFill>
                  <a:srgbClr val="F5F8FB"/>
                </a:solidFill>
                <a:latin typeface="Arial"/>
                <a:ea typeface="Arial"/>
                <a:cs typeface="Arial"/>
              </a:defRPr>
            </a:pPr>
            <a:r>
              <a:rPr sz="2100" b="1">
                <a:solidFill>
                  <a:srgbClr val="F5F8FB"/>
                </a:solidFill>
                <a:latin typeface="Arial"/>
                <a:ea typeface="Arial"/>
                <a:cs typeface="Arial"/>
              </a:rPr>
              <a:t>‫בהמשך‬</a:t>
            </a:r>
          </a:p>
        </p:txBody>
      </p:sp>
      <p:sp>
        <p:nvSpPr>
          <p:cNvPr id="16" name="">
            <a:extLst xmlns:a="http://schemas.openxmlformats.org/drawingml/2006/main">
              <a:ext uri="{FF2B5EF4-FFF2-40B4-BE49-F238E27FC236}">
                <a16:creationId xmlns:a16="http://schemas.microsoft.com/office/drawing/2014/main" id="{BE7954C9-86B5-4713-923F-3DAB4F3F1DB2}"/>
              </a:ext>
            </a:extLst>
          </p:cNvPr>
          <p:cNvSpPr>
            <a:spLocks xmlns:a="http://schemas.openxmlformats.org/drawingml/2006/main" noGrp="1"/>
          </p:cNvSpPr>
          <p:nvPr/>
        </p:nvSpPr>
        <p:spPr>
          <a:xfrm xmlns:a="http://schemas.openxmlformats.org/drawingml/2006/main">
            <a:off x="3505200" y="316230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425" b="0">
                <a:solidFill>
                  <a:srgbClr val="A7BED3"/>
                </a:solidFill>
                <a:latin typeface="Arial"/>
                <a:ea typeface="Arial"/>
                <a:cs typeface="Arial"/>
              </a:defRPr>
            </a:pPr>
            <a:r>
              <a:rPr sz="1425" b="0">
                <a:solidFill>
                  <a:srgbClr val="A7BED3"/>
                </a:solidFill>
                <a:latin typeface="Arial"/>
                <a:ea typeface="Arial"/>
                <a:cs typeface="Arial"/>
              </a:rPr>
              <a:t>‫איסוף לוגים, ניטור והתראות בתוך האפליקציה‬</a:t>
            </a:r>
          </a:p>
        </p:txBody>
      </p:sp>
      <p:sp>
        <p:nvSpPr>
          <p:cNvPr id="17" name="">
            <a:extLst xmlns:a="http://schemas.openxmlformats.org/drawingml/2006/main">
              <a:ext uri="{FF2B5EF4-FFF2-40B4-BE49-F238E27FC236}">
                <a16:creationId xmlns:a16="http://schemas.microsoft.com/office/drawing/2014/main" id="{D2EDA21C-3E9F-46A4-8BA9-25C514F23D59}"/>
              </a:ext>
            </a:extLst>
          </p:cNvPr>
          <p:cNvSpPr>
            <a:spLocks xmlns:a="http://schemas.openxmlformats.org/drawingml/2006/main" noGrp="1"/>
          </p:cNvSpPr>
          <p:nvPr/>
        </p:nvSpPr>
        <p:spPr>
          <a:xfrm xmlns:a="http://schemas.openxmlformats.org/drawingml/2006/main">
            <a:off x="5829300" y="31432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0342"/>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F0B1B097-FA94-4FB1-AC25-4B46E1BCD94E}"/>
              </a:ext>
            </a:extLst>
          </p:cNvPr>
          <p:cNvSpPr>
            <a:spLocks xmlns:a="http://schemas.openxmlformats.org/drawingml/2006/main" noGrp="1"/>
          </p:cNvSpPr>
          <p:nvPr/>
        </p:nvSpPr>
        <p:spPr>
          <a:xfrm xmlns:a="http://schemas.openxmlformats.org/drawingml/2006/main">
            <a:off x="6096000" y="1809750"/>
            <a:ext cx="2495550" cy="3105150"/>
          </a:xfrm>
          <a:prstGeom xmlns:a="http://schemas.openxmlformats.org/drawingml/2006/main" prst="roundRect">
            <a:avLst>
              <a:gd name="adj" fmla="val 4580"/>
            </a:avLst>
          </a:prstGeom>
          <a:solidFill xmlns:a="http://schemas.openxmlformats.org/drawingml/2006/main">
            <a:srgbClr val="0D2035"/>
          </a:solidFill>
          <a:ln xmlns:a="http://schemas.openxmlformats.org/drawingml/2006/main" w="9525">
            <a:solidFill>
              <a:srgbClr val="73B7FF"/>
            </a:solidFill>
          </a:ln>
        </p:spPr>
      </p:sp>
      <p:sp>
        <p:nvSpPr>
          <p:cNvPr id="19" name="">
            <a:extLst xmlns:a="http://schemas.openxmlformats.org/drawingml/2006/main">
              <a:ext uri="{FF2B5EF4-FFF2-40B4-BE49-F238E27FC236}">
                <a16:creationId xmlns:a16="http://schemas.microsoft.com/office/drawing/2014/main" id="{793D9EC4-3106-4A46-8FF4-4E9E555AF1A1}"/>
              </a:ext>
            </a:extLst>
          </p:cNvPr>
          <p:cNvSpPr>
            <a:spLocks xmlns:a="http://schemas.openxmlformats.org/drawingml/2006/main" noGrp="1"/>
          </p:cNvSpPr>
          <p:nvPr/>
        </p:nvSpPr>
        <p:spPr>
          <a:xfrm xmlns:a="http://schemas.openxmlformats.org/drawingml/2006/main">
            <a:off x="6286500" y="20193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73B7FF"/>
                </a:solidFill>
                <a:latin typeface="Arial"/>
                <a:ea typeface="Arial"/>
                <a:cs typeface="Arial"/>
              </a:defRPr>
            </a:pPr>
            <a:r>
              <a:rPr sz="900" b="1">
                <a:solidFill>
                  <a:srgbClr val="73B7FF"/>
                </a:solidFill>
                <a:latin typeface="Arial"/>
                <a:ea typeface="Arial"/>
                <a:cs typeface="Arial"/>
              </a:rPr>
              <a:t>EVALUATE</a:t>
            </a:r>
          </a:p>
        </p:txBody>
      </p:sp>
      <p:sp>
        <p:nvSpPr>
          <p:cNvPr id="20" name="">
            <a:extLst xmlns:a="http://schemas.openxmlformats.org/drawingml/2006/main">
              <a:ext uri="{FF2B5EF4-FFF2-40B4-BE49-F238E27FC236}">
                <a16:creationId xmlns:a16="http://schemas.microsoft.com/office/drawing/2014/main" id="{9512B883-D0D8-41AB-AC01-C4FB6B2E17D5}"/>
              </a:ext>
            </a:extLst>
          </p:cNvPr>
          <p:cNvSpPr>
            <a:spLocks xmlns:a="http://schemas.openxmlformats.org/drawingml/2006/main" noGrp="1"/>
          </p:cNvSpPr>
          <p:nvPr/>
        </p:nvSpPr>
        <p:spPr>
          <a:xfrm xmlns:a="http://schemas.openxmlformats.org/drawingml/2006/main">
            <a:off x="6286500" y="24955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00" b="1">
                <a:solidFill>
                  <a:srgbClr val="F5F8FB"/>
                </a:solidFill>
                <a:latin typeface="Arial"/>
                <a:ea typeface="Arial"/>
                <a:cs typeface="Arial"/>
              </a:defRPr>
            </a:pPr>
            <a:r>
              <a:rPr sz="2100" b="1">
                <a:solidFill>
                  <a:srgbClr val="F5F8FB"/>
                </a:solidFill>
                <a:latin typeface="Arial"/>
                <a:ea typeface="Arial"/>
                <a:cs typeface="Arial"/>
              </a:rPr>
              <a:t>‫קרוב‬</a:t>
            </a:r>
          </a:p>
        </p:txBody>
      </p:sp>
      <p:sp>
        <p:nvSpPr>
          <p:cNvPr id="21" name="">
            <a:extLst xmlns:a="http://schemas.openxmlformats.org/drawingml/2006/main">
              <a:ext uri="{FF2B5EF4-FFF2-40B4-BE49-F238E27FC236}">
                <a16:creationId xmlns:a16="http://schemas.microsoft.com/office/drawing/2014/main" id="{6C11B741-73D2-4E1B-888F-D52BFE684BAE}"/>
              </a:ext>
            </a:extLst>
          </p:cNvPr>
          <p:cNvSpPr>
            <a:spLocks xmlns:a="http://schemas.openxmlformats.org/drawingml/2006/main" noGrp="1"/>
          </p:cNvSpPr>
          <p:nvPr/>
        </p:nvSpPr>
        <p:spPr>
          <a:xfrm xmlns:a="http://schemas.openxmlformats.org/drawingml/2006/main">
            <a:off x="6286500" y="316230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425" b="0">
                <a:solidFill>
                  <a:srgbClr val="A7BED3"/>
                </a:solidFill>
                <a:latin typeface="Arial"/>
                <a:ea typeface="Arial"/>
                <a:cs typeface="Arial"/>
              </a:defRPr>
            </a:pPr>
            <a:r>
              <a:rPr sz="1425" b="0">
                <a:solidFill>
                  <a:srgbClr val="A7BED3"/>
                </a:solidFill>
                <a:latin typeface="Arial"/>
                <a:ea typeface="Arial"/>
                <a:cs typeface="Arial"/>
              </a:rPr>
              <a:t>‫שנתיים של היסטוריה, בדיקה מתקדמת וכיול לפי משטר שוק‬</a:t>
            </a:r>
          </a:p>
        </p:txBody>
      </p:sp>
      <p:sp>
        <p:nvSpPr>
          <p:cNvPr id="22" name="">
            <a:extLst xmlns:a="http://schemas.openxmlformats.org/drawingml/2006/main">
              <a:ext uri="{FF2B5EF4-FFF2-40B4-BE49-F238E27FC236}">
                <a16:creationId xmlns:a16="http://schemas.microsoft.com/office/drawing/2014/main" id="{C25FC55D-35C0-4ED0-BC5C-FE72D69A8FB7}"/>
              </a:ext>
            </a:extLst>
          </p:cNvPr>
          <p:cNvSpPr>
            <a:spLocks xmlns:a="http://schemas.openxmlformats.org/drawingml/2006/main" noGrp="1"/>
          </p:cNvSpPr>
          <p:nvPr/>
        </p:nvSpPr>
        <p:spPr>
          <a:xfrm xmlns:a="http://schemas.openxmlformats.org/drawingml/2006/main">
            <a:off x="8610600" y="31432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80342"/>
          </a:bodyPr>
          <a:lstStyle xmlns:a="http://schemas.openxmlformats.org/drawingml/2006/main"/>
          <a:p xmlns:a="http://schemas.openxmlformats.org/drawingml/2006/main">
            <a:pPr algn="ctr">
              <a:defRPr sz="1875" b="1">
                <a:solidFill>
                  <a:srgbClr val="A7BED3"/>
                </a:solidFill>
                <a:latin typeface="Arial"/>
                <a:ea typeface="Arial"/>
                <a:cs typeface="Arial"/>
              </a:defRPr>
            </a:pPr>
            <a:r>
              <a:rPr sz="1875" b="1">
                <a:solidFill>
                  <a:srgbClr val="A7BED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6B6224DD-E94C-41BA-924D-B9A86A2AED7E}"/>
              </a:ext>
            </a:extLst>
          </p:cNvPr>
          <p:cNvSpPr>
            <a:spLocks xmlns:a="http://schemas.openxmlformats.org/drawingml/2006/main" noGrp="1"/>
          </p:cNvSpPr>
          <p:nvPr/>
        </p:nvSpPr>
        <p:spPr>
          <a:xfrm xmlns:a="http://schemas.openxmlformats.org/drawingml/2006/main">
            <a:off x="8877300" y="1809750"/>
            <a:ext cx="2495550" cy="3105150"/>
          </a:xfrm>
          <a:prstGeom xmlns:a="http://schemas.openxmlformats.org/drawingml/2006/main" prst="roundRect">
            <a:avLst>
              <a:gd name="adj" fmla="val 4580"/>
            </a:avLst>
          </a:prstGeom>
          <a:solidFill xmlns:a="http://schemas.openxmlformats.org/drawingml/2006/main">
            <a:srgbClr val="0D2035"/>
          </a:solidFill>
          <a:ln xmlns:a="http://schemas.openxmlformats.org/drawingml/2006/main" w="9525">
            <a:solidFill>
              <a:srgbClr val="52DCC3"/>
            </a:solidFill>
          </a:ln>
        </p:spPr>
      </p:sp>
      <p:sp>
        <p:nvSpPr>
          <p:cNvPr id="24" name="">
            <a:extLst xmlns:a="http://schemas.openxmlformats.org/drawingml/2006/main">
              <a:ext uri="{FF2B5EF4-FFF2-40B4-BE49-F238E27FC236}">
                <a16:creationId xmlns:a16="http://schemas.microsoft.com/office/drawing/2014/main" id="{4E63A508-1540-47A7-9BEF-4B39D81A2BAD}"/>
              </a:ext>
            </a:extLst>
          </p:cNvPr>
          <p:cNvSpPr>
            <a:spLocks xmlns:a="http://schemas.openxmlformats.org/drawingml/2006/main" noGrp="1"/>
          </p:cNvSpPr>
          <p:nvPr/>
        </p:nvSpPr>
        <p:spPr>
          <a:xfrm xmlns:a="http://schemas.openxmlformats.org/drawingml/2006/main">
            <a:off x="9067800" y="20193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900" b="1">
                <a:solidFill>
                  <a:srgbClr val="52DCC3"/>
                </a:solidFill>
                <a:latin typeface="Arial"/>
                <a:ea typeface="Arial"/>
                <a:cs typeface="Arial"/>
              </a:defRPr>
            </a:pPr>
            <a:r>
              <a:rPr sz="900" b="1">
                <a:solidFill>
                  <a:srgbClr val="52DCC3"/>
                </a:solidFill>
                <a:latin typeface="Arial"/>
                <a:ea typeface="Arial"/>
                <a:cs typeface="Arial"/>
              </a:rPr>
              <a:t>LOCAL</a:t>
            </a:r>
          </a:p>
        </p:txBody>
      </p:sp>
      <p:sp>
        <p:nvSpPr>
          <p:cNvPr id="25" name="">
            <a:extLst xmlns:a="http://schemas.openxmlformats.org/drawingml/2006/main">
              <a:ext uri="{FF2B5EF4-FFF2-40B4-BE49-F238E27FC236}">
                <a16:creationId xmlns:a16="http://schemas.microsoft.com/office/drawing/2014/main" id="{64DB560D-E8ED-4826-80BE-47E33DE7C193}"/>
              </a:ext>
            </a:extLst>
          </p:cNvPr>
          <p:cNvSpPr>
            <a:spLocks xmlns:a="http://schemas.openxmlformats.org/drawingml/2006/main" noGrp="1"/>
          </p:cNvSpPr>
          <p:nvPr/>
        </p:nvSpPr>
        <p:spPr>
          <a:xfrm xmlns:a="http://schemas.openxmlformats.org/drawingml/2006/main">
            <a:off x="9067800" y="24955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2100" b="1">
                <a:solidFill>
                  <a:srgbClr val="F5F8FB"/>
                </a:solidFill>
                <a:latin typeface="Arial"/>
                <a:ea typeface="Arial"/>
                <a:cs typeface="Arial"/>
              </a:defRPr>
            </a:pPr>
            <a:r>
              <a:rPr sz="2100" b="1">
                <a:solidFill>
                  <a:srgbClr val="F5F8FB"/>
                </a:solidFill>
                <a:latin typeface="Arial"/>
                <a:ea typeface="Arial"/>
                <a:cs typeface="Arial"/>
              </a:rPr>
              <a:t>‫עכשיו‬</a:t>
            </a:r>
          </a:p>
        </p:txBody>
      </p:sp>
      <p:sp>
        <p:nvSpPr>
          <p:cNvPr id="26" name="">
            <a:extLst xmlns:a="http://schemas.openxmlformats.org/drawingml/2006/main">
              <a:ext uri="{FF2B5EF4-FFF2-40B4-BE49-F238E27FC236}">
                <a16:creationId xmlns:a16="http://schemas.microsoft.com/office/drawing/2014/main" id="{D2FEBB47-E4BC-409E-A2ED-01D93A0C541F}"/>
              </a:ext>
            </a:extLst>
          </p:cNvPr>
          <p:cNvSpPr>
            <a:spLocks xmlns:a="http://schemas.openxmlformats.org/drawingml/2006/main" noGrp="1"/>
          </p:cNvSpPr>
          <p:nvPr/>
        </p:nvSpPr>
        <p:spPr>
          <a:xfrm xmlns:a="http://schemas.openxmlformats.org/drawingml/2006/main">
            <a:off x="9067800" y="316230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defRPr sz="1425" b="0">
                <a:solidFill>
                  <a:srgbClr val="A7BED3"/>
                </a:solidFill>
                <a:latin typeface="Arial"/>
                <a:ea typeface="Arial"/>
                <a:cs typeface="Arial"/>
              </a:defRPr>
            </a:pPr>
            <a:r>
              <a:rPr sz="1425" b="0">
                <a:solidFill>
                  <a:srgbClr val="A7BED3"/>
                </a:solidFill>
                <a:latin typeface="Arial"/>
                <a:ea typeface="Arial"/>
                <a:cs typeface="Arial"/>
              </a:rPr>
              <a:t>‫השלמת עשרים ימי ניסוי חי והרחבת רשימת המעקב‬</a:t>
            </a:r>
          </a:p>
        </p:txBody>
      </p:sp>
      <p:sp>
        <p:nvSpPr>
          <p:cNvPr id="27" name="">
            <a:extLst xmlns:a="http://schemas.openxmlformats.org/drawingml/2006/main">
              <a:ext uri="{FF2B5EF4-FFF2-40B4-BE49-F238E27FC236}">
                <a16:creationId xmlns:a16="http://schemas.microsoft.com/office/drawing/2014/main" id="{1D2BC172-454F-436F-9546-F3F90B99546F}"/>
              </a:ext>
            </a:extLst>
          </p:cNvPr>
          <p:cNvSpPr>
            <a:spLocks xmlns:a="http://schemas.openxmlformats.org/drawingml/2006/main" noGrp="1"/>
          </p:cNvSpPr>
          <p:nvPr/>
        </p:nvSpPr>
        <p:spPr>
          <a:xfrm xmlns:a="http://schemas.openxmlformats.org/drawingml/2006/main">
            <a:off x="1333500" y="5314950"/>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5679"/>
          </a:bodyPr>
          <a:lstStyle xmlns:a="http://schemas.openxmlformats.org/drawingml/2006/main"/>
          <a:p xmlns:a="http://schemas.openxmlformats.org/drawingml/2006/main">
            <a:pPr algn="ctr">
              <a:defRPr sz="2025" b="1">
                <a:solidFill>
                  <a:srgbClr val="F5F8FB"/>
                </a:solidFill>
                <a:latin typeface="Arial"/>
                <a:ea typeface="Arial"/>
                <a:cs typeface="Arial"/>
              </a:defRPr>
            </a:pPr>
            <a:r>
              <a:rPr sz="2025" b="1">
                <a:solidFill>
                  <a:srgbClr val="F5F8FB"/>
                </a:solidFill>
                <a:latin typeface="Arial"/>
                <a:ea typeface="Arial"/>
                <a:cs typeface="Arial"/>
              </a:rPr>
              <a:t>‫מרקט־פיילוט מוכיחה שאפשר לחבר מהירות, איכות והסבר — בלי לוותר על היכולת לשחזר כל החלטה.‬</a:t>
            </a:r>
          </a:p>
        </p:txBody>
      </p:sp>
    </p:spTree>
    <p:extLst>
      <p:ext uri="{BB962C8B-B14F-4D97-AF65-F5344CB8AC3E}">
        <p14:creationId xmlns:p14="http://schemas.microsoft.com/office/powerpoint/2010/main" val="1074145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2026-09-16T10:45:55.5280000Z</dcterms:created>
  <dcterms:modified xsi:type="dcterms:W3CDTF">2026-09-16T10:45:55.5280000Z</dcterms:modified>
</coreProperties>
</file>