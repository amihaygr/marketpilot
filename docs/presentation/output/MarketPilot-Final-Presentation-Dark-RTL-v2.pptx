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a17356bdca43b9" /><Relationship Type="http://schemas.openxmlformats.org/officeDocument/2006/relationships/extended-properties" Target="/docProps/app.xml" Id="R5bae409b8dd4478b" /><Relationship Type="http://schemas.openxmlformats.org/officeDocument/2006/relationships/officeDocument" Target="/ppt/presentation.xml" Id="Rda1e80b6ceee4c98" /></Relationships>
</file>

<file path=ppt/presentation.xml><?xml version="1.0" encoding="utf-8"?>
<p:presentation xmlns:p="http://schemas.openxmlformats.org/presentationml/2006/main">
  <p:sldMasterIdLst>
    <p:sldMasterId xmlns:r="http://schemas.openxmlformats.org/officeDocument/2006/relationships" id="2147483648" r:id="R44528824bec24884"/>
  </p:sldMasterIdLst>
  <p:notesMasterIdLst>
    <p:notesMasterId xmlns:r="http://schemas.openxmlformats.org/officeDocument/2006/relationships" r:id="Reb5a662fa5e9468c"/>
  </p:notesMasterIdLst>
  <p:sldIdLst>
    <p:sldId xmlns:r="http://schemas.openxmlformats.org/officeDocument/2006/relationships" id="256" r:id="Rb501ed7a00cc41e9"/>
    <p:sldId xmlns:r="http://schemas.openxmlformats.org/officeDocument/2006/relationships" id="257" r:id="R8b83e376a8d54868"/>
    <p:sldId xmlns:r="http://schemas.openxmlformats.org/officeDocument/2006/relationships" id="258" r:id="Rc856072ab0b04eb3"/>
    <p:sldId xmlns:r="http://schemas.openxmlformats.org/officeDocument/2006/relationships" id="259" r:id="Rac1b8c07e2d74ec0"/>
    <p:sldId xmlns:r="http://schemas.openxmlformats.org/officeDocument/2006/relationships" id="260" r:id="R0b68e34f89ae4928"/>
    <p:sldId xmlns:r="http://schemas.openxmlformats.org/officeDocument/2006/relationships" id="261" r:id="R7376a235109b4f1c"/>
    <p:sldId xmlns:r="http://schemas.openxmlformats.org/officeDocument/2006/relationships" id="262" r:id="R9b698ec2dfcc45ee"/>
    <p:sldId xmlns:r="http://schemas.openxmlformats.org/officeDocument/2006/relationships" id="263" r:id="R9b789ebbf2884d5a"/>
    <p:sldId xmlns:r="http://schemas.openxmlformats.org/officeDocument/2006/relationships" id="264" r:id="R48795a5dfe43497f"/>
    <p:sldId xmlns:r="http://schemas.openxmlformats.org/officeDocument/2006/relationships" id="265" r:id="R79b4d59a3e9c4774"/>
    <p:sldId xmlns:r="http://schemas.openxmlformats.org/officeDocument/2006/relationships" id="266" r:id="R614b426b6fac4137"/>
    <p:sldId xmlns:r="http://schemas.openxmlformats.org/officeDocument/2006/relationships" id="267" r:id="R87ba59d01b8f4e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7e09431884408d" /><Relationship Type="http://schemas.openxmlformats.org/officeDocument/2006/relationships/slideMaster" Target="/ppt/slideMasters/slideMaster1.xml" Id="R44528824bec24884" /><Relationship Type="http://schemas.openxmlformats.org/officeDocument/2006/relationships/notesMaster" Target="/ppt/notesMasters/notesMaster1.xml" Id="Reb5a662fa5e9468c" /><Relationship Type="http://schemas.openxmlformats.org/officeDocument/2006/relationships/presProps" Target="/ppt/presProps.xml" Id="R168b135b6b894b9c" /><Relationship Type="http://schemas.openxmlformats.org/officeDocument/2006/relationships/tableStyles" Target="/ppt/tableStyles.xml" Id="R8a4197697c72452e" /><Relationship Type="http://schemas.openxmlformats.org/officeDocument/2006/relationships/slide" Target="/ppt/slides/slide1.xml" Id="Rb501ed7a00cc41e9" /><Relationship Type="http://schemas.openxmlformats.org/officeDocument/2006/relationships/slide" Target="/ppt/slides/slide2.xml" Id="R8b83e376a8d54868" /><Relationship Type="http://schemas.openxmlformats.org/officeDocument/2006/relationships/slide" Target="/ppt/slides/slide3.xml" Id="Rc856072ab0b04eb3" /><Relationship Type="http://schemas.openxmlformats.org/officeDocument/2006/relationships/slide" Target="/ppt/slides/slide4.xml" Id="Rac1b8c07e2d74ec0" /><Relationship Type="http://schemas.openxmlformats.org/officeDocument/2006/relationships/slide" Target="/ppt/slides/slide5.xml" Id="R0b68e34f89ae4928" /><Relationship Type="http://schemas.openxmlformats.org/officeDocument/2006/relationships/slide" Target="/ppt/slides/slide6.xml" Id="R7376a235109b4f1c" /><Relationship Type="http://schemas.openxmlformats.org/officeDocument/2006/relationships/slide" Target="/ppt/slides/slide7.xml" Id="R9b698ec2dfcc45ee" /><Relationship Type="http://schemas.openxmlformats.org/officeDocument/2006/relationships/slide" Target="/ppt/slides/slide8.xml" Id="R9b789ebbf2884d5a" /><Relationship Type="http://schemas.openxmlformats.org/officeDocument/2006/relationships/slide" Target="/ppt/slides/slide9.xml" Id="R48795a5dfe43497f" /><Relationship Type="http://schemas.openxmlformats.org/officeDocument/2006/relationships/slide" Target="/ppt/slides/slide10.xml" Id="R79b4d59a3e9c4774" /><Relationship Type="http://schemas.openxmlformats.org/officeDocument/2006/relationships/slide" Target="/ppt/slides/slide11.xml" Id="R614b426b6fac4137" /><Relationship Type="http://schemas.openxmlformats.org/officeDocument/2006/relationships/slide" Target="/ppt/slides/slide12.xml" Id="R87ba59d01b8f4e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6e87e68bf14d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98a5d6a798453b" /><Relationship Type="http://schemas.openxmlformats.org/officeDocument/2006/relationships/notesMaster" Target="/ppt/notesMasters/notesMaster1.xml" Id="Rf55d79c0dfb341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204092cf6d46a2" /><Relationship Type="http://schemas.openxmlformats.org/officeDocument/2006/relationships/notesMaster" Target="/ppt/notesMasters/notesMaster1.xml" Id="Rbe997ddb5c924d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f07a40197f4a4b" /><Relationship Type="http://schemas.openxmlformats.org/officeDocument/2006/relationships/notesMaster" Target="/ppt/notesMasters/notesMaster1.xml" Id="R831d17ec03a943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2e11be7bf045f9" /><Relationship Type="http://schemas.openxmlformats.org/officeDocument/2006/relationships/notesMaster" Target="/ppt/notesMasters/notesMaster1.xml" Id="R662dc49ade1148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d9808ab9d3486d" /><Relationship Type="http://schemas.openxmlformats.org/officeDocument/2006/relationships/notesMaster" Target="/ppt/notesMasters/notesMaster1.xml" Id="Rd9c5817b8a5e4e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6512ef2eb54644" /><Relationship Type="http://schemas.openxmlformats.org/officeDocument/2006/relationships/notesMaster" Target="/ppt/notesMasters/notesMaster1.xml" Id="Ra646b0b558e84e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6c1a967a9e4a2a" /><Relationship Type="http://schemas.openxmlformats.org/officeDocument/2006/relationships/notesMaster" Target="/ppt/notesMasters/notesMaster1.xml" Id="Rc10a80c7767b48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42401d30654e7b" /><Relationship Type="http://schemas.openxmlformats.org/officeDocument/2006/relationships/notesMaster" Target="/ppt/notesMasters/notesMaster1.xml" Id="Rf9ff57b8c0894d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335802a60b48ec" /><Relationship Type="http://schemas.openxmlformats.org/officeDocument/2006/relationships/notesMaster" Target="/ppt/notesMasters/notesMaster1.xml" Id="R084eddccc0614a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f8f252846242a1" /><Relationship Type="http://schemas.openxmlformats.org/officeDocument/2006/relationships/notesMaster" Target="/ppt/notesMasters/notesMaster1.xml" Id="R3fb1d81216bb44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4386a05f42466a" /><Relationship Type="http://schemas.openxmlformats.org/officeDocument/2006/relationships/notesMaster" Target="/ppt/notesMasters/notesMaster1.xml" Id="R0d7389d543fc4c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cbc278614c482b" /><Relationship Type="http://schemas.openxmlformats.org/officeDocument/2006/relationships/notesMaster" Target="/ppt/notesMasters/notesMaster1.xml" Id="R6b3de722a6e04a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00:00–00:30</a:t>
            </a:r>
          </a:p>
          <a:p xmlns:a="http://schemas.openxmlformats.org/drawingml/2006/main">
            <a:r>
              <a:t/>
            </a:r>
          </a:p>
          <a:p xmlns:a="http://schemas.openxmlformats.org/drawingml/2006/main">
            <a:pPr algn="r" rtl="1"/>
            <a:r>
              <a:t>פתח בטבעיות: MarketPilot נולדה מהפער שבין המספר שהסוחר רואה לבין היכולת לסמוך עליו. בניתי פלטפורמת מחקר שמחברת מידע חי, מקור גולמי, בדיקות איכות והסבר שאפשר לשחזר. היא אינה שולחת פקודות מסחר. שמור את שמות הטכנולוגיות לשקפים הבאים.</a:t>
            </a:r>
          </a:p>
          <a:p xmlns:a="http://schemas.openxmlformats.org/drawingml/2006/main">
            <a:r>
              <a:t/>
            </a:r>
          </a:p>
          <a:p xmlns:a="http://schemas.openxmlformats.org/drawingml/2006/main">
            <a:pPr algn="r" rtl="1"/>
            <a:r>
              <a:t>מקור ואימות: docs/project-context.md;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00:30–01:15</a:t>
            </a:r>
          </a:p>
          <a:p xmlns:a="http://schemas.openxmlformats.org/drawingml/2006/main">
            <a:r>
              <a:t/>
            </a:r>
          </a:p>
          <a:p xmlns:a="http://schemas.openxmlformats.org/drawingml/2006/main">
            <a:pPr algn="r" rtl="1"/>
            <a:r>
              <a:t>ספר את הבעיה מנקודת המבט של משתמש אמיתי: יש שפע של גרפים, חדשות ומספרים, אבל המידע מפוזר וקשה לדעת מה טרי ומה אמין. ארבע השאלות בתחתית הפכו לדרישות המוצר. MarketPilot צריכה להראות מה קורה, להוכיח את איכות הנתון, להוסיף הקשר עסקי ולבדוק רעיון על העבר.</a:t>
            </a:r>
          </a:p>
          <a:p xmlns:a="http://schemas.openxmlformats.org/drawingml/2006/main">
            <a:r>
              <a:t/>
            </a:r>
          </a:p>
          <a:p xmlns:a="http://schemas.openxmlformats.org/drawingml/2006/main">
            <a:pPr algn="r" rtl="1"/>
            <a:r>
              <a:t>מקור ואימות: docs/project-context.md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01:15–02:00</a:t>
            </a:r>
          </a:p>
          <a:p xmlns:a="http://schemas.openxmlformats.org/drawingml/2006/main">
            <a:r>
              <a:t/>
            </a:r>
          </a:p>
          <a:p xmlns:a="http://schemas.openxmlformats.org/drawingml/2006/main">
            <a:pPr algn="r" rtl="1"/>
            <a:r>
              <a:t>הסבר את שרשרת הערך מימין לשמאל. המערכת קודם אוספת עובדות, אחר כך מבינה את ההקשר, בודקת שהנתון ראוי לשימוש, ורק בסוף מציגה תרחיש החלטה. התוצאה שימושית לסוחר משום שהיא כוללת גם סיכון והסבר. היא תומכת בהחלטה, אך אינה מחליפה שיקול דעת ואינה מבצעת קנייה.</a:t>
            </a:r>
          </a:p>
          <a:p xmlns:a="http://schemas.openxmlformats.org/drawingml/2006/main">
            <a:r>
              <a:t/>
            </a:r>
          </a:p>
          <a:p xmlns:a="http://schemas.openxmlformats.org/drawingml/2006/main">
            <a:pPr algn="r" rtl="1"/>
            <a:r>
              <a:t>מקור ואימות: docs/project-context.md;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02:00–03:15</a:t>
            </a:r>
          </a:p>
          <a:p xmlns:a="http://schemas.openxmlformats.org/drawingml/2006/main">
            <a:r>
              <a:t/>
            </a:r>
          </a:p>
          <a:p xmlns:a="http://schemas.openxmlformats.org/drawingml/2006/main">
            <a:pPr algn="r" rtl="1"/>
            <a:r>
              <a:t>פתח במשפט: זהו אותו נתון בשלוש רמות של אמון. עקוב אחר השורה העליונה מימין לשמאל: Alpaca ו-SEC הם המקורות, Python מאחד אותם לחוזים ברורים, Kafka מפריד בין היצרן לצרכנים, Spark מעבד, ו-MariaDB Gold מגיש את התוצאה ל-API ול-Web. אחר כך עבור למסלול התחתון: Kafka נשמר גם ב-Bronze, Spark Batch מנקה ל-Silver, ורק אחרי בדיקות מפרסם Gold מאושר. Airflow מתזמן את העבודות התחומות במסלול הזה. הוא אינו מפעיל את שירות ה-Streaming. סיים בגבול האבטחה: הדפדפן מתקשר רק עם ה-API.</a:t>
            </a:r>
          </a:p>
          <a:p xmlns:a="http://schemas.openxmlformats.org/drawingml/2006/main">
            <a:r>
              <a:t/>
            </a:r>
          </a:p>
          <a:p xmlns:a="http://schemas.openxmlformats.org/drawingml/2006/main">
            <a:pPr algn="r" rtl="1"/>
            <a:r>
              <a:t>מקור ואימות: docs/architecture/architecture.md; docs/decisions/ADR-001-storage-strategy.md; ADR-002-airflow-boundary.md; ADR-003-streaming-lifecycle.md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03:15–04:15</a:t>
            </a:r>
          </a:p>
          <a:p xmlns:a="http://schemas.openxmlformats.org/drawingml/2006/main">
            <a:r>
              <a:t/>
            </a:r>
          </a:p>
          <a:p xmlns:a="http://schemas.openxmlformats.org/drawingml/2006/main">
            <a:pPr algn="r" rtl="1"/>
            <a:r>
              <a:t>הסבר את ההבדל כהבטחה למשתמש. Provisional אומר מה ידוע עכשיו. Certified אומר שהיום נבנה מחדש מן המקור ועבר בדיקות. Docker Compose מנהל שירותים ארוכי חיים; Airflow מתזמן ומנטר עבודות תחומות. אל תגיד ש-Airflow מפעיל את ה-Streaming.</a:t>
            </a:r>
          </a:p>
          <a:p xmlns:a="http://schemas.openxmlformats.org/drawingml/2006/main">
            <a:r>
              <a:t/>
            </a:r>
          </a:p>
          <a:p xmlns:a="http://schemas.openxmlformats.org/drawingml/2006/main">
            <a:pPr algn="r" rtl="1"/>
            <a:r>
              <a:t>מקור ואימות: docs/decisions/ADR-002-airflow-boundary.md; docs/decisions/ADR-004-provisional-certified-publication.md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04:15–05:05</a:t>
            </a:r>
          </a:p>
          <a:p xmlns:a="http://schemas.openxmlformats.org/drawingml/2006/main">
            <a:r>
              <a:t/>
            </a:r>
          </a:p>
          <a:p xmlns:a="http://schemas.openxmlformats.org/drawingml/2006/main">
            <a:pPr algn="r" rtl="1"/>
            <a:r>
              <a:t>אל תקריא את הטבלה שורה אחר שורה. הסבר את עקרון הבחירה: כל רכיב נכנס משום שהוא פותר סיכון אחר. Kafka מפריד בין המקור לצרכנים ומאפשר Replay. Spark נותן מנוע חישוב משותף למסלול החי ולחישוב החוזר. MinIO שומר את הראיה הגולמית מחוץ למסד המגיש. MariaDB נותן ל-API מודל SQL מהיר. Airflow מנהל סדר וניסיונות חוזרים של עבודות שמסתיימות, ו-Docker Compose שומר על מחזור החיים של השירותים המתמשכים. אם יש זמן, הוסף: יכולתי לבנות הכול בסקריפט אחד, אבל כל תקלה הייתה הופכת לתקלה בכל המערכת, בלי Replay ובלי גבולות אחריות ברורים.</a:t>
            </a:r>
          </a:p>
          <a:p xmlns:a="http://schemas.openxmlformats.org/drawingml/2006/main">
            <a:r>
              <a:t/>
            </a:r>
          </a:p>
          <a:p xmlns:a="http://schemas.openxmlformats.org/drawingml/2006/main">
            <a:pPr algn="r" rtl="1"/>
            <a:r>
              <a:t>מקור ואימות: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05:05–05:45</a:t>
            </a:r>
          </a:p>
          <a:p xmlns:a="http://schemas.openxmlformats.org/drawingml/2006/main">
            <a:r>
              <a:t/>
            </a:r>
          </a:p>
          <a:p xmlns:a="http://schemas.openxmlformats.org/drawingml/2006/main">
            <a:pPr algn="r" rtl="1"/>
            <a:r>
              <a:t>הצג את צילום המסך כראיה, לא כקישוט. המשתמש מקבל תמונת מחקר אחת: מחיר, נפח, אינדיקטורים, דיווחי חברה וטריות. מאחורי כל ערך יש API, סטטוס פרסום ו-Lineage. המסך מפשט את המורכבות, אך אינו מסתיר אותה. אם שואלים על המספרים, ציין שהם Snapshot מתוארך ולא נתון שיווקי קבוע.</a:t>
            </a:r>
          </a:p>
          <a:p xmlns:a="http://schemas.openxmlformats.org/drawingml/2006/main">
            <a:r>
              <a:t/>
            </a:r>
          </a:p>
          <a:p xmlns:a="http://schemas.openxmlformats.org/drawingml/2006/main">
            <a:pPr algn="r" rtl="1"/>
            <a:r>
              <a:t>מקור ואימות: docs/presentation/assets/dashboard.png; docs/final-presentation-verification.md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05:45–06:35</a:t>
            </a:r>
          </a:p>
          <a:p xmlns:a="http://schemas.openxmlformats.org/drawingml/2006/main">
            <a:r>
              <a:t/>
            </a:r>
          </a:p>
          <a:p xmlns:a="http://schemas.openxmlformats.org/drawingml/2006/main">
            <a:pPr algn="r" rtl="1"/>
            <a:r>
              <a:t>פתח כך: המלצה בלי נקודת ביטול ובלי גודל פוזיציה היא רק דעה. MarketPilot מציגה תרחיש שלם: Buy Zone, Stop, שני יעדים, יחס Risk/Reward וגודל פוזיציה שמכבד את מגבלות התיק. אחר כך הסבר את הגבול: Shadow Mode עדיין אוסף ראיות חיות ולכן הפלט אינו Actionable. ההיסטוריה משמשת למחקר ולבדיקה, אך אינה מזייפת זמן אמיתי.</a:t>
            </a:r>
          </a:p>
          <a:p xmlns:a="http://schemas.openxmlformats.org/drawingml/2006/main">
            <a:r>
              <a:t/>
            </a:r>
          </a:p>
          <a:p xmlns:a="http://schemas.openxmlformats.org/drawingml/2006/main">
            <a:pPr algn="r" rtl="1"/>
            <a:r>
              <a:t>מקור ואימות: docs/phase14-verification.md;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06:35–07:25</a:t>
            </a:r>
          </a:p>
          <a:p xmlns:a="http://schemas.openxmlformats.org/drawingml/2006/main">
            <a:r>
              <a:t/>
            </a:r>
          </a:p>
          <a:p xmlns:a="http://schemas.openxmlformats.org/drawingml/2006/main">
            <a:pPr algn="r" rtl="1"/>
            <a:r>
              <a:t>הדגש שהמטרה אינה לייצר גרף יפה אלא ניסוי שאפשר לבקר. הקלט כולל רק Certified Gold. אות שנוצר בנר מסוים יכול להשפיע רק מהנר הבא, כדי למנוע Look-ahead. עלויות ו-Slippage מפחיתים את התוצאה במקום להיעלם מהמודל. כך גם תוצאה חלשה היא מידע שימושי. ביצועי עבר אינם הבטחת תשואה.</a:t>
            </a:r>
          </a:p>
          <a:p xmlns:a="http://schemas.openxmlformats.org/drawingml/2006/main">
            <a:r>
              <a:t/>
            </a:r>
          </a:p>
          <a:p xmlns:a="http://schemas.openxmlformats.org/drawingml/2006/main">
            <a:pPr algn="r" rtl="1"/>
            <a:r>
              <a:t>מקור ואימות: docs/phase14-historical-evidence-verification.md; docs/decisions/ADR-005-historical-backtesting.md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07:25–08:15</a:t>
            </a:r>
          </a:p>
          <a:p xmlns:a="http://schemas.openxmlformats.org/drawingml/2006/main">
            <a:r>
              <a:t/>
            </a:r>
          </a:p>
          <a:p xmlns:a="http://schemas.openxmlformats.org/drawingml/2006/main">
            <a:pPr algn="r" rtl="1"/>
            <a:r>
              <a:t>בחר שני אתגרים והצג את דרך החשיבה. הראשון: רציתי נתון מהיר, אבל לא רציתי לכנות יום פתוח 'מאושר'. לכן הפרדתי Provisional מ-Certified. השני: במערכת מבוזרת Retry הוא חלק מהחיים, ולכן לא ניסיתי למנוע כל ניסיון חוזר. תכננתי Business Keys, Checkpoint ו-Upsert כך שהניסיון החוזר יהיה בטוח. אם נשאר זמן, הסבר מדוע ה-Backfill עובר דרך Bronze ולא כותב ישירות למסד.</a:t>
            </a:r>
          </a:p>
          <a:p xmlns:a="http://schemas.openxmlformats.org/drawingml/2006/main">
            <a:r>
              <a:t/>
            </a:r>
          </a:p>
          <a:p xmlns:a="http://schemas.openxmlformats.org/drawingml/2006/main">
            <a:pPr algn="r" rtl="1"/>
            <a:r>
              <a:t>מקור ואימות: docs/decisions/ADR-003-streaming-lifecycle.md; ADR-004-provisional-certified-publication.md; ADR-007-certified-historical-acquisition.md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08:15–08:55</a:t>
            </a:r>
          </a:p>
          <a:p xmlns:a="http://schemas.openxmlformats.org/drawingml/2006/main">
            <a:r>
              <a:t/>
            </a:r>
          </a:p>
          <a:p xmlns:a="http://schemas.openxmlformats.org/drawingml/2006/main">
            <a:pPr algn="r" rtl="1"/>
            <a:r>
              <a:t>הפרד בבירור בין קיים לעתידי. היום יש פלטפורמה מקומית מלאה, מסלולי Live ו-Certified, היסטוריה מאושרת ומוצר Web. לפני שהמלצה תהפוך ל-Decision Support פעיל נדרשים 20 ימי Shadow Mode, בדיקת Calibration ואישור אנושי מתועד. בהמשך אפשר להוסיף SIP, מעבר ל-S3, Observability ואבטחת Production. אל תציג אותם כאילו כבר מומשו.</a:t>
            </a:r>
          </a:p>
          <a:p xmlns:a="http://schemas.openxmlformats.org/drawingml/2006/main">
            <a:r>
              <a:t/>
            </a:r>
          </a:p>
          <a:p xmlns:a="http://schemas.openxmlformats.org/drawingml/2006/main">
            <a:pPr algn="r" rtl="1"/>
            <a:r>
              <a:t>מקור ואימות: docs/implementation-plan.md; docs/phase14-verification.md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08:55–09:10</a:t>
            </a:r>
          </a:p>
          <a:p xmlns:a="http://schemas.openxmlformats.org/drawingml/2006/main">
            <a:r>
              <a:t/>
            </a:r>
          </a:p>
          <a:p xmlns:a="http://schemas.openxmlformats.org/drawingml/2006/main">
            <a:pPr algn="r" rtl="1"/>
            <a:r>
              <a:t>עצור לשנייה ועבור לדמו במשפט נקי: עד עכשיו הסברתי את ההיגיון. עכשיו אראה את אותה שרשרת במערכת עצמה. נעבור מהמסך העסקי לאירוע ב-Kafka, לראיית המקור ב-MinIO, לריצה המאושרת ב-Airflow, ולבסוף לתרחיש ההחלטה ולבדיקה ההיסטורית. פתח את סקריפט הדמו והתחל את הטיימר.</a:t>
            </a:r>
          </a:p>
          <a:p xmlns:a="http://schemas.openxmlformats.org/drawingml/2006/main">
            <a:r>
              <a:t/>
            </a:r>
          </a:p>
          <a:p xmlns:a="http://schemas.openxmlformats.org/drawingml/2006/main">
            <a:pPr algn="r" rtl="1"/>
            <a:r>
              <a:t>מקור ואימות: docs/presentation/live-demo-script-he.md; scripts/demo-preflight.ps1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93eeb072c04f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53208ed40348b8" /><Relationship Type="http://schemas.openxmlformats.org/officeDocument/2006/relationships/slideLayout" Target="/ppt/slideLayouts/slideLayout1.xml" Id="R57887eba745341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887eba745341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eb5d183f594236" /><Relationship Type="http://schemas.openxmlformats.org/officeDocument/2006/relationships/notesSlide" Target="/ppt/notesSlides/notesSlide1.xml" Id="R21f21c56906e4f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86c7eca4fb419a" /><Relationship Type="http://schemas.openxmlformats.org/officeDocument/2006/relationships/notesSlide" Target="/ppt/notesSlides/notesSlide2.xml" Id="R2139ef8029264c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4b336fa5a545cc" /><Relationship Type="http://schemas.openxmlformats.org/officeDocument/2006/relationships/notesSlide" Target="/ppt/notesSlides/notesSlide3.xml" Id="R3a283bb3329249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ee76177ced4d2c" /><Relationship Type="http://schemas.openxmlformats.org/officeDocument/2006/relationships/notesSlide" Target="/ppt/notesSlides/notesSlide4.xml" Id="R7096b3bff13c49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8a1e79ae824844" /><Relationship Type="http://schemas.openxmlformats.org/officeDocument/2006/relationships/notesSlide" Target="/ppt/notesSlides/notesSlide5.xml" Id="R64e2a75770974e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8534ff4a5a48e2" /><Relationship Type="http://schemas.openxmlformats.org/officeDocument/2006/relationships/notesSlide" Target="/ppt/notesSlides/notesSlide6.xml" Id="Re2ffa1c7137544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e787b26fa3429b" /><Relationship Type="http://schemas.openxmlformats.org/officeDocument/2006/relationships/image" Target="/ppt/media/image.png" Id="R255c135471fa4728" /><Relationship Type="http://schemas.openxmlformats.org/officeDocument/2006/relationships/notesSlide" Target="/ppt/notesSlides/notesSlide7.xml" Id="R6b3088ae10434c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eda1d111a4400d" /><Relationship Type="http://schemas.openxmlformats.org/officeDocument/2006/relationships/image" Target="/ppt/media/image2.png" Id="R47d2a48de591456c" /><Relationship Type="http://schemas.openxmlformats.org/officeDocument/2006/relationships/notesSlide" Target="/ppt/notesSlides/notesSlide8.xml" Id="R414c7851ab98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14af8ae9a04582" /><Relationship Type="http://schemas.openxmlformats.org/officeDocument/2006/relationships/image" Target="/ppt/media/image3.png" Id="Rf4299af479204b55" /><Relationship Type="http://schemas.openxmlformats.org/officeDocument/2006/relationships/notesSlide" Target="/ppt/notesSlides/notesSlide9.xml" Id="R5bfc95d973fd40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528b948e974c11" /><Relationship Type="http://schemas.openxmlformats.org/officeDocument/2006/relationships/notesSlide" Target="/ppt/notesSlides/notesSlide10.xml" Id="R898ed674238c42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4840dc3b614685" /><Relationship Type="http://schemas.openxmlformats.org/officeDocument/2006/relationships/notesSlide" Target="/ppt/notesSlides/notesSlide11.xml" Id="R61df30553f0f4c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bf0ec9414747b1" /><Relationship Type="http://schemas.openxmlformats.org/officeDocument/2006/relationships/notesSlide" Target="/ppt/notesSlides/notesSlide12.xml" Id="Rc7dcf8a78efb453a" /></Relationships>
</file>

<file path=ppt/slides/slide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04C7F16-C5CA-4277-AB5B-77F380BBD8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2C58DF-29F6-449A-9361-DE81F38C9178}"/>
              </a:ext>
            </a:extLst>
          </p:cNvPr>
          <p:cNvSpPr>
            <a:spLocks xmlns:a="http://schemas.openxmlformats.org/drawingml/2006/main" noGrp="1"/>
          </p:cNvSpPr>
          <p:nvPr/>
        </p:nvSpPr>
        <p:spPr>
          <a:xfrm xmlns:a="http://schemas.openxmlformats.org/drawingml/2006/main">
            <a:off x="647700" y="5524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MARKETPILOT · FINAL PROJECT</a:t>
            </a:r>
          </a:p>
        </p:txBody>
      </p:sp>
      <p:sp>
        <p:nvSpPr>
          <p:cNvPr id="3" name="">
            <a:extLst xmlns:a="http://schemas.openxmlformats.org/drawingml/2006/main">
              <a:ext uri="{FF2B5EF4-FFF2-40B4-BE49-F238E27FC236}">
                <a16:creationId xmlns:a16="http://schemas.microsoft.com/office/drawing/2014/main" id="{85708B68-8B32-4F52-8467-250EEA6CC58A}"/>
              </a:ext>
            </a:extLst>
          </p:cNvPr>
          <p:cNvSpPr>
            <a:spLocks xmlns:a="http://schemas.openxmlformats.org/drawingml/2006/main" noGrp="1"/>
          </p:cNvSpPr>
          <p:nvPr/>
        </p:nvSpPr>
        <p:spPr>
          <a:xfrm xmlns:a="http://schemas.openxmlformats.org/drawingml/2006/main">
            <a:off x="5143500" y="1257300"/>
            <a:ext cx="6381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0000"/>
              </a:lnSpc>
              <a:buNone/>
              <a:defRPr sz="4350" b="1">
                <a:solidFill>
                  <a:srgbClr val="F8FBFF"/>
                </a:solidFill>
                <a:latin typeface="Arial"/>
                <a:ea typeface="Arial"/>
                <a:cs typeface="Arial"/>
              </a:defRPr>
            </a:pPr>
            <a:r>
              <a:rPr sz="4350" b="1">
                <a:solidFill>
                  <a:srgbClr val="F8FBFF"/>
                </a:solidFill>
                <a:latin typeface="Arial"/>
                <a:ea typeface="Arial"/>
                <a:cs typeface="Arial"/>
              </a:rPr>
              <a:t>MarketPilot</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מהמידע הגולמי</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לתרחיש החלטה</a:t>
            </a:r>
          </a:p>
        </p:txBody>
      </p:sp>
      <p:sp>
        <p:nvSpPr>
          <p:cNvPr id="4" name="">
            <a:extLst xmlns:a="http://schemas.openxmlformats.org/drawingml/2006/main">
              <a:ext uri="{FF2B5EF4-FFF2-40B4-BE49-F238E27FC236}">
                <a16:creationId xmlns:a16="http://schemas.microsoft.com/office/drawing/2014/main" id="{B7E984D2-0FC5-4DE1-A8B0-5ECC926B0851}"/>
              </a:ext>
            </a:extLst>
          </p:cNvPr>
          <p:cNvSpPr>
            <a:spLocks xmlns:a="http://schemas.openxmlformats.org/drawingml/2006/main" noGrp="1"/>
          </p:cNvSpPr>
          <p:nvPr/>
        </p:nvSpPr>
        <p:spPr>
          <a:xfrm xmlns:a="http://schemas.openxmlformats.org/drawingml/2006/main">
            <a:off x="6000750" y="37338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פלטפורמת Data Engineering מקומית שמחברת נתוני שוק, דיווחי SEC, ניתוח טכני ובדיקות היסטוריות למוצר מחקר אחד</a:t>
            </a:r>
          </a:p>
        </p:txBody>
      </p:sp>
      <p:sp>
        <p:nvSpPr>
          <p:cNvPr id="5" name="">
            <a:extLst xmlns:a="http://schemas.openxmlformats.org/drawingml/2006/main">
              <a:ext uri="{FF2B5EF4-FFF2-40B4-BE49-F238E27FC236}">
                <a16:creationId xmlns:a16="http://schemas.microsoft.com/office/drawing/2014/main" id="{EECE1557-57C9-4006-A1E1-2D0A8BF0C69F}"/>
              </a:ext>
            </a:extLst>
          </p:cNvPr>
          <p:cNvSpPr>
            <a:spLocks xmlns:a="http://schemas.openxmlformats.org/drawingml/2006/main" noGrp="1"/>
          </p:cNvSpPr>
          <p:nvPr/>
        </p:nvSpPr>
        <p:spPr>
          <a:xfrm xmlns:a="http://schemas.openxmlformats.org/drawingml/2006/main">
            <a:off x="742950" y="19812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6" name="">
            <a:extLst xmlns:a="http://schemas.openxmlformats.org/drawingml/2006/main">
              <a:ext uri="{FF2B5EF4-FFF2-40B4-BE49-F238E27FC236}">
                <a16:creationId xmlns:a16="http://schemas.microsoft.com/office/drawing/2014/main" id="{375502A9-70D6-447B-998F-AA2B55736C2E}"/>
              </a:ext>
            </a:extLst>
          </p:cNvPr>
          <p:cNvSpPr>
            <a:spLocks xmlns:a="http://schemas.openxmlformats.org/drawingml/2006/main" noGrp="1"/>
          </p:cNvSpPr>
          <p:nvPr/>
        </p:nvSpPr>
        <p:spPr>
          <a:xfrm xmlns:a="http://schemas.openxmlformats.org/drawingml/2006/main">
            <a:off x="1200150" y="1914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LIVE</a:t>
            </a:r>
          </a:p>
        </p:txBody>
      </p:sp>
      <p:sp>
        <p:nvSpPr>
          <p:cNvPr id="7" name="">
            <a:extLst xmlns:a="http://schemas.openxmlformats.org/drawingml/2006/main">
              <a:ext uri="{FF2B5EF4-FFF2-40B4-BE49-F238E27FC236}">
                <a16:creationId xmlns:a16="http://schemas.microsoft.com/office/drawing/2014/main" id="{D8D83AA6-DDCB-4C8B-80FA-17DF2AFFD8ED}"/>
              </a:ext>
            </a:extLst>
          </p:cNvPr>
          <p:cNvSpPr>
            <a:spLocks xmlns:a="http://schemas.openxmlformats.org/drawingml/2006/main" noGrp="1"/>
          </p:cNvSpPr>
          <p:nvPr/>
        </p:nvSpPr>
        <p:spPr>
          <a:xfrm xmlns:a="http://schemas.openxmlformats.org/drawingml/2006/main">
            <a:off x="1200150" y="2286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0FD1405C-A273-4903-AB2F-093A400294BF}"/>
              </a:ext>
            </a:extLst>
          </p:cNvPr>
          <p:cNvSpPr>
            <a:spLocks xmlns:a="http://schemas.openxmlformats.org/drawingml/2006/main" noGrp="1"/>
          </p:cNvSpPr>
          <p:nvPr/>
        </p:nvSpPr>
        <p:spPr>
          <a:xfrm xmlns:a="http://schemas.openxmlformats.org/drawingml/2006/main">
            <a:off x="742950" y="27241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247279F4-9264-41C4-B9BC-03FDD47ABA0C}"/>
              </a:ext>
            </a:extLst>
          </p:cNvPr>
          <p:cNvSpPr>
            <a:spLocks xmlns:a="http://schemas.openxmlformats.org/drawingml/2006/main" noGrp="1"/>
          </p:cNvSpPr>
          <p:nvPr/>
        </p:nvSpPr>
        <p:spPr>
          <a:xfrm xmlns:a="http://schemas.openxmlformats.org/drawingml/2006/main">
            <a:off x="742950" y="30099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0" name="">
            <a:extLst xmlns:a="http://schemas.openxmlformats.org/drawingml/2006/main">
              <a:ext uri="{FF2B5EF4-FFF2-40B4-BE49-F238E27FC236}">
                <a16:creationId xmlns:a16="http://schemas.microsoft.com/office/drawing/2014/main" id="{8E9661DB-0E01-42B2-B833-9299E34C5875}"/>
              </a:ext>
            </a:extLst>
          </p:cNvPr>
          <p:cNvSpPr>
            <a:spLocks xmlns:a="http://schemas.openxmlformats.org/drawingml/2006/main" noGrp="1"/>
          </p:cNvSpPr>
          <p:nvPr/>
        </p:nvSpPr>
        <p:spPr>
          <a:xfrm xmlns:a="http://schemas.openxmlformats.org/drawingml/2006/main">
            <a:off x="1200150" y="29432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CERTIFIED</a:t>
            </a:r>
          </a:p>
        </p:txBody>
      </p:sp>
      <p:sp>
        <p:nvSpPr>
          <p:cNvPr id="11" name="">
            <a:extLst xmlns:a="http://schemas.openxmlformats.org/drawingml/2006/main">
              <a:ext uri="{FF2B5EF4-FFF2-40B4-BE49-F238E27FC236}">
                <a16:creationId xmlns:a16="http://schemas.microsoft.com/office/drawing/2014/main" id="{FE76959C-499F-4F2C-B7AC-9E8F85FA8FD3}"/>
              </a:ext>
            </a:extLst>
          </p:cNvPr>
          <p:cNvSpPr>
            <a:spLocks xmlns:a="http://schemas.openxmlformats.org/drawingml/2006/main" noGrp="1"/>
          </p:cNvSpPr>
          <p:nvPr/>
        </p:nvSpPr>
        <p:spPr>
          <a:xfrm xmlns:a="http://schemas.openxmlformats.org/drawingml/2006/main">
            <a:off x="120015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עבר בדיקה</a:t>
            </a:r>
          </a:p>
        </p:txBody>
      </p:sp>
      <p:sp>
        <p:nvSpPr>
          <p:cNvPr id="12" name="">
            <a:extLst xmlns:a="http://schemas.openxmlformats.org/drawingml/2006/main">
              <a:ext uri="{FF2B5EF4-FFF2-40B4-BE49-F238E27FC236}">
                <a16:creationId xmlns:a16="http://schemas.microsoft.com/office/drawing/2014/main" id="{8967D6A2-163B-4CA9-BD7B-6C7E8A1875D1}"/>
              </a:ext>
            </a:extLst>
          </p:cNvPr>
          <p:cNvSpPr>
            <a:spLocks xmlns:a="http://schemas.openxmlformats.org/drawingml/2006/main" noGrp="1"/>
          </p:cNvSpPr>
          <p:nvPr/>
        </p:nvSpPr>
        <p:spPr>
          <a:xfrm xmlns:a="http://schemas.openxmlformats.org/drawingml/2006/main">
            <a:off x="742950" y="37528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3" name="">
            <a:extLst xmlns:a="http://schemas.openxmlformats.org/drawingml/2006/main">
              <a:ext uri="{FF2B5EF4-FFF2-40B4-BE49-F238E27FC236}">
                <a16:creationId xmlns:a16="http://schemas.microsoft.com/office/drawing/2014/main" id="{057C5344-DB54-496F-96B0-93E4A0F5BD27}"/>
              </a:ext>
            </a:extLst>
          </p:cNvPr>
          <p:cNvSpPr>
            <a:spLocks xmlns:a="http://schemas.openxmlformats.org/drawingml/2006/main" noGrp="1"/>
          </p:cNvSpPr>
          <p:nvPr/>
        </p:nvSpPr>
        <p:spPr>
          <a:xfrm xmlns:a="http://schemas.openxmlformats.org/drawingml/2006/main">
            <a:off x="742950" y="40386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4" name="">
            <a:extLst xmlns:a="http://schemas.openxmlformats.org/drawingml/2006/main">
              <a:ext uri="{FF2B5EF4-FFF2-40B4-BE49-F238E27FC236}">
                <a16:creationId xmlns:a16="http://schemas.microsoft.com/office/drawing/2014/main" id="{90AB0922-B579-4A10-932F-79BCE26DAA5A}"/>
              </a:ext>
            </a:extLst>
          </p:cNvPr>
          <p:cNvSpPr>
            <a:spLocks xmlns:a="http://schemas.openxmlformats.org/drawingml/2006/main" noGrp="1"/>
          </p:cNvSpPr>
          <p:nvPr/>
        </p:nvSpPr>
        <p:spPr>
          <a:xfrm xmlns:a="http://schemas.openxmlformats.org/drawingml/2006/main">
            <a:off x="1200150" y="39719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EXPLAINED</a:t>
            </a:r>
          </a:p>
        </p:txBody>
      </p:sp>
      <p:sp>
        <p:nvSpPr>
          <p:cNvPr id="15" name="">
            <a:extLst xmlns:a="http://schemas.openxmlformats.org/drawingml/2006/main">
              <a:ext uri="{FF2B5EF4-FFF2-40B4-BE49-F238E27FC236}">
                <a16:creationId xmlns:a16="http://schemas.microsoft.com/office/drawing/2014/main" id="{4F72E3B5-8939-4538-8220-67F98838BE1C}"/>
              </a:ext>
            </a:extLst>
          </p:cNvPr>
          <p:cNvSpPr>
            <a:spLocks xmlns:a="http://schemas.openxmlformats.org/drawingml/2006/main" noGrp="1"/>
          </p:cNvSpPr>
          <p:nvPr/>
        </p:nvSpPr>
        <p:spPr>
          <a:xfrm xmlns:a="http://schemas.openxmlformats.org/drawingml/2006/main">
            <a:off x="1200150" y="4343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למה התקבלה התוצאה</a:t>
            </a:r>
          </a:p>
        </p:txBody>
      </p:sp>
      <p:sp>
        <p:nvSpPr>
          <p:cNvPr id="16" name="">
            <a:extLst xmlns:a="http://schemas.openxmlformats.org/drawingml/2006/main">
              <a:ext uri="{FF2B5EF4-FFF2-40B4-BE49-F238E27FC236}">
                <a16:creationId xmlns:a16="http://schemas.microsoft.com/office/drawing/2014/main" id="{F49BAD41-E35A-4309-9A58-D45DC078637D}"/>
              </a:ext>
            </a:extLst>
          </p:cNvPr>
          <p:cNvSpPr>
            <a:spLocks xmlns:a="http://schemas.openxmlformats.org/drawingml/2006/main" noGrp="1"/>
          </p:cNvSpPr>
          <p:nvPr/>
        </p:nvSpPr>
        <p:spPr>
          <a:xfrm xmlns:a="http://schemas.openxmlformats.org/drawingml/2006/main">
            <a:off x="647700" y="61341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050" b="0" lang="he-IL">
                <a:solidFill>
                  <a:srgbClr val="9AB1C5"/>
                </a:solidFill>
                <a:latin typeface="Arial"/>
                <a:ea typeface="Arial"/>
                <a:cs typeface="Arial"/>
              </a:defRPr>
            </a:pPr>
            <a:r>
              <a:rPr sz="1050" b="0" lang="he-IL">
                <a:solidFill>
                  <a:srgbClr val="9AB1C5"/>
                </a:solidFill>
                <a:latin typeface="Arial"/>
                <a:ea typeface="Arial"/>
                <a:cs typeface="Arial"/>
              </a:rPr>
              <a:t>עמיחי · פרויקט גמר · הנדסת נתונים</a:t>
            </a:r>
          </a:p>
        </p:txBody>
      </p:sp>
    </p:spTree>
    <p:extLst>
      <p:ext uri="{BB962C8B-B14F-4D97-AF65-F5344CB8AC3E}">
        <p14:creationId xmlns:p14="http://schemas.microsoft.com/office/powerpoint/2010/main" val="429817077"/>
      </p:ext>
    </p:extLst>
  </p:cSld>
</p:sld>
</file>

<file path=ppt/slides/slide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8B92901-39C5-4696-B9A6-19F08E280F9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A9E0CD-E40F-420F-A911-411B9ABB4F95}"/>
              </a:ext>
            </a:extLst>
          </p:cNvPr>
          <p:cNvSpPr>
            <a:spLocks xmlns:a="http://schemas.openxmlformats.org/drawingml/2006/main" noGrp="1"/>
          </p:cNvSpPr>
          <p:nvPr/>
        </p:nvSpPr>
        <p:spPr>
          <a:xfrm xmlns:a="http://schemas.openxmlformats.org/drawingml/2006/main">
            <a:off x="609600" y="400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THE PROBLEM</a:t>
            </a:r>
          </a:p>
        </p:txBody>
      </p:sp>
      <p:sp>
        <p:nvSpPr>
          <p:cNvPr id="3" name="">
            <a:extLst xmlns:a="http://schemas.openxmlformats.org/drawingml/2006/main">
              <a:ext uri="{FF2B5EF4-FFF2-40B4-BE49-F238E27FC236}">
                <a16:creationId xmlns:a16="http://schemas.microsoft.com/office/drawing/2014/main" id="{FC9C74A6-C562-4470-B90D-973662F2E9B8}"/>
              </a:ext>
            </a:extLst>
          </p:cNvPr>
          <p:cNvSpPr>
            <a:spLocks xmlns:a="http://schemas.openxmlformats.org/drawingml/2006/main" noGrp="1"/>
          </p:cNvSpPr>
          <p:nvPr/>
        </p:nvSpPr>
        <p:spPr>
          <a:xfrm xmlns:a="http://schemas.openxmlformats.org/drawingml/2006/main">
            <a:off x="4000500" y="1162050"/>
            <a:ext cx="752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2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המספר על המסך</a:t>
            </a:r>
          </a:p>
          <a:p xmlns:a="http://schemas.openxmlformats.org/drawingml/2006/main">
            <a:pPr algn="r" rtl="1">
              <a:lnSpc>
                <a:spcPct val="92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הוא רק תחילת השאלה</a:t>
            </a:r>
          </a:p>
        </p:txBody>
      </p:sp>
      <p:sp>
        <p:nvSpPr>
          <p:cNvPr id="4" name="">
            <a:extLst xmlns:a="http://schemas.openxmlformats.org/drawingml/2006/main">
              <a:ext uri="{FF2B5EF4-FFF2-40B4-BE49-F238E27FC236}">
                <a16:creationId xmlns:a16="http://schemas.microsoft.com/office/drawing/2014/main" id="{CC8E3D47-C595-454B-911A-79ABD6AB227A}"/>
              </a:ext>
            </a:extLst>
          </p:cNvPr>
          <p:cNvSpPr>
            <a:spLocks xmlns:a="http://schemas.openxmlformats.org/drawingml/2006/main" noGrp="1"/>
          </p:cNvSpPr>
          <p:nvPr/>
        </p:nvSpPr>
        <p:spPr>
          <a:xfrm xmlns:a="http://schemas.openxmlformats.org/drawingml/2006/main">
            <a:off x="5048250" y="257175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כדי לקבל החלטה אחראית צריך לדעת מתי הנתון הגיע, מאיזה מקור, מה השתנה בחברה, ואיך אותו רעיון התנהג בעבר.</a:t>
            </a:r>
          </a:p>
        </p:txBody>
      </p:sp>
      <p:sp>
        <p:nvSpPr>
          <p:cNvPr id="5" name="">
            <a:extLst xmlns:a="http://schemas.openxmlformats.org/drawingml/2006/main">
              <a:ext uri="{FF2B5EF4-FFF2-40B4-BE49-F238E27FC236}">
                <a16:creationId xmlns:a16="http://schemas.microsoft.com/office/drawing/2014/main" id="{A5317F16-79FC-4EF7-9C43-1903FE09924D}"/>
              </a:ext>
            </a:extLst>
          </p:cNvPr>
          <p:cNvSpPr>
            <a:spLocks xmlns:a="http://schemas.openxmlformats.org/drawingml/2006/main" noGrp="1"/>
          </p:cNvSpPr>
          <p:nvPr/>
        </p:nvSpPr>
        <p:spPr>
          <a:xfrm xmlns:a="http://schemas.openxmlformats.org/drawingml/2006/main">
            <a:off x="90106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C4E1A3-E736-4EC2-A2B1-01AA24932CB7}"/>
              </a:ext>
            </a:extLst>
          </p:cNvPr>
          <p:cNvSpPr>
            <a:spLocks xmlns:a="http://schemas.openxmlformats.org/drawingml/2006/main" noGrp="1"/>
          </p:cNvSpPr>
          <p:nvPr/>
        </p:nvSpPr>
        <p:spPr>
          <a:xfrm xmlns:a="http://schemas.openxmlformats.org/drawingml/2006/main">
            <a:off x="91821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7" name="">
            <a:extLst xmlns:a="http://schemas.openxmlformats.org/drawingml/2006/main">
              <a:ext uri="{FF2B5EF4-FFF2-40B4-BE49-F238E27FC236}">
                <a16:creationId xmlns:a16="http://schemas.microsoft.com/office/drawing/2014/main" id="{37A83A3D-C8AA-4FB8-887B-B251F5681676}"/>
              </a:ext>
            </a:extLst>
          </p:cNvPr>
          <p:cNvSpPr>
            <a:spLocks xmlns:a="http://schemas.openxmlformats.org/drawingml/2006/main" noGrp="1"/>
          </p:cNvSpPr>
          <p:nvPr/>
        </p:nvSpPr>
        <p:spPr>
          <a:xfrm xmlns:a="http://schemas.openxmlformats.org/drawingml/2006/main">
            <a:off x="91821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05D7525F-EA45-4891-A36B-297DFB0669F3}"/>
              </a:ext>
            </a:extLst>
          </p:cNvPr>
          <p:cNvSpPr>
            <a:spLocks xmlns:a="http://schemas.openxmlformats.org/drawingml/2006/main" noGrp="1"/>
          </p:cNvSpPr>
          <p:nvPr/>
        </p:nvSpPr>
        <p:spPr>
          <a:xfrm xmlns:a="http://schemas.openxmlformats.org/drawingml/2006/main">
            <a:off x="91821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מחיר, נפח ומגמה</a:t>
            </a:r>
          </a:p>
        </p:txBody>
      </p:sp>
      <p:sp>
        <p:nvSpPr>
          <p:cNvPr id="9" name="">
            <a:extLst xmlns:a="http://schemas.openxmlformats.org/drawingml/2006/main">
              <a:ext uri="{FF2B5EF4-FFF2-40B4-BE49-F238E27FC236}">
                <a16:creationId xmlns:a16="http://schemas.microsoft.com/office/drawing/2014/main" id="{129AA29A-B93F-427A-9146-48E9FC2FEFF2}"/>
              </a:ext>
            </a:extLst>
          </p:cNvPr>
          <p:cNvSpPr>
            <a:spLocks xmlns:a="http://schemas.openxmlformats.org/drawingml/2006/main" noGrp="1"/>
          </p:cNvSpPr>
          <p:nvPr/>
        </p:nvSpPr>
        <p:spPr>
          <a:xfrm xmlns:a="http://schemas.openxmlformats.org/drawingml/2006/main">
            <a:off x="613410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378FF78-7CD2-4F6F-8EEC-7AADA254BFAA}"/>
              </a:ext>
            </a:extLst>
          </p:cNvPr>
          <p:cNvSpPr>
            <a:spLocks xmlns:a="http://schemas.openxmlformats.org/drawingml/2006/main" noGrp="1"/>
          </p:cNvSpPr>
          <p:nvPr/>
        </p:nvSpPr>
        <p:spPr>
          <a:xfrm xmlns:a="http://schemas.openxmlformats.org/drawingml/2006/main">
            <a:off x="63055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1" name="">
            <a:extLst xmlns:a="http://schemas.openxmlformats.org/drawingml/2006/main">
              <a:ext uri="{FF2B5EF4-FFF2-40B4-BE49-F238E27FC236}">
                <a16:creationId xmlns:a16="http://schemas.microsoft.com/office/drawing/2014/main" id="{83EA7E94-10AD-472B-AF5C-3E4137EA6A59}"/>
              </a:ext>
            </a:extLst>
          </p:cNvPr>
          <p:cNvSpPr>
            <a:spLocks xmlns:a="http://schemas.openxmlformats.org/drawingml/2006/main" noGrp="1"/>
          </p:cNvSpPr>
          <p:nvPr/>
        </p:nvSpPr>
        <p:spPr>
          <a:xfrm xmlns:a="http://schemas.openxmlformats.org/drawingml/2006/main">
            <a:off x="63055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הנתון אמין?</a:t>
            </a:r>
          </a:p>
        </p:txBody>
      </p:sp>
      <p:sp>
        <p:nvSpPr>
          <p:cNvPr id="12" name="">
            <a:extLst xmlns:a="http://schemas.openxmlformats.org/drawingml/2006/main">
              <a:ext uri="{FF2B5EF4-FFF2-40B4-BE49-F238E27FC236}">
                <a16:creationId xmlns:a16="http://schemas.microsoft.com/office/drawing/2014/main" id="{57FC6F14-5DAB-49EE-9F55-130337E04E4D}"/>
              </a:ext>
            </a:extLst>
          </p:cNvPr>
          <p:cNvSpPr>
            <a:spLocks xmlns:a="http://schemas.openxmlformats.org/drawingml/2006/main" noGrp="1"/>
          </p:cNvSpPr>
          <p:nvPr/>
        </p:nvSpPr>
        <p:spPr>
          <a:xfrm xmlns:a="http://schemas.openxmlformats.org/drawingml/2006/main">
            <a:off x="63055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טריות, איכות ומקור</a:t>
            </a:r>
          </a:p>
        </p:txBody>
      </p:sp>
      <p:sp>
        <p:nvSpPr>
          <p:cNvPr id="13" name="">
            <a:extLst xmlns:a="http://schemas.openxmlformats.org/drawingml/2006/main">
              <a:ext uri="{FF2B5EF4-FFF2-40B4-BE49-F238E27FC236}">
                <a16:creationId xmlns:a16="http://schemas.microsoft.com/office/drawing/2014/main" id="{087DCEF6-D69E-461E-895C-0ED153759F7A}"/>
              </a:ext>
            </a:extLst>
          </p:cNvPr>
          <p:cNvSpPr>
            <a:spLocks xmlns:a="http://schemas.openxmlformats.org/drawingml/2006/main" noGrp="1"/>
          </p:cNvSpPr>
          <p:nvPr/>
        </p:nvSpPr>
        <p:spPr>
          <a:xfrm xmlns:a="http://schemas.openxmlformats.org/drawingml/2006/main">
            <a:off x="32575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DC059C-9A80-4980-B2C2-7046A35327E0}"/>
              </a:ext>
            </a:extLst>
          </p:cNvPr>
          <p:cNvSpPr>
            <a:spLocks xmlns:a="http://schemas.openxmlformats.org/drawingml/2006/main" noGrp="1"/>
          </p:cNvSpPr>
          <p:nvPr/>
        </p:nvSpPr>
        <p:spPr>
          <a:xfrm xmlns:a="http://schemas.openxmlformats.org/drawingml/2006/main">
            <a:off x="34290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5" name="">
            <a:extLst xmlns:a="http://schemas.openxmlformats.org/drawingml/2006/main">
              <a:ext uri="{FF2B5EF4-FFF2-40B4-BE49-F238E27FC236}">
                <a16:creationId xmlns:a16="http://schemas.microsoft.com/office/drawing/2014/main" id="{31C3AD8C-095E-4416-B862-1019D0B1D6B6}"/>
              </a:ext>
            </a:extLst>
          </p:cNvPr>
          <p:cNvSpPr>
            <a:spLocks xmlns:a="http://schemas.openxmlformats.org/drawingml/2006/main" noGrp="1"/>
          </p:cNvSpPr>
          <p:nvPr/>
        </p:nvSpPr>
        <p:spPr>
          <a:xfrm xmlns:a="http://schemas.openxmlformats.org/drawingml/2006/main">
            <a:off x="34290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השתנה בחברה?</a:t>
            </a:r>
          </a:p>
        </p:txBody>
      </p:sp>
      <p:sp>
        <p:nvSpPr>
          <p:cNvPr id="16" name="">
            <a:extLst xmlns:a="http://schemas.openxmlformats.org/drawingml/2006/main">
              <a:ext uri="{FF2B5EF4-FFF2-40B4-BE49-F238E27FC236}">
                <a16:creationId xmlns:a16="http://schemas.microsoft.com/office/drawing/2014/main" id="{5EEEC6F4-0E61-412B-8C08-7BA73D6B4703}"/>
              </a:ext>
            </a:extLst>
          </p:cNvPr>
          <p:cNvSpPr>
            <a:spLocks xmlns:a="http://schemas.openxmlformats.org/drawingml/2006/main" noGrp="1"/>
          </p:cNvSpPr>
          <p:nvPr/>
        </p:nvSpPr>
        <p:spPr>
          <a:xfrm xmlns:a="http://schemas.openxmlformats.org/drawingml/2006/main">
            <a:off x="34290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דיווחי SEC רשמיים</a:t>
            </a:r>
          </a:p>
        </p:txBody>
      </p:sp>
      <p:sp>
        <p:nvSpPr>
          <p:cNvPr id="17" name="">
            <a:extLst xmlns:a="http://schemas.openxmlformats.org/drawingml/2006/main">
              <a:ext uri="{FF2B5EF4-FFF2-40B4-BE49-F238E27FC236}">
                <a16:creationId xmlns:a16="http://schemas.microsoft.com/office/drawing/2014/main" id="{86611471-0506-4CA2-B1CA-30ED3F726504}"/>
              </a:ext>
            </a:extLst>
          </p:cNvPr>
          <p:cNvSpPr>
            <a:spLocks xmlns:a="http://schemas.openxmlformats.org/drawingml/2006/main" noGrp="1"/>
          </p:cNvSpPr>
          <p:nvPr/>
        </p:nvSpPr>
        <p:spPr>
          <a:xfrm xmlns:a="http://schemas.openxmlformats.org/drawingml/2006/main">
            <a:off x="5524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04</a:t>
            </a:r>
          </a:p>
        </p:txBody>
      </p:sp>
      <p:sp>
        <p:nvSpPr>
          <p:cNvPr id="18" name="">
            <a:extLst xmlns:a="http://schemas.openxmlformats.org/drawingml/2006/main">
              <a:ext uri="{FF2B5EF4-FFF2-40B4-BE49-F238E27FC236}">
                <a16:creationId xmlns:a16="http://schemas.microsoft.com/office/drawing/2014/main" id="{7386770F-FBF6-4A81-8310-66656555BAC6}"/>
              </a:ext>
            </a:extLst>
          </p:cNvPr>
          <p:cNvSpPr>
            <a:spLocks xmlns:a="http://schemas.openxmlformats.org/drawingml/2006/main" noGrp="1"/>
          </p:cNvSpPr>
          <p:nvPr/>
        </p:nvSpPr>
        <p:spPr>
          <a:xfrm xmlns:a="http://schemas.openxmlformats.org/drawingml/2006/main">
            <a:off x="5524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הרעיון עבד בעבר?</a:t>
            </a:r>
          </a:p>
        </p:txBody>
      </p:sp>
      <p:sp>
        <p:nvSpPr>
          <p:cNvPr id="19" name="">
            <a:extLst xmlns:a="http://schemas.openxmlformats.org/drawingml/2006/main">
              <a:ext uri="{FF2B5EF4-FFF2-40B4-BE49-F238E27FC236}">
                <a16:creationId xmlns:a16="http://schemas.microsoft.com/office/drawing/2014/main" id="{C5C54AAE-D0A9-4D95-8ED7-8D055BEE9DD3}"/>
              </a:ext>
            </a:extLst>
          </p:cNvPr>
          <p:cNvSpPr>
            <a:spLocks xmlns:a="http://schemas.openxmlformats.org/drawingml/2006/main" noGrp="1"/>
          </p:cNvSpPr>
          <p:nvPr/>
        </p:nvSpPr>
        <p:spPr>
          <a:xfrm xmlns:a="http://schemas.openxmlformats.org/drawingml/2006/main">
            <a:off x="5524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בדיקה מול SPY ועלויות</a:t>
            </a:r>
          </a:p>
        </p:txBody>
      </p:sp>
      <p:sp>
        <p:nvSpPr>
          <p:cNvPr id="20" name="">
            <a:extLst xmlns:a="http://schemas.openxmlformats.org/drawingml/2006/main">
              <a:ext uri="{FF2B5EF4-FFF2-40B4-BE49-F238E27FC236}">
                <a16:creationId xmlns:a16="http://schemas.microsoft.com/office/drawing/2014/main" id="{A8714802-BE8E-49D1-A286-FE3DDC6CD4DC}"/>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02</a:t>
            </a:r>
          </a:p>
        </p:txBody>
      </p:sp>
      <p:sp>
        <p:nvSpPr>
          <p:cNvPr id="21" name="">
            <a:extLst xmlns:a="http://schemas.openxmlformats.org/drawingml/2006/main">
              <a:ext uri="{FF2B5EF4-FFF2-40B4-BE49-F238E27FC236}">
                <a16:creationId xmlns:a16="http://schemas.microsoft.com/office/drawing/2014/main" id="{B8EF69E2-EF65-412E-A75A-6303D75F5C9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538611728"/>
      </p:ext>
    </p:extLst>
  </p:cSld>
</p:sld>
</file>

<file path=ppt/slides/slide3.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9C7C44F-2839-4029-87C6-0121645591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C52E47-4601-4840-856A-15297371AC1B}"/>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VALUE</a:t>
            </a:r>
          </a:p>
        </p:txBody>
      </p:sp>
      <p:sp>
        <p:nvSpPr>
          <p:cNvPr id="3" name="">
            <a:extLst xmlns:a="http://schemas.openxmlformats.org/drawingml/2006/main">
              <a:ext uri="{FF2B5EF4-FFF2-40B4-BE49-F238E27FC236}">
                <a16:creationId xmlns:a16="http://schemas.microsoft.com/office/drawing/2014/main" id="{CF44D4ED-63FC-4395-8204-C95C06651EC2}"/>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ממערכת נתונים לכלי מחקר לסוחר</a:t>
            </a:r>
          </a:p>
        </p:txBody>
      </p:sp>
      <p:sp>
        <p:nvSpPr>
          <p:cNvPr id="4" name="">
            <a:extLst xmlns:a="http://schemas.openxmlformats.org/drawingml/2006/main">
              <a:ext uri="{FF2B5EF4-FFF2-40B4-BE49-F238E27FC236}">
                <a16:creationId xmlns:a16="http://schemas.microsoft.com/office/drawing/2014/main" id="{CF2CA7DE-EA94-47A6-8790-6D6C3BE59579}"/>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03</a:t>
            </a:r>
          </a:p>
        </p:txBody>
      </p:sp>
      <p:sp>
        <p:nvSpPr>
          <p:cNvPr id="5" name="">
            <a:extLst xmlns:a="http://schemas.openxmlformats.org/drawingml/2006/main">
              <a:ext uri="{FF2B5EF4-FFF2-40B4-BE49-F238E27FC236}">
                <a16:creationId xmlns:a16="http://schemas.microsoft.com/office/drawing/2014/main" id="{1CDF11A7-DF9D-4A41-9B50-401B3B684A55}"/>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454E0ADE-B7AB-4793-BB2C-D00C513F7726}"/>
              </a:ext>
            </a:extLst>
          </p:cNvPr>
          <p:cNvSpPr>
            <a:spLocks xmlns:a="http://schemas.openxmlformats.org/drawingml/2006/main" noGrp="1"/>
          </p:cNvSpPr>
          <p:nvPr/>
        </p:nvSpPr>
        <p:spPr>
          <a:xfrm xmlns:a="http://schemas.openxmlformats.org/drawingml/2006/main">
            <a:off x="64770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4B94F"/>
                </a:solidFill>
                <a:latin typeface="Cascadia Mono"/>
                <a:ea typeface="Cascadia Mono"/>
                <a:cs typeface="Cascadia Mono"/>
              </a:defRPr>
            </a:pPr>
            <a:r>
              <a:rPr sz="900" b="1">
                <a:solidFill>
                  <a:srgbClr val="F4B94F"/>
                </a:solidFill>
                <a:latin typeface="Cascadia Mono"/>
                <a:ea typeface="Cascadia Mono"/>
                <a:cs typeface="Cascadia Mono"/>
              </a:rPr>
              <a:t>04</a:t>
            </a:r>
          </a:p>
        </p:txBody>
      </p:sp>
      <p:sp>
        <p:nvSpPr>
          <p:cNvPr id="7" name="">
            <a:extLst xmlns:a="http://schemas.openxmlformats.org/drawingml/2006/main">
              <a:ext uri="{FF2B5EF4-FFF2-40B4-BE49-F238E27FC236}">
                <a16:creationId xmlns:a16="http://schemas.microsoft.com/office/drawing/2014/main" id="{574C48D1-D72E-4011-B21F-2B604D97785A}"/>
              </a:ext>
            </a:extLst>
          </p:cNvPr>
          <p:cNvSpPr>
            <a:spLocks xmlns:a="http://schemas.openxmlformats.org/drawingml/2006/main" noGrp="1"/>
          </p:cNvSpPr>
          <p:nvPr/>
        </p:nvSpPr>
        <p:spPr>
          <a:xfrm xmlns:a="http://schemas.openxmlformats.org/drawingml/2006/main">
            <a:off x="64770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מסבירה</a:t>
            </a:r>
          </a:p>
        </p:txBody>
      </p:sp>
      <p:sp>
        <p:nvSpPr>
          <p:cNvPr id="8" name="">
            <a:extLst xmlns:a="http://schemas.openxmlformats.org/drawingml/2006/main">
              <a:ext uri="{FF2B5EF4-FFF2-40B4-BE49-F238E27FC236}">
                <a16:creationId xmlns:a16="http://schemas.microsoft.com/office/drawing/2014/main" id="{41D85CE8-AE49-4E2F-ABE6-015FFA4E0071}"/>
              </a:ext>
            </a:extLst>
          </p:cNvPr>
          <p:cNvSpPr>
            <a:spLocks xmlns:a="http://schemas.openxmlformats.org/drawingml/2006/main" noGrp="1"/>
          </p:cNvSpPr>
          <p:nvPr/>
        </p:nvSpPr>
        <p:spPr>
          <a:xfrm xmlns:a="http://schemas.openxmlformats.org/drawingml/2006/main">
            <a:off x="64770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תרחיש החלטה</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עם סיכון והקשר</a:t>
            </a:r>
          </a:p>
        </p:txBody>
      </p:sp>
      <p:sp>
        <p:nvSpPr>
          <p:cNvPr id="9" name="">
            <a:extLst xmlns:a="http://schemas.openxmlformats.org/drawingml/2006/main">
              <a:ext uri="{FF2B5EF4-FFF2-40B4-BE49-F238E27FC236}">
                <a16:creationId xmlns:a16="http://schemas.microsoft.com/office/drawing/2014/main" id="{5FA1F397-A3EA-4126-B9A5-506E29926232}"/>
              </a:ext>
            </a:extLst>
          </p:cNvPr>
          <p:cNvSpPr>
            <a:spLocks xmlns:a="http://schemas.openxmlformats.org/drawingml/2006/main" noGrp="1"/>
          </p:cNvSpPr>
          <p:nvPr/>
        </p:nvSpPr>
        <p:spPr>
          <a:xfrm xmlns:a="http://schemas.openxmlformats.org/drawingml/2006/main">
            <a:off x="647700" y="3581400"/>
            <a:ext cx="171450" cy="1714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C03DE1F-A783-45BE-8075-1D68D4C8C00A}"/>
              </a:ext>
            </a:extLst>
          </p:cNvPr>
          <p:cNvSpPr>
            <a:spLocks xmlns:a="http://schemas.openxmlformats.org/drawingml/2006/main" noGrp="1"/>
          </p:cNvSpPr>
          <p:nvPr/>
        </p:nvSpPr>
        <p:spPr>
          <a:xfrm xmlns:a="http://schemas.openxmlformats.org/drawingml/2006/main">
            <a:off x="81915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1" name="">
            <a:extLst xmlns:a="http://schemas.openxmlformats.org/drawingml/2006/main">
              <a:ext uri="{FF2B5EF4-FFF2-40B4-BE49-F238E27FC236}">
                <a16:creationId xmlns:a16="http://schemas.microsoft.com/office/drawing/2014/main" id="{ACBBA312-A9C2-415E-A1A6-D1C48922FF92}"/>
              </a:ext>
            </a:extLst>
          </p:cNvPr>
          <p:cNvSpPr>
            <a:spLocks xmlns:a="http://schemas.openxmlformats.org/drawingml/2006/main" noGrp="1"/>
          </p:cNvSpPr>
          <p:nvPr/>
        </p:nvSpPr>
        <p:spPr>
          <a:xfrm xmlns:a="http://schemas.openxmlformats.org/drawingml/2006/main">
            <a:off x="345757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5B91FF"/>
                </a:solidFill>
                <a:latin typeface="Cascadia Mono"/>
                <a:ea typeface="Cascadia Mono"/>
                <a:cs typeface="Cascadia Mono"/>
              </a:defRPr>
            </a:pPr>
            <a:r>
              <a:rPr sz="900" b="1">
                <a:solidFill>
                  <a:srgbClr val="5B91FF"/>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12EA2433-86B2-43D3-9F39-C17C5DDECD34}"/>
              </a:ext>
            </a:extLst>
          </p:cNvPr>
          <p:cNvSpPr>
            <a:spLocks xmlns:a="http://schemas.openxmlformats.org/drawingml/2006/main" noGrp="1"/>
          </p:cNvSpPr>
          <p:nvPr/>
        </p:nvSpPr>
        <p:spPr>
          <a:xfrm xmlns:a="http://schemas.openxmlformats.org/drawingml/2006/main">
            <a:off x="345757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בודקת</a:t>
            </a:r>
          </a:p>
        </p:txBody>
      </p:sp>
      <p:sp>
        <p:nvSpPr>
          <p:cNvPr id="13" name="">
            <a:extLst xmlns:a="http://schemas.openxmlformats.org/drawingml/2006/main">
              <a:ext uri="{FF2B5EF4-FFF2-40B4-BE49-F238E27FC236}">
                <a16:creationId xmlns:a16="http://schemas.microsoft.com/office/drawing/2014/main" id="{2BBC09A6-33DA-4829-A258-75E807C7A86A}"/>
              </a:ext>
            </a:extLst>
          </p:cNvPr>
          <p:cNvSpPr>
            <a:spLocks xmlns:a="http://schemas.openxmlformats.org/drawingml/2006/main" noGrp="1"/>
          </p:cNvSpPr>
          <p:nvPr/>
        </p:nvSpPr>
        <p:spPr>
          <a:xfrm xmlns:a="http://schemas.openxmlformats.org/drawingml/2006/main">
            <a:off x="345757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איכות נתונים</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והיסטוריה</a:t>
            </a:r>
          </a:p>
        </p:txBody>
      </p:sp>
      <p:sp>
        <p:nvSpPr>
          <p:cNvPr id="14" name="">
            <a:extLst xmlns:a="http://schemas.openxmlformats.org/drawingml/2006/main">
              <a:ext uri="{FF2B5EF4-FFF2-40B4-BE49-F238E27FC236}">
                <a16:creationId xmlns:a16="http://schemas.microsoft.com/office/drawing/2014/main" id="{C4947AFF-ECDE-4BE4-94FC-9FAD27DD1EFA}"/>
              </a:ext>
            </a:extLst>
          </p:cNvPr>
          <p:cNvSpPr>
            <a:spLocks xmlns:a="http://schemas.openxmlformats.org/drawingml/2006/main" noGrp="1"/>
          </p:cNvSpPr>
          <p:nvPr/>
        </p:nvSpPr>
        <p:spPr>
          <a:xfrm xmlns:a="http://schemas.openxmlformats.org/drawingml/2006/main">
            <a:off x="3457575" y="3581400"/>
            <a:ext cx="171450" cy="1714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B34405-171C-4DE2-A103-26388A8AF741}"/>
              </a:ext>
            </a:extLst>
          </p:cNvPr>
          <p:cNvSpPr>
            <a:spLocks xmlns:a="http://schemas.openxmlformats.org/drawingml/2006/main" noGrp="1"/>
          </p:cNvSpPr>
          <p:nvPr/>
        </p:nvSpPr>
        <p:spPr>
          <a:xfrm xmlns:a="http://schemas.openxmlformats.org/drawingml/2006/main">
            <a:off x="3629025"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6" name="">
            <a:extLst xmlns:a="http://schemas.openxmlformats.org/drawingml/2006/main">
              <a:ext uri="{FF2B5EF4-FFF2-40B4-BE49-F238E27FC236}">
                <a16:creationId xmlns:a16="http://schemas.microsoft.com/office/drawing/2014/main" id="{355EEF51-007A-44CF-B405-91B592D5A611}"/>
              </a:ext>
            </a:extLst>
          </p:cNvPr>
          <p:cNvSpPr>
            <a:spLocks xmlns:a="http://schemas.openxmlformats.org/drawingml/2006/main" noGrp="1"/>
          </p:cNvSpPr>
          <p:nvPr/>
        </p:nvSpPr>
        <p:spPr>
          <a:xfrm xmlns:a="http://schemas.openxmlformats.org/drawingml/2006/main">
            <a:off x="626745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7" name="">
            <a:extLst xmlns:a="http://schemas.openxmlformats.org/drawingml/2006/main">
              <a:ext uri="{FF2B5EF4-FFF2-40B4-BE49-F238E27FC236}">
                <a16:creationId xmlns:a16="http://schemas.microsoft.com/office/drawing/2014/main" id="{C3B02C66-0D76-4E3B-99F6-7D685419ECDF}"/>
              </a:ext>
            </a:extLst>
          </p:cNvPr>
          <p:cNvSpPr>
            <a:spLocks xmlns:a="http://schemas.openxmlformats.org/drawingml/2006/main" noGrp="1"/>
          </p:cNvSpPr>
          <p:nvPr/>
        </p:nvSpPr>
        <p:spPr>
          <a:xfrm xmlns:a="http://schemas.openxmlformats.org/drawingml/2006/main">
            <a:off x="626745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מבינה</a:t>
            </a:r>
          </a:p>
        </p:txBody>
      </p:sp>
      <p:sp>
        <p:nvSpPr>
          <p:cNvPr id="18" name="">
            <a:extLst xmlns:a="http://schemas.openxmlformats.org/drawingml/2006/main">
              <a:ext uri="{FF2B5EF4-FFF2-40B4-BE49-F238E27FC236}">
                <a16:creationId xmlns:a16="http://schemas.microsoft.com/office/drawing/2014/main" id="{84A9BAAA-E4E7-4D5D-A7CE-29EB4250122A}"/>
              </a:ext>
            </a:extLst>
          </p:cNvPr>
          <p:cNvSpPr>
            <a:spLocks xmlns:a="http://schemas.openxmlformats.org/drawingml/2006/main" noGrp="1"/>
          </p:cNvSpPr>
          <p:nvPr/>
        </p:nvSpPr>
        <p:spPr>
          <a:xfrm xmlns:a="http://schemas.openxmlformats.org/drawingml/2006/main">
            <a:off x="626745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מגמה, תנודתיות</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ודיווחי חברה</a:t>
            </a:r>
          </a:p>
        </p:txBody>
      </p:sp>
      <p:sp>
        <p:nvSpPr>
          <p:cNvPr id="19" name="">
            <a:extLst xmlns:a="http://schemas.openxmlformats.org/drawingml/2006/main">
              <a:ext uri="{FF2B5EF4-FFF2-40B4-BE49-F238E27FC236}">
                <a16:creationId xmlns:a16="http://schemas.microsoft.com/office/drawing/2014/main" id="{CB9A2AF2-FF0D-411D-AA49-9D9A56FB3163}"/>
              </a:ext>
            </a:extLst>
          </p:cNvPr>
          <p:cNvSpPr>
            <a:spLocks xmlns:a="http://schemas.openxmlformats.org/drawingml/2006/main" noGrp="1"/>
          </p:cNvSpPr>
          <p:nvPr/>
        </p:nvSpPr>
        <p:spPr>
          <a:xfrm xmlns:a="http://schemas.openxmlformats.org/drawingml/2006/main">
            <a:off x="6267450"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8D95B0-54F9-4B3C-BC1A-F5768FC5E00D}"/>
              </a:ext>
            </a:extLst>
          </p:cNvPr>
          <p:cNvSpPr>
            <a:spLocks xmlns:a="http://schemas.openxmlformats.org/drawingml/2006/main" noGrp="1"/>
          </p:cNvSpPr>
          <p:nvPr/>
        </p:nvSpPr>
        <p:spPr>
          <a:xfrm xmlns:a="http://schemas.openxmlformats.org/drawingml/2006/main">
            <a:off x="643890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21" name="">
            <a:extLst xmlns:a="http://schemas.openxmlformats.org/drawingml/2006/main">
              <a:ext uri="{FF2B5EF4-FFF2-40B4-BE49-F238E27FC236}">
                <a16:creationId xmlns:a16="http://schemas.microsoft.com/office/drawing/2014/main" id="{FA4D64F3-4236-4A07-A1DE-80D614454820}"/>
              </a:ext>
            </a:extLst>
          </p:cNvPr>
          <p:cNvSpPr>
            <a:spLocks xmlns:a="http://schemas.openxmlformats.org/drawingml/2006/main" noGrp="1"/>
          </p:cNvSpPr>
          <p:nvPr/>
        </p:nvSpPr>
        <p:spPr>
          <a:xfrm xmlns:a="http://schemas.openxmlformats.org/drawingml/2006/main">
            <a:off x="907732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2A547159-C459-451E-9A02-D923FBC56978}"/>
              </a:ext>
            </a:extLst>
          </p:cNvPr>
          <p:cNvSpPr>
            <a:spLocks xmlns:a="http://schemas.openxmlformats.org/drawingml/2006/main" noGrp="1"/>
          </p:cNvSpPr>
          <p:nvPr/>
        </p:nvSpPr>
        <p:spPr>
          <a:xfrm xmlns:a="http://schemas.openxmlformats.org/drawingml/2006/main">
            <a:off x="907732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אוספת</a:t>
            </a:r>
          </a:p>
        </p:txBody>
      </p:sp>
      <p:sp>
        <p:nvSpPr>
          <p:cNvPr id="23" name="">
            <a:extLst xmlns:a="http://schemas.openxmlformats.org/drawingml/2006/main">
              <a:ext uri="{FF2B5EF4-FFF2-40B4-BE49-F238E27FC236}">
                <a16:creationId xmlns:a16="http://schemas.microsoft.com/office/drawing/2014/main" id="{C954C1AA-1AA2-44D8-9A14-B27D4A23ECEF}"/>
              </a:ext>
            </a:extLst>
          </p:cNvPr>
          <p:cNvSpPr>
            <a:spLocks xmlns:a="http://schemas.openxmlformats.org/drawingml/2006/main" noGrp="1"/>
          </p:cNvSpPr>
          <p:nvPr/>
        </p:nvSpPr>
        <p:spPr>
          <a:xfrm xmlns:a="http://schemas.openxmlformats.org/drawingml/2006/main">
            <a:off x="907732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שוק חי ומידע</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רשמי</a:t>
            </a:r>
          </a:p>
        </p:txBody>
      </p:sp>
      <p:sp>
        <p:nvSpPr>
          <p:cNvPr id="24" name="">
            <a:extLst xmlns:a="http://schemas.openxmlformats.org/drawingml/2006/main">
              <a:ext uri="{FF2B5EF4-FFF2-40B4-BE49-F238E27FC236}">
                <a16:creationId xmlns:a16="http://schemas.microsoft.com/office/drawing/2014/main" id="{A12F7C65-8019-4675-B628-D8CF45F23354}"/>
              </a:ext>
            </a:extLst>
          </p:cNvPr>
          <p:cNvSpPr>
            <a:spLocks xmlns:a="http://schemas.openxmlformats.org/drawingml/2006/main" noGrp="1"/>
          </p:cNvSpPr>
          <p:nvPr/>
        </p:nvSpPr>
        <p:spPr>
          <a:xfrm xmlns:a="http://schemas.openxmlformats.org/drawingml/2006/main">
            <a:off x="9077325"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AA5171B-3F93-41AC-B88E-43310A74B10F}"/>
              </a:ext>
            </a:extLst>
          </p:cNvPr>
          <p:cNvSpPr>
            <a:spLocks xmlns:a="http://schemas.openxmlformats.org/drawingml/2006/main" noGrp="1"/>
          </p:cNvSpPr>
          <p:nvPr/>
        </p:nvSpPr>
        <p:spPr>
          <a:xfrm xmlns:a="http://schemas.openxmlformats.org/drawingml/2006/main">
            <a:off x="2266950" y="4381500"/>
            <a:ext cx="9315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5000"/>
              </a:lnSpc>
              <a:buNone/>
              <a:defRPr sz="2550" b="1" lang="he-IL">
                <a:solidFill>
                  <a:srgbClr val="F8FBFF"/>
                </a:solidFill>
                <a:latin typeface="Arial"/>
                <a:ea typeface="Arial"/>
                <a:cs typeface="Arial"/>
              </a:defRPr>
            </a:pPr>
            <a:r>
              <a:rPr sz="2550" b="1" lang="he-IL">
                <a:solidFill>
                  <a:srgbClr val="F8FBFF"/>
                </a:solidFill>
                <a:latin typeface="Arial"/>
                <a:ea typeface="Arial"/>
                <a:cs typeface="Arial"/>
              </a:rPr>
              <a:t>התוצאה: סביבת מחקר אחת שמראה גם את המספר, גם את רמת האמון בו וגם את הדרך שבה נוצר.</a:t>
            </a:r>
          </a:p>
        </p:txBody>
      </p:sp>
      <p:sp>
        <p:nvSpPr>
          <p:cNvPr id="26" name="">
            <a:extLst xmlns:a="http://schemas.openxmlformats.org/drawingml/2006/main">
              <a:ext uri="{FF2B5EF4-FFF2-40B4-BE49-F238E27FC236}">
                <a16:creationId xmlns:a16="http://schemas.microsoft.com/office/drawing/2014/main" id="{A0C97437-1E02-49AA-B9A5-F8600E3801EA}"/>
              </a:ext>
            </a:extLst>
          </p:cNvPr>
          <p:cNvSpPr>
            <a:spLocks xmlns:a="http://schemas.openxmlformats.org/drawingml/2006/main" noGrp="1"/>
          </p:cNvSpPr>
          <p:nvPr/>
        </p:nvSpPr>
        <p:spPr>
          <a:xfrm xmlns:a="http://schemas.openxmlformats.org/drawingml/2006/main">
            <a:off x="4953000" y="5486400"/>
            <a:ext cx="662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EF7484"/>
                </a:solidFill>
                <a:latin typeface="Arial"/>
                <a:ea typeface="Arial"/>
                <a:cs typeface="Arial"/>
              </a:defRPr>
            </a:pPr>
            <a:r>
              <a:rPr sz="1500" b="0" lang="he-IL">
                <a:solidFill>
                  <a:srgbClr val="EF7484"/>
                </a:solidFill>
                <a:latin typeface="Arial"/>
                <a:ea typeface="Arial"/>
                <a:cs typeface="Arial"/>
              </a:rPr>
              <a:t>המערכת מספקת Decision Support בלבד. ההחלטה והביצוע נשארים בידי המשתמש.</a:t>
            </a:r>
          </a:p>
        </p:txBody>
      </p:sp>
    </p:spTree>
    <p:extLst>
      <p:ext uri="{BB962C8B-B14F-4D97-AF65-F5344CB8AC3E}">
        <p14:creationId xmlns:p14="http://schemas.microsoft.com/office/powerpoint/2010/main" val="1929601172"/>
      </p:ext>
    </p:extLst>
  </p:cSld>
</p:sld>
</file>

<file path=ppt/slides/slide4.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A20DE470-3C39-4120-B188-CFCDA9C857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98C356-A7CC-46AF-9308-25FC14C78BA8}"/>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SYSTEM ARCHITECTURE</a:t>
            </a:r>
          </a:p>
        </p:txBody>
      </p:sp>
      <p:sp>
        <p:nvSpPr>
          <p:cNvPr id="3" name="">
            <a:extLst xmlns:a="http://schemas.openxmlformats.org/drawingml/2006/main">
              <a:ext uri="{FF2B5EF4-FFF2-40B4-BE49-F238E27FC236}">
                <a16:creationId xmlns:a16="http://schemas.microsoft.com/office/drawing/2014/main" id="{48D7B50D-C4A6-4C3B-94E2-E4C1ECD5E39D}"/>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איך הנתון עובר מהמקור למסך</a:t>
            </a:r>
          </a:p>
        </p:txBody>
      </p:sp>
      <p:sp>
        <p:nvSpPr>
          <p:cNvPr id="4" name="">
            <a:extLst xmlns:a="http://schemas.openxmlformats.org/drawingml/2006/main">
              <a:ext uri="{FF2B5EF4-FFF2-40B4-BE49-F238E27FC236}">
                <a16:creationId xmlns:a16="http://schemas.microsoft.com/office/drawing/2014/main" id="{BD6CA561-CA3B-44FD-B507-C4A604B0FE0A}"/>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04</a:t>
            </a:r>
          </a:p>
        </p:txBody>
      </p:sp>
      <p:sp>
        <p:nvSpPr>
          <p:cNvPr id="5" name="">
            <a:extLst xmlns:a="http://schemas.openxmlformats.org/drawingml/2006/main">
              <a:ext uri="{FF2B5EF4-FFF2-40B4-BE49-F238E27FC236}">
                <a16:creationId xmlns:a16="http://schemas.microsoft.com/office/drawing/2014/main" id="{EB5DDAE1-F081-4D16-9F5D-6AE07BE8283C}"/>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2364450B-E17B-4868-A703-93E8F922C8AE}"/>
              </a:ext>
            </a:extLst>
          </p:cNvPr>
          <p:cNvSpPr>
            <a:spLocks xmlns:a="http://schemas.openxmlformats.org/drawingml/2006/main" noGrp="1"/>
          </p:cNvSpPr>
          <p:nvPr/>
        </p:nvSpPr>
        <p:spPr>
          <a:xfrm xmlns:a="http://schemas.openxmlformats.org/drawingml/2006/main">
            <a:off x="6572250" y="1066800"/>
            <a:ext cx="5010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שלושה מסלולים חולקים מקור אחד: חי, גולמי ומאושר</a:t>
            </a:r>
          </a:p>
        </p:txBody>
      </p:sp>
      <p:sp>
        <p:nvSpPr>
          <p:cNvPr id="7" name="">
            <a:extLst xmlns:a="http://schemas.openxmlformats.org/drawingml/2006/main">
              <a:ext uri="{FF2B5EF4-FFF2-40B4-BE49-F238E27FC236}">
                <a16:creationId xmlns:a16="http://schemas.microsoft.com/office/drawing/2014/main" id="{E84899DD-3E19-40C1-93F6-519D27AE4245}"/>
              </a:ext>
            </a:extLst>
          </p:cNvPr>
          <p:cNvSpPr>
            <a:spLocks xmlns:a="http://schemas.openxmlformats.org/drawingml/2006/main" noGrp="1"/>
          </p:cNvSpPr>
          <p:nvPr/>
        </p:nvSpPr>
        <p:spPr>
          <a:xfrm xmlns:a="http://schemas.openxmlformats.org/drawingml/2006/main">
            <a:off x="10344150" y="1657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PATH</a:t>
            </a:r>
          </a:p>
        </p:txBody>
      </p:sp>
      <p:sp>
        <p:nvSpPr>
          <p:cNvPr id="8" name="">
            <a:extLst xmlns:a="http://schemas.openxmlformats.org/drawingml/2006/main">
              <a:ext uri="{FF2B5EF4-FFF2-40B4-BE49-F238E27FC236}">
                <a16:creationId xmlns:a16="http://schemas.microsoft.com/office/drawing/2014/main" id="{FA3235F4-8CB0-4008-98AB-825F1BCF43E8}"/>
              </a:ext>
            </a:extLst>
          </p:cNvPr>
          <p:cNvSpPr>
            <a:spLocks xmlns:a="http://schemas.openxmlformats.org/drawingml/2006/main" noGrp="1"/>
          </p:cNvSpPr>
          <p:nvPr/>
        </p:nvSpPr>
        <p:spPr>
          <a:xfrm xmlns:a="http://schemas.openxmlformats.org/drawingml/2006/main">
            <a:off x="9925050" y="2038350"/>
            <a:ext cx="15621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F631311D-B2AF-427B-AB1B-140E8126D4B8}"/>
              </a:ext>
            </a:extLst>
          </p:cNvPr>
          <p:cNvSpPr>
            <a:spLocks xmlns:a="http://schemas.openxmlformats.org/drawingml/2006/main" noGrp="1"/>
          </p:cNvSpPr>
          <p:nvPr/>
        </p:nvSpPr>
        <p:spPr>
          <a:xfrm xmlns:a="http://schemas.openxmlformats.org/drawingml/2006/main">
            <a:off x="10020300" y="2200275"/>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 + SEC</a:t>
            </a:r>
          </a:p>
        </p:txBody>
      </p:sp>
      <p:sp>
        <p:nvSpPr>
          <p:cNvPr id="10" name="">
            <a:extLst xmlns:a="http://schemas.openxmlformats.org/drawingml/2006/main">
              <a:ext uri="{FF2B5EF4-FFF2-40B4-BE49-F238E27FC236}">
                <a16:creationId xmlns:a16="http://schemas.microsoft.com/office/drawing/2014/main" id="{D4F4B165-DA49-43FC-9022-35FEB049CE21}"/>
              </a:ext>
            </a:extLst>
          </p:cNvPr>
          <p:cNvSpPr>
            <a:spLocks xmlns:a="http://schemas.openxmlformats.org/drawingml/2006/main" noGrp="1"/>
          </p:cNvSpPr>
          <p:nvPr/>
        </p:nvSpPr>
        <p:spPr>
          <a:xfrm xmlns:a="http://schemas.openxmlformats.org/drawingml/2006/main">
            <a:off x="10001250" y="2514600"/>
            <a:ext cx="140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מקורות נתונים</a:t>
            </a:r>
          </a:p>
        </p:txBody>
      </p:sp>
      <p:sp>
        <p:nvSpPr>
          <p:cNvPr id="11" name="">
            <a:extLst xmlns:a="http://schemas.openxmlformats.org/drawingml/2006/main">
              <a:ext uri="{FF2B5EF4-FFF2-40B4-BE49-F238E27FC236}">
                <a16:creationId xmlns:a16="http://schemas.microsoft.com/office/drawing/2014/main" id="{C05D9FE3-C111-4055-B0A5-659209B652F8}"/>
              </a:ext>
            </a:extLst>
          </p:cNvPr>
          <p:cNvSpPr>
            <a:spLocks xmlns:a="http://schemas.openxmlformats.org/drawingml/2006/main" noGrp="1"/>
          </p:cNvSpPr>
          <p:nvPr/>
        </p:nvSpPr>
        <p:spPr>
          <a:xfrm xmlns:a="http://schemas.openxmlformats.org/drawingml/2006/main">
            <a:off x="804862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60197166-1FD7-478A-BC13-445C8B7D602D}"/>
              </a:ext>
            </a:extLst>
          </p:cNvPr>
          <p:cNvSpPr>
            <a:spLocks xmlns:a="http://schemas.openxmlformats.org/drawingml/2006/main" noGrp="1"/>
          </p:cNvSpPr>
          <p:nvPr/>
        </p:nvSpPr>
        <p:spPr>
          <a:xfrm xmlns:a="http://schemas.openxmlformats.org/drawingml/2006/main">
            <a:off x="814387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Python</a:t>
            </a:r>
          </a:p>
        </p:txBody>
      </p:sp>
      <p:sp>
        <p:nvSpPr>
          <p:cNvPr id="13" name="">
            <a:extLst xmlns:a="http://schemas.openxmlformats.org/drawingml/2006/main">
              <a:ext uri="{FF2B5EF4-FFF2-40B4-BE49-F238E27FC236}">
                <a16:creationId xmlns:a16="http://schemas.microsoft.com/office/drawing/2014/main" id="{E0C7FABE-C8A0-4868-B821-859283D9AF2C}"/>
              </a:ext>
            </a:extLst>
          </p:cNvPr>
          <p:cNvSpPr>
            <a:spLocks xmlns:a="http://schemas.openxmlformats.org/drawingml/2006/main" noGrp="1"/>
          </p:cNvSpPr>
          <p:nvPr/>
        </p:nvSpPr>
        <p:spPr>
          <a:xfrm xmlns:a="http://schemas.openxmlformats.org/drawingml/2006/main">
            <a:off x="812482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קליטה וחוזי מידע</a:t>
            </a:r>
          </a:p>
        </p:txBody>
      </p:sp>
      <p:sp>
        <p:nvSpPr>
          <p:cNvPr id="14" name="">
            <a:extLst xmlns:a="http://schemas.openxmlformats.org/drawingml/2006/main">
              <a:ext uri="{FF2B5EF4-FFF2-40B4-BE49-F238E27FC236}">
                <a16:creationId xmlns:a16="http://schemas.microsoft.com/office/drawing/2014/main" id="{3C08ABDD-2087-4808-B459-140A21FE9BC8}"/>
              </a:ext>
            </a:extLst>
          </p:cNvPr>
          <p:cNvSpPr>
            <a:spLocks xmlns:a="http://schemas.openxmlformats.org/drawingml/2006/main" noGrp="1"/>
          </p:cNvSpPr>
          <p:nvPr/>
        </p:nvSpPr>
        <p:spPr>
          <a:xfrm xmlns:a="http://schemas.openxmlformats.org/drawingml/2006/main">
            <a:off x="6172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5" name="">
            <a:extLst xmlns:a="http://schemas.openxmlformats.org/drawingml/2006/main">
              <a:ext uri="{FF2B5EF4-FFF2-40B4-BE49-F238E27FC236}">
                <a16:creationId xmlns:a16="http://schemas.microsoft.com/office/drawing/2014/main" id="{5D4D970F-4F8E-4F1F-92D3-BD273BA2748F}"/>
              </a:ext>
            </a:extLst>
          </p:cNvPr>
          <p:cNvSpPr>
            <a:spLocks xmlns:a="http://schemas.openxmlformats.org/drawingml/2006/main" noGrp="1"/>
          </p:cNvSpPr>
          <p:nvPr/>
        </p:nvSpPr>
        <p:spPr>
          <a:xfrm xmlns:a="http://schemas.openxmlformats.org/drawingml/2006/main">
            <a:off x="6267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FA973DDE-2E74-4FDB-8708-619E0530A1CF}"/>
              </a:ext>
            </a:extLst>
          </p:cNvPr>
          <p:cNvSpPr>
            <a:spLocks xmlns:a="http://schemas.openxmlformats.org/drawingml/2006/main" noGrp="1"/>
          </p:cNvSpPr>
          <p:nvPr/>
        </p:nvSpPr>
        <p:spPr>
          <a:xfrm xmlns:a="http://schemas.openxmlformats.org/drawingml/2006/main">
            <a:off x="6248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תעבורה ו־Replay</a:t>
            </a:r>
          </a:p>
        </p:txBody>
      </p:sp>
      <p:sp>
        <p:nvSpPr>
          <p:cNvPr id="17" name="">
            <a:extLst xmlns:a="http://schemas.openxmlformats.org/drawingml/2006/main">
              <a:ext uri="{FF2B5EF4-FFF2-40B4-BE49-F238E27FC236}">
                <a16:creationId xmlns:a16="http://schemas.microsoft.com/office/drawing/2014/main" id="{C16A7A5B-7682-4CF1-9BF2-FB0C8B3115BE}"/>
              </a:ext>
            </a:extLst>
          </p:cNvPr>
          <p:cNvSpPr>
            <a:spLocks xmlns:a="http://schemas.openxmlformats.org/drawingml/2006/main" noGrp="1"/>
          </p:cNvSpPr>
          <p:nvPr/>
        </p:nvSpPr>
        <p:spPr>
          <a:xfrm xmlns:a="http://schemas.openxmlformats.org/drawingml/2006/main">
            <a:off x="429577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8" name="">
            <a:extLst xmlns:a="http://schemas.openxmlformats.org/drawingml/2006/main">
              <a:ext uri="{FF2B5EF4-FFF2-40B4-BE49-F238E27FC236}">
                <a16:creationId xmlns:a16="http://schemas.microsoft.com/office/drawing/2014/main" id="{65F04FE5-834F-48E0-BC63-059C20860B14}"/>
              </a:ext>
            </a:extLst>
          </p:cNvPr>
          <p:cNvSpPr>
            <a:spLocks xmlns:a="http://schemas.openxmlformats.org/drawingml/2006/main" noGrp="1"/>
          </p:cNvSpPr>
          <p:nvPr/>
        </p:nvSpPr>
        <p:spPr>
          <a:xfrm xmlns:a="http://schemas.openxmlformats.org/drawingml/2006/main">
            <a:off x="439102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a:t>
            </a:r>
          </a:p>
        </p:txBody>
      </p:sp>
      <p:sp>
        <p:nvSpPr>
          <p:cNvPr id="19" name="">
            <a:extLst xmlns:a="http://schemas.openxmlformats.org/drawingml/2006/main">
              <a:ext uri="{FF2B5EF4-FFF2-40B4-BE49-F238E27FC236}">
                <a16:creationId xmlns:a16="http://schemas.microsoft.com/office/drawing/2014/main" id="{FF2BB630-AC2C-443B-BFA3-2939A80E99E3}"/>
              </a:ext>
            </a:extLst>
          </p:cNvPr>
          <p:cNvSpPr>
            <a:spLocks xmlns:a="http://schemas.openxmlformats.org/drawingml/2006/main" noGrp="1"/>
          </p:cNvSpPr>
          <p:nvPr/>
        </p:nvSpPr>
        <p:spPr>
          <a:xfrm xmlns:a="http://schemas.openxmlformats.org/drawingml/2006/main">
            <a:off x="437197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9AB1C5"/>
                </a:solidFill>
                <a:latin typeface="Arial"/>
                <a:ea typeface="Arial"/>
                <a:cs typeface="Arial"/>
              </a:defRPr>
            </a:pPr>
            <a:r>
              <a:rPr sz="1125" b="0">
                <a:solidFill>
                  <a:srgbClr val="9AB1C5"/>
                </a:solidFill>
                <a:latin typeface="Arial"/>
                <a:ea typeface="Arial"/>
                <a:cs typeface="Arial"/>
              </a:rPr>
              <a:t>Streaming + Batch</a:t>
            </a:r>
          </a:p>
        </p:txBody>
      </p:sp>
      <p:sp>
        <p:nvSpPr>
          <p:cNvPr id="20" name="">
            <a:extLst xmlns:a="http://schemas.openxmlformats.org/drawingml/2006/main">
              <a:ext uri="{FF2B5EF4-FFF2-40B4-BE49-F238E27FC236}">
                <a16:creationId xmlns:a16="http://schemas.microsoft.com/office/drawing/2014/main" id="{4E011868-EA40-4CCD-8C14-8244E5067A6A}"/>
              </a:ext>
            </a:extLst>
          </p:cNvPr>
          <p:cNvSpPr>
            <a:spLocks xmlns:a="http://schemas.openxmlformats.org/drawingml/2006/main" noGrp="1"/>
          </p:cNvSpPr>
          <p:nvPr/>
        </p:nvSpPr>
        <p:spPr>
          <a:xfrm xmlns:a="http://schemas.openxmlformats.org/drawingml/2006/main">
            <a:off x="2324100" y="2038350"/>
            <a:ext cx="16002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21" name="">
            <a:extLst xmlns:a="http://schemas.openxmlformats.org/drawingml/2006/main">
              <a:ext uri="{FF2B5EF4-FFF2-40B4-BE49-F238E27FC236}">
                <a16:creationId xmlns:a16="http://schemas.microsoft.com/office/drawing/2014/main" id="{854F094C-402D-48DD-9D78-6CC56C1839E6}"/>
              </a:ext>
            </a:extLst>
          </p:cNvPr>
          <p:cNvSpPr>
            <a:spLocks xmlns:a="http://schemas.openxmlformats.org/drawingml/2006/main" noGrp="1"/>
          </p:cNvSpPr>
          <p:nvPr/>
        </p:nvSpPr>
        <p:spPr>
          <a:xfrm xmlns:a="http://schemas.openxmlformats.org/drawingml/2006/main">
            <a:off x="2419350" y="2200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MariaDB Gold</a:t>
            </a:r>
          </a:p>
        </p:txBody>
      </p:sp>
      <p:sp>
        <p:nvSpPr>
          <p:cNvPr id="22" name="">
            <a:extLst xmlns:a="http://schemas.openxmlformats.org/drawingml/2006/main">
              <a:ext uri="{FF2B5EF4-FFF2-40B4-BE49-F238E27FC236}">
                <a16:creationId xmlns:a16="http://schemas.microsoft.com/office/drawing/2014/main" id="{5ABC4D59-496C-4565-A73C-8EE5D5A2BFCD}"/>
              </a:ext>
            </a:extLst>
          </p:cNvPr>
          <p:cNvSpPr>
            <a:spLocks xmlns:a="http://schemas.openxmlformats.org/drawingml/2006/main" noGrp="1"/>
          </p:cNvSpPr>
          <p:nvPr/>
        </p:nvSpPr>
        <p:spPr>
          <a:xfrm xmlns:a="http://schemas.openxmlformats.org/drawingml/2006/main">
            <a:off x="2400300" y="2514600"/>
            <a:ext cx="144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מידע מוכן למוצר</a:t>
            </a:r>
          </a:p>
        </p:txBody>
      </p:sp>
      <p:sp>
        <p:nvSpPr>
          <p:cNvPr id="23" name="">
            <a:extLst xmlns:a="http://schemas.openxmlformats.org/drawingml/2006/main">
              <a:ext uri="{FF2B5EF4-FFF2-40B4-BE49-F238E27FC236}">
                <a16:creationId xmlns:a16="http://schemas.microsoft.com/office/drawing/2014/main" id="{89DF1330-C451-4BB9-BF2B-98E28996BB46}"/>
              </a:ext>
            </a:extLst>
          </p:cNvPr>
          <p:cNvSpPr>
            <a:spLocks xmlns:a="http://schemas.openxmlformats.org/drawingml/2006/main" noGrp="1"/>
          </p:cNvSpPr>
          <p:nvPr/>
        </p:nvSpPr>
        <p:spPr>
          <a:xfrm xmlns:a="http://schemas.openxmlformats.org/drawingml/2006/main">
            <a:off x="457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24" name="">
            <a:extLst xmlns:a="http://schemas.openxmlformats.org/drawingml/2006/main">
              <a:ext uri="{FF2B5EF4-FFF2-40B4-BE49-F238E27FC236}">
                <a16:creationId xmlns:a16="http://schemas.microsoft.com/office/drawing/2014/main" id="{3C667054-30E9-4470-B997-22885BF82ED2}"/>
              </a:ext>
            </a:extLst>
          </p:cNvPr>
          <p:cNvSpPr>
            <a:spLocks xmlns:a="http://schemas.openxmlformats.org/drawingml/2006/main" noGrp="1"/>
          </p:cNvSpPr>
          <p:nvPr/>
        </p:nvSpPr>
        <p:spPr>
          <a:xfrm xmlns:a="http://schemas.openxmlformats.org/drawingml/2006/main">
            <a:off x="552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API + Web</a:t>
            </a:r>
          </a:p>
        </p:txBody>
      </p:sp>
      <p:sp>
        <p:nvSpPr>
          <p:cNvPr id="25" name="">
            <a:extLst xmlns:a="http://schemas.openxmlformats.org/drawingml/2006/main">
              <a:ext uri="{FF2B5EF4-FFF2-40B4-BE49-F238E27FC236}">
                <a16:creationId xmlns:a16="http://schemas.microsoft.com/office/drawing/2014/main" id="{DDB8B004-0344-4F88-9C92-F824F6F49DDE}"/>
              </a:ext>
            </a:extLst>
          </p:cNvPr>
          <p:cNvSpPr>
            <a:spLocks xmlns:a="http://schemas.openxmlformats.org/drawingml/2006/main" noGrp="1"/>
          </p:cNvSpPr>
          <p:nvPr/>
        </p:nvSpPr>
        <p:spPr>
          <a:xfrm xmlns:a="http://schemas.openxmlformats.org/drawingml/2006/main">
            <a:off x="533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החוויה למשתמש</a:t>
            </a:r>
          </a:p>
        </p:txBody>
      </p:sp>
      <p:cxnSp>
        <p:nvCxnSpPr>
          <p:cNvPr id="74" name=""/>
          <p:cNvCxnSpPr>
            <a:stCxn xmlns:a="http://schemas.openxmlformats.org/drawingml/2006/main" id="8" idx="1"/>
            <a:endCxn xmlns:a="http://schemas.openxmlformats.org/drawingml/2006/main" id="11" idx="3"/>
          </p:cNvCxnSpPr>
          <p:nvPr/>
        </p:nvCxnSpPr>
        <p:spPr>
          <a:xfrm xmlns:a="http://schemas.openxmlformats.org/drawingml/2006/main" flipH="1">
            <a:off x="9553575"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5" name=""/>
          <p:cNvCxnSpPr>
            <a:stCxn xmlns:a="http://schemas.openxmlformats.org/drawingml/2006/main" id="11" idx="1"/>
            <a:endCxn xmlns:a="http://schemas.openxmlformats.org/drawingml/2006/main" id="14" idx="3"/>
          </p:cNvCxnSpPr>
          <p:nvPr/>
        </p:nvCxnSpPr>
        <p:spPr>
          <a:xfrm xmlns:a="http://schemas.openxmlformats.org/drawingml/2006/main" flipH="1">
            <a:off x="7677150"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6" name=""/>
          <p:cNvCxnSpPr>
            <a:stCxn xmlns:a="http://schemas.openxmlformats.org/drawingml/2006/main" id="14" idx="1"/>
            <a:endCxn xmlns:a="http://schemas.openxmlformats.org/drawingml/2006/main" id="17" idx="3"/>
          </p:cNvCxnSpPr>
          <p:nvPr/>
        </p:nvCxnSpPr>
        <p:spPr>
          <a:xfrm xmlns:a="http://schemas.openxmlformats.org/drawingml/2006/main" flipH="1">
            <a:off x="5800725" y="2457450"/>
            <a:ext cx="37147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77" name=""/>
          <p:cNvCxnSpPr>
            <a:stCxn xmlns:a="http://schemas.openxmlformats.org/drawingml/2006/main" id="17" idx="1"/>
            <a:endCxn xmlns:a="http://schemas.openxmlformats.org/drawingml/2006/main" id="20" idx="3"/>
          </p:cNvCxnSpPr>
          <p:nvPr/>
        </p:nvCxnSpPr>
        <p:spPr>
          <a:xfrm xmlns:a="http://schemas.openxmlformats.org/drawingml/2006/main" flipH="1">
            <a:off x="3924300" y="2457450"/>
            <a:ext cx="371475" cy="0"/>
          </a:xfrm>
          <a:prstGeom xmlns:a="http://schemas.openxmlformats.org/drawingml/2006/main" prst="straightConnector1">
            <a:avLst/>
          </a:prstGeom>
          <a:ln xmlns:a="http://schemas.openxmlformats.org/drawingml/2006/main" w="19050">
            <a:solidFill>
              <a:srgbClr val="F4B94F"/>
            </a:solidFill>
            <a:prstDash val="solid"/>
            <a:tailEnd type="triangle" w="sm" len="sm"/>
          </a:ln>
        </p:spPr>
      </p:cxnSp>
      <p:cxnSp>
        <p:nvCxnSpPr>
          <p:cNvPr id="78" name=""/>
          <p:cNvCxnSpPr>
            <a:stCxn xmlns:a="http://schemas.openxmlformats.org/drawingml/2006/main" id="20" idx="1"/>
            <a:endCxn xmlns:a="http://schemas.openxmlformats.org/drawingml/2006/main" id="23" idx="3"/>
          </p:cNvCxnSpPr>
          <p:nvPr/>
        </p:nvCxnSpPr>
        <p:spPr>
          <a:xfrm xmlns:a="http://schemas.openxmlformats.org/drawingml/2006/main" flipH="1">
            <a:off x="1962150" y="2457450"/>
            <a:ext cx="36195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31" name="">
            <a:extLst xmlns:a="http://schemas.openxmlformats.org/drawingml/2006/main">
              <a:ext uri="{FF2B5EF4-FFF2-40B4-BE49-F238E27FC236}">
                <a16:creationId xmlns:a16="http://schemas.microsoft.com/office/drawing/2014/main" id="{F25D17C1-0358-4C43-9256-BCDEC1131B62}"/>
              </a:ext>
            </a:extLst>
          </p:cNvPr>
          <p:cNvSpPr>
            <a:spLocks xmlns:a="http://schemas.openxmlformats.org/drawingml/2006/main" noGrp="1"/>
          </p:cNvSpPr>
          <p:nvPr/>
        </p:nvSpPr>
        <p:spPr>
          <a:xfrm xmlns:a="http://schemas.openxmlformats.org/drawingml/2006/main">
            <a:off x="9810750" y="3714750"/>
            <a:ext cx="1676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CERTIFIED PATH</a:t>
            </a:r>
          </a:p>
        </p:txBody>
      </p:sp>
      <p:sp>
        <p:nvSpPr>
          <p:cNvPr id="32" name="">
            <a:extLst xmlns:a="http://schemas.openxmlformats.org/drawingml/2006/main">
              <a:ext uri="{FF2B5EF4-FFF2-40B4-BE49-F238E27FC236}">
                <a16:creationId xmlns:a16="http://schemas.microsoft.com/office/drawing/2014/main" id="{39FDDA3D-D1AC-4DA8-90DD-DDAE94D16DE8}"/>
              </a:ext>
            </a:extLst>
          </p:cNvPr>
          <p:cNvSpPr>
            <a:spLocks xmlns:a="http://schemas.openxmlformats.org/drawingml/2006/main" noGrp="1"/>
          </p:cNvSpPr>
          <p:nvPr/>
        </p:nvSpPr>
        <p:spPr>
          <a:xfrm xmlns:a="http://schemas.openxmlformats.org/drawingml/2006/main">
            <a:off x="66865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33" name="">
            <a:extLst xmlns:a="http://schemas.openxmlformats.org/drawingml/2006/main">
              <a:ext uri="{FF2B5EF4-FFF2-40B4-BE49-F238E27FC236}">
                <a16:creationId xmlns:a16="http://schemas.microsoft.com/office/drawing/2014/main" id="{884D7DE8-34D2-4ED6-9FF7-14047D4E6FA0}"/>
              </a:ext>
            </a:extLst>
          </p:cNvPr>
          <p:cNvSpPr>
            <a:spLocks xmlns:a="http://schemas.openxmlformats.org/drawingml/2006/main" noGrp="1"/>
          </p:cNvSpPr>
          <p:nvPr/>
        </p:nvSpPr>
        <p:spPr>
          <a:xfrm xmlns:a="http://schemas.openxmlformats.org/drawingml/2006/main">
            <a:off x="67818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Bronze</a:t>
            </a:r>
          </a:p>
        </p:txBody>
      </p:sp>
      <p:sp>
        <p:nvSpPr>
          <p:cNvPr id="34" name="">
            <a:extLst xmlns:a="http://schemas.openxmlformats.org/drawingml/2006/main">
              <a:ext uri="{FF2B5EF4-FFF2-40B4-BE49-F238E27FC236}">
                <a16:creationId xmlns:a16="http://schemas.microsoft.com/office/drawing/2014/main" id="{DA5AB4F0-E758-4848-89D3-8ADC981C3F0A}"/>
              </a:ext>
            </a:extLst>
          </p:cNvPr>
          <p:cNvSpPr>
            <a:spLocks xmlns:a="http://schemas.openxmlformats.org/drawingml/2006/main" noGrp="1"/>
          </p:cNvSpPr>
          <p:nvPr/>
        </p:nvSpPr>
        <p:spPr>
          <a:xfrm xmlns:a="http://schemas.openxmlformats.org/drawingml/2006/main">
            <a:off x="67627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 גולמי ובלתי משתנה</a:t>
            </a:r>
          </a:p>
        </p:txBody>
      </p:sp>
      <p:sp>
        <p:nvSpPr>
          <p:cNvPr id="35" name="">
            <a:extLst xmlns:a="http://schemas.openxmlformats.org/drawingml/2006/main">
              <a:ext uri="{FF2B5EF4-FFF2-40B4-BE49-F238E27FC236}">
                <a16:creationId xmlns:a16="http://schemas.microsoft.com/office/drawing/2014/main" id="{1CABC3A8-F0C3-4087-9BCC-343EDC81252F}"/>
              </a:ext>
            </a:extLst>
          </p:cNvPr>
          <p:cNvSpPr>
            <a:spLocks xmlns:a="http://schemas.openxmlformats.org/drawingml/2006/main" noGrp="1"/>
          </p:cNvSpPr>
          <p:nvPr/>
        </p:nvSpPr>
        <p:spPr>
          <a:xfrm xmlns:a="http://schemas.openxmlformats.org/drawingml/2006/main">
            <a:off x="42862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6" name="">
            <a:extLst xmlns:a="http://schemas.openxmlformats.org/drawingml/2006/main">
              <a:ext uri="{FF2B5EF4-FFF2-40B4-BE49-F238E27FC236}">
                <a16:creationId xmlns:a16="http://schemas.microsoft.com/office/drawing/2014/main" id="{D2DE58C7-67BA-4FD6-B200-A695EF37E061}"/>
              </a:ext>
            </a:extLst>
          </p:cNvPr>
          <p:cNvSpPr>
            <a:spLocks xmlns:a="http://schemas.openxmlformats.org/drawingml/2006/main" noGrp="1"/>
          </p:cNvSpPr>
          <p:nvPr/>
        </p:nvSpPr>
        <p:spPr>
          <a:xfrm xmlns:a="http://schemas.openxmlformats.org/drawingml/2006/main">
            <a:off x="43815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Silver</a:t>
            </a:r>
          </a:p>
        </p:txBody>
      </p:sp>
      <p:sp>
        <p:nvSpPr>
          <p:cNvPr id="37" name="">
            <a:extLst xmlns:a="http://schemas.openxmlformats.org/drawingml/2006/main">
              <a:ext uri="{FF2B5EF4-FFF2-40B4-BE49-F238E27FC236}">
                <a16:creationId xmlns:a16="http://schemas.microsoft.com/office/drawing/2014/main" id="{95E6533C-0CAB-4BD7-9B85-D8945F80732D}"/>
              </a:ext>
            </a:extLst>
          </p:cNvPr>
          <p:cNvSpPr>
            <a:spLocks xmlns:a="http://schemas.openxmlformats.org/drawingml/2006/main" noGrp="1"/>
          </p:cNvSpPr>
          <p:nvPr/>
        </p:nvSpPr>
        <p:spPr>
          <a:xfrm xmlns:a="http://schemas.openxmlformats.org/drawingml/2006/main">
            <a:off x="43624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Parquet נקי וקנוני</a:t>
            </a:r>
          </a:p>
        </p:txBody>
      </p:sp>
      <p:sp>
        <p:nvSpPr>
          <p:cNvPr id="38" name="">
            <a:extLst xmlns:a="http://schemas.openxmlformats.org/drawingml/2006/main">
              <a:ext uri="{FF2B5EF4-FFF2-40B4-BE49-F238E27FC236}">
                <a16:creationId xmlns:a16="http://schemas.microsoft.com/office/drawing/2014/main" id="{C8825160-3D88-4745-B34D-1B3BB26DE6AB}"/>
              </a:ext>
            </a:extLst>
          </p:cNvPr>
          <p:cNvSpPr>
            <a:spLocks xmlns:a="http://schemas.openxmlformats.org/drawingml/2006/main" noGrp="1"/>
          </p:cNvSpPr>
          <p:nvPr/>
        </p:nvSpPr>
        <p:spPr>
          <a:xfrm xmlns:a="http://schemas.openxmlformats.org/drawingml/2006/main">
            <a:off x="45720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39" name="">
            <a:extLst xmlns:a="http://schemas.openxmlformats.org/drawingml/2006/main">
              <a:ext uri="{FF2B5EF4-FFF2-40B4-BE49-F238E27FC236}">
                <a16:creationId xmlns:a16="http://schemas.microsoft.com/office/drawing/2014/main" id="{322C169C-9953-4368-BFAB-EEF51265BC3A}"/>
              </a:ext>
            </a:extLst>
          </p:cNvPr>
          <p:cNvSpPr>
            <a:spLocks xmlns:a="http://schemas.openxmlformats.org/drawingml/2006/main" noGrp="1"/>
          </p:cNvSpPr>
          <p:nvPr/>
        </p:nvSpPr>
        <p:spPr>
          <a:xfrm xmlns:a="http://schemas.openxmlformats.org/drawingml/2006/main">
            <a:off x="55245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Airflow</a:t>
            </a:r>
          </a:p>
        </p:txBody>
      </p:sp>
      <p:sp>
        <p:nvSpPr>
          <p:cNvPr id="40" name="">
            <a:extLst xmlns:a="http://schemas.openxmlformats.org/drawingml/2006/main">
              <a:ext uri="{FF2B5EF4-FFF2-40B4-BE49-F238E27FC236}">
                <a16:creationId xmlns:a16="http://schemas.microsoft.com/office/drawing/2014/main" id="{AC4B2C19-DD00-4335-BD5F-384130E9EEF2}"/>
              </a:ext>
            </a:extLst>
          </p:cNvPr>
          <p:cNvSpPr>
            <a:spLocks xmlns:a="http://schemas.openxmlformats.org/drawingml/2006/main" noGrp="1"/>
          </p:cNvSpPr>
          <p:nvPr/>
        </p:nvSpPr>
        <p:spPr>
          <a:xfrm xmlns:a="http://schemas.openxmlformats.org/drawingml/2006/main">
            <a:off x="53340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תזמון ובקרה בלבד</a:t>
            </a:r>
          </a:p>
        </p:txBody>
      </p:sp>
      <p:cxnSp>
        <p:nvCxnSpPr>
          <p:cNvPr id="89" name=""/>
          <p:cNvCxnSpPr>
            <a:stCxn xmlns:a="http://schemas.openxmlformats.org/drawingml/2006/main" id="14" idx="2"/>
            <a:endCxn xmlns:a="http://schemas.openxmlformats.org/drawingml/2006/main" id="32" idx="0"/>
          </p:cNvCxnSpPr>
          <p:nvPr/>
        </p:nvCxnSpPr>
        <p:spPr>
          <a:xfrm xmlns:a="http://schemas.openxmlformats.org/drawingml/2006/main">
            <a:off x="6924675" y="2876550"/>
            <a:ext cx="762000" cy="1143000"/>
          </a:xfrm>
          <a:prstGeom xmlns:a="http://schemas.openxmlformats.org/drawingml/2006/main" prst="bentConnector4">
            <a:avLst>
              <a:gd name="adj1" fmla="val 0"/>
              <a:gd name="adj2" fmla="val 50000"/>
            </a:avLst>
          </a:prstGeom>
          <a:ln xmlns:a="http://schemas.openxmlformats.org/drawingml/2006/main" w="19050">
            <a:solidFill>
              <a:srgbClr val="35D4B5"/>
            </a:solidFill>
            <a:prstDash val="dash"/>
            <a:tailEnd type="triangle" w="sm" len="sm"/>
          </a:ln>
        </p:spPr>
      </p:cxnSp>
      <p:cxnSp>
        <p:nvCxnSpPr>
          <p:cNvPr id="90" name=""/>
          <p:cNvCxnSpPr>
            <a:stCxn xmlns:a="http://schemas.openxmlformats.org/drawingml/2006/main" id="32" idx="1"/>
            <a:endCxn xmlns:a="http://schemas.openxmlformats.org/drawingml/2006/main" id="35" idx="3"/>
          </p:cNvCxnSpPr>
          <p:nvPr/>
        </p:nvCxnSpPr>
        <p:spPr>
          <a:xfrm xmlns:a="http://schemas.openxmlformats.org/drawingml/2006/main" flipH="1">
            <a:off x="6286500" y="4438650"/>
            <a:ext cx="4000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5" idx="0"/>
            <a:endCxn xmlns:a="http://schemas.openxmlformats.org/drawingml/2006/main" id="20" idx="2"/>
          </p:cNvCxnSpPr>
          <p:nvPr/>
        </p:nvCxnSpPr>
        <p:spPr>
          <a:xfrm xmlns:a="http://schemas.openxmlformats.org/drawingml/2006/main" flipH="1" flipV="1">
            <a:off x="3124200" y="2876550"/>
            <a:ext cx="2162175" cy="1143000"/>
          </a:xfrm>
          <a:prstGeom xmlns:a="http://schemas.openxmlformats.org/drawingml/2006/main" prst="bentConnector4">
            <a:avLst>
              <a:gd name="adj1" fmla="val 0"/>
              <a:gd name="adj2" fmla="val 50000"/>
            </a:avLst>
          </a:prstGeom>
          <a:ln xmlns:a="http://schemas.openxmlformats.org/drawingml/2006/main" w="19050">
            <a:solidFill>
              <a:srgbClr val="F4B94F"/>
            </a:solidFill>
            <a:prstDash val="dash"/>
            <a:tailEnd type="triangle" w="sm" len="sm"/>
          </a:ln>
        </p:spPr>
      </p:cxnSp>
      <p:cxnSp>
        <p:nvCxnSpPr>
          <p:cNvPr id="92" name=""/>
          <p:cNvCxnSpPr>
            <a:stCxn xmlns:a="http://schemas.openxmlformats.org/drawingml/2006/main" id="38" idx="3"/>
            <a:endCxn xmlns:a="http://schemas.openxmlformats.org/drawingml/2006/main" id="35" idx="1"/>
          </p:cNvCxnSpPr>
          <p:nvPr/>
        </p:nvCxnSpPr>
        <p:spPr>
          <a:xfrm xmlns:a="http://schemas.openxmlformats.org/drawingml/2006/main">
            <a:off x="2457450" y="4438650"/>
            <a:ext cx="1828800" cy="0"/>
          </a:xfrm>
          <a:prstGeom xmlns:a="http://schemas.openxmlformats.org/drawingml/2006/main" prst="straightConnector1">
            <a:avLst/>
          </a:prstGeom>
          <a:ln xmlns:a="http://schemas.openxmlformats.org/drawingml/2006/main" w="19050">
            <a:solidFill>
              <a:srgbClr val="F4B94F"/>
            </a:solidFill>
            <a:prstDash val="dash"/>
            <a:tailEnd type="triangle" w="sm" len="sm"/>
          </a:ln>
        </p:spPr>
      </p:cxnSp>
      <p:sp>
        <p:nvSpPr>
          <p:cNvPr id="45" name="">
            <a:extLst xmlns:a="http://schemas.openxmlformats.org/drawingml/2006/main">
              <a:ext uri="{FF2B5EF4-FFF2-40B4-BE49-F238E27FC236}">
                <a16:creationId xmlns:a16="http://schemas.microsoft.com/office/drawing/2014/main" id="{0F4D5DE8-27B9-4471-94A8-2E0072489DDB}"/>
              </a:ext>
            </a:extLst>
          </p:cNvPr>
          <p:cNvSpPr>
            <a:spLocks xmlns:a="http://schemas.openxmlformats.org/drawingml/2006/main" noGrp="1"/>
          </p:cNvSpPr>
          <p:nvPr/>
        </p:nvSpPr>
        <p:spPr>
          <a:xfrm xmlns:a="http://schemas.openxmlformats.org/drawingml/2006/main">
            <a:off x="457200" y="31432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BROWSER BOUNDARY</a:t>
            </a:r>
          </a:p>
        </p:txBody>
      </p:sp>
      <p:sp>
        <p:nvSpPr>
          <p:cNvPr id="46" name="">
            <a:extLst xmlns:a="http://schemas.openxmlformats.org/drawingml/2006/main">
              <a:ext uri="{FF2B5EF4-FFF2-40B4-BE49-F238E27FC236}">
                <a16:creationId xmlns:a16="http://schemas.microsoft.com/office/drawing/2014/main" id="{85973CE0-863F-44E0-A37A-DB926E92BE9C}"/>
              </a:ext>
            </a:extLst>
          </p:cNvPr>
          <p:cNvSpPr>
            <a:spLocks xmlns:a="http://schemas.openxmlformats.org/drawingml/2006/main" noGrp="1"/>
          </p:cNvSpPr>
          <p:nvPr/>
        </p:nvSpPr>
        <p:spPr>
          <a:xfrm xmlns:a="http://schemas.openxmlformats.org/drawingml/2006/main">
            <a:off x="457200" y="33718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הדפדפן מתקשר רק עם שכבת ה־API</a:t>
            </a:r>
          </a:p>
        </p:txBody>
      </p:sp>
      <p:sp>
        <p:nvSpPr>
          <p:cNvPr id="47" name="">
            <a:extLst xmlns:a="http://schemas.openxmlformats.org/drawingml/2006/main">
              <a:ext uri="{FF2B5EF4-FFF2-40B4-BE49-F238E27FC236}">
                <a16:creationId xmlns:a16="http://schemas.microsoft.com/office/drawing/2014/main" id="{1CD3C627-6B06-4156-849F-40D62D72ABBB}"/>
              </a:ext>
            </a:extLst>
          </p:cNvPr>
          <p:cNvSpPr>
            <a:spLocks xmlns:a="http://schemas.openxmlformats.org/drawingml/2006/main" noGrp="1"/>
          </p:cNvSpPr>
          <p:nvPr/>
        </p:nvSpPr>
        <p:spPr>
          <a:xfrm xmlns:a="http://schemas.openxmlformats.org/drawingml/2006/main">
            <a:off x="457200" y="5105400"/>
            <a:ext cx="582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Airflow אינו מפעיל שירותי Streaming. הוא מתזמן רק עבודות שמתחילות ומסתיימות.</a:t>
            </a:r>
          </a:p>
        </p:txBody>
      </p:sp>
      <p:sp>
        <p:nvSpPr>
          <p:cNvPr id="48" name="">
            <a:extLst xmlns:a="http://schemas.openxmlformats.org/drawingml/2006/main">
              <a:ext uri="{FF2B5EF4-FFF2-40B4-BE49-F238E27FC236}">
                <a16:creationId xmlns:a16="http://schemas.microsoft.com/office/drawing/2014/main" id="{4408C971-790E-4509-9377-229C36634D48}"/>
              </a:ext>
            </a:extLst>
          </p:cNvPr>
          <p:cNvSpPr>
            <a:spLocks xmlns:a="http://schemas.openxmlformats.org/drawingml/2006/main" noGrp="1"/>
          </p:cNvSpPr>
          <p:nvPr/>
        </p:nvSpPr>
        <p:spPr>
          <a:xfrm xmlns:a="http://schemas.openxmlformats.org/drawingml/2006/main">
            <a:off x="6686550" y="5105400"/>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Bronze שומר את הראיה. Silver מנקה ומנרמל. Gold מוכן לצריכת המוצר.</a:t>
            </a:r>
          </a:p>
        </p:txBody>
      </p:sp>
    </p:spTree>
    <p:extLst>
      <p:ext uri="{BB962C8B-B14F-4D97-AF65-F5344CB8AC3E}">
        <p14:creationId xmlns:p14="http://schemas.microsoft.com/office/powerpoint/2010/main" val="1071908569"/>
      </p:ext>
    </p:extLst>
  </p:cSld>
</p:sld>
</file>

<file path=ppt/slides/slide5.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DE5FB06-8795-4A89-9B29-26A3B1F3B8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C4CAA9-CCDA-4B6E-909A-CCA64771CE15}"/>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VS CERTIFIED</a:t>
            </a:r>
          </a:p>
        </p:txBody>
      </p:sp>
      <p:sp>
        <p:nvSpPr>
          <p:cNvPr id="3" name="">
            <a:extLst xmlns:a="http://schemas.openxmlformats.org/drawingml/2006/main">
              <a:ext uri="{FF2B5EF4-FFF2-40B4-BE49-F238E27FC236}">
                <a16:creationId xmlns:a16="http://schemas.microsoft.com/office/drawing/2014/main" id="{EAB8E6D6-2688-4806-B41C-332F40F0D103}"/>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מהיר בזמן אמת, מאושר אחרי בדיקה</a:t>
            </a:r>
          </a:p>
        </p:txBody>
      </p:sp>
      <p:sp>
        <p:nvSpPr>
          <p:cNvPr id="4" name="">
            <a:extLst xmlns:a="http://schemas.openxmlformats.org/drawingml/2006/main">
              <a:ext uri="{FF2B5EF4-FFF2-40B4-BE49-F238E27FC236}">
                <a16:creationId xmlns:a16="http://schemas.microsoft.com/office/drawing/2014/main" id="{0B343C62-7299-485C-B369-A9C8766AECE4}"/>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05</a:t>
            </a:r>
          </a:p>
        </p:txBody>
      </p:sp>
      <p:sp>
        <p:nvSpPr>
          <p:cNvPr id="5" name="">
            <a:extLst xmlns:a="http://schemas.openxmlformats.org/drawingml/2006/main">
              <a:ext uri="{FF2B5EF4-FFF2-40B4-BE49-F238E27FC236}">
                <a16:creationId xmlns:a16="http://schemas.microsoft.com/office/drawing/2014/main" id="{D8F8075E-ABD7-4267-8963-25AED645F23A}"/>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A0F6C2DF-96FB-48D0-92D3-6C9E9CC965F2}"/>
              </a:ext>
            </a:extLst>
          </p:cNvPr>
          <p:cNvSpPr>
            <a:spLocks xmlns:a="http://schemas.openxmlformats.org/drawingml/2006/main" noGrp="1"/>
          </p:cNvSpPr>
          <p:nvPr/>
        </p:nvSpPr>
        <p:spPr>
          <a:xfrm xmlns:a="http://schemas.openxmlformats.org/drawingml/2006/main">
            <a:off x="8953500" y="13525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35D4B5"/>
                </a:solidFill>
                <a:latin typeface="Arial"/>
                <a:ea typeface="Arial"/>
                <a:cs typeface="Arial"/>
              </a:defRPr>
            </a:pPr>
            <a:r>
              <a:rPr sz="2250" b="1" lang="he-IL">
                <a:solidFill>
                  <a:srgbClr val="35D4B5"/>
                </a:solidFill>
                <a:latin typeface="Arial"/>
                <a:ea typeface="Arial"/>
                <a:cs typeface="Arial"/>
              </a:rPr>
              <a:t>מהיר עכשיו</a:t>
            </a:r>
          </a:p>
        </p:txBody>
      </p:sp>
      <p:sp>
        <p:nvSpPr>
          <p:cNvPr id="7" name="">
            <a:extLst xmlns:a="http://schemas.openxmlformats.org/drawingml/2006/main">
              <a:ext uri="{FF2B5EF4-FFF2-40B4-BE49-F238E27FC236}">
                <a16:creationId xmlns:a16="http://schemas.microsoft.com/office/drawing/2014/main" id="{4E56FFF5-3852-484D-9072-5E5811DC9A3B}"/>
              </a:ext>
            </a:extLst>
          </p:cNvPr>
          <p:cNvSpPr>
            <a:spLocks xmlns:a="http://schemas.openxmlformats.org/drawingml/2006/main" noGrp="1"/>
          </p:cNvSpPr>
          <p:nvPr/>
        </p:nvSpPr>
        <p:spPr>
          <a:xfrm xmlns:a="http://schemas.openxmlformats.org/drawingml/2006/main">
            <a:off x="6286500" y="1771650"/>
            <a:ext cx="527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החי מספק תמונת מצב בזמן שהשוק פעיל</a:t>
            </a:r>
          </a:p>
        </p:txBody>
      </p:sp>
      <p:sp>
        <p:nvSpPr>
          <p:cNvPr id="8" name="">
            <a:extLst xmlns:a="http://schemas.openxmlformats.org/drawingml/2006/main">
              <a:ext uri="{FF2B5EF4-FFF2-40B4-BE49-F238E27FC236}">
                <a16:creationId xmlns:a16="http://schemas.microsoft.com/office/drawing/2014/main" id="{29EC4495-6A71-481D-B85C-9982B865477E}"/>
              </a:ext>
            </a:extLst>
          </p:cNvPr>
          <p:cNvSpPr>
            <a:spLocks xmlns:a="http://schemas.openxmlformats.org/drawingml/2006/main" noGrp="1"/>
          </p:cNvSpPr>
          <p:nvPr/>
        </p:nvSpPr>
        <p:spPr>
          <a:xfrm xmlns:a="http://schemas.openxmlformats.org/drawingml/2006/main">
            <a:off x="68580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5255F964-A36C-4D00-AF7D-41EB505974F7}"/>
              </a:ext>
            </a:extLst>
          </p:cNvPr>
          <p:cNvSpPr>
            <a:spLocks xmlns:a="http://schemas.openxmlformats.org/drawingml/2006/main" noGrp="1"/>
          </p:cNvSpPr>
          <p:nvPr/>
        </p:nvSpPr>
        <p:spPr>
          <a:xfrm xmlns:a="http://schemas.openxmlformats.org/drawingml/2006/main">
            <a:off x="78105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PROVISIONAL</a:t>
            </a:r>
          </a:p>
        </p:txBody>
      </p:sp>
      <p:sp>
        <p:nvSpPr>
          <p:cNvPr id="10" name="">
            <a:extLst xmlns:a="http://schemas.openxmlformats.org/drawingml/2006/main">
              <a:ext uri="{FF2B5EF4-FFF2-40B4-BE49-F238E27FC236}">
                <a16:creationId xmlns:a16="http://schemas.microsoft.com/office/drawing/2014/main" id="{E60AB3D9-86DE-495A-9040-949442097F1C}"/>
              </a:ext>
            </a:extLst>
          </p:cNvPr>
          <p:cNvSpPr>
            <a:spLocks xmlns:a="http://schemas.openxmlformats.org/drawingml/2006/main" noGrp="1"/>
          </p:cNvSpPr>
          <p:nvPr/>
        </p:nvSpPr>
        <p:spPr>
          <a:xfrm xmlns:a="http://schemas.openxmlformats.org/drawingml/2006/main">
            <a:off x="76200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מוכן לתצוגה</a:t>
            </a:r>
          </a:p>
        </p:txBody>
      </p:sp>
      <p:sp>
        <p:nvSpPr>
          <p:cNvPr id="11" name="">
            <a:extLst xmlns:a="http://schemas.openxmlformats.org/drawingml/2006/main">
              <a:ext uri="{FF2B5EF4-FFF2-40B4-BE49-F238E27FC236}">
                <a16:creationId xmlns:a16="http://schemas.microsoft.com/office/drawing/2014/main" id="{5C7FC745-30FA-4106-982C-898AFEF97D38}"/>
              </a:ext>
            </a:extLst>
          </p:cNvPr>
          <p:cNvSpPr>
            <a:spLocks xmlns:a="http://schemas.openxmlformats.org/drawingml/2006/main" noGrp="1"/>
          </p:cNvSpPr>
          <p:nvPr/>
        </p:nvSpPr>
        <p:spPr>
          <a:xfrm xmlns:a="http://schemas.openxmlformats.org/drawingml/2006/main">
            <a:off x="341947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56384A97-7E0D-4073-A19C-347CA1260778}"/>
              </a:ext>
            </a:extLst>
          </p:cNvPr>
          <p:cNvSpPr>
            <a:spLocks xmlns:a="http://schemas.openxmlformats.org/drawingml/2006/main" noGrp="1"/>
          </p:cNvSpPr>
          <p:nvPr/>
        </p:nvSpPr>
        <p:spPr>
          <a:xfrm xmlns:a="http://schemas.openxmlformats.org/drawingml/2006/main">
            <a:off x="351472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Streaming</a:t>
            </a:r>
          </a:p>
        </p:txBody>
      </p:sp>
      <p:sp>
        <p:nvSpPr>
          <p:cNvPr id="13" name="">
            <a:extLst xmlns:a="http://schemas.openxmlformats.org/drawingml/2006/main">
              <a:ext uri="{FF2B5EF4-FFF2-40B4-BE49-F238E27FC236}">
                <a16:creationId xmlns:a16="http://schemas.microsoft.com/office/drawing/2014/main" id="{B5A7D9EE-889E-4525-84DC-137098C714BF}"/>
              </a:ext>
            </a:extLst>
          </p:cNvPr>
          <p:cNvSpPr>
            <a:spLocks xmlns:a="http://schemas.openxmlformats.org/drawingml/2006/main" noGrp="1"/>
          </p:cNvSpPr>
          <p:nvPr/>
        </p:nvSpPr>
        <p:spPr>
          <a:xfrm xmlns:a="http://schemas.openxmlformats.org/drawingml/2006/main">
            <a:off x="349567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56757A02-7E69-4302-95BE-1A5CE8423852}"/>
              </a:ext>
            </a:extLst>
          </p:cNvPr>
          <p:cNvSpPr>
            <a:spLocks xmlns:a="http://schemas.openxmlformats.org/drawingml/2006/main" noGrp="1"/>
          </p:cNvSpPr>
          <p:nvPr/>
        </p:nvSpPr>
        <p:spPr>
          <a:xfrm xmlns:a="http://schemas.openxmlformats.org/drawingml/2006/main">
            <a:off x="615315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5" name="">
            <a:extLst xmlns:a="http://schemas.openxmlformats.org/drawingml/2006/main">
              <a:ext uri="{FF2B5EF4-FFF2-40B4-BE49-F238E27FC236}">
                <a16:creationId xmlns:a16="http://schemas.microsoft.com/office/drawing/2014/main" id="{4FEF242F-F432-4FDB-A0DD-D69164DB6DAF}"/>
              </a:ext>
            </a:extLst>
          </p:cNvPr>
          <p:cNvSpPr>
            <a:spLocks xmlns:a="http://schemas.openxmlformats.org/drawingml/2006/main" noGrp="1"/>
          </p:cNvSpPr>
          <p:nvPr/>
        </p:nvSpPr>
        <p:spPr>
          <a:xfrm xmlns:a="http://schemas.openxmlformats.org/drawingml/2006/main">
            <a:off x="624840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65519050-53B7-471A-9F0B-5BAAC529F058}"/>
              </a:ext>
            </a:extLst>
          </p:cNvPr>
          <p:cNvSpPr>
            <a:spLocks xmlns:a="http://schemas.openxmlformats.org/drawingml/2006/main" noGrp="1"/>
          </p:cNvSpPr>
          <p:nvPr/>
        </p:nvSpPr>
        <p:spPr>
          <a:xfrm xmlns:a="http://schemas.openxmlformats.org/drawingml/2006/main">
            <a:off x="622935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AAE95F23-73C8-46DC-90A1-7D9C1D8210E0}"/>
              </a:ext>
            </a:extLst>
          </p:cNvPr>
          <p:cNvSpPr>
            <a:spLocks xmlns:a="http://schemas.openxmlformats.org/drawingml/2006/main" noGrp="1"/>
          </p:cNvSpPr>
          <p:nvPr/>
        </p:nvSpPr>
        <p:spPr>
          <a:xfrm xmlns:a="http://schemas.openxmlformats.org/drawingml/2006/main">
            <a:off x="888682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8" name="">
            <a:extLst xmlns:a="http://schemas.openxmlformats.org/drawingml/2006/main">
              <a:ext uri="{FF2B5EF4-FFF2-40B4-BE49-F238E27FC236}">
                <a16:creationId xmlns:a16="http://schemas.microsoft.com/office/drawing/2014/main" id="{2CB50969-DCF6-4B49-94ED-EABB14F17B15}"/>
              </a:ext>
            </a:extLst>
          </p:cNvPr>
          <p:cNvSpPr>
            <a:spLocks xmlns:a="http://schemas.openxmlformats.org/drawingml/2006/main" noGrp="1"/>
          </p:cNvSpPr>
          <p:nvPr/>
        </p:nvSpPr>
        <p:spPr>
          <a:xfrm xmlns:a="http://schemas.openxmlformats.org/drawingml/2006/main">
            <a:off x="898207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a:t>
            </a:r>
          </a:p>
        </p:txBody>
      </p:sp>
      <p:sp>
        <p:nvSpPr>
          <p:cNvPr id="19" name="">
            <a:extLst xmlns:a="http://schemas.openxmlformats.org/drawingml/2006/main">
              <a:ext uri="{FF2B5EF4-FFF2-40B4-BE49-F238E27FC236}">
                <a16:creationId xmlns:a16="http://schemas.microsoft.com/office/drawing/2014/main" id="{0CB0A60F-9E7E-48E1-ACC0-BEC14E938EFB}"/>
              </a:ext>
            </a:extLst>
          </p:cNvPr>
          <p:cNvSpPr>
            <a:spLocks xmlns:a="http://schemas.openxmlformats.org/drawingml/2006/main" noGrp="1"/>
          </p:cNvSpPr>
          <p:nvPr/>
        </p:nvSpPr>
        <p:spPr>
          <a:xfrm xmlns:a="http://schemas.openxmlformats.org/drawingml/2006/main">
            <a:off x="896302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66" name=""/>
          <p:cNvCxnSpPr>
            <a:stCxn xmlns:a="http://schemas.openxmlformats.org/drawingml/2006/main" id="17" idx="1"/>
            <a:endCxn xmlns:a="http://schemas.openxmlformats.org/drawingml/2006/main" id="14" idx="3"/>
          </p:cNvCxnSpPr>
          <p:nvPr/>
        </p:nvCxnSpPr>
        <p:spPr>
          <a:xfrm xmlns:a="http://schemas.openxmlformats.org/drawingml/2006/main" flipH="1">
            <a:off x="839152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4" idx="1"/>
            <a:endCxn xmlns:a="http://schemas.openxmlformats.org/drawingml/2006/main" id="11" idx="3"/>
          </p:cNvCxnSpPr>
          <p:nvPr/>
        </p:nvCxnSpPr>
        <p:spPr>
          <a:xfrm xmlns:a="http://schemas.openxmlformats.org/drawingml/2006/main" flipH="1">
            <a:off x="5657850"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1" idx="1"/>
            <a:endCxn xmlns:a="http://schemas.openxmlformats.org/drawingml/2006/main" id="8" idx="3"/>
          </p:cNvCxnSpPr>
          <p:nvPr/>
        </p:nvCxnSpPr>
        <p:spPr>
          <a:xfrm xmlns:a="http://schemas.openxmlformats.org/drawingml/2006/main" flipH="1">
            <a:off x="292417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54452EC7-59B7-4679-9551-6B9E0EE1AAEB}"/>
              </a:ext>
            </a:extLst>
          </p:cNvPr>
          <p:cNvSpPr>
            <a:spLocks xmlns:a="http://schemas.openxmlformats.org/drawingml/2006/main" noGrp="1"/>
          </p:cNvSpPr>
          <p:nvPr/>
        </p:nvSpPr>
        <p:spPr>
          <a:xfrm xmlns:a="http://schemas.openxmlformats.org/drawingml/2006/main">
            <a:off x="685800" y="32004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DOCKER COMPOSE OWNS THE LIFECYCLE</a:t>
            </a:r>
          </a:p>
        </p:txBody>
      </p:sp>
      <p:sp>
        <p:nvSpPr>
          <p:cNvPr id="24" name="">
            <a:extLst xmlns:a="http://schemas.openxmlformats.org/drawingml/2006/main">
              <a:ext uri="{FF2B5EF4-FFF2-40B4-BE49-F238E27FC236}">
                <a16:creationId xmlns:a16="http://schemas.microsoft.com/office/drawing/2014/main" id="{5AD3A9F6-F964-4422-8AAE-FBEA840DCD43}"/>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5" name="">
            <a:extLst xmlns:a="http://schemas.openxmlformats.org/drawingml/2006/main">
              <a:ext uri="{FF2B5EF4-FFF2-40B4-BE49-F238E27FC236}">
                <a16:creationId xmlns:a16="http://schemas.microsoft.com/office/drawing/2014/main" id="{F80F64D2-C9A1-4DF4-9B2F-5C0D26CEB2E2}"/>
              </a:ext>
            </a:extLst>
          </p:cNvPr>
          <p:cNvSpPr>
            <a:spLocks xmlns:a="http://schemas.openxmlformats.org/drawingml/2006/main" noGrp="1"/>
          </p:cNvSpPr>
          <p:nvPr/>
        </p:nvSpPr>
        <p:spPr>
          <a:xfrm xmlns:a="http://schemas.openxmlformats.org/drawingml/2006/main">
            <a:off x="8210550" y="38862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5B91FF"/>
                </a:solidFill>
                <a:latin typeface="Arial"/>
                <a:ea typeface="Arial"/>
                <a:cs typeface="Arial"/>
              </a:defRPr>
            </a:pPr>
            <a:r>
              <a:rPr sz="2250" b="1" lang="he-IL">
                <a:solidFill>
                  <a:srgbClr val="5B91FF"/>
                </a:solidFill>
                <a:latin typeface="Arial"/>
                <a:ea typeface="Arial"/>
                <a:cs typeface="Arial"/>
              </a:rPr>
              <a:t>אמין לאחר הסגירה</a:t>
            </a:r>
          </a:p>
        </p:txBody>
      </p:sp>
      <p:sp>
        <p:nvSpPr>
          <p:cNvPr id="26" name="">
            <a:extLst xmlns:a="http://schemas.openxmlformats.org/drawingml/2006/main">
              <a:ext uri="{FF2B5EF4-FFF2-40B4-BE49-F238E27FC236}">
                <a16:creationId xmlns:a16="http://schemas.microsoft.com/office/drawing/2014/main" id="{7D5B2773-BF20-44AB-BA39-C040E9F38954}"/>
              </a:ext>
            </a:extLst>
          </p:cNvPr>
          <p:cNvSpPr>
            <a:spLocks xmlns:a="http://schemas.openxmlformats.org/drawingml/2006/main" noGrp="1"/>
          </p:cNvSpPr>
          <p:nvPr/>
        </p:nvSpPr>
        <p:spPr>
          <a:xfrm xmlns:a="http://schemas.openxmlformats.org/drawingml/2006/main">
            <a:off x="5391150" y="4305300"/>
            <a:ext cx="617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המאושר בונה מחדש את היום מן המקור ומפעיל שערי איכות</a:t>
            </a:r>
          </a:p>
        </p:txBody>
      </p:sp>
      <p:sp>
        <p:nvSpPr>
          <p:cNvPr id="27" name="">
            <a:extLst xmlns:a="http://schemas.openxmlformats.org/drawingml/2006/main">
              <a:ext uri="{FF2B5EF4-FFF2-40B4-BE49-F238E27FC236}">
                <a16:creationId xmlns:a16="http://schemas.microsoft.com/office/drawing/2014/main" id="{C0187ABD-5965-4C18-9A54-560C09A28327}"/>
              </a:ext>
            </a:extLst>
          </p:cNvPr>
          <p:cNvSpPr>
            <a:spLocks xmlns:a="http://schemas.openxmlformats.org/drawingml/2006/main" noGrp="1"/>
          </p:cNvSpPr>
          <p:nvPr/>
        </p:nvSpPr>
        <p:spPr>
          <a:xfrm xmlns:a="http://schemas.openxmlformats.org/drawingml/2006/main">
            <a:off x="609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28" name="">
            <a:extLst xmlns:a="http://schemas.openxmlformats.org/drawingml/2006/main">
              <a:ext uri="{FF2B5EF4-FFF2-40B4-BE49-F238E27FC236}">
                <a16:creationId xmlns:a16="http://schemas.microsoft.com/office/drawing/2014/main" id="{27D1CA07-6CA5-4CC5-B6AF-A3B23D2B5839}"/>
              </a:ext>
            </a:extLst>
          </p:cNvPr>
          <p:cNvSpPr>
            <a:spLocks xmlns:a="http://schemas.openxmlformats.org/drawingml/2006/main" noGrp="1"/>
          </p:cNvSpPr>
          <p:nvPr/>
        </p:nvSpPr>
        <p:spPr>
          <a:xfrm xmlns:a="http://schemas.openxmlformats.org/drawingml/2006/main">
            <a:off x="704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CERTIFIED</a:t>
            </a:r>
          </a:p>
        </p:txBody>
      </p:sp>
      <p:sp>
        <p:nvSpPr>
          <p:cNvPr id="29" name="">
            <a:extLst xmlns:a="http://schemas.openxmlformats.org/drawingml/2006/main">
              <a:ext uri="{FF2B5EF4-FFF2-40B4-BE49-F238E27FC236}">
                <a16:creationId xmlns:a16="http://schemas.microsoft.com/office/drawing/2014/main" id="{0B1B514F-15E9-441B-99A4-5E8078582492}"/>
              </a:ext>
            </a:extLst>
          </p:cNvPr>
          <p:cNvSpPr>
            <a:spLocks xmlns:a="http://schemas.openxmlformats.org/drawingml/2006/main" noGrp="1"/>
          </p:cNvSpPr>
          <p:nvPr/>
        </p:nvSpPr>
        <p:spPr>
          <a:xfrm xmlns:a="http://schemas.openxmlformats.org/drawingml/2006/main">
            <a:off x="685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DCAE832D-E46D-4A5C-AF6F-3A5A76103D3F}"/>
              </a:ext>
            </a:extLst>
          </p:cNvPr>
          <p:cNvSpPr>
            <a:spLocks xmlns:a="http://schemas.openxmlformats.org/drawingml/2006/main" noGrp="1"/>
          </p:cNvSpPr>
          <p:nvPr/>
        </p:nvSpPr>
        <p:spPr>
          <a:xfrm xmlns:a="http://schemas.openxmlformats.org/drawingml/2006/main">
            <a:off x="28003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1" name="">
            <a:extLst xmlns:a="http://schemas.openxmlformats.org/drawingml/2006/main">
              <a:ext uri="{FF2B5EF4-FFF2-40B4-BE49-F238E27FC236}">
                <a16:creationId xmlns:a16="http://schemas.microsoft.com/office/drawing/2014/main" id="{70383AC8-B641-4B91-B57C-064F3016195F}"/>
              </a:ext>
            </a:extLst>
          </p:cNvPr>
          <p:cNvSpPr>
            <a:spLocks xmlns:a="http://schemas.openxmlformats.org/drawingml/2006/main" noGrp="1"/>
          </p:cNvSpPr>
          <p:nvPr/>
        </p:nvSpPr>
        <p:spPr>
          <a:xfrm xmlns:a="http://schemas.openxmlformats.org/drawingml/2006/main">
            <a:off x="28956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Data Quality</a:t>
            </a:r>
          </a:p>
        </p:txBody>
      </p:sp>
      <p:sp>
        <p:nvSpPr>
          <p:cNvPr id="32" name="">
            <a:extLst xmlns:a="http://schemas.openxmlformats.org/drawingml/2006/main">
              <a:ext uri="{FF2B5EF4-FFF2-40B4-BE49-F238E27FC236}">
                <a16:creationId xmlns:a16="http://schemas.microsoft.com/office/drawing/2014/main" id="{1AD5117C-6FC9-420E-BDF6-35EBEA80E15E}"/>
              </a:ext>
            </a:extLst>
          </p:cNvPr>
          <p:cNvSpPr>
            <a:spLocks xmlns:a="http://schemas.openxmlformats.org/drawingml/2006/main" noGrp="1"/>
          </p:cNvSpPr>
          <p:nvPr/>
        </p:nvSpPr>
        <p:spPr>
          <a:xfrm xmlns:a="http://schemas.openxmlformats.org/drawingml/2006/main">
            <a:off x="28765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96708EB6-7865-4F30-B1F9-A959E91C4050}"/>
              </a:ext>
            </a:extLst>
          </p:cNvPr>
          <p:cNvSpPr>
            <a:spLocks xmlns:a="http://schemas.openxmlformats.org/drawingml/2006/main" noGrp="1"/>
          </p:cNvSpPr>
          <p:nvPr/>
        </p:nvSpPr>
        <p:spPr>
          <a:xfrm xmlns:a="http://schemas.openxmlformats.org/drawingml/2006/main">
            <a:off x="49911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545108F0-3C67-459D-A4D2-9CA669E6C4CB}"/>
              </a:ext>
            </a:extLst>
          </p:cNvPr>
          <p:cNvSpPr>
            <a:spLocks xmlns:a="http://schemas.openxmlformats.org/drawingml/2006/main" noGrp="1"/>
          </p:cNvSpPr>
          <p:nvPr/>
        </p:nvSpPr>
        <p:spPr>
          <a:xfrm xmlns:a="http://schemas.openxmlformats.org/drawingml/2006/main">
            <a:off x="50863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Silver</a:t>
            </a:r>
          </a:p>
        </p:txBody>
      </p:sp>
      <p:sp>
        <p:nvSpPr>
          <p:cNvPr id="35" name="">
            <a:extLst xmlns:a="http://schemas.openxmlformats.org/drawingml/2006/main">
              <a:ext uri="{FF2B5EF4-FFF2-40B4-BE49-F238E27FC236}">
                <a16:creationId xmlns:a16="http://schemas.microsoft.com/office/drawing/2014/main" id="{3E34738E-393E-4E87-BC1F-CD126A1F7818}"/>
              </a:ext>
            </a:extLst>
          </p:cNvPr>
          <p:cNvSpPr>
            <a:spLocks xmlns:a="http://schemas.openxmlformats.org/drawingml/2006/main" noGrp="1"/>
          </p:cNvSpPr>
          <p:nvPr/>
        </p:nvSpPr>
        <p:spPr>
          <a:xfrm xmlns:a="http://schemas.openxmlformats.org/drawingml/2006/main">
            <a:off x="50673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B6315F68-8B19-4C08-89C5-C7E6082B117D}"/>
              </a:ext>
            </a:extLst>
          </p:cNvPr>
          <p:cNvSpPr>
            <a:spLocks xmlns:a="http://schemas.openxmlformats.org/drawingml/2006/main" noGrp="1"/>
          </p:cNvSpPr>
          <p:nvPr/>
        </p:nvSpPr>
        <p:spPr>
          <a:xfrm xmlns:a="http://schemas.openxmlformats.org/drawingml/2006/main">
            <a:off x="71818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7" name="">
            <a:extLst xmlns:a="http://schemas.openxmlformats.org/drawingml/2006/main">
              <a:ext uri="{FF2B5EF4-FFF2-40B4-BE49-F238E27FC236}">
                <a16:creationId xmlns:a16="http://schemas.microsoft.com/office/drawing/2014/main" id="{12D0155C-6334-4ADC-B56F-1FAEE1D40FDD}"/>
              </a:ext>
            </a:extLst>
          </p:cNvPr>
          <p:cNvSpPr>
            <a:spLocks xmlns:a="http://schemas.openxmlformats.org/drawingml/2006/main" noGrp="1"/>
          </p:cNvSpPr>
          <p:nvPr/>
        </p:nvSpPr>
        <p:spPr>
          <a:xfrm xmlns:a="http://schemas.openxmlformats.org/drawingml/2006/main">
            <a:off x="72771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Batch</a:t>
            </a:r>
          </a:p>
        </p:txBody>
      </p:sp>
      <p:sp>
        <p:nvSpPr>
          <p:cNvPr id="38" name="">
            <a:extLst xmlns:a="http://schemas.openxmlformats.org/drawingml/2006/main">
              <a:ext uri="{FF2B5EF4-FFF2-40B4-BE49-F238E27FC236}">
                <a16:creationId xmlns:a16="http://schemas.microsoft.com/office/drawing/2014/main" id="{9586B42E-4B35-4964-A0F1-EF32EE486AD7}"/>
              </a:ext>
            </a:extLst>
          </p:cNvPr>
          <p:cNvSpPr>
            <a:spLocks xmlns:a="http://schemas.openxmlformats.org/drawingml/2006/main" noGrp="1"/>
          </p:cNvSpPr>
          <p:nvPr/>
        </p:nvSpPr>
        <p:spPr>
          <a:xfrm xmlns:a="http://schemas.openxmlformats.org/drawingml/2006/main">
            <a:off x="72580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58EACA50-B26E-46D8-AFF1-672DBAD835C1}"/>
              </a:ext>
            </a:extLst>
          </p:cNvPr>
          <p:cNvSpPr>
            <a:spLocks xmlns:a="http://schemas.openxmlformats.org/drawingml/2006/main" noGrp="1"/>
          </p:cNvSpPr>
          <p:nvPr/>
        </p:nvSpPr>
        <p:spPr>
          <a:xfrm xmlns:a="http://schemas.openxmlformats.org/drawingml/2006/main">
            <a:off x="9372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40" name="">
            <a:extLst xmlns:a="http://schemas.openxmlformats.org/drawingml/2006/main">
              <a:ext uri="{FF2B5EF4-FFF2-40B4-BE49-F238E27FC236}">
                <a16:creationId xmlns:a16="http://schemas.microsoft.com/office/drawing/2014/main" id="{694632CA-CFFF-45DD-BFC1-EEA95D179562}"/>
              </a:ext>
            </a:extLst>
          </p:cNvPr>
          <p:cNvSpPr>
            <a:spLocks xmlns:a="http://schemas.openxmlformats.org/drawingml/2006/main" noGrp="1"/>
          </p:cNvSpPr>
          <p:nvPr/>
        </p:nvSpPr>
        <p:spPr>
          <a:xfrm xmlns:a="http://schemas.openxmlformats.org/drawingml/2006/main">
            <a:off x="9467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Bronze</a:t>
            </a:r>
          </a:p>
        </p:txBody>
      </p:sp>
      <p:sp>
        <p:nvSpPr>
          <p:cNvPr id="41" name="">
            <a:extLst xmlns:a="http://schemas.openxmlformats.org/drawingml/2006/main">
              <a:ext uri="{FF2B5EF4-FFF2-40B4-BE49-F238E27FC236}">
                <a16:creationId xmlns:a16="http://schemas.microsoft.com/office/drawing/2014/main" id="{E60D750C-CEA4-47E1-9A0D-4EFDA2D9E1D9}"/>
              </a:ext>
            </a:extLst>
          </p:cNvPr>
          <p:cNvSpPr>
            <a:spLocks xmlns:a="http://schemas.openxmlformats.org/drawingml/2006/main" noGrp="1"/>
          </p:cNvSpPr>
          <p:nvPr/>
        </p:nvSpPr>
        <p:spPr>
          <a:xfrm xmlns:a="http://schemas.openxmlformats.org/drawingml/2006/main">
            <a:off x="9448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88" name=""/>
          <p:cNvCxnSpPr>
            <a:stCxn xmlns:a="http://schemas.openxmlformats.org/drawingml/2006/main" id="39" idx="1"/>
            <a:endCxn xmlns:a="http://schemas.openxmlformats.org/drawingml/2006/main" id="36" idx="3"/>
          </p:cNvCxnSpPr>
          <p:nvPr/>
        </p:nvCxnSpPr>
        <p:spPr>
          <a:xfrm xmlns:a="http://schemas.openxmlformats.org/drawingml/2006/main" flipH="1">
            <a:off x="89344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89" name=""/>
          <p:cNvCxnSpPr>
            <a:stCxn xmlns:a="http://schemas.openxmlformats.org/drawingml/2006/main" id="36" idx="1"/>
            <a:endCxn xmlns:a="http://schemas.openxmlformats.org/drawingml/2006/main" id="33" idx="3"/>
          </p:cNvCxnSpPr>
          <p:nvPr/>
        </p:nvCxnSpPr>
        <p:spPr>
          <a:xfrm xmlns:a="http://schemas.openxmlformats.org/drawingml/2006/main" flipH="1">
            <a:off x="67437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0" name=""/>
          <p:cNvCxnSpPr>
            <a:stCxn xmlns:a="http://schemas.openxmlformats.org/drawingml/2006/main" id="33" idx="1"/>
            <a:endCxn xmlns:a="http://schemas.openxmlformats.org/drawingml/2006/main" id="30" idx="3"/>
          </p:cNvCxnSpPr>
          <p:nvPr/>
        </p:nvCxnSpPr>
        <p:spPr>
          <a:xfrm xmlns:a="http://schemas.openxmlformats.org/drawingml/2006/main" flipH="1">
            <a:off x="45529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0" idx="1"/>
            <a:endCxn xmlns:a="http://schemas.openxmlformats.org/drawingml/2006/main" id="27" idx="3"/>
          </p:cNvCxnSpPr>
          <p:nvPr/>
        </p:nvCxnSpPr>
        <p:spPr>
          <a:xfrm xmlns:a="http://schemas.openxmlformats.org/drawingml/2006/main" flipH="1">
            <a:off x="23622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sp>
        <p:nvSpPr>
          <p:cNvPr id="46" name="">
            <a:extLst xmlns:a="http://schemas.openxmlformats.org/drawingml/2006/main">
              <a:ext uri="{FF2B5EF4-FFF2-40B4-BE49-F238E27FC236}">
                <a16:creationId xmlns:a16="http://schemas.microsoft.com/office/drawing/2014/main" id="{89FA343C-DA34-4818-A382-97B9EC56E008}"/>
              </a:ext>
            </a:extLst>
          </p:cNvPr>
          <p:cNvSpPr>
            <a:spLocks xmlns:a="http://schemas.openxmlformats.org/drawingml/2006/main" noGrp="1"/>
          </p:cNvSpPr>
          <p:nvPr/>
        </p:nvSpPr>
        <p:spPr>
          <a:xfrm xmlns:a="http://schemas.openxmlformats.org/drawingml/2006/main">
            <a:off x="609600" y="58483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AIRFLOW SCHEDULES AND MONITORS</a:t>
            </a:r>
          </a:p>
        </p:txBody>
      </p:sp>
    </p:spTree>
    <p:extLst>
      <p:ext uri="{BB962C8B-B14F-4D97-AF65-F5344CB8AC3E}">
        <p14:creationId xmlns:p14="http://schemas.microsoft.com/office/powerpoint/2010/main" val="394281910"/>
      </p:ext>
    </p:extLst>
  </p:cSld>
</p:sld>
</file>

<file path=ppt/slides/slide6.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896512E-85E8-463E-B669-7E0C005BC81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4E7AE1-0EFB-4B32-812B-585214FCDB2E}"/>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TECHNOLOGY CHOICES</a:t>
            </a:r>
          </a:p>
        </p:txBody>
      </p:sp>
      <p:sp>
        <p:nvSpPr>
          <p:cNvPr id="3" name="">
            <a:extLst xmlns:a="http://schemas.openxmlformats.org/drawingml/2006/main">
              <a:ext uri="{FF2B5EF4-FFF2-40B4-BE49-F238E27FC236}">
                <a16:creationId xmlns:a16="http://schemas.microsoft.com/office/drawing/2014/main" id="{2E1C0DA7-2225-4E8F-AF60-541B30DC0DD2}"/>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לכל טכנולוגיה יש תפקיד ברור</a:t>
            </a:r>
          </a:p>
        </p:txBody>
      </p:sp>
      <p:sp>
        <p:nvSpPr>
          <p:cNvPr id="4" name="">
            <a:extLst xmlns:a="http://schemas.openxmlformats.org/drawingml/2006/main">
              <a:ext uri="{FF2B5EF4-FFF2-40B4-BE49-F238E27FC236}">
                <a16:creationId xmlns:a16="http://schemas.microsoft.com/office/drawing/2014/main" id="{75C3A457-E28D-4695-985C-EA0D04B36401}"/>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06</a:t>
            </a:r>
          </a:p>
        </p:txBody>
      </p:sp>
      <p:sp>
        <p:nvSpPr>
          <p:cNvPr id="5" name="">
            <a:extLst xmlns:a="http://schemas.openxmlformats.org/drawingml/2006/main">
              <a:ext uri="{FF2B5EF4-FFF2-40B4-BE49-F238E27FC236}">
                <a16:creationId xmlns:a16="http://schemas.microsoft.com/office/drawing/2014/main" id="{F08C8902-07C9-428A-9849-FE9C8D587BCB}"/>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A17C9AB8-E571-45FF-80A6-5AC3EFDAD5B3}"/>
              </a:ext>
            </a:extLst>
          </p:cNvPr>
          <p:cNvSpPr>
            <a:spLocks xmlns:a="http://schemas.openxmlformats.org/drawingml/2006/main" noGrp="1"/>
          </p:cNvSpPr>
          <p:nvPr/>
        </p:nvSpPr>
        <p:spPr>
          <a:xfrm xmlns:a="http://schemas.openxmlformats.org/drawingml/2006/main">
            <a:off x="7810500" y="12573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למה בחרתי בה</a:t>
            </a:r>
          </a:p>
        </p:txBody>
      </p:sp>
      <p:sp>
        <p:nvSpPr>
          <p:cNvPr id="7" name="">
            <a:extLst xmlns:a="http://schemas.openxmlformats.org/drawingml/2006/main">
              <a:ext uri="{FF2B5EF4-FFF2-40B4-BE49-F238E27FC236}">
                <a16:creationId xmlns:a16="http://schemas.microsoft.com/office/drawing/2014/main" id="{2A76DAD5-A719-4349-ACEC-41674A489C8C}"/>
              </a:ext>
            </a:extLst>
          </p:cNvPr>
          <p:cNvSpPr>
            <a:spLocks xmlns:a="http://schemas.openxmlformats.org/drawingml/2006/main" noGrp="1"/>
          </p:cNvSpPr>
          <p:nvPr/>
        </p:nvSpPr>
        <p:spPr>
          <a:xfrm xmlns:a="http://schemas.openxmlformats.org/drawingml/2006/main">
            <a:off x="3429000" y="12573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התפקיד במערכת</a:t>
            </a:r>
          </a:p>
        </p:txBody>
      </p:sp>
      <p:sp>
        <p:nvSpPr>
          <p:cNvPr id="8" name="">
            <a:extLst xmlns:a="http://schemas.openxmlformats.org/drawingml/2006/main">
              <a:ext uri="{FF2B5EF4-FFF2-40B4-BE49-F238E27FC236}">
                <a16:creationId xmlns:a16="http://schemas.microsoft.com/office/drawing/2014/main" id="{99EED9FE-7693-4488-A8D4-268624BBD01C}"/>
              </a:ext>
            </a:extLst>
          </p:cNvPr>
          <p:cNvSpPr>
            <a:spLocks xmlns:a="http://schemas.openxmlformats.org/drawingml/2006/main" noGrp="1"/>
          </p:cNvSpPr>
          <p:nvPr/>
        </p:nvSpPr>
        <p:spPr>
          <a:xfrm xmlns:a="http://schemas.openxmlformats.org/drawingml/2006/main">
            <a:off x="685800" y="1257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9AB1C5"/>
                </a:solidFill>
                <a:latin typeface="Cascadia Mono"/>
                <a:ea typeface="Cascadia Mono"/>
                <a:cs typeface="Cascadia Mono"/>
              </a:defRPr>
            </a:pPr>
            <a:r>
              <a:rPr sz="1050" b="1">
                <a:solidFill>
                  <a:srgbClr val="9AB1C5"/>
                </a:solidFill>
                <a:latin typeface="Cascadia Mono"/>
                <a:ea typeface="Cascadia Mono"/>
                <a:cs typeface="Cascadia Mono"/>
              </a:rPr>
              <a:t>TECHNOLOGY</a:t>
            </a:r>
          </a:p>
        </p:txBody>
      </p:sp>
      <p:sp>
        <p:nvSpPr>
          <p:cNvPr id="9" name="">
            <a:extLst xmlns:a="http://schemas.openxmlformats.org/drawingml/2006/main">
              <a:ext uri="{FF2B5EF4-FFF2-40B4-BE49-F238E27FC236}">
                <a16:creationId xmlns:a16="http://schemas.microsoft.com/office/drawing/2014/main" id="{A20E44E7-A29B-45C1-9A47-58D76490622C}"/>
              </a:ext>
            </a:extLst>
          </p:cNvPr>
          <p:cNvSpPr>
            <a:spLocks xmlns:a="http://schemas.openxmlformats.org/drawingml/2006/main" noGrp="1"/>
          </p:cNvSpPr>
          <p:nvPr/>
        </p:nvSpPr>
        <p:spPr>
          <a:xfrm xmlns:a="http://schemas.openxmlformats.org/drawingml/2006/main">
            <a:off x="609600" y="1657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ED2CD554-18FD-44B5-A3EA-F2A588B42035}"/>
              </a:ext>
            </a:extLst>
          </p:cNvPr>
          <p:cNvSpPr>
            <a:spLocks xmlns:a="http://schemas.openxmlformats.org/drawingml/2006/main" noGrp="1"/>
          </p:cNvSpPr>
          <p:nvPr/>
        </p:nvSpPr>
        <p:spPr>
          <a:xfrm xmlns:a="http://schemas.openxmlformats.org/drawingml/2006/main">
            <a:off x="685800" y="1866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Kafka</a:t>
            </a:r>
          </a:p>
        </p:txBody>
      </p:sp>
      <p:sp>
        <p:nvSpPr>
          <p:cNvPr id="11" name="">
            <a:extLst xmlns:a="http://schemas.openxmlformats.org/drawingml/2006/main">
              <a:ext uri="{FF2B5EF4-FFF2-40B4-BE49-F238E27FC236}">
                <a16:creationId xmlns:a16="http://schemas.microsoft.com/office/drawing/2014/main" id="{2DAFC071-8493-49BE-B832-20DA27AB7644}"/>
              </a:ext>
            </a:extLst>
          </p:cNvPr>
          <p:cNvSpPr>
            <a:spLocks xmlns:a="http://schemas.openxmlformats.org/drawingml/2006/main" noGrp="1"/>
          </p:cNvSpPr>
          <p:nvPr/>
        </p:nvSpPr>
        <p:spPr>
          <a:xfrm xmlns:a="http://schemas.openxmlformats.org/drawingml/2006/main">
            <a:off x="3143250" y="17907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מפריד בין מפיק הנתונים לצרכנים</a:t>
            </a:r>
          </a:p>
        </p:txBody>
      </p:sp>
      <p:sp>
        <p:nvSpPr>
          <p:cNvPr id="12" name="">
            <a:extLst xmlns:a="http://schemas.openxmlformats.org/drawingml/2006/main">
              <a:ext uri="{FF2B5EF4-FFF2-40B4-BE49-F238E27FC236}">
                <a16:creationId xmlns:a16="http://schemas.microsoft.com/office/drawing/2014/main" id="{66A6B4DE-434A-4F1F-B126-BDED7E8E0FD5}"/>
              </a:ext>
            </a:extLst>
          </p:cNvPr>
          <p:cNvSpPr>
            <a:spLocks xmlns:a="http://schemas.openxmlformats.org/drawingml/2006/main" noGrp="1"/>
          </p:cNvSpPr>
          <p:nvPr/>
        </p:nvSpPr>
        <p:spPr>
          <a:xfrm xmlns:a="http://schemas.openxmlformats.org/drawingml/2006/main">
            <a:off x="7524750" y="17907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Replay בלי לחבר שירותים ישירות</a:t>
            </a:r>
          </a:p>
        </p:txBody>
      </p:sp>
      <p:sp>
        <p:nvSpPr>
          <p:cNvPr id="13" name="">
            <a:extLst xmlns:a="http://schemas.openxmlformats.org/drawingml/2006/main">
              <a:ext uri="{FF2B5EF4-FFF2-40B4-BE49-F238E27FC236}">
                <a16:creationId xmlns:a16="http://schemas.microsoft.com/office/drawing/2014/main" id="{9EF4E018-3405-4FBD-8F98-D35A79E44674}"/>
              </a:ext>
            </a:extLst>
          </p:cNvPr>
          <p:cNvSpPr>
            <a:spLocks xmlns:a="http://schemas.openxmlformats.org/drawingml/2006/main" noGrp="1"/>
          </p:cNvSpPr>
          <p:nvPr/>
        </p:nvSpPr>
        <p:spPr>
          <a:xfrm xmlns:a="http://schemas.openxmlformats.org/drawingml/2006/main">
            <a:off x="609600" y="2343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6AA3A487-6F57-488B-ADD2-21D8AA5C3C82}"/>
              </a:ext>
            </a:extLst>
          </p:cNvPr>
          <p:cNvSpPr>
            <a:spLocks xmlns:a="http://schemas.openxmlformats.org/drawingml/2006/main" noGrp="1"/>
          </p:cNvSpPr>
          <p:nvPr/>
        </p:nvSpPr>
        <p:spPr>
          <a:xfrm xmlns:a="http://schemas.openxmlformats.org/drawingml/2006/main">
            <a:off x="685800" y="25527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Spark</a:t>
            </a:r>
          </a:p>
        </p:txBody>
      </p:sp>
      <p:sp>
        <p:nvSpPr>
          <p:cNvPr id="15" name="">
            <a:extLst xmlns:a="http://schemas.openxmlformats.org/drawingml/2006/main">
              <a:ext uri="{FF2B5EF4-FFF2-40B4-BE49-F238E27FC236}">
                <a16:creationId xmlns:a16="http://schemas.microsoft.com/office/drawing/2014/main" id="{AE00C7A7-EBEB-4E55-B7AF-9C1C61DFDE12}"/>
              </a:ext>
            </a:extLst>
          </p:cNvPr>
          <p:cNvSpPr>
            <a:spLocks xmlns:a="http://schemas.openxmlformats.org/drawingml/2006/main" noGrp="1"/>
          </p:cNvSpPr>
          <p:nvPr/>
        </p:nvSpPr>
        <p:spPr>
          <a:xfrm xmlns:a="http://schemas.openxmlformats.org/drawingml/2006/main">
            <a:off x="3143250" y="24765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מעבד את אותו מודל ב־Streaming וב־Batch</a:t>
            </a:r>
          </a:p>
        </p:txBody>
      </p:sp>
      <p:sp>
        <p:nvSpPr>
          <p:cNvPr id="16" name="">
            <a:extLst xmlns:a="http://schemas.openxmlformats.org/drawingml/2006/main">
              <a:ext uri="{FF2B5EF4-FFF2-40B4-BE49-F238E27FC236}">
                <a16:creationId xmlns:a16="http://schemas.microsoft.com/office/drawing/2014/main" id="{2E75B466-7A8D-40B3-83AA-EABCBFE0EEE3}"/>
              </a:ext>
            </a:extLst>
          </p:cNvPr>
          <p:cNvSpPr>
            <a:spLocks xmlns:a="http://schemas.openxmlformats.org/drawingml/2006/main" noGrp="1"/>
          </p:cNvSpPr>
          <p:nvPr/>
        </p:nvSpPr>
        <p:spPr>
          <a:xfrm xmlns:a="http://schemas.openxmlformats.org/drawingml/2006/main">
            <a:off x="7524750" y="24765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מהירות בזמן אמת וחישוב חוזר מאושר</a:t>
            </a:r>
          </a:p>
        </p:txBody>
      </p:sp>
      <p:sp>
        <p:nvSpPr>
          <p:cNvPr id="17" name="">
            <a:extLst xmlns:a="http://schemas.openxmlformats.org/drawingml/2006/main">
              <a:ext uri="{FF2B5EF4-FFF2-40B4-BE49-F238E27FC236}">
                <a16:creationId xmlns:a16="http://schemas.microsoft.com/office/drawing/2014/main" id="{5DBCA1FD-6229-4C2F-A62E-117D1BD4A7BA}"/>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8" name="">
            <a:extLst xmlns:a="http://schemas.openxmlformats.org/drawingml/2006/main">
              <a:ext uri="{FF2B5EF4-FFF2-40B4-BE49-F238E27FC236}">
                <a16:creationId xmlns:a16="http://schemas.microsoft.com/office/drawing/2014/main" id="{6DE2DDD0-1F6B-41CA-AA6F-7577A7FB0BE7}"/>
              </a:ext>
            </a:extLst>
          </p:cNvPr>
          <p:cNvSpPr>
            <a:spLocks xmlns:a="http://schemas.openxmlformats.org/drawingml/2006/main" noGrp="1"/>
          </p:cNvSpPr>
          <p:nvPr/>
        </p:nvSpPr>
        <p:spPr>
          <a:xfrm xmlns:a="http://schemas.openxmlformats.org/drawingml/2006/main">
            <a:off x="685800" y="3238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Airflow</a:t>
            </a:r>
          </a:p>
        </p:txBody>
      </p:sp>
      <p:sp>
        <p:nvSpPr>
          <p:cNvPr id="19" name="">
            <a:extLst xmlns:a="http://schemas.openxmlformats.org/drawingml/2006/main">
              <a:ext uri="{FF2B5EF4-FFF2-40B4-BE49-F238E27FC236}">
                <a16:creationId xmlns:a16="http://schemas.microsoft.com/office/drawing/2014/main" id="{9E1D621C-CE8E-4B64-AA23-C2768705D34A}"/>
              </a:ext>
            </a:extLst>
          </p:cNvPr>
          <p:cNvSpPr>
            <a:spLocks xmlns:a="http://schemas.openxmlformats.org/drawingml/2006/main" noGrp="1"/>
          </p:cNvSpPr>
          <p:nvPr/>
        </p:nvSpPr>
        <p:spPr>
          <a:xfrm xmlns:a="http://schemas.openxmlformats.org/drawingml/2006/main">
            <a:off x="3143250" y="31623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מתזמן סדר, תלויות וניסיונות חוזרים</a:t>
            </a:r>
          </a:p>
        </p:txBody>
      </p:sp>
      <p:sp>
        <p:nvSpPr>
          <p:cNvPr id="20" name="">
            <a:extLst xmlns:a="http://schemas.openxmlformats.org/drawingml/2006/main">
              <a:ext uri="{FF2B5EF4-FFF2-40B4-BE49-F238E27FC236}">
                <a16:creationId xmlns:a16="http://schemas.microsoft.com/office/drawing/2014/main" id="{E8A98650-F426-411C-B0D8-F8C92C01E186}"/>
              </a:ext>
            </a:extLst>
          </p:cNvPr>
          <p:cNvSpPr>
            <a:spLocks xmlns:a="http://schemas.openxmlformats.org/drawingml/2006/main" noGrp="1"/>
          </p:cNvSpPr>
          <p:nvPr/>
        </p:nvSpPr>
        <p:spPr>
          <a:xfrm xmlns:a="http://schemas.openxmlformats.org/drawingml/2006/main">
            <a:off x="7524750" y="31623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ריצה תחומה שניתנת למעקב ולשחזור</a:t>
            </a:r>
          </a:p>
        </p:txBody>
      </p:sp>
      <p:sp>
        <p:nvSpPr>
          <p:cNvPr id="21" name="">
            <a:extLst xmlns:a="http://schemas.openxmlformats.org/drawingml/2006/main">
              <a:ext uri="{FF2B5EF4-FFF2-40B4-BE49-F238E27FC236}">
                <a16:creationId xmlns:a16="http://schemas.microsoft.com/office/drawing/2014/main" id="{CC5AD876-3343-43DF-AAB4-8C62904E6E59}"/>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2" name="">
            <a:extLst xmlns:a="http://schemas.openxmlformats.org/drawingml/2006/main">
              <a:ext uri="{FF2B5EF4-FFF2-40B4-BE49-F238E27FC236}">
                <a16:creationId xmlns:a16="http://schemas.microsoft.com/office/drawing/2014/main" id="{4F6DC4B0-A357-4ACA-A22E-6F6AB4D88CC5}"/>
              </a:ext>
            </a:extLst>
          </p:cNvPr>
          <p:cNvSpPr>
            <a:spLocks xmlns:a="http://schemas.openxmlformats.org/drawingml/2006/main" noGrp="1"/>
          </p:cNvSpPr>
          <p:nvPr/>
        </p:nvSpPr>
        <p:spPr>
          <a:xfrm xmlns:a="http://schemas.openxmlformats.org/drawingml/2006/main">
            <a:off x="685800" y="3924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MinIO</a:t>
            </a:r>
          </a:p>
        </p:txBody>
      </p:sp>
      <p:sp>
        <p:nvSpPr>
          <p:cNvPr id="23" name="">
            <a:extLst xmlns:a="http://schemas.openxmlformats.org/drawingml/2006/main">
              <a:ext uri="{FF2B5EF4-FFF2-40B4-BE49-F238E27FC236}">
                <a16:creationId xmlns:a16="http://schemas.microsoft.com/office/drawing/2014/main" id="{6360CBD1-291E-4C6A-B299-96194C611850}"/>
              </a:ext>
            </a:extLst>
          </p:cNvPr>
          <p:cNvSpPr>
            <a:spLocks xmlns:a="http://schemas.openxmlformats.org/drawingml/2006/main" noGrp="1"/>
          </p:cNvSpPr>
          <p:nvPr/>
        </p:nvSpPr>
        <p:spPr>
          <a:xfrm xmlns:a="http://schemas.openxmlformats.org/drawingml/2006/main">
            <a:off x="3143250" y="38481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שומר Bronze גולמי ו־Silver ב־Parquet</a:t>
            </a:r>
          </a:p>
        </p:txBody>
      </p:sp>
      <p:sp>
        <p:nvSpPr>
          <p:cNvPr id="24" name="">
            <a:extLst xmlns:a="http://schemas.openxmlformats.org/drawingml/2006/main">
              <a:ext uri="{FF2B5EF4-FFF2-40B4-BE49-F238E27FC236}">
                <a16:creationId xmlns:a16="http://schemas.microsoft.com/office/drawing/2014/main" id="{D064965D-68B9-4CE8-9001-B01509CA47A6}"/>
              </a:ext>
            </a:extLst>
          </p:cNvPr>
          <p:cNvSpPr>
            <a:spLocks xmlns:a="http://schemas.openxmlformats.org/drawingml/2006/main" noGrp="1"/>
          </p:cNvSpPr>
          <p:nvPr/>
        </p:nvSpPr>
        <p:spPr>
          <a:xfrm xmlns:a="http://schemas.openxmlformats.org/drawingml/2006/main">
            <a:off x="7524750" y="38481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המקור נשאר זמין לביקורת ולעיבוד מחדש</a:t>
            </a:r>
          </a:p>
        </p:txBody>
      </p:sp>
      <p:sp>
        <p:nvSpPr>
          <p:cNvPr id="25" name="">
            <a:extLst xmlns:a="http://schemas.openxmlformats.org/drawingml/2006/main">
              <a:ext uri="{FF2B5EF4-FFF2-40B4-BE49-F238E27FC236}">
                <a16:creationId xmlns:a16="http://schemas.microsoft.com/office/drawing/2014/main" id="{8D48AEE1-4BBC-42BB-9289-90FA0FA82C3B}"/>
              </a:ext>
            </a:extLst>
          </p:cNvPr>
          <p:cNvSpPr>
            <a:spLocks xmlns:a="http://schemas.openxmlformats.org/drawingml/2006/main" noGrp="1"/>
          </p:cNvSpPr>
          <p:nvPr/>
        </p:nvSpPr>
        <p:spPr>
          <a:xfrm xmlns:a="http://schemas.openxmlformats.org/drawingml/2006/main">
            <a:off x="609600" y="44005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6" name="">
            <a:extLst xmlns:a="http://schemas.openxmlformats.org/drawingml/2006/main">
              <a:ext uri="{FF2B5EF4-FFF2-40B4-BE49-F238E27FC236}">
                <a16:creationId xmlns:a16="http://schemas.microsoft.com/office/drawing/2014/main" id="{F96F980A-0433-4E89-9596-871F6795763E}"/>
              </a:ext>
            </a:extLst>
          </p:cNvPr>
          <p:cNvSpPr>
            <a:spLocks xmlns:a="http://schemas.openxmlformats.org/drawingml/2006/main" noGrp="1"/>
          </p:cNvSpPr>
          <p:nvPr/>
        </p:nvSpPr>
        <p:spPr>
          <a:xfrm xmlns:a="http://schemas.openxmlformats.org/drawingml/2006/main">
            <a:off x="685800" y="4610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MariaDB</a:t>
            </a:r>
          </a:p>
        </p:txBody>
      </p:sp>
      <p:sp>
        <p:nvSpPr>
          <p:cNvPr id="27" name="">
            <a:extLst xmlns:a="http://schemas.openxmlformats.org/drawingml/2006/main">
              <a:ext uri="{FF2B5EF4-FFF2-40B4-BE49-F238E27FC236}">
                <a16:creationId xmlns:a16="http://schemas.microsoft.com/office/drawing/2014/main" id="{751DE2B7-0F2D-4494-94C6-9CC58E511428}"/>
              </a:ext>
            </a:extLst>
          </p:cNvPr>
          <p:cNvSpPr>
            <a:spLocks xmlns:a="http://schemas.openxmlformats.org/drawingml/2006/main" noGrp="1"/>
          </p:cNvSpPr>
          <p:nvPr/>
        </p:nvSpPr>
        <p:spPr>
          <a:xfrm xmlns:a="http://schemas.openxmlformats.org/drawingml/2006/main">
            <a:off x="3143250" y="45339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מגיש Gold מוכן ל־API</a:t>
            </a:r>
          </a:p>
        </p:txBody>
      </p:sp>
      <p:sp>
        <p:nvSpPr>
          <p:cNvPr id="28" name="">
            <a:extLst xmlns:a="http://schemas.openxmlformats.org/drawingml/2006/main">
              <a:ext uri="{FF2B5EF4-FFF2-40B4-BE49-F238E27FC236}">
                <a16:creationId xmlns:a16="http://schemas.microsoft.com/office/drawing/2014/main" id="{D5B6CB10-019C-4B77-A383-E9B7B189DB0B}"/>
              </a:ext>
            </a:extLst>
          </p:cNvPr>
          <p:cNvSpPr>
            <a:spLocks xmlns:a="http://schemas.openxmlformats.org/drawingml/2006/main" noGrp="1"/>
          </p:cNvSpPr>
          <p:nvPr/>
        </p:nvSpPr>
        <p:spPr>
          <a:xfrm xmlns:a="http://schemas.openxmlformats.org/drawingml/2006/main">
            <a:off x="7524750" y="45339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שאילתות מהירות וכתיבה בטוחה עם Upsert</a:t>
            </a:r>
          </a:p>
        </p:txBody>
      </p:sp>
      <p:sp>
        <p:nvSpPr>
          <p:cNvPr id="29" name="">
            <a:extLst xmlns:a="http://schemas.openxmlformats.org/drawingml/2006/main">
              <a:ext uri="{FF2B5EF4-FFF2-40B4-BE49-F238E27FC236}">
                <a16:creationId xmlns:a16="http://schemas.microsoft.com/office/drawing/2014/main" id="{C8ADD183-C174-4A4A-9FDC-C9D07F5465E6}"/>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30" name="">
            <a:extLst xmlns:a="http://schemas.openxmlformats.org/drawingml/2006/main">
              <a:ext uri="{FF2B5EF4-FFF2-40B4-BE49-F238E27FC236}">
                <a16:creationId xmlns:a16="http://schemas.microsoft.com/office/drawing/2014/main" id="{8192B692-E173-4CF8-A583-AE055EA9ABDF}"/>
              </a:ext>
            </a:extLst>
          </p:cNvPr>
          <p:cNvSpPr>
            <a:spLocks xmlns:a="http://schemas.openxmlformats.org/drawingml/2006/main" noGrp="1"/>
          </p:cNvSpPr>
          <p:nvPr/>
        </p:nvSpPr>
        <p:spPr>
          <a:xfrm xmlns:a="http://schemas.openxmlformats.org/drawingml/2006/main">
            <a:off x="685800" y="5295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Docker Compose</a:t>
            </a:r>
          </a:p>
        </p:txBody>
      </p:sp>
      <p:sp>
        <p:nvSpPr>
          <p:cNvPr id="31" name="">
            <a:extLst xmlns:a="http://schemas.openxmlformats.org/drawingml/2006/main">
              <a:ext uri="{FF2B5EF4-FFF2-40B4-BE49-F238E27FC236}">
                <a16:creationId xmlns:a16="http://schemas.microsoft.com/office/drawing/2014/main" id="{8D6BC145-81FF-40EF-8C05-E13469674D39}"/>
              </a:ext>
            </a:extLst>
          </p:cNvPr>
          <p:cNvSpPr>
            <a:spLocks xmlns:a="http://schemas.openxmlformats.org/drawingml/2006/main" noGrp="1"/>
          </p:cNvSpPr>
          <p:nvPr/>
        </p:nvSpPr>
        <p:spPr>
          <a:xfrm xmlns:a="http://schemas.openxmlformats.org/drawingml/2006/main">
            <a:off x="3143250" y="52197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F8FBFF"/>
                </a:solidFill>
                <a:latin typeface="Arial"/>
                <a:ea typeface="Arial"/>
                <a:cs typeface="Arial"/>
              </a:defRPr>
            </a:pPr>
            <a:r>
              <a:rPr sz="1425" b="0" lang="he-IL">
                <a:solidFill>
                  <a:srgbClr val="F8FBFF"/>
                </a:solidFill>
                <a:latin typeface="Arial"/>
                <a:ea typeface="Arial"/>
                <a:cs typeface="Arial"/>
              </a:rPr>
              <a:t>מנהל את השירותים ארוכי החיים</a:t>
            </a:r>
          </a:p>
        </p:txBody>
      </p:sp>
      <p:sp>
        <p:nvSpPr>
          <p:cNvPr id="32" name="">
            <a:extLst xmlns:a="http://schemas.openxmlformats.org/drawingml/2006/main">
              <a:ext uri="{FF2B5EF4-FFF2-40B4-BE49-F238E27FC236}">
                <a16:creationId xmlns:a16="http://schemas.microsoft.com/office/drawing/2014/main" id="{CAD4C774-CDDA-4260-B483-00975B9996B9}"/>
              </a:ext>
            </a:extLst>
          </p:cNvPr>
          <p:cNvSpPr>
            <a:spLocks xmlns:a="http://schemas.openxmlformats.org/drawingml/2006/main" noGrp="1"/>
          </p:cNvSpPr>
          <p:nvPr/>
        </p:nvSpPr>
        <p:spPr>
          <a:xfrm xmlns:a="http://schemas.openxmlformats.org/drawingml/2006/main">
            <a:off x="7524750" y="52197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אותה סביבת פיתוח עולה באופן עקבי</a:t>
            </a:r>
          </a:p>
        </p:txBody>
      </p:sp>
    </p:spTree>
    <p:extLst>
      <p:ext uri="{BB962C8B-B14F-4D97-AF65-F5344CB8AC3E}">
        <p14:creationId xmlns:p14="http://schemas.microsoft.com/office/powerpoint/2010/main" val="95744859"/>
      </p:ext>
    </p:extLst>
  </p:cSld>
</p:sld>
</file>

<file path=ppt/slides/slide7.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654672-7D94-40B5-B7B8-298337DD5A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01CA81-C174-4BED-87EB-EE95D6E8192E}"/>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EVIDENCE</a:t>
            </a:r>
          </a:p>
        </p:txBody>
      </p:sp>
      <p:sp>
        <p:nvSpPr>
          <p:cNvPr id="3" name="">
            <a:extLst xmlns:a="http://schemas.openxmlformats.org/drawingml/2006/main">
              <a:ext uri="{FF2B5EF4-FFF2-40B4-BE49-F238E27FC236}">
                <a16:creationId xmlns:a16="http://schemas.microsoft.com/office/drawing/2014/main" id="{CA0445B0-1F90-4C3B-829D-D57E9C9627C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מסך אחד, עם יכולת לרדת עד המקור</a:t>
            </a:r>
          </a:p>
        </p:txBody>
      </p:sp>
      <p:sp>
        <p:nvSpPr>
          <p:cNvPr id="4" name="">
            <a:extLst xmlns:a="http://schemas.openxmlformats.org/drawingml/2006/main">
              <a:ext uri="{FF2B5EF4-FFF2-40B4-BE49-F238E27FC236}">
                <a16:creationId xmlns:a16="http://schemas.microsoft.com/office/drawing/2014/main" id="{AB6463FF-06CC-4C8D-9A25-A6F30D8ADA15}"/>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07</a:t>
            </a:r>
          </a:p>
        </p:txBody>
      </p:sp>
      <p:sp>
        <p:nvSpPr>
          <p:cNvPr id="5" name="">
            <a:extLst xmlns:a="http://schemas.openxmlformats.org/drawingml/2006/main">
              <a:ext uri="{FF2B5EF4-FFF2-40B4-BE49-F238E27FC236}">
                <a16:creationId xmlns:a16="http://schemas.microsoft.com/office/drawing/2014/main" id="{6031BAC0-63F8-4C76-AF50-C6637EE9D355}"/>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55c135471fa4728"/>
          <a:srcRect xmlns:a="http://schemas.openxmlformats.org/drawingml/2006/main" l="1048" t="0" r="1048" b="0"/>
          <a:stretch xmlns:a="http://schemas.openxmlformats.org/drawingml/2006/main">
            <a:fillRect l="0" t="0" r="0" b="0"/>
          </a:stretch>
        </p:blipFill>
        <p:spPr>
          <a:xfrm xmlns:a="http://schemas.openxmlformats.org/drawingml/2006/main">
            <a:off x="552450" y="1428750"/>
            <a:ext cx="7858125" cy="4514850"/>
          </a:xfrm>
          <a:prstGeom xmlns:a="http://schemas.openxmlformats.org/drawingml/2006/main" prst="roundRect">
            <a:avLst>
              <a:gd name="adj" fmla="val 2954"/>
            </a:avLst>
          </a:prstGeom>
        </p:spPr>
      </p:pic>
      <p:sp>
        <p:nvSpPr>
          <p:cNvPr id="7" name="">
            <a:extLst xmlns:a="http://schemas.openxmlformats.org/drawingml/2006/main">
              <a:ext uri="{FF2B5EF4-FFF2-40B4-BE49-F238E27FC236}">
                <a16:creationId xmlns:a16="http://schemas.microsoft.com/office/drawing/2014/main" id="{9C3E0074-A2F8-401E-AD46-41286BC96000}"/>
              </a:ext>
            </a:extLst>
          </p:cNvPr>
          <p:cNvSpPr>
            <a:spLocks xmlns:a="http://schemas.openxmlformats.org/drawingml/2006/main" noGrp="1"/>
          </p:cNvSpPr>
          <p:nvPr/>
        </p:nvSpPr>
        <p:spPr>
          <a:xfrm xmlns:a="http://schemas.openxmlformats.org/drawingml/2006/main">
            <a:off x="8743950" y="15240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F8FBFF"/>
                </a:solidFill>
                <a:latin typeface="Arial"/>
                <a:ea typeface="Arial"/>
                <a:cs typeface="Arial"/>
              </a:defRPr>
            </a:pPr>
            <a:r>
              <a:rPr sz="2250" b="1" lang="he-IL">
                <a:solidFill>
                  <a:srgbClr val="F8FBFF"/>
                </a:solidFill>
                <a:latin typeface="Arial"/>
                <a:ea typeface="Arial"/>
                <a:cs typeface="Arial"/>
              </a:rPr>
              <a:t>מסך המחקר הראשי</a:t>
            </a:r>
          </a:p>
        </p:txBody>
      </p:sp>
      <p:sp>
        <p:nvSpPr>
          <p:cNvPr id="8" name="">
            <a:extLst xmlns:a="http://schemas.openxmlformats.org/drawingml/2006/main">
              <a:ext uri="{FF2B5EF4-FFF2-40B4-BE49-F238E27FC236}">
                <a16:creationId xmlns:a16="http://schemas.microsoft.com/office/drawing/2014/main" id="{D3B4CCEE-4863-4836-97DD-7938D109F3D9}"/>
              </a:ext>
            </a:extLst>
          </p:cNvPr>
          <p:cNvSpPr>
            <a:spLocks xmlns:a="http://schemas.openxmlformats.org/drawingml/2006/main" noGrp="1"/>
          </p:cNvSpPr>
          <p:nvPr/>
        </p:nvSpPr>
        <p:spPr>
          <a:xfrm xmlns:a="http://schemas.openxmlformats.org/drawingml/2006/main">
            <a:off x="8743950" y="211455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מחיר, נפח, Indicators, דיווחי חברה וטריות נתונים במקום אחד.</a:t>
            </a:r>
          </a:p>
        </p:txBody>
      </p:sp>
      <p:sp>
        <p:nvSpPr>
          <p:cNvPr id="9" name="">
            <a:extLst xmlns:a="http://schemas.openxmlformats.org/drawingml/2006/main">
              <a:ext uri="{FF2B5EF4-FFF2-40B4-BE49-F238E27FC236}">
                <a16:creationId xmlns:a16="http://schemas.microsoft.com/office/drawing/2014/main" id="{C9920F8E-28BD-4B12-8F4E-97764EEE3DA1}"/>
              </a:ext>
            </a:extLst>
          </p:cNvPr>
          <p:cNvSpPr>
            <a:spLocks xmlns:a="http://schemas.openxmlformats.org/drawingml/2006/main" noGrp="1"/>
          </p:cNvSpPr>
          <p:nvPr/>
        </p:nvSpPr>
        <p:spPr>
          <a:xfrm xmlns:a="http://schemas.openxmlformats.org/drawingml/2006/main">
            <a:off x="8743950" y="3143250"/>
            <a:ext cx="28384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34C5CDEC-47E1-4DAB-A8ED-74E007549DC1}"/>
              </a:ext>
            </a:extLst>
          </p:cNvPr>
          <p:cNvSpPr>
            <a:spLocks xmlns:a="http://schemas.openxmlformats.org/drawingml/2006/main" noGrp="1"/>
          </p:cNvSpPr>
          <p:nvPr/>
        </p:nvSpPr>
        <p:spPr>
          <a:xfrm xmlns:a="http://schemas.openxmlformats.org/drawingml/2006/main">
            <a:off x="8743950" y="33718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A1D0A1C0-89C6-4665-B7FC-7DA4206F8652}"/>
              </a:ext>
            </a:extLst>
          </p:cNvPr>
          <p:cNvSpPr>
            <a:spLocks xmlns:a="http://schemas.openxmlformats.org/drawingml/2006/main" noGrp="1"/>
          </p:cNvSpPr>
          <p:nvPr/>
        </p:nvSpPr>
        <p:spPr>
          <a:xfrm xmlns:a="http://schemas.openxmlformats.org/drawingml/2006/main">
            <a:off x="10001250" y="34099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נכסים במעקב</a:t>
            </a:r>
          </a:p>
        </p:txBody>
      </p:sp>
      <p:sp>
        <p:nvSpPr>
          <p:cNvPr id="12" name="">
            <a:extLst xmlns:a="http://schemas.openxmlformats.org/drawingml/2006/main">
              <a:ext uri="{FF2B5EF4-FFF2-40B4-BE49-F238E27FC236}">
                <a16:creationId xmlns:a16="http://schemas.microsoft.com/office/drawing/2014/main" id="{2A0E473B-897C-423B-A87A-9EEB0FD651B1}"/>
              </a:ext>
            </a:extLst>
          </p:cNvPr>
          <p:cNvSpPr>
            <a:spLocks xmlns:a="http://schemas.openxmlformats.org/drawingml/2006/main" noGrp="1"/>
          </p:cNvSpPr>
          <p:nvPr/>
        </p:nvSpPr>
        <p:spPr>
          <a:xfrm xmlns:a="http://schemas.openxmlformats.org/drawingml/2006/main">
            <a:off x="8743950" y="4152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5B91FF"/>
                </a:solidFill>
                <a:latin typeface="Cascadia Mono"/>
                <a:ea typeface="Cascadia Mono"/>
                <a:cs typeface="Cascadia Mono"/>
              </a:defRPr>
            </a:pPr>
            <a:r>
              <a:rPr sz="1950" b="1">
                <a:solidFill>
                  <a:srgbClr val="5B91FF"/>
                </a:solidFill>
                <a:latin typeface="Cascadia Mono"/>
                <a:ea typeface="Cascadia Mono"/>
                <a:cs typeface="Cascadia Mono"/>
              </a:rPr>
              <a:t>57,217</a:t>
            </a:r>
          </a:p>
        </p:txBody>
      </p:sp>
      <p:sp>
        <p:nvSpPr>
          <p:cNvPr id="13" name="">
            <a:extLst xmlns:a="http://schemas.openxmlformats.org/drawingml/2006/main">
              <a:ext uri="{FF2B5EF4-FFF2-40B4-BE49-F238E27FC236}">
                <a16:creationId xmlns:a16="http://schemas.microsoft.com/office/drawing/2014/main" id="{9F1C1580-F434-431E-9B9A-D672B958F022}"/>
              </a:ext>
            </a:extLst>
          </p:cNvPr>
          <p:cNvSpPr>
            <a:spLocks xmlns:a="http://schemas.openxmlformats.org/drawingml/2006/main" noGrp="1"/>
          </p:cNvSpPr>
          <p:nvPr/>
        </p:nvSpPr>
        <p:spPr>
          <a:xfrm xmlns:a="http://schemas.openxmlformats.org/drawingml/2006/main">
            <a:off x="10001250" y="41910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רשומות Gold</a:t>
            </a:r>
          </a:p>
        </p:txBody>
      </p:sp>
      <p:sp>
        <p:nvSpPr>
          <p:cNvPr id="14" name="">
            <a:extLst xmlns:a="http://schemas.openxmlformats.org/drawingml/2006/main">
              <a:ext uri="{FF2B5EF4-FFF2-40B4-BE49-F238E27FC236}">
                <a16:creationId xmlns:a16="http://schemas.microsoft.com/office/drawing/2014/main" id="{EE6F4DA6-4F0A-4505-BB05-2EF64C5718AA}"/>
              </a:ext>
            </a:extLst>
          </p:cNvPr>
          <p:cNvSpPr>
            <a:spLocks xmlns:a="http://schemas.openxmlformats.org/drawingml/2006/main" noGrp="1"/>
          </p:cNvSpPr>
          <p:nvPr/>
        </p:nvSpPr>
        <p:spPr>
          <a:xfrm xmlns:a="http://schemas.openxmlformats.org/drawingml/2006/main">
            <a:off x="8743950" y="49339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937</a:t>
            </a:r>
          </a:p>
        </p:txBody>
      </p:sp>
      <p:sp>
        <p:nvSpPr>
          <p:cNvPr id="15" name="">
            <a:extLst xmlns:a="http://schemas.openxmlformats.org/drawingml/2006/main">
              <a:ext uri="{FF2B5EF4-FFF2-40B4-BE49-F238E27FC236}">
                <a16:creationId xmlns:a16="http://schemas.microsoft.com/office/drawing/2014/main" id="{D57F0030-1295-4DCA-B8AD-685C2F2C7F25}"/>
              </a:ext>
            </a:extLst>
          </p:cNvPr>
          <p:cNvSpPr>
            <a:spLocks xmlns:a="http://schemas.openxmlformats.org/drawingml/2006/main" noGrp="1"/>
          </p:cNvSpPr>
          <p:nvPr/>
        </p:nvSpPr>
        <p:spPr>
          <a:xfrm xmlns:a="http://schemas.openxmlformats.org/drawingml/2006/main">
            <a:off x="10001250" y="49720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דיווחי SEC</a:t>
            </a:r>
          </a:p>
        </p:txBody>
      </p:sp>
    </p:spTree>
    <p:extLst>
      <p:ext uri="{BB962C8B-B14F-4D97-AF65-F5344CB8AC3E}">
        <p14:creationId xmlns:p14="http://schemas.microsoft.com/office/powerpoint/2010/main" val="1441700751"/>
      </p:ext>
    </p:extLst>
  </p:cSld>
</p:sld>
</file>

<file path=ppt/slides/slide8.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ADF8450-6569-4C99-8602-2DA9675488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79D051-C829-4E31-8013-B136698A8A20}"/>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DECISION INTELLIGENCE</a:t>
            </a:r>
          </a:p>
        </p:txBody>
      </p:sp>
      <p:sp>
        <p:nvSpPr>
          <p:cNvPr id="3" name="">
            <a:extLst xmlns:a="http://schemas.openxmlformats.org/drawingml/2006/main">
              <a:ext uri="{FF2B5EF4-FFF2-40B4-BE49-F238E27FC236}">
                <a16:creationId xmlns:a16="http://schemas.microsoft.com/office/drawing/2014/main" id="{EDED337B-74CE-499F-B76B-4F7CD84A3ECD}"/>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המלצה שמראה גם את הסיכון</a:t>
            </a:r>
          </a:p>
        </p:txBody>
      </p:sp>
      <p:sp>
        <p:nvSpPr>
          <p:cNvPr id="4" name="">
            <a:extLst xmlns:a="http://schemas.openxmlformats.org/drawingml/2006/main">
              <a:ext uri="{FF2B5EF4-FFF2-40B4-BE49-F238E27FC236}">
                <a16:creationId xmlns:a16="http://schemas.microsoft.com/office/drawing/2014/main" id="{F468B561-0933-4102-9086-45BB6B216417}"/>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08</a:t>
            </a:r>
          </a:p>
        </p:txBody>
      </p:sp>
      <p:sp>
        <p:nvSpPr>
          <p:cNvPr id="5" name="">
            <a:extLst xmlns:a="http://schemas.openxmlformats.org/drawingml/2006/main">
              <a:ext uri="{FF2B5EF4-FFF2-40B4-BE49-F238E27FC236}">
                <a16:creationId xmlns:a16="http://schemas.microsoft.com/office/drawing/2014/main" id="{53109EDB-F64D-4EA3-96B9-ECD3FFD390DC}"/>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7d2a48de591456c"/>
          <a:srcRect xmlns:a="http://schemas.openxmlformats.org/drawingml/2006/main" l="2553" t="0" r="2553" b="0"/>
          <a:stretch xmlns:a="http://schemas.openxmlformats.org/drawingml/2006/main">
            <a:fillRect l="0" t="0" r="0" b="0"/>
          </a:stretch>
        </p:blipFill>
        <p:spPr>
          <a:xfrm xmlns:a="http://schemas.openxmlformats.org/drawingml/2006/main">
            <a:off x="457200" y="1352550"/>
            <a:ext cx="7905750" cy="4686300"/>
          </a:xfrm>
          <a:prstGeom xmlns:a="http://schemas.openxmlformats.org/drawingml/2006/main" prst="roundRect">
            <a:avLst>
              <a:gd name="adj" fmla="val 2846"/>
            </a:avLst>
          </a:prstGeom>
        </p:spPr>
      </p:pic>
      <p:sp>
        <p:nvSpPr>
          <p:cNvPr id="7" name="">
            <a:extLst xmlns:a="http://schemas.openxmlformats.org/drawingml/2006/main">
              <a:ext uri="{FF2B5EF4-FFF2-40B4-BE49-F238E27FC236}">
                <a16:creationId xmlns:a16="http://schemas.microsoft.com/office/drawing/2014/main" id="{FCDAE457-3D7D-41B6-B303-CD4622DFED58}"/>
              </a:ext>
            </a:extLst>
          </p:cNvPr>
          <p:cNvSpPr>
            <a:spLocks xmlns:a="http://schemas.openxmlformats.org/drawingml/2006/main" noGrp="1"/>
          </p:cNvSpPr>
          <p:nvPr/>
        </p:nvSpPr>
        <p:spPr>
          <a:xfrm xmlns:a="http://schemas.openxmlformats.org/drawingml/2006/main">
            <a:off x="8763000" y="146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100" b="1" lang="he-IL">
                <a:solidFill>
                  <a:srgbClr val="F8FBFF"/>
                </a:solidFill>
                <a:latin typeface="Arial"/>
                <a:ea typeface="Arial"/>
                <a:cs typeface="Arial"/>
              </a:defRPr>
            </a:pPr>
            <a:r>
              <a:rPr sz="2100" b="1" lang="he-IL">
                <a:solidFill>
                  <a:srgbClr val="F8FBFF"/>
                </a:solidFill>
                <a:latin typeface="Arial"/>
                <a:ea typeface="Arial"/>
                <a:cs typeface="Arial"/>
              </a:rPr>
              <a:t>לא מחיר קסם</a:t>
            </a:r>
          </a:p>
        </p:txBody>
      </p:sp>
      <p:sp>
        <p:nvSpPr>
          <p:cNvPr id="8" name="">
            <a:extLst xmlns:a="http://schemas.openxmlformats.org/drawingml/2006/main">
              <a:ext uri="{FF2B5EF4-FFF2-40B4-BE49-F238E27FC236}">
                <a16:creationId xmlns:a16="http://schemas.microsoft.com/office/drawing/2014/main" id="{094545AE-7AA3-46D9-8E61-E8DEB7F16BEB}"/>
              </a:ext>
            </a:extLst>
          </p:cNvPr>
          <p:cNvSpPr>
            <a:spLocks xmlns:a="http://schemas.openxmlformats.org/drawingml/2006/main" noGrp="1"/>
          </p:cNvSpPr>
          <p:nvPr/>
        </p:nvSpPr>
        <p:spPr>
          <a:xfrm xmlns:a="http://schemas.openxmlformats.org/drawingml/2006/main">
            <a:off x="8763000" y="21145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BUY ZONE</a:t>
            </a:r>
          </a:p>
        </p:txBody>
      </p:sp>
      <p:sp>
        <p:nvSpPr>
          <p:cNvPr id="9" name="">
            <a:extLst xmlns:a="http://schemas.openxmlformats.org/drawingml/2006/main">
              <a:ext uri="{FF2B5EF4-FFF2-40B4-BE49-F238E27FC236}">
                <a16:creationId xmlns:a16="http://schemas.microsoft.com/office/drawing/2014/main" id="{B03E3A42-4855-408F-9F00-5AC231FAFB71}"/>
              </a:ext>
            </a:extLst>
          </p:cNvPr>
          <p:cNvSpPr>
            <a:spLocks xmlns:a="http://schemas.openxmlformats.org/drawingml/2006/main" noGrp="1"/>
          </p:cNvSpPr>
          <p:nvPr/>
        </p:nvSpPr>
        <p:spPr>
          <a:xfrm xmlns:a="http://schemas.openxmlformats.org/drawingml/2006/main">
            <a:off x="8763000" y="23812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טווח כניסה</a:t>
            </a:r>
          </a:p>
        </p:txBody>
      </p:sp>
      <p:sp>
        <p:nvSpPr>
          <p:cNvPr id="10" name="">
            <a:extLst xmlns:a="http://schemas.openxmlformats.org/drawingml/2006/main">
              <a:ext uri="{FF2B5EF4-FFF2-40B4-BE49-F238E27FC236}">
                <a16:creationId xmlns:a16="http://schemas.microsoft.com/office/drawing/2014/main" id="{F46B167E-E117-402D-8F31-C2BE02644262}"/>
              </a:ext>
            </a:extLst>
          </p:cNvPr>
          <p:cNvSpPr>
            <a:spLocks xmlns:a="http://schemas.openxmlformats.org/drawingml/2006/main" noGrp="1"/>
          </p:cNvSpPr>
          <p:nvPr/>
        </p:nvSpPr>
        <p:spPr>
          <a:xfrm xmlns:a="http://schemas.openxmlformats.org/drawingml/2006/main">
            <a:off x="8763000" y="28003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STOP</a:t>
            </a:r>
          </a:p>
        </p:txBody>
      </p:sp>
      <p:sp>
        <p:nvSpPr>
          <p:cNvPr id="11" name="">
            <a:extLst xmlns:a="http://schemas.openxmlformats.org/drawingml/2006/main">
              <a:ext uri="{FF2B5EF4-FFF2-40B4-BE49-F238E27FC236}">
                <a16:creationId xmlns:a16="http://schemas.microsoft.com/office/drawing/2014/main" id="{1FA9CA70-1DA6-43D3-B010-05FAB880C287}"/>
              </a:ext>
            </a:extLst>
          </p:cNvPr>
          <p:cNvSpPr>
            <a:spLocks xmlns:a="http://schemas.openxmlformats.org/drawingml/2006/main" noGrp="1"/>
          </p:cNvSpPr>
          <p:nvPr/>
        </p:nvSpPr>
        <p:spPr>
          <a:xfrm xmlns:a="http://schemas.openxmlformats.org/drawingml/2006/main">
            <a:off x="8763000" y="30670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נקודת ביטול</a:t>
            </a:r>
          </a:p>
        </p:txBody>
      </p:sp>
      <p:sp>
        <p:nvSpPr>
          <p:cNvPr id="12" name="">
            <a:extLst xmlns:a="http://schemas.openxmlformats.org/drawingml/2006/main">
              <a:ext uri="{FF2B5EF4-FFF2-40B4-BE49-F238E27FC236}">
                <a16:creationId xmlns:a16="http://schemas.microsoft.com/office/drawing/2014/main" id="{E7C906DC-82DE-4DDC-8C80-CB6AEA5019DA}"/>
              </a:ext>
            </a:extLst>
          </p:cNvPr>
          <p:cNvSpPr>
            <a:spLocks xmlns:a="http://schemas.openxmlformats.org/drawingml/2006/main" noGrp="1"/>
          </p:cNvSpPr>
          <p:nvPr/>
        </p:nvSpPr>
        <p:spPr>
          <a:xfrm xmlns:a="http://schemas.openxmlformats.org/drawingml/2006/main">
            <a:off x="8763000" y="34861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TARGET 1 / 2</a:t>
            </a:r>
          </a:p>
        </p:txBody>
      </p:sp>
      <p:sp>
        <p:nvSpPr>
          <p:cNvPr id="13" name="">
            <a:extLst xmlns:a="http://schemas.openxmlformats.org/drawingml/2006/main">
              <a:ext uri="{FF2B5EF4-FFF2-40B4-BE49-F238E27FC236}">
                <a16:creationId xmlns:a16="http://schemas.microsoft.com/office/drawing/2014/main" id="{0F831ED6-CAAE-44A9-BF43-E40E8217B23C}"/>
              </a:ext>
            </a:extLst>
          </p:cNvPr>
          <p:cNvSpPr>
            <a:spLocks xmlns:a="http://schemas.openxmlformats.org/drawingml/2006/main" noGrp="1"/>
          </p:cNvSpPr>
          <p:nvPr/>
        </p:nvSpPr>
        <p:spPr>
          <a:xfrm xmlns:a="http://schemas.openxmlformats.org/drawingml/2006/main">
            <a:off x="8763000" y="37528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שני תרחישי מימוש</a:t>
            </a:r>
          </a:p>
        </p:txBody>
      </p:sp>
      <p:sp>
        <p:nvSpPr>
          <p:cNvPr id="14" name="">
            <a:extLst xmlns:a="http://schemas.openxmlformats.org/drawingml/2006/main">
              <a:ext uri="{FF2B5EF4-FFF2-40B4-BE49-F238E27FC236}">
                <a16:creationId xmlns:a16="http://schemas.microsoft.com/office/drawing/2014/main" id="{6A862A19-4970-4F6E-A0CA-72C4714A3B9E}"/>
              </a:ext>
            </a:extLst>
          </p:cNvPr>
          <p:cNvSpPr>
            <a:spLocks xmlns:a="http://schemas.openxmlformats.org/drawingml/2006/main" noGrp="1"/>
          </p:cNvSpPr>
          <p:nvPr/>
        </p:nvSpPr>
        <p:spPr>
          <a:xfrm xmlns:a="http://schemas.openxmlformats.org/drawingml/2006/main">
            <a:off x="8763000" y="41719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RISK / REWARD</a:t>
            </a:r>
          </a:p>
        </p:txBody>
      </p:sp>
      <p:sp>
        <p:nvSpPr>
          <p:cNvPr id="15" name="">
            <a:extLst xmlns:a="http://schemas.openxmlformats.org/drawingml/2006/main">
              <a:ext uri="{FF2B5EF4-FFF2-40B4-BE49-F238E27FC236}">
                <a16:creationId xmlns:a16="http://schemas.microsoft.com/office/drawing/2014/main" id="{9DD68D7F-21DE-4BEC-8A55-7AADCC40DF3E}"/>
              </a:ext>
            </a:extLst>
          </p:cNvPr>
          <p:cNvSpPr>
            <a:spLocks xmlns:a="http://schemas.openxmlformats.org/drawingml/2006/main" noGrp="1"/>
          </p:cNvSpPr>
          <p:nvPr/>
        </p:nvSpPr>
        <p:spPr>
          <a:xfrm xmlns:a="http://schemas.openxmlformats.org/drawingml/2006/main">
            <a:off x="8763000" y="44386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סיכון מול פוטנציאל</a:t>
            </a:r>
          </a:p>
        </p:txBody>
      </p:sp>
      <p:sp>
        <p:nvSpPr>
          <p:cNvPr id="16" name="">
            <a:extLst xmlns:a="http://schemas.openxmlformats.org/drawingml/2006/main">
              <a:ext uri="{FF2B5EF4-FFF2-40B4-BE49-F238E27FC236}">
                <a16:creationId xmlns:a16="http://schemas.microsoft.com/office/drawing/2014/main" id="{E1CD701F-D986-4B89-8072-4BD54B93609E}"/>
              </a:ext>
            </a:extLst>
          </p:cNvPr>
          <p:cNvSpPr>
            <a:spLocks xmlns:a="http://schemas.openxmlformats.org/drawingml/2006/main" noGrp="1"/>
          </p:cNvSpPr>
          <p:nvPr/>
        </p:nvSpPr>
        <p:spPr>
          <a:xfrm xmlns:a="http://schemas.openxmlformats.org/drawingml/2006/main">
            <a:off x="8763000" y="4953000"/>
            <a:ext cx="2762250" cy="1905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D2B2AD8-85A0-47B6-B002-C590A012F63C}"/>
              </a:ext>
            </a:extLst>
          </p:cNvPr>
          <p:cNvSpPr>
            <a:spLocks xmlns:a="http://schemas.openxmlformats.org/drawingml/2006/main" noGrp="1"/>
          </p:cNvSpPr>
          <p:nvPr/>
        </p:nvSpPr>
        <p:spPr>
          <a:xfrm xmlns:a="http://schemas.openxmlformats.org/drawingml/2006/main">
            <a:off x="8763000" y="52006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4B94F"/>
                </a:solidFill>
                <a:latin typeface="Cascadia Mono"/>
                <a:ea typeface="Cascadia Mono"/>
                <a:cs typeface="Cascadia Mono"/>
              </a:defRPr>
            </a:pPr>
            <a:r>
              <a:rPr sz="1800" b="1">
                <a:solidFill>
                  <a:srgbClr val="F4B94F"/>
                </a:solidFill>
                <a:latin typeface="Cascadia Mono"/>
                <a:ea typeface="Cascadia Mono"/>
                <a:cs typeface="Cascadia Mono"/>
              </a:rPr>
              <a:t>1 / 20</a:t>
            </a:r>
          </a:p>
        </p:txBody>
      </p:sp>
      <p:sp>
        <p:nvSpPr>
          <p:cNvPr id="18" name="">
            <a:extLst xmlns:a="http://schemas.openxmlformats.org/drawingml/2006/main">
              <a:ext uri="{FF2B5EF4-FFF2-40B4-BE49-F238E27FC236}">
                <a16:creationId xmlns:a16="http://schemas.microsoft.com/office/drawing/2014/main" id="{E4F90EF4-742C-419A-8F5C-CB7D578D14F1}"/>
              </a:ext>
            </a:extLst>
          </p:cNvPr>
          <p:cNvSpPr>
            <a:spLocks xmlns:a="http://schemas.openxmlformats.org/drawingml/2006/main" noGrp="1"/>
          </p:cNvSpPr>
          <p:nvPr/>
        </p:nvSpPr>
        <p:spPr>
          <a:xfrm xmlns:a="http://schemas.openxmlformats.org/drawingml/2006/main">
            <a:off x="9791700" y="52387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ימי Shadow Mode חיים</a:t>
            </a:r>
          </a:p>
        </p:txBody>
      </p:sp>
      <p:sp>
        <p:nvSpPr>
          <p:cNvPr id="19" name="">
            <a:extLst xmlns:a="http://schemas.openxmlformats.org/drawingml/2006/main">
              <a:ext uri="{FF2B5EF4-FFF2-40B4-BE49-F238E27FC236}">
                <a16:creationId xmlns:a16="http://schemas.microsoft.com/office/drawing/2014/main" id="{869EA3F0-983B-466C-AF55-B453373A083A}"/>
              </a:ext>
            </a:extLst>
          </p:cNvPr>
          <p:cNvSpPr>
            <a:spLocks xmlns:a="http://schemas.openxmlformats.org/drawingml/2006/main" noGrp="1"/>
          </p:cNvSpPr>
          <p:nvPr/>
        </p:nvSpPr>
        <p:spPr>
          <a:xfrm xmlns:a="http://schemas.openxmlformats.org/drawingml/2006/main">
            <a:off x="8763000" y="56197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אין פקודה, אין הבטחת תשואה</a:t>
            </a:r>
          </a:p>
        </p:txBody>
      </p:sp>
    </p:spTree>
    <p:extLst>
      <p:ext uri="{BB962C8B-B14F-4D97-AF65-F5344CB8AC3E}">
        <p14:creationId xmlns:p14="http://schemas.microsoft.com/office/powerpoint/2010/main" val="705112308"/>
      </p:ext>
    </p:extLst>
  </p:cSld>
</p:sld>
</file>

<file path=ppt/slides/slide9.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59F8FC-CA08-4AA8-903E-016FE045FC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9F1C0D-215F-44F4-958B-2C7691E69C8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HISTORICAL VALIDATION</a:t>
            </a:r>
          </a:p>
        </p:txBody>
      </p:sp>
      <p:sp>
        <p:nvSpPr>
          <p:cNvPr id="3" name="">
            <a:extLst xmlns:a="http://schemas.openxmlformats.org/drawingml/2006/main">
              <a:ext uri="{FF2B5EF4-FFF2-40B4-BE49-F238E27FC236}">
                <a16:creationId xmlns:a16="http://schemas.microsoft.com/office/drawing/2014/main" id="{00DEE0EF-3CE6-418E-BF95-2AA5F89C579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בדיקה היסטורית שלא מסתירה חיכוך</a:t>
            </a:r>
          </a:p>
        </p:txBody>
      </p:sp>
      <p:sp>
        <p:nvSpPr>
          <p:cNvPr id="4" name="">
            <a:extLst xmlns:a="http://schemas.openxmlformats.org/drawingml/2006/main">
              <a:ext uri="{FF2B5EF4-FFF2-40B4-BE49-F238E27FC236}">
                <a16:creationId xmlns:a16="http://schemas.microsoft.com/office/drawing/2014/main" id="{F25209C8-B056-4236-9BCD-D4C67B0DC148}"/>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09</a:t>
            </a:r>
          </a:p>
        </p:txBody>
      </p:sp>
      <p:sp>
        <p:nvSpPr>
          <p:cNvPr id="5" name="">
            <a:extLst xmlns:a="http://schemas.openxmlformats.org/drawingml/2006/main">
              <a:ext uri="{FF2B5EF4-FFF2-40B4-BE49-F238E27FC236}">
                <a16:creationId xmlns:a16="http://schemas.microsoft.com/office/drawing/2014/main" id="{36B75162-D10E-42FC-ACDC-9B4042F8A87E}"/>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4299af479204b55"/>
          <a:srcRect xmlns:a="http://schemas.openxmlformats.org/drawingml/2006/main" l="1389" t="0" r="1389" b="0"/>
          <a:stretch xmlns:a="http://schemas.openxmlformats.org/drawingml/2006/main">
            <a:fillRect l="0" t="0" r="0" b="0"/>
          </a:stretch>
        </p:blipFill>
        <p:spPr>
          <a:xfrm xmlns:a="http://schemas.openxmlformats.org/drawingml/2006/main">
            <a:off x="495300" y="1276350"/>
            <a:ext cx="8001000" cy="4629150"/>
          </a:xfrm>
          <a:prstGeom xmlns:a="http://schemas.openxmlformats.org/drawingml/2006/main" prst="roundRect">
            <a:avLst>
              <a:gd name="adj" fmla="val 2881"/>
            </a:avLst>
          </a:prstGeom>
        </p:spPr>
      </p:pic>
      <p:sp>
        <p:nvSpPr>
          <p:cNvPr id="7" name="">
            <a:extLst xmlns:a="http://schemas.openxmlformats.org/drawingml/2006/main">
              <a:ext uri="{FF2B5EF4-FFF2-40B4-BE49-F238E27FC236}">
                <a16:creationId xmlns:a16="http://schemas.microsoft.com/office/drawing/2014/main" id="{BB82ABDE-5120-4DD5-9ECC-5B626EA870D8}"/>
              </a:ext>
            </a:extLst>
          </p:cNvPr>
          <p:cNvSpPr>
            <a:spLocks xmlns:a="http://schemas.openxmlformats.org/drawingml/2006/main" noGrp="1"/>
          </p:cNvSpPr>
          <p:nvPr/>
        </p:nvSpPr>
        <p:spPr>
          <a:xfrm xmlns:a="http://schemas.openxmlformats.org/drawingml/2006/main">
            <a:off x="8858250" y="1409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950" b="1" lang="he-IL">
                <a:solidFill>
                  <a:srgbClr val="F8FBFF"/>
                </a:solidFill>
                <a:latin typeface="Arial"/>
                <a:ea typeface="Arial"/>
                <a:cs typeface="Arial"/>
              </a:defRPr>
            </a:pPr>
            <a:r>
              <a:rPr sz="1950" b="1" lang="he-IL">
                <a:solidFill>
                  <a:srgbClr val="F8FBFF"/>
                </a:solidFill>
                <a:latin typeface="Arial"/>
                <a:ea typeface="Arial"/>
                <a:cs typeface="Arial"/>
              </a:rPr>
              <a:t>ריצה מאושרת</a:t>
            </a:r>
          </a:p>
        </p:txBody>
      </p:sp>
      <p:sp>
        <p:nvSpPr>
          <p:cNvPr id="8" name="">
            <a:extLst xmlns:a="http://schemas.openxmlformats.org/drawingml/2006/main">
              <a:ext uri="{FF2B5EF4-FFF2-40B4-BE49-F238E27FC236}">
                <a16:creationId xmlns:a16="http://schemas.microsoft.com/office/drawing/2014/main" id="{0C7E8C6D-9DE9-4689-BA17-7ADCEC7057A6}"/>
              </a:ext>
            </a:extLst>
          </p:cNvPr>
          <p:cNvSpPr>
            <a:spLocks xmlns:a="http://schemas.openxmlformats.org/drawingml/2006/main" noGrp="1"/>
          </p:cNvSpPr>
          <p:nvPr/>
        </p:nvSpPr>
        <p:spPr>
          <a:xfrm xmlns:a="http://schemas.openxmlformats.org/drawingml/2006/main">
            <a:off x="8858250" y="20574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35D4B5"/>
                </a:solidFill>
                <a:latin typeface="Cascadia Mono"/>
                <a:ea typeface="Cascadia Mono"/>
                <a:cs typeface="Cascadia Mono"/>
              </a:defRPr>
            </a:pPr>
            <a:r>
              <a:rPr sz="2400" b="1">
                <a:solidFill>
                  <a:srgbClr val="35D4B5"/>
                </a:solidFill>
                <a:latin typeface="Cascadia Mono"/>
                <a:ea typeface="Cascadia Mono"/>
                <a:cs typeface="Cascadia Mono"/>
              </a:rPr>
              <a:t>41</a:t>
            </a:r>
          </a:p>
        </p:txBody>
      </p:sp>
      <p:sp>
        <p:nvSpPr>
          <p:cNvPr id="9" name="">
            <a:extLst xmlns:a="http://schemas.openxmlformats.org/drawingml/2006/main">
              <a:ext uri="{FF2B5EF4-FFF2-40B4-BE49-F238E27FC236}">
                <a16:creationId xmlns:a16="http://schemas.microsoft.com/office/drawing/2014/main" id="{39E6AB5B-3FC5-4D65-98A5-BFD42E8FAB86}"/>
              </a:ext>
            </a:extLst>
          </p:cNvPr>
          <p:cNvSpPr>
            <a:spLocks xmlns:a="http://schemas.openxmlformats.org/drawingml/2006/main" noGrp="1"/>
          </p:cNvSpPr>
          <p:nvPr/>
        </p:nvSpPr>
        <p:spPr>
          <a:xfrm xmlns:a="http://schemas.openxmlformats.org/drawingml/2006/main">
            <a:off x="8858250" y="24860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ימי מסחר מאושרים</a:t>
            </a:r>
          </a:p>
        </p:txBody>
      </p:sp>
      <p:sp>
        <p:nvSpPr>
          <p:cNvPr id="10" name="">
            <a:extLst xmlns:a="http://schemas.openxmlformats.org/drawingml/2006/main">
              <a:ext uri="{FF2B5EF4-FFF2-40B4-BE49-F238E27FC236}">
                <a16:creationId xmlns:a16="http://schemas.microsoft.com/office/drawing/2014/main" id="{53C5EB8D-8CFC-4398-840B-3B90F1006BC8}"/>
              </a:ext>
            </a:extLst>
          </p:cNvPr>
          <p:cNvSpPr>
            <a:spLocks xmlns:a="http://schemas.openxmlformats.org/drawingml/2006/main" noGrp="1"/>
          </p:cNvSpPr>
          <p:nvPr/>
        </p:nvSpPr>
        <p:spPr>
          <a:xfrm xmlns:a="http://schemas.openxmlformats.org/drawingml/2006/main">
            <a:off x="8858250" y="29527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5B91FF"/>
                </a:solidFill>
                <a:latin typeface="Cascadia Mono"/>
                <a:ea typeface="Cascadia Mono"/>
                <a:cs typeface="Cascadia Mono"/>
              </a:defRPr>
            </a:pPr>
            <a:r>
              <a:rPr sz="2400" b="1">
                <a:solidFill>
                  <a:srgbClr val="5B91FF"/>
                </a:solidFill>
                <a:latin typeface="Cascadia Mono"/>
                <a:ea typeface="Cascadia Mono"/>
                <a:cs typeface="Cascadia Mono"/>
              </a:rPr>
              <a:t>46,749</a:t>
            </a:r>
          </a:p>
        </p:txBody>
      </p:sp>
      <p:sp>
        <p:nvSpPr>
          <p:cNvPr id="11" name="">
            <a:extLst xmlns:a="http://schemas.openxmlformats.org/drawingml/2006/main">
              <a:ext uri="{FF2B5EF4-FFF2-40B4-BE49-F238E27FC236}">
                <a16:creationId xmlns:a16="http://schemas.microsoft.com/office/drawing/2014/main" id="{E4AC980B-55DB-4127-99CF-75F8F6A6CA8A}"/>
              </a:ext>
            </a:extLst>
          </p:cNvPr>
          <p:cNvSpPr>
            <a:spLocks xmlns:a="http://schemas.openxmlformats.org/drawingml/2006/main" noGrp="1"/>
          </p:cNvSpPr>
          <p:nvPr/>
        </p:nvSpPr>
        <p:spPr>
          <a:xfrm xmlns:a="http://schemas.openxmlformats.org/drawingml/2006/main">
            <a:off x="8858250" y="3381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תצפיות</a:t>
            </a:r>
          </a:p>
        </p:txBody>
      </p:sp>
      <p:sp>
        <p:nvSpPr>
          <p:cNvPr id="12" name="">
            <a:extLst xmlns:a="http://schemas.openxmlformats.org/drawingml/2006/main">
              <a:ext uri="{FF2B5EF4-FFF2-40B4-BE49-F238E27FC236}">
                <a16:creationId xmlns:a16="http://schemas.microsoft.com/office/drawing/2014/main" id="{FD21C095-F4C1-43D4-AF8D-A92568558CB8}"/>
              </a:ext>
            </a:extLst>
          </p:cNvPr>
          <p:cNvSpPr>
            <a:spLocks xmlns:a="http://schemas.openxmlformats.org/drawingml/2006/main" noGrp="1"/>
          </p:cNvSpPr>
          <p:nvPr/>
        </p:nvSpPr>
        <p:spPr>
          <a:xfrm xmlns:a="http://schemas.openxmlformats.org/drawingml/2006/main">
            <a:off x="8858250" y="38481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F4B94F"/>
                </a:solidFill>
                <a:latin typeface="Cascadia Mono"/>
                <a:ea typeface="Cascadia Mono"/>
                <a:cs typeface="Cascadia Mono"/>
              </a:defRPr>
            </a:pPr>
            <a:r>
              <a:rPr sz="2400" b="1">
                <a:solidFill>
                  <a:srgbClr val="F4B94F"/>
                </a:solidFill>
                <a:latin typeface="Cascadia Mono"/>
                <a:ea typeface="Cascadia Mono"/>
                <a:cs typeface="Cascadia Mono"/>
              </a:rPr>
              <a:t>1,059</a:t>
            </a:r>
          </a:p>
        </p:txBody>
      </p:sp>
      <p:sp>
        <p:nvSpPr>
          <p:cNvPr id="13" name="">
            <a:extLst xmlns:a="http://schemas.openxmlformats.org/drawingml/2006/main">
              <a:ext uri="{FF2B5EF4-FFF2-40B4-BE49-F238E27FC236}">
                <a16:creationId xmlns:a16="http://schemas.microsoft.com/office/drawing/2014/main" id="{11988E65-4820-4BD7-BD66-E2CA3899D9D5}"/>
              </a:ext>
            </a:extLst>
          </p:cNvPr>
          <p:cNvSpPr>
            <a:spLocks xmlns:a="http://schemas.openxmlformats.org/drawingml/2006/main" noGrp="1"/>
          </p:cNvSpPr>
          <p:nvPr/>
        </p:nvSpPr>
        <p:spPr>
          <a:xfrm xmlns:a="http://schemas.openxmlformats.org/drawingml/2006/main">
            <a:off x="8858250" y="42767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שינויי פוזיציה</a:t>
            </a:r>
          </a:p>
        </p:txBody>
      </p:sp>
      <p:sp>
        <p:nvSpPr>
          <p:cNvPr id="14" name="">
            <a:extLst xmlns:a="http://schemas.openxmlformats.org/drawingml/2006/main">
              <a:ext uri="{FF2B5EF4-FFF2-40B4-BE49-F238E27FC236}">
                <a16:creationId xmlns:a16="http://schemas.microsoft.com/office/drawing/2014/main" id="{5157C4F3-FE6E-4DC1-8114-9ECB873BA530}"/>
              </a:ext>
            </a:extLst>
          </p:cNvPr>
          <p:cNvSpPr>
            <a:spLocks xmlns:a="http://schemas.openxmlformats.org/drawingml/2006/main" noGrp="1"/>
          </p:cNvSpPr>
          <p:nvPr/>
        </p:nvSpPr>
        <p:spPr>
          <a:xfrm xmlns:a="http://schemas.openxmlformats.org/drawingml/2006/main">
            <a:off x="8858250" y="4819650"/>
            <a:ext cx="26670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5" name="">
            <a:extLst xmlns:a="http://schemas.openxmlformats.org/drawingml/2006/main">
              <a:ext uri="{FF2B5EF4-FFF2-40B4-BE49-F238E27FC236}">
                <a16:creationId xmlns:a16="http://schemas.microsoft.com/office/drawing/2014/main" id="{CDBA7866-A90D-4763-B5D3-C29761A8AE39}"/>
              </a:ext>
            </a:extLst>
          </p:cNvPr>
          <p:cNvSpPr>
            <a:spLocks xmlns:a="http://schemas.openxmlformats.org/drawingml/2006/main" noGrp="1"/>
          </p:cNvSpPr>
          <p:nvPr/>
        </p:nvSpPr>
        <p:spPr>
          <a:xfrm xmlns:a="http://schemas.openxmlformats.org/drawingml/2006/main">
            <a:off x="8858250" y="50482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האות של נר t משפיע רק על הנר הבא, והחישוב כולל עלויות והחלקת מחיר.</a:t>
            </a:r>
          </a:p>
        </p:txBody>
      </p:sp>
    </p:spTree>
    <p:extLst>
      <p:ext uri="{BB962C8B-B14F-4D97-AF65-F5344CB8AC3E}">
        <p14:creationId xmlns:p14="http://schemas.microsoft.com/office/powerpoint/2010/main" val="732578472"/>
      </p:ext>
    </p:extLst>
  </p:cSld>
</p:sld>
</file>

<file path=ppt/slides/slide10.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68060A-4611-4B85-8D4A-76F57F71C4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56E771-FF61-4F82-8D11-1BBF00494977}"/>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ENGINEERING CHALLENGES</a:t>
            </a:r>
          </a:p>
        </p:txBody>
      </p:sp>
      <p:sp>
        <p:nvSpPr>
          <p:cNvPr id="3" name="">
            <a:extLst xmlns:a="http://schemas.openxmlformats.org/drawingml/2006/main">
              <a:ext uri="{FF2B5EF4-FFF2-40B4-BE49-F238E27FC236}">
                <a16:creationId xmlns:a16="http://schemas.microsoft.com/office/drawing/2014/main" id="{C4654F81-54B9-4C68-A30A-9E3A2E32ADC1}"/>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האתגרים שהפכו לעקרונות תכנון</a:t>
            </a:r>
          </a:p>
        </p:txBody>
      </p:sp>
      <p:sp>
        <p:nvSpPr>
          <p:cNvPr id="4" name="">
            <a:extLst xmlns:a="http://schemas.openxmlformats.org/drawingml/2006/main">
              <a:ext uri="{FF2B5EF4-FFF2-40B4-BE49-F238E27FC236}">
                <a16:creationId xmlns:a16="http://schemas.microsoft.com/office/drawing/2014/main" id="{66171907-B492-4565-BC6D-683505D36638}"/>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10</a:t>
            </a:r>
          </a:p>
        </p:txBody>
      </p:sp>
      <p:sp>
        <p:nvSpPr>
          <p:cNvPr id="5" name="">
            <a:extLst xmlns:a="http://schemas.openxmlformats.org/drawingml/2006/main">
              <a:ext uri="{FF2B5EF4-FFF2-40B4-BE49-F238E27FC236}">
                <a16:creationId xmlns:a16="http://schemas.microsoft.com/office/drawing/2014/main" id="{043E4DB3-9816-4844-8C0B-F1B37801A9CE}"/>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166CB519-17AF-4E67-8CA4-CCFD2FFF0CAF}"/>
              </a:ext>
            </a:extLst>
          </p:cNvPr>
          <p:cNvSpPr>
            <a:spLocks xmlns:a="http://schemas.openxmlformats.org/drawingml/2006/main" noGrp="1"/>
          </p:cNvSpPr>
          <p:nvPr/>
        </p:nvSpPr>
        <p:spPr>
          <a:xfrm xmlns:a="http://schemas.openxmlformats.org/drawingml/2006/main">
            <a:off x="8763000" y="12573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המתח</a:t>
            </a:r>
          </a:p>
        </p:txBody>
      </p:sp>
      <p:sp>
        <p:nvSpPr>
          <p:cNvPr id="7" name="">
            <a:extLst xmlns:a="http://schemas.openxmlformats.org/drawingml/2006/main">
              <a:ext uri="{FF2B5EF4-FFF2-40B4-BE49-F238E27FC236}">
                <a16:creationId xmlns:a16="http://schemas.microsoft.com/office/drawing/2014/main" id="{9CE2CAF8-B181-4CB8-8966-104C2A7F0E06}"/>
              </a:ext>
            </a:extLst>
          </p:cNvPr>
          <p:cNvSpPr>
            <a:spLocks xmlns:a="http://schemas.openxmlformats.org/drawingml/2006/main" noGrp="1"/>
          </p:cNvSpPr>
          <p:nvPr/>
        </p:nvSpPr>
        <p:spPr>
          <a:xfrm xmlns:a="http://schemas.openxmlformats.org/drawingml/2006/main">
            <a:off x="1047750" y="12573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ההחלטה</a:t>
            </a:r>
          </a:p>
        </p:txBody>
      </p:sp>
      <p:sp>
        <p:nvSpPr>
          <p:cNvPr id="8" name="">
            <a:extLst xmlns:a="http://schemas.openxmlformats.org/drawingml/2006/main">
              <a:ext uri="{FF2B5EF4-FFF2-40B4-BE49-F238E27FC236}">
                <a16:creationId xmlns:a16="http://schemas.microsoft.com/office/drawing/2014/main" id="{177038F2-F906-43A8-A2F6-EFF34E8B1500}"/>
              </a:ext>
            </a:extLst>
          </p:cNvPr>
          <p:cNvSpPr>
            <a:spLocks xmlns:a="http://schemas.openxmlformats.org/drawingml/2006/main" noGrp="1"/>
          </p:cNvSpPr>
          <p:nvPr/>
        </p:nvSpPr>
        <p:spPr>
          <a:xfrm xmlns:a="http://schemas.openxmlformats.org/drawingml/2006/main">
            <a:off x="609600" y="16192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A13BA51A-4C99-49BC-A7AC-D98780B39306}"/>
              </a:ext>
            </a:extLst>
          </p:cNvPr>
          <p:cNvSpPr>
            <a:spLocks xmlns:a="http://schemas.openxmlformats.org/drawingml/2006/main" noGrp="1"/>
          </p:cNvSpPr>
          <p:nvPr/>
        </p:nvSpPr>
        <p:spPr>
          <a:xfrm xmlns:a="http://schemas.openxmlformats.org/drawingml/2006/main">
            <a:off x="8305800" y="184785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מהירות מול אמינות</a:t>
            </a:r>
          </a:p>
        </p:txBody>
      </p:sp>
      <p:sp>
        <p:nvSpPr>
          <p:cNvPr id="10" name="">
            <a:extLst xmlns:a="http://schemas.openxmlformats.org/drawingml/2006/main">
              <a:ext uri="{FF2B5EF4-FFF2-40B4-BE49-F238E27FC236}">
                <a16:creationId xmlns:a16="http://schemas.microsoft.com/office/drawing/2014/main" id="{07256A17-F109-440E-BA6F-E7C5896522C3}"/>
              </a:ext>
            </a:extLst>
          </p:cNvPr>
          <p:cNvSpPr>
            <a:spLocks xmlns:a="http://schemas.openxmlformats.org/drawingml/2006/main" noGrp="1"/>
          </p:cNvSpPr>
          <p:nvPr/>
        </p:nvSpPr>
        <p:spPr>
          <a:xfrm xmlns:a="http://schemas.openxmlformats.org/drawingml/2006/main">
            <a:off x="7886700" y="1866900"/>
            <a:ext cx="38100" cy="55245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5ECD0D-53D3-42FB-A0C9-8C18AA078545}"/>
              </a:ext>
            </a:extLst>
          </p:cNvPr>
          <p:cNvSpPr>
            <a:spLocks xmlns:a="http://schemas.openxmlformats.org/drawingml/2006/main" noGrp="1"/>
          </p:cNvSpPr>
          <p:nvPr/>
        </p:nvSpPr>
        <p:spPr>
          <a:xfrm xmlns:a="http://schemas.openxmlformats.org/drawingml/2006/main">
            <a:off x="1047750" y="18288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נתון חי מוצג מיד. יום סגור נבנה מחדש ונבדק.</a:t>
            </a:r>
          </a:p>
        </p:txBody>
      </p:sp>
      <p:sp>
        <p:nvSpPr>
          <p:cNvPr id="12" name="">
            <a:extLst xmlns:a="http://schemas.openxmlformats.org/drawingml/2006/main">
              <a:ext uri="{FF2B5EF4-FFF2-40B4-BE49-F238E27FC236}">
                <a16:creationId xmlns:a16="http://schemas.microsoft.com/office/drawing/2014/main" id="{109C1461-93D1-4C6C-91F0-730FB6436251}"/>
              </a:ext>
            </a:extLst>
          </p:cNvPr>
          <p:cNvSpPr>
            <a:spLocks xmlns:a="http://schemas.openxmlformats.org/drawingml/2006/main" noGrp="1"/>
          </p:cNvSpPr>
          <p:nvPr/>
        </p:nvSpPr>
        <p:spPr>
          <a:xfrm xmlns:a="http://schemas.openxmlformats.org/drawingml/2006/main">
            <a:off x="1047750" y="222885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PROVISIONAL / CERTIFIED</a:t>
            </a:r>
          </a:p>
        </p:txBody>
      </p:sp>
      <p:sp>
        <p:nvSpPr>
          <p:cNvPr id="13" name="">
            <a:extLst xmlns:a="http://schemas.openxmlformats.org/drawingml/2006/main">
              <a:ext uri="{FF2B5EF4-FFF2-40B4-BE49-F238E27FC236}">
                <a16:creationId xmlns:a16="http://schemas.microsoft.com/office/drawing/2014/main" id="{0FEB4FBA-EB52-4CCC-971C-D5C0CE5AD245}"/>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21932BEB-3D85-4770-BEB7-DD99096034DF}"/>
              </a:ext>
            </a:extLst>
          </p:cNvPr>
          <p:cNvSpPr>
            <a:spLocks xmlns:a="http://schemas.openxmlformats.org/drawingml/2006/main" noGrp="1"/>
          </p:cNvSpPr>
          <p:nvPr/>
        </p:nvSpPr>
        <p:spPr>
          <a:xfrm xmlns:a="http://schemas.openxmlformats.org/drawingml/2006/main">
            <a:off x="8305800" y="28479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כשל וניסיון חוזר</a:t>
            </a:r>
          </a:p>
        </p:txBody>
      </p:sp>
      <p:sp>
        <p:nvSpPr>
          <p:cNvPr id="15" name="">
            <a:extLst xmlns:a="http://schemas.openxmlformats.org/drawingml/2006/main">
              <a:ext uri="{FF2B5EF4-FFF2-40B4-BE49-F238E27FC236}">
                <a16:creationId xmlns:a16="http://schemas.microsoft.com/office/drawing/2014/main" id="{076F0B2F-DB56-4D84-9A24-CA12D5AA0D47}"/>
              </a:ext>
            </a:extLst>
          </p:cNvPr>
          <p:cNvSpPr>
            <a:spLocks xmlns:a="http://schemas.openxmlformats.org/drawingml/2006/main" noGrp="1"/>
          </p:cNvSpPr>
          <p:nvPr/>
        </p:nvSpPr>
        <p:spPr>
          <a:xfrm xmlns:a="http://schemas.openxmlformats.org/drawingml/2006/main">
            <a:off x="7886700" y="2867025"/>
            <a:ext cx="38100" cy="552450"/>
          </a:xfrm>
          <a:prstGeom xmlns:a="http://schemas.openxmlformats.org/drawingml/2006/main" prst="rect">
            <a:avLst/>
          </a:prstGeom>
          <a:solidFill xmlns:a="http://schemas.openxmlformats.org/drawingml/2006/main">
            <a:srgbClr val="5B91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14348D-1328-4D09-80CF-47B10B14D472}"/>
              </a:ext>
            </a:extLst>
          </p:cNvPr>
          <p:cNvSpPr>
            <a:spLocks xmlns:a="http://schemas.openxmlformats.org/drawingml/2006/main" noGrp="1"/>
          </p:cNvSpPr>
          <p:nvPr/>
        </p:nvSpPr>
        <p:spPr>
          <a:xfrm xmlns:a="http://schemas.openxmlformats.org/drawingml/2006/main">
            <a:off x="1047750" y="282892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הפעלה חוזרת אינה יוצרת רשומה עסקית כפולה.</a:t>
            </a:r>
          </a:p>
        </p:txBody>
      </p:sp>
      <p:sp>
        <p:nvSpPr>
          <p:cNvPr id="17" name="">
            <a:extLst xmlns:a="http://schemas.openxmlformats.org/drawingml/2006/main">
              <a:ext uri="{FF2B5EF4-FFF2-40B4-BE49-F238E27FC236}">
                <a16:creationId xmlns:a16="http://schemas.microsoft.com/office/drawing/2014/main" id="{6E6503E1-4996-449B-A9F7-1CD0246B54A8}"/>
              </a:ext>
            </a:extLst>
          </p:cNvPr>
          <p:cNvSpPr>
            <a:spLocks xmlns:a="http://schemas.openxmlformats.org/drawingml/2006/main" noGrp="1"/>
          </p:cNvSpPr>
          <p:nvPr/>
        </p:nvSpPr>
        <p:spPr>
          <a:xfrm xmlns:a="http://schemas.openxmlformats.org/drawingml/2006/main">
            <a:off x="1047750" y="322897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91FF"/>
                </a:solidFill>
                <a:latin typeface="Cascadia Mono"/>
                <a:ea typeface="Cascadia Mono"/>
                <a:cs typeface="Cascadia Mono"/>
              </a:defRPr>
            </a:pPr>
            <a:r>
              <a:rPr sz="1050" b="1">
                <a:solidFill>
                  <a:srgbClr val="5B91FF"/>
                </a:solidFill>
                <a:latin typeface="Cascadia Mono"/>
                <a:ea typeface="Cascadia Mono"/>
                <a:cs typeface="Cascadia Mono"/>
              </a:rPr>
              <a:t>CHECKPOINT · BUSINESS KEY · UPSERT</a:t>
            </a:r>
          </a:p>
        </p:txBody>
      </p:sp>
      <p:sp>
        <p:nvSpPr>
          <p:cNvPr id="18" name="">
            <a:extLst xmlns:a="http://schemas.openxmlformats.org/drawingml/2006/main">
              <a:ext uri="{FF2B5EF4-FFF2-40B4-BE49-F238E27FC236}">
                <a16:creationId xmlns:a16="http://schemas.microsoft.com/office/drawing/2014/main" id="{867F9E69-2436-47C4-B3DD-FAA7E66045D8}"/>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9" name="">
            <a:extLst xmlns:a="http://schemas.openxmlformats.org/drawingml/2006/main">
              <a:ext uri="{FF2B5EF4-FFF2-40B4-BE49-F238E27FC236}">
                <a16:creationId xmlns:a16="http://schemas.microsoft.com/office/drawing/2014/main" id="{D49977AC-22B8-4FAA-ACB7-AE6506BD6CCA}"/>
              </a:ext>
            </a:extLst>
          </p:cNvPr>
          <p:cNvSpPr>
            <a:spLocks xmlns:a="http://schemas.openxmlformats.org/drawingml/2006/main" noGrp="1"/>
          </p:cNvSpPr>
          <p:nvPr/>
        </p:nvSpPr>
        <p:spPr>
          <a:xfrm xmlns:a="http://schemas.openxmlformats.org/drawingml/2006/main">
            <a:off x="8305800" y="384810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היסטוריה בלי קיצור דרך</a:t>
            </a:r>
          </a:p>
        </p:txBody>
      </p:sp>
      <p:sp>
        <p:nvSpPr>
          <p:cNvPr id="20" name="">
            <a:extLst xmlns:a="http://schemas.openxmlformats.org/drawingml/2006/main">
              <a:ext uri="{FF2B5EF4-FFF2-40B4-BE49-F238E27FC236}">
                <a16:creationId xmlns:a16="http://schemas.microsoft.com/office/drawing/2014/main" id="{D07AE391-E043-4046-A846-32DC7B64E35D}"/>
              </a:ext>
            </a:extLst>
          </p:cNvPr>
          <p:cNvSpPr>
            <a:spLocks xmlns:a="http://schemas.openxmlformats.org/drawingml/2006/main" noGrp="1"/>
          </p:cNvSpPr>
          <p:nvPr/>
        </p:nvSpPr>
        <p:spPr>
          <a:xfrm xmlns:a="http://schemas.openxmlformats.org/drawingml/2006/main">
            <a:off x="7886700" y="3867150"/>
            <a:ext cx="38100" cy="552450"/>
          </a:xfrm>
          <a:prstGeom xmlns:a="http://schemas.openxmlformats.org/drawingml/2006/main" prst="rect">
            <a:avLst/>
          </a:prstGeom>
          <a:solidFill xmlns:a="http://schemas.openxmlformats.org/drawingml/2006/main">
            <a:srgbClr val="F4B9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5F9E3A5-EB4B-4136-8551-E1E0C837F320}"/>
              </a:ext>
            </a:extLst>
          </p:cNvPr>
          <p:cNvSpPr>
            <a:spLocks xmlns:a="http://schemas.openxmlformats.org/drawingml/2006/main" noGrp="1"/>
          </p:cNvSpPr>
          <p:nvPr/>
        </p:nvSpPr>
        <p:spPr>
          <a:xfrm xmlns:a="http://schemas.openxmlformats.org/drawingml/2006/main">
            <a:off x="1047750" y="382905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נתוני עבר עוברים שמירה גולמית ואיכות לפני פרסום.</a:t>
            </a:r>
          </a:p>
        </p:txBody>
      </p:sp>
      <p:sp>
        <p:nvSpPr>
          <p:cNvPr id="22" name="">
            <a:extLst xmlns:a="http://schemas.openxmlformats.org/drawingml/2006/main">
              <a:ext uri="{FF2B5EF4-FFF2-40B4-BE49-F238E27FC236}">
                <a16:creationId xmlns:a16="http://schemas.microsoft.com/office/drawing/2014/main" id="{3991A4D4-D04B-4594-8A1E-C53556A8C6F9}"/>
              </a:ext>
            </a:extLst>
          </p:cNvPr>
          <p:cNvSpPr>
            <a:spLocks xmlns:a="http://schemas.openxmlformats.org/drawingml/2006/main" noGrp="1"/>
          </p:cNvSpPr>
          <p:nvPr/>
        </p:nvSpPr>
        <p:spPr>
          <a:xfrm xmlns:a="http://schemas.openxmlformats.org/drawingml/2006/main">
            <a:off x="1047750" y="422910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4B94F"/>
                </a:solidFill>
                <a:latin typeface="Cascadia Mono"/>
                <a:ea typeface="Cascadia Mono"/>
                <a:cs typeface="Cascadia Mono"/>
              </a:defRPr>
            </a:pPr>
            <a:r>
              <a:rPr sz="1050" b="1">
                <a:solidFill>
                  <a:srgbClr val="F4B94F"/>
                </a:solidFill>
                <a:latin typeface="Cascadia Mono"/>
                <a:ea typeface="Cascadia Mono"/>
                <a:cs typeface="Cascadia Mono"/>
              </a:rPr>
              <a:t>HISTORICAL TOPIC · BRONZE BARRIER</a:t>
            </a:r>
          </a:p>
        </p:txBody>
      </p:sp>
      <p:sp>
        <p:nvSpPr>
          <p:cNvPr id="23" name="">
            <a:extLst xmlns:a="http://schemas.openxmlformats.org/drawingml/2006/main">
              <a:ext uri="{FF2B5EF4-FFF2-40B4-BE49-F238E27FC236}">
                <a16:creationId xmlns:a16="http://schemas.microsoft.com/office/drawing/2014/main" id="{A6776813-92EC-4180-8674-329587334657}"/>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4" name="">
            <a:extLst xmlns:a="http://schemas.openxmlformats.org/drawingml/2006/main">
              <a:ext uri="{FF2B5EF4-FFF2-40B4-BE49-F238E27FC236}">
                <a16:creationId xmlns:a16="http://schemas.microsoft.com/office/drawing/2014/main" id="{69780F49-263C-4130-8585-428E9B80D87D}"/>
              </a:ext>
            </a:extLst>
          </p:cNvPr>
          <p:cNvSpPr>
            <a:spLocks xmlns:a="http://schemas.openxmlformats.org/drawingml/2006/main" noGrp="1"/>
          </p:cNvSpPr>
          <p:nvPr/>
        </p:nvSpPr>
        <p:spPr>
          <a:xfrm xmlns:a="http://schemas.openxmlformats.org/drawingml/2006/main">
            <a:off x="8305800" y="484822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מוצר בלי חשיפת תשתית</a:t>
            </a:r>
          </a:p>
        </p:txBody>
      </p:sp>
      <p:sp>
        <p:nvSpPr>
          <p:cNvPr id="25" name="">
            <a:extLst xmlns:a="http://schemas.openxmlformats.org/drawingml/2006/main">
              <a:ext uri="{FF2B5EF4-FFF2-40B4-BE49-F238E27FC236}">
                <a16:creationId xmlns:a16="http://schemas.microsoft.com/office/drawing/2014/main" id="{415DDC7A-C2E4-4A21-AD7A-5FB2BC6B986A}"/>
              </a:ext>
            </a:extLst>
          </p:cNvPr>
          <p:cNvSpPr>
            <a:spLocks xmlns:a="http://schemas.openxmlformats.org/drawingml/2006/main" noGrp="1"/>
          </p:cNvSpPr>
          <p:nvPr/>
        </p:nvSpPr>
        <p:spPr>
          <a:xfrm xmlns:a="http://schemas.openxmlformats.org/drawingml/2006/main">
            <a:off x="7886700" y="4867275"/>
            <a:ext cx="38100" cy="552450"/>
          </a:xfrm>
          <a:prstGeom xmlns:a="http://schemas.openxmlformats.org/drawingml/2006/main" prst="rect">
            <a:avLst/>
          </a:prstGeom>
          <a:solidFill xmlns:a="http://schemas.openxmlformats.org/drawingml/2006/main">
            <a:srgbClr val="EF748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83C0AE6-6A7E-4C42-B788-E049BC6FCA1B}"/>
              </a:ext>
            </a:extLst>
          </p:cNvPr>
          <p:cNvSpPr>
            <a:spLocks xmlns:a="http://schemas.openxmlformats.org/drawingml/2006/main" noGrp="1"/>
          </p:cNvSpPr>
          <p:nvPr/>
        </p:nvSpPr>
        <p:spPr>
          <a:xfrm xmlns:a="http://schemas.openxmlformats.org/drawingml/2006/main">
            <a:off x="1047750" y="48291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הדפדפן מקבל מידע רק דרך ממשק מוגבל לקריאה.</a:t>
            </a:r>
          </a:p>
        </p:txBody>
      </p:sp>
      <p:sp>
        <p:nvSpPr>
          <p:cNvPr id="27" name="">
            <a:extLst xmlns:a="http://schemas.openxmlformats.org/drawingml/2006/main">
              <a:ext uri="{FF2B5EF4-FFF2-40B4-BE49-F238E27FC236}">
                <a16:creationId xmlns:a16="http://schemas.microsoft.com/office/drawing/2014/main" id="{0E7FCDA8-3C2C-4C56-9680-74431D527EA9}"/>
              </a:ext>
            </a:extLst>
          </p:cNvPr>
          <p:cNvSpPr>
            <a:spLocks xmlns:a="http://schemas.openxmlformats.org/drawingml/2006/main" noGrp="1"/>
          </p:cNvSpPr>
          <p:nvPr/>
        </p:nvSpPr>
        <p:spPr>
          <a:xfrm xmlns:a="http://schemas.openxmlformats.org/drawingml/2006/main">
            <a:off x="1047750" y="522922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READ-ONLY BACKEND API</a:t>
            </a:r>
          </a:p>
        </p:txBody>
      </p:sp>
    </p:spTree>
    <p:extLst>
      <p:ext uri="{BB962C8B-B14F-4D97-AF65-F5344CB8AC3E}">
        <p14:creationId xmlns:p14="http://schemas.microsoft.com/office/powerpoint/2010/main" val="2111472887"/>
      </p:ext>
    </p:extLst>
  </p:cSld>
</p:sld>
</file>

<file path=ppt/slides/slide1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2637E30-A757-4AD8-B83B-9EF86A9AB0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6EA545-79E9-4005-BADD-0AD0EEF2CCDB}"/>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ROADMAP</a:t>
            </a:r>
          </a:p>
        </p:txBody>
      </p:sp>
      <p:sp>
        <p:nvSpPr>
          <p:cNvPr id="3" name="">
            <a:extLst xmlns:a="http://schemas.openxmlformats.org/drawingml/2006/main">
              <a:ext uri="{FF2B5EF4-FFF2-40B4-BE49-F238E27FC236}">
                <a16:creationId xmlns:a16="http://schemas.microsoft.com/office/drawing/2014/main" id="{C14E37B5-BF30-4CFA-B527-90D9BCDE1C58}"/>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 כבר עובד, ומה נדרש לפני Production</a:t>
            </a:r>
          </a:p>
        </p:txBody>
      </p:sp>
      <p:sp>
        <p:nvSpPr>
          <p:cNvPr id="4" name="">
            <a:extLst xmlns:a="http://schemas.openxmlformats.org/drawingml/2006/main">
              <a:ext uri="{FF2B5EF4-FFF2-40B4-BE49-F238E27FC236}">
                <a16:creationId xmlns:a16="http://schemas.microsoft.com/office/drawing/2014/main" id="{EC990DC8-2299-422A-83A4-3078ABA06A4D}"/>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11</a:t>
            </a:r>
          </a:p>
        </p:txBody>
      </p:sp>
      <p:sp>
        <p:nvSpPr>
          <p:cNvPr id="5" name="">
            <a:extLst xmlns:a="http://schemas.openxmlformats.org/drawingml/2006/main">
              <a:ext uri="{FF2B5EF4-FFF2-40B4-BE49-F238E27FC236}">
                <a16:creationId xmlns:a16="http://schemas.microsoft.com/office/drawing/2014/main" id="{153BD686-D748-458C-805E-E4BECA4F6FB0}"/>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65D0FCCC-C54A-4035-96E8-C643B73AB25B}"/>
              </a:ext>
            </a:extLst>
          </p:cNvPr>
          <p:cNvSpPr>
            <a:spLocks xmlns:a="http://schemas.openxmlformats.org/drawingml/2006/main" noGrp="1"/>
          </p:cNvSpPr>
          <p:nvPr/>
        </p:nvSpPr>
        <p:spPr>
          <a:xfrm xmlns:a="http://schemas.openxmlformats.org/drawingml/2006/main">
            <a:off x="4810125" y="118110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המטרה אינה להוסיף עוד טכנולוגיה. המטרה היא להרחיב אמון, כיסוי ותפעול.</a:t>
            </a:r>
          </a:p>
        </p:txBody>
      </p:sp>
      <p:sp>
        <p:nvSpPr>
          <p:cNvPr id="7" name="">
            <a:extLst xmlns:a="http://schemas.openxmlformats.org/drawingml/2006/main">
              <a:ext uri="{FF2B5EF4-FFF2-40B4-BE49-F238E27FC236}">
                <a16:creationId xmlns:a16="http://schemas.microsoft.com/office/drawing/2014/main" id="{1EFBC99F-54C0-49EA-8073-8DCC2D7653B9}"/>
              </a:ext>
            </a:extLst>
          </p:cNvPr>
          <p:cNvSpPr>
            <a:spLocks xmlns:a="http://schemas.openxmlformats.org/drawingml/2006/main" noGrp="1"/>
          </p:cNvSpPr>
          <p:nvPr/>
        </p:nvSpPr>
        <p:spPr>
          <a:xfrm xmlns:a="http://schemas.openxmlformats.org/drawingml/2006/main">
            <a:off x="1295400" y="3257550"/>
            <a:ext cx="9525000" cy="0"/>
          </a:xfrm>
          <a:prstGeom xmlns:a="http://schemas.openxmlformats.org/drawingml/2006/main" prst="line">
            <a:avLst/>
          </a:prstGeom>
          <a:noFill xmlns:a="http://schemas.openxmlformats.org/drawingml/2006/main"/>
          <a:ln xmlns:a="http://schemas.openxmlformats.org/drawingml/2006/main" w="38100">
            <a:solidFill>
              <a:srgbClr val="294157"/>
            </a:solidFill>
            <a:prstDash val="solid"/>
          </a:ln>
        </p:spPr>
      </p:sp>
      <p:sp>
        <p:nvSpPr>
          <p:cNvPr id="8" name="">
            <a:extLst xmlns:a="http://schemas.openxmlformats.org/drawingml/2006/main">
              <a:ext uri="{FF2B5EF4-FFF2-40B4-BE49-F238E27FC236}">
                <a16:creationId xmlns:a16="http://schemas.microsoft.com/office/drawing/2014/main" id="{014D98C1-997B-4FB6-8F6C-CD448986FA6F}"/>
              </a:ext>
            </a:extLst>
          </p:cNvPr>
          <p:cNvSpPr>
            <a:spLocks xmlns:a="http://schemas.openxmlformats.org/drawingml/2006/main" noGrp="1"/>
          </p:cNvSpPr>
          <p:nvPr/>
        </p:nvSpPr>
        <p:spPr>
          <a:xfrm xmlns:a="http://schemas.openxmlformats.org/drawingml/2006/main">
            <a:off x="9810750" y="3114675"/>
            <a:ext cx="285750" cy="2857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4E65A8-CF44-4DA8-83FE-87DCB56857F7}"/>
              </a:ext>
            </a:extLst>
          </p:cNvPr>
          <p:cNvSpPr>
            <a:spLocks xmlns:a="http://schemas.openxmlformats.org/drawingml/2006/main" noGrp="1"/>
          </p:cNvSpPr>
          <p:nvPr/>
        </p:nvSpPr>
        <p:spPr>
          <a:xfrm xmlns:a="http://schemas.openxmlformats.org/drawingml/2006/main">
            <a:off x="977265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01</a:t>
            </a:r>
          </a:p>
        </p:txBody>
      </p:sp>
      <p:sp>
        <p:nvSpPr>
          <p:cNvPr id="10" name="">
            <a:extLst xmlns:a="http://schemas.openxmlformats.org/drawingml/2006/main">
              <a:ext uri="{FF2B5EF4-FFF2-40B4-BE49-F238E27FC236}">
                <a16:creationId xmlns:a16="http://schemas.microsoft.com/office/drawing/2014/main" id="{A4C2CA11-D4A8-4491-AD3B-37BB0F3BA17E}"/>
              </a:ext>
            </a:extLst>
          </p:cNvPr>
          <p:cNvSpPr>
            <a:spLocks xmlns:a="http://schemas.openxmlformats.org/drawingml/2006/main" noGrp="1"/>
          </p:cNvSpPr>
          <p:nvPr/>
        </p:nvSpPr>
        <p:spPr>
          <a:xfrm xmlns:a="http://schemas.openxmlformats.org/drawingml/2006/main">
            <a:off x="800100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היום</a:t>
            </a:r>
          </a:p>
        </p:txBody>
      </p:sp>
      <p:sp>
        <p:nvSpPr>
          <p:cNvPr id="11" name="">
            <a:extLst xmlns:a="http://schemas.openxmlformats.org/drawingml/2006/main">
              <a:ext uri="{FF2B5EF4-FFF2-40B4-BE49-F238E27FC236}">
                <a16:creationId xmlns:a16="http://schemas.microsoft.com/office/drawing/2014/main" id="{9463F7DB-BBBC-4C47-83E8-7ACD3C70FE94}"/>
              </a:ext>
            </a:extLst>
          </p:cNvPr>
          <p:cNvSpPr>
            <a:spLocks xmlns:a="http://schemas.openxmlformats.org/drawingml/2006/main" noGrp="1"/>
          </p:cNvSpPr>
          <p:nvPr/>
        </p:nvSpPr>
        <p:spPr>
          <a:xfrm xmlns:a="http://schemas.openxmlformats.org/drawingml/2006/main">
            <a:off x="800100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סביבה מקומית עובדת</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41 ימים מאושרים</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Shadow Mode 1/20</a:t>
            </a:r>
          </a:p>
        </p:txBody>
      </p:sp>
      <p:sp>
        <p:nvSpPr>
          <p:cNvPr id="12" name="">
            <a:extLst xmlns:a="http://schemas.openxmlformats.org/drawingml/2006/main">
              <a:ext uri="{FF2B5EF4-FFF2-40B4-BE49-F238E27FC236}">
                <a16:creationId xmlns:a16="http://schemas.microsoft.com/office/drawing/2014/main" id="{A82A81C4-C50D-4C75-92D9-0CF567C0D53C}"/>
              </a:ext>
            </a:extLst>
          </p:cNvPr>
          <p:cNvSpPr>
            <a:spLocks xmlns:a="http://schemas.openxmlformats.org/drawingml/2006/main" noGrp="1"/>
          </p:cNvSpPr>
          <p:nvPr/>
        </p:nvSpPr>
        <p:spPr>
          <a:xfrm xmlns:a="http://schemas.openxmlformats.org/drawingml/2006/main">
            <a:off x="6048375" y="3114675"/>
            <a:ext cx="285750" cy="2857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A79A534-35DC-43F6-9DAC-5F84A76E7AE3}"/>
              </a:ext>
            </a:extLst>
          </p:cNvPr>
          <p:cNvSpPr>
            <a:spLocks xmlns:a="http://schemas.openxmlformats.org/drawingml/2006/main" noGrp="1"/>
          </p:cNvSpPr>
          <p:nvPr/>
        </p:nvSpPr>
        <p:spPr>
          <a:xfrm xmlns:a="http://schemas.openxmlformats.org/drawingml/2006/main">
            <a:off x="6010275"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02</a:t>
            </a:r>
          </a:p>
        </p:txBody>
      </p:sp>
      <p:sp>
        <p:nvSpPr>
          <p:cNvPr id="14" name="">
            <a:extLst xmlns:a="http://schemas.openxmlformats.org/drawingml/2006/main">
              <a:ext uri="{FF2B5EF4-FFF2-40B4-BE49-F238E27FC236}">
                <a16:creationId xmlns:a16="http://schemas.microsoft.com/office/drawing/2014/main" id="{B4B53B0F-8096-425F-A0A3-082610F15A67}"/>
              </a:ext>
            </a:extLst>
          </p:cNvPr>
          <p:cNvSpPr>
            <a:spLocks xmlns:a="http://schemas.openxmlformats.org/drawingml/2006/main" noGrp="1"/>
          </p:cNvSpPr>
          <p:nvPr/>
        </p:nvSpPr>
        <p:spPr>
          <a:xfrm xmlns:a="http://schemas.openxmlformats.org/drawingml/2006/main">
            <a:off x="4238625"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לאחר 20 ימים חיים</a:t>
            </a:r>
          </a:p>
        </p:txBody>
      </p:sp>
      <p:sp>
        <p:nvSpPr>
          <p:cNvPr id="15" name="">
            <a:extLst xmlns:a="http://schemas.openxmlformats.org/drawingml/2006/main">
              <a:ext uri="{FF2B5EF4-FFF2-40B4-BE49-F238E27FC236}">
                <a16:creationId xmlns:a16="http://schemas.microsoft.com/office/drawing/2014/main" id="{1E40F054-1C11-4CF7-B864-5368AF0EB123}"/>
              </a:ext>
            </a:extLst>
          </p:cNvPr>
          <p:cNvSpPr>
            <a:spLocks xmlns:a="http://schemas.openxmlformats.org/drawingml/2006/main" noGrp="1"/>
          </p:cNvSpPr>
          <p:nvPr/>
        </p:nvSpPr>
        <p:spPr>
          <a:xfrm xmlns:a="http://schemas.openxmlformats.org/drawingml/2006/main">
            <a:off x="4238625"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בדיקת Calibration</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אישור אנושי נפרד</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פתיחת Decision Support</a:t>
            </a:r>
          </a:p>
        </p:txBody>
      </p:sp>
      <p:sp>
        <p:nvSpPr>
          <p:cNvPr id="16" name="">
            <a:extLst xmlns:a="http://schemas.openxmlformats.org/drawingml/2006/main">
              <a:ext uri="{FF2B5EF4-FFF2-40B4-BE49-F238E27FC236}">
                <a16:creationId xmlns:a16="http://schemas.microsoft.com/office/drawing/2014/main" id="{1EB8D6FB-3469-4A60-8A11-321E2707C559}"/>
              </a:ext>
            </a:extLst>
          </p:cNvPr>
          <p:cNvSpPr>
            <a:spLocks xmlns:a="http://schemas.openxmlformats.org/drawingml/2006/main" noGrp="1"/>
          </p:cNvSpPr>
          <p:nvPr/>
        </p:nvSpPr>
        <p:spPr>
          <a:xfrm xmlns:a="http://schemas.openxmlformats.org/drawingml/2006/main">
            <a:off x="2286000" y="3114675"/>
            <a:ext cx="285750" cy="2857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018D4F2-4FDF-44EB-A77F-61DF4883C55B}"/>
              </a:ext>
            </a:extLst>
          </p:cNvPr>
          <p:cNvSpPr>
            <a:spLocks xmlns:a="http://schemas.openxmlformats.org/drawingml/2006/main" noGrp="1"/>
          </p:cNvSpPr>
          <p:nvPr/>
        </p:nvSpPr>
        <p:spPr>
          <a:xfrm xmlns:a="http://schemas.openxmlformats.org/drawingml/2006/main">
            <a:off x="224790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03</a:t>
            </a:r>
          </a:p>
        </p:txBody>
      </p:sp>
      <p:sp>
        <p:nvSpPr>
          <p:cNvPr id="18" name="">
            <a:extLst xmlns:a="http://schemas.openxmlformats.org/drawingml/2006/main">
              <a:ext uri="{FF2B5EF4-FFF2-40B4-BE49-F238E27FC236}">
                <a16:creationId xmlns:a16="http://schemas.microsoft.com/office/drawing/2014/main" id="{D40472EF-6B49-4975-AF20-9930D3E50AC9}"/>
              </a:ext>
            </a:extLst>
          </p:cNvPr>
          <p:cNvSpPr>
            <a:spLocks xmlns:a="http://schemas.openxmlformats.org/drawingml/2006/main" noGrp="1"/>
          </p:cNvSpPr>
          <p:nvPr/>
        </p:nvSpPr>
        <p:spPr>
          <a:xfrm xmlns:a="http://schemas.openxmlformats.org/drawingml/2006/main">
            <a:off x="476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הרחבה עתידית</a:t>
            </a:r>
          </a:p>
        </p:txBody>
      </p:sp>
      <p:sp>
        <p:nvSpPr>
          <p:cNvPr id="19" name="">
            <a:extLst xmlns:a="http://schemas.openxmlformats.org/drawingml/2006/main">
              <a:ext uri="{FF2B5EF4-FFF2-40B4-BE49-F238E27FC236}">
                <a16:creationId xmlns:a16="http://schemas.microsoft.com/office/drawing/2014/main" id="{656F857E-B80D-4146-AB2F-2902AD5A83FE}"/>
              </a:ext>
            </a:extLst>
          </p:cNvPr>
          <p:cNvSpPr>
            <a:spLocks xmlns:a="http://schemas.openxmlformats.org/drawingml/2006/main" noGrp="1"/>
          </p:cNvSpPr>
          <p:nvPr/>
        </p:nvSpPr>
        <p:spPr>
          <a:xfrm xmlns:a="http://schemas.openxmlformats.org/drawingml/2006/main">
            <a:off x="47625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SIP / S3 / Elastic</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Authentication + TLS</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פריסה משותפת</a:t>
            </a:r>
          </a:p>
        </p:txBody>
      </p:sp>
      <p:sp>
        <p:nvSpPr>
          <p:cNvPr id="20" name="">
            <a:extLst xmlns:a="http://schemas.openxmlformats.org/drawingml/2006/main">
              <a:ext uri="{FF2B5EF4-FFF2-40B4-BE49-F238E27FC236}">
                <a16:creationId xmlns:a16="http://schemas.microsoft.com/office/drawing/2014/main" id="{2ABC209C-1B26-4A06-9D83-CCEAC943BFE5}"/>
              </a:ext>
            </a:extLst>
          </p:cNvPr>
          <p:cNvSpPr>
            <a:spLocks xmlns:a="http://schemas.openxmlformats.org/drawingml/2006/main" noGrp="1"/>
          </p:cNvSpPr>
          <p:nvPr/>
        </p:nvSpPr>
        <p:spPr>
          <a:xfrm xmlns:a="http://schemas.openxmlformats.org/drawingml/2006/main">
            <a:off x="4419600" y="52959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79"/>
          </a:bodyPr>
          <a:lstStyle xmlns:a="http://schemas.openxmlformats.org/drawingml/2006/main"/>
          <a:p xmlns:a="http://schemas.openxmlformats.org/drawingml/2006/main">
            <a:pPr algn="r" rtl="1">
              <a:lnSpc>
                <a:spcPct val="100000"/>
              </a:lnSpc>
              <a:buNone/>
              <a:defRPr sz="1575" b="1" lang="he-IL">
                <a:solidFill>
                  <a:srgbClr val="EF7484"/>
                </a:solidFill>
                <a:latin typeface="Arial"/>
                <a:ea typeface="Arial"/>
                <a:cs typeface="Arial"/>
              </a:defRPr>
            </a:pPr>
            <a:r>
              <a:rPr sz="1575" b="1" lang="he-IL">
                <a:solidFill>
                  <a:srgbClr val="EF7484"/>
                </a:solidFill>
                <a:latin typeface="Arial"/>
                <a:ea typeface="Arial"/>
                <a:cs typeface="Arial"/>
              </a:rPr>
              <a:t>הקידום יתאפשר רק לאחר ראיות חיות ובדיקה אנושית. תוצאות היסטוריות לבדן אינן מספיקות.</a:t>
            </a:r>
          </a:p>
        </p:txBody>
      </p:sp>
    </p:spTree>
    <p:extLst>
      <p:ext uri="{BB962C8B-B14F-4D97-AF65-F5344CB8AC3E}">
        <p14:creationId xmlns:p14="http://schemas.microsoft.com/office/powerpoint/2010/main" val="1709211750"/>
      </p:ext>
    </p:extLst>
  </p:cSld>
</p:sld>
</file>

<file path=ppt/slides/slide1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14CB091-1C01-4F21-823A-520253B5FB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23C765-023D-4342-86F7-83FA415207AA}"/>
              </a:ext>
            </a:extLst>
          </p:cNvPr>
          <p:cNvSpPr>
            <a:spLocks xmlns:a="http://schemas.openxmlformats.org/drawingml/2006/main" noGrp="1"/>
          </p:cNvSpPr>
          <p:nvPr/>
        </p:nvSpPr>
        <p:spPr>
          <a:xfrm xmlns:a="http://schemas.openxmlformats.org/drawingml/2006/main">
            <a:off x="609600" y="4191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DEMO · 06:00</a:t>
            </a:r>
          </a:p>
        </p:txBody>
      </p:sp>
      <p:sp>
        <p:nvSpPr>
          <p:cNvPr id="3" name="">
            <a:extLst xmlns:a="http://schemas.openxmlformats.org/drawingml/2006/main">
              <a:ext uri="{FF2B5EF4-FFF2-40B4-BE49-F238E27FC236}">
                <a16:creationId xmlns:a16="http://schemas.microsoft.com/office/drawing/2014/main" id="{29FA5170-7401-48D0-B56E-D2DBE6D27F7B}"/>
              </a:ext>
            </a:extLst>
          </p:cNvPr>
          <p:cNvSpPr>
            <a:spLocks xmlns:a="http://schemas.openxmlformats.org/drawingml/2006/main" noGrp="1"/>
          </p:cNvSpPr>
          <p:nvPr/>
        </p:nvSpPr>
        <p:spPr>
          <a:xfrm xmlns:a="http://schemas.openxmlformats.org/drawingml/2006/main">
            <a:off x="4953000" y="933450"/>
            <a:ext cx="661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150" b="1" lang="he-IL">
                <a:solidFill>
                  <a:srgbClr val="F8FBFF"/>
                </a:solidFill>
                <a:latin typeface="Arial"/>
                <a:ea typeface="Arial"/>
                <a:cs typeface="Arial"/>
              </a:defRPr>
            </a:pPr>
            <a:r>
              <a:rPr sz="3150" b="1" lang="he-IL">
                <a:solidFill>
                  <a:srgbClr val="F8FBFF"/>
                </a:solidFill>
                <a:latin typeface="Arial"/>
                <a:ea typeface="Arial"/>
                <a:cs typeface="Arial"/>
              </a:rPr>
              <a:t>עוברים מהסיפור למערכת</a:t>
            </a:r>
          </a:p>
        </p:txBody>
      </p:sp>
      <p:sp>
        <p:nvSpPr>
          <p:cNvPr id="4" name="">
            <a:extLst xmlns:a="http://schemas.openxmlformats.org/drawingml/2006/main">
              <a:ext uri="{FF2B5EF4-FFF2-40B4-BE49-F238E27FC236}">
                <a16:creationId xmlns:a16="http://schemas.microsoft.com/office/drawing/2014/main" id="{A6988889-12F8-4581-835D-298BCF089DA7}"/>
              </a:ext>
            </a:extLst>
          </p:cNvPr>
          <p:cNvSpPr>
            <a:spLocks xmlns:a="http://schemas.openxmlformats.org/drawingml/2006/main" noGrp="1"/>
          </p:cNvSpPr>
          <p:nvPr/>
        </p:nvSpPr>
        <p:spPr>
          <a:xfrm xmlns:a="http://schemas.openxmlformats.org/drawingml/2006/main">
            <a:off x="5619750" y="165735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מהאירוע הגולמי ועד תרחיש החלטה שאפשר להסביר ולשחזר</a:t>
            </a:r>
          </a:p>
        </p:txBody>
      </p:sp>
      <p:sp>
        <p:nvSpPr>
          <p:cNvPr id="5" name="">
            <a:extLst xmlns:a="http://schemas.openxmlformats.org/drawingml/2006/main">
              <a:ext uri="{FF2B5EF4-FFF2-40B4-BE49-F238E27FC236}">
                <a16:creationId xmlns:a16="http://schemas.microsoft.com/office/drawing/2014/main" id="{D14EADAE-CEA0-49E5-B83B-E91B222C63DC}"/>
              </a:ext>
            </a:extLst>
          </p:cNvPr>
          <p:cNvSpPr>
            <a:spLocks xmlns:a="http://schemas.openxmlformats.org/drawingml/2006/main" noGrp="1"/>
          </p:cNvSpPr>
          <p:nvPr/>
        </p:nvSpPr>
        <p:spPr>
          <a:xfrm xmlns:a="http://schemas.openxmlformats.org/drawingml/2006/main">
            <a:off x="7048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6" name="">
            <a:extLst xmlns:a="http://schemas.openxmlformats.org/drawingml/2006/main">
              <a:ext uri="{FF2B5EF4-FFF2-40B4-BE49-F238E27FC236}">
                <a16:creationId xmlns:a16="http://schemas.microsoft.com/office/drawing/2014/main" id="{408065E2-D07D-4E5A-9FC8-36E53E0F51CA}"/>
              </a:ext>
            </a:extLst>
          </p:cNvPr>
          <p:cNvSpPr>
            <a:spLocks xmlns:a="http://schemas.openxmlformats.org/drawingml/2006/main" noGrp="1"/>
          </p:cNvSpPr>
          <p:nvPr/>
        </p:nvSpPr>
        <p:spPr>
          <a:xfrm xmlns:a="http://schemas.openxmlformats.org/drawingml/2006/main">
            <a:off x="7048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06</a:t>
            </a:r>
          </a:p>
        </p:txBody>
      </p:sp>
      <p:sp>
        <p:nvSpPr>
          <p:cNvPr id="7" name="">
            <a:extLst xmlns:a="http://schemas.openxmlformats.org/drawingml/2006/main">
              <a:ext uri="{FF2B5EF4-FFF2-40B4-BE49-F238E27FC236}">
                <a16:creationId xmlns:a16="http://schemas.microsoft.com/office/drawing/2014/main" id="{109DD4E3-67C3-4319-9770-5E0354E8370F}"/>
              </a:ext>
            </a:extLst>
          </p:cNvPr>
          <p:cNvSpPr>
            <a:spLocks xmlns:a="http://schemas.openxmlformats.org/drawingml/2006/main" noGrp="1"/>
          </p:cNvSpPr>
          <p:nvPr/>
        </p:nvSpPr>
        <p:spPr>
          <a:xfrm xmlns:a="http://schemas.openxmlformats.org/drawingml/2006/main">
            <a:off x="2095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Backtesting</a:t>
            </a:r>
          </a:p>
        </p:txBody>
      </p:sp>
      <p:sp>
        <p:nvSpPr>
          <p:cNvPr id="8" name="">
            <a:extLst xmlns:a="http://schemas.openxmlformats.org/drawingml/2006/main">
              <a:ext uri="{FF2B5EF4-FFF2-40B4-BE49-F238E27FC236}">
                <a16:creationId xmlns:a16="http://schemas.microsoft.com/office/drawing/2014/main" id="{49F77685-54CF-4DA9-8943-02E384C503C1}"/>
              </a:ext>
            </a:extLst>
          </p:cNvPr>
          <p:cNvSpPr>
            <a:spLocks xmlns:a="http://schemas.openxmlformats.org/drawingml/2006/main" noGrp="1"/>
          </p:cNvSpPr>
          <p:nvPr/>
        </p:nvSpPr>
        <p:spPr>
          <a:xfrm xmlns:a="http://schemas.openxmlformats.org/drawingml/2006/main">
            <a:off x="25717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9" name="">
            <a:extLst xmlns:a="http://schemas.openxmlformats.org/drawingml/2006/main">
              <a:ext uri="{FF2B5EF4-FFF2-40B4-BE49-F238E27FC236}">
                <a16:creationId xmlns:a16="http://schemas.microsoft.com/office/drawing/2014/main" id="{261D70DB-7DD3-4692-9F9F-23940B8B4464}"/>
              </a:ext>
            </a:extLst>
          </p:cNvPr>
          <p:cNvSpPr>
            <a:spLocks xmlns:a="http://schemas.openxmlformats.org/drawingml/2006/main" noGrp="1"/>
          </p:cNvSpPr>
          <p:nvPr/>
        </p:nvSpPr>
        <p:spPr>
          <a:xfrm xmlns:a="http://schemas.openxmlformats.org/drawingml/2006/main">
            <a:off x="25717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05</a:t>
            </a:r>
          </a:p>
        </p:txBody>
      </p:sp>
      <p:sp>
        <p:nvSpPr>
          <p:cNvPr id="10" name="">
            <a:extLst xmlns:a="http://schemas.openxmlformats.org/drawingml/2006/main">
              <a:ext uri="{FF2B5EF4-FFF2-40B4-BE49-F238E27FC236}">
                <a16:creationId xmlns:a16="http://schemas.microsoft.com/office/drawing/2014/main" id="{7DE66DFA-5873-4B76-84C7-BD36ED2DBB06}"/>
              </a:ext>
            </a:extLst>
          </p:cNvPr>
          <p:cNvSpPr>
            <a:spLocks xmlns:a="http://schemas.openxmlformats.org/drawingml/2006/main" noGrp="1"/>
          </p:cNvSpPr>
          <p:nvPr/>
        </p:nvSpPr>
        <p:spPr>
          <a:xfrm xmlns:a="http://schemas.openxmlformats.org/drawingml/2006/main">
            <a:off x="20764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Opportunity</a:t>
            </a:r>
          </a:p>
        </p:txBody>
      </p:sp>
      <p:sp>
        <p:nvSpPr>
          <p:cNvPr id="11" name="">
            <a:extLst xmlns:a="http://schemas.openxmlformats.org/drawingml/2006/main">
              <a:ext uri="{FF2B5EF4-FFF2-40B4-BE49-F238E27FC236}">
                <a16:creationId xmlns:a16="http://schemas.microsoft.com/office/drawing/2014/main" id="{688AEBAB-5417-4C06-A84B-6DCCD6D4F675}"/>
              </a:ext>
            </a:extLst>
          </p:cNvPr>
          <p:cNvSpPr>
            <a:spLocks xmlns:a="http://schemas.openxmlformats.org/drawingml/2006/main" noGrp="1"/>
          </p:cNvSpPr>
          <p:nvPr/>
        </p:nvSpPr>
        <p:spPr>
          <a:xfrm xmlns:a="http://schemas.openxmlformats.org/drawingml/2006/main">
            <a:off x="44386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2" name="">
            <a:extLst xmlns:a="http://schemas.openxmlformats.org/drawingml/2006/main">
              <a:ext uri="{FF2B5EF4-FFF2-40B4-BE49-F238E27FC236}">
                <a16:creationId xmlns:a16="http://schemas.microsoft.com/office/drawing/2014/main" id="{284D67A1-E771-48D0-8716-83E2CA29D71F}"/>
              </a:ext>
            </a:extLst>
          </p:cNvPr>
          <p:cNvSpPr>
            <a:spLocks xmlns:a="http://schemas.openxmlformats.org/drawingml/2006/main" noGrp="1"/>
          </p:cNvSpPr>
          <p:nvPr/>
        </p:nvSpPr>
        <p:spPr>
          <a:xfrm xmlns:a="http://schemas.openxmlformats.org/drawingml/2006/main">
            <a:off x="44386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04</a:t>
            </a:r>
          </a:p>
        </p:txBody>
      </p:sp>
      <p:sp>
        <p:nvSpPr>
          <p:cNvPr id="13" name="">
            <a:extLst xmlns:a="http://schemas.openxmlformats.org/drawingml/2006/main">
              <a:ext uri="{FF2B5EF4-FFF2-40B4-BE49-F238E27FC236}">
                <a16:creationId xmlns:a16="http://schemas.microsoft.com/office/drawing/2014/main" id="{70E3F535-C50B-476C-BE91-2FF9E708D731}"/>
              </a:ext>
            </a:extLst>
          </p:cNvPr>
          <p:cNvSpPr>
            <a:spLocks xmlns:a="http://schemas.openxmlformats.org/drawingml/2006/main" noGrp="1"/>
          </p:cNvSpPr>
          <p:nvPr/>
        </p:nvSpPr>
        <p:spPr>
          <a:xfrm xmlns:a="http://schemas.openxmlformats.org/drawingml/2006/main">
            <a:off x="39433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Airflow</a:t>
            </a:r>
          </a:p>
        </p:txBody>
      </p:sp>
      <p:sp>
        <p:nvSpPr>
          <p:cNvPr id="14" name="">
            <a:extLst xmlns:a="http://schemas.openxmlformats.org/drawingml/2006/main">
              <a:ext uri="{FF2B5EF4-FFF2-40B4-BE49-F238E27FC236}">
                <a16:creationId xmlns:a16="http://schemas.microsoft.com/office/drawing/2014/main" id="{6E7C06C6-764B-4FC7-86AA-CDC0C0AFA40F}"/>
              </a:ext>
            </a:extLst>
          </p:cNvPr>
          <p:cNvSpPr>
            <a:spLocks xmlns:a="http://schemas.openxmlformats.org/drawingml/2006/main" noGrp="1"/>
          </p:cNvSpPr>
          <p:nvPr/>
        </p:nvSpPr>
        <p:spPr>
          <a:xfrm xmlns:a="http://schemas.openxmlformats.org/drawingml/2006/main">
            <a:off x="63055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5" name="">
            <a:extLst xmlns:a="http://schemas.openxmlformats.org/drawingml/2006/main">
              <a:ext uri="{FF2B5EF4-FFF2-40B4-BE49-F238E27FC236}">
                <a16:creationId xmlns:a16="http://schemas.microsoft.com/office/drawing/2014/main" id="{D1A6E9B1-DEEE-4834-8E99-87FB0738E737}"/>
              </a:ext>
            </a:extLst>
          </p:cNvPr>
          <p:cNvSpPr>
            <a:spLocks xmlns:a="http://schemas.openxmlformats.org/drawingml/2006/main" noGrp="1"/>
          </p:cNvSpPr>
          <p:nvPr/>
        </p:nvSpPr>
        <p:spPr>
          <a:xfrm xmlns:a="http://schemas.openxmlformats.org/drawingml/2006/main">
            <a:off x="63055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03</a:t>
            </a:r>
          </a:p>
        </p:txBody>
      </p:sp>
      <p:sp>
        <p:nvSpPr>
          <p:cNvPr id="16" name="">
            <a:extLst xmlns:a="http://schemas.openxmlformats.org/drawingml/2006/main">
              <a:ext uri="{FF2B5EF4-FFF2-40B4-BE49-F238E27FC236}">
                <a16:creationId xmlns:a16="http://schemas.microsoft.com/office/drawing/2014/main" id="{B8655935-309C-413A-BA51-3C47115FEEDD}"/>
              </a:ext>
            </a:extLst>
          </p:cNvPr>
          <p:cNvSpPr>
            <a:spLocks xmlns:a="http://schemas.openxmlformats.org/drawingml/2006/main" noGrp="1"/>
          </p:cNvSpPr>
          <p:nvPr/>
        </p:nvSpPr>
        <p:spPr>
          <a:xfrm xmlns:a="http://schemas.openxmlformats.org/drawingml/2006/main">
            <a:off x="58102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MinIO</a:t>
            </a:r>
          </a:p>
        </p:txBody>
      </p:sp>
      <p:sp>
        <p:nvSpPr>
          <p:cNvPr id="17" name="">
            <a:extLst xmlns:a="http://schemas.openxmlformats.org/drawingml/2006/main">
              <a:ext uri="{FF2B5EF4-FFF2-40B4-BE49-F238E27FC236}">
                <a16:creationId xmlns:a16="http://schemas.microsoft.com/office/drawing/2014/main" id="{083279D3-920B-4D92-A485-CE7871AC9FB2}"/>
              </a:ext>
            </a:extLst>
          </p:cNvPr>
          <p:cNvSpPr>
            <a:spLocks xmlns:a="http://schemas.openxmlformats.org/drawingml/2006/main" noGrp="1"/>
          </p:cNvSpPr>
          <p:nvPr/>
        </p:nvSpPr>
        <p:spPr>
          <a:xfrm xmlns:a="http://schemas.openxmlformats.org/drawingml/2006/main">
            <a:off x="81724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8" name="">
            <a:extLst xmlns:a="http://schemas.openxmlformats.org/drawingml/2006/main">
              <a:ext uri="{FF2B5EF4-FFF2-40B4-BE49-F238E27FC236}">
                <a16:creationId xmlns:a16="http://schemas.microsoft.com/office/drawing/2014/main" id="{8E21AEF5-4C29-4A74-9C08-88F88FB95C8F}"/>
              </a:ext>
            </a:extLst>
          </p:cNvPr>
          <p:cNvSpPr>
            <a:spLocks xmlns:a="http://schemas.openxmlformats.org/drawingml/2006/main" noGrp="1"/>
          </p:cNvSpPr>
          <p:nvPr/>
        </p:nvSpPr>
        <p:spPr>
          <a:xfrm xmlns:a="http://schemas.openxmlformats.org/drawingml/2006/main">
            <a:off x="81724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9" name="">
            <a:extLst xmlns:a="http://schemas.openxmlformats.org/drawingml/2006/main">
              <a:ext uri="{FF2B5EF4-FFF2-40B4-BE49-F238E27FC236}">
                <a16:creationId xmlns:a16="http://schemas.microsoft.com/office/drawing/2014/main" id="{FA4AB1DD-31FE-40D4-AC40-565D4F013B61}"/>
              </a:ext>
            </a:extLst>
          </p:cNvPr>
          <p:cNvSpPr>
            <a:spLocks xmlns:a="http://schemas.openxmlformats.org/drawingml/2006/main" noGrp="1"/>
          </p:cNvSpPr>
          <p:nvPr/>
        </p:nvSpPr>
        <p:spPr>
          <a:xfrm xmlns:a="http://schemas.openxmlformats.org/drawingml/2006/main">
            <a:off x="76771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Kafka</a:t>
            </a:r>
          </a:p>
        </p:txBody>
      </p:sp>
      <p:sp>
        <p:nvSpPr>
          <p:cNvPr id="20" name="">
            <a:extLst xmlns:a="http://schemas.openxmlformats.org/drawingml/2006/main">
              <a:ext uri="{FF2B5EF4-FFF2-40B4-BE49-F238E27FC236}">
                <a16:creationId xmlns:a16="http://schemas.microsoft.com/office/drawing/2014/main" id="{D1D8F7B0-47C1-45CA-A406-3A539711CDE0}"/>
              </a:ext>
            </a:extLst>
          </p:cNvPr>
          <p:cNvSpPr>
            <a:spLocks xmlns:a="http://schemas.openxmlformats.org/drawingml/2006/main" noGrp="1"/>
          </p:cNvSpPr>
          <p:nvPr/>
        </p:nvSpPr>
        <p:spPr>
          <a:xfrm xmlns:a="http://schemas.openxmlformats.org/drawingml/2006/main">
            <a:off x="10039350" y="3181350"/>
            <a:ext cx="419100" cy="41910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14288">
            <a:solidFill>
              <a:srgbClr val="35D4B5"/>
            </a:solidFill>
            <a:prstDash val="solid"/>
          </a:ln>
        </p:spPr>
      </p:sp>
      <p:sp>
        <p:nvSpPr>
          <p:cNvPr id="21" name="">
            <a:extLst xmlns:a="http://schemas.openxmlformats.org/drawingml/2006/main">
              <a:ext uri="{FF2B5EF4-FFF2-40B4-BE49-F238E27FC236}">
                <a16:creationId xmlns:a16="http://schemas.microsoft.com/office/drawing/2014/main" id="{CD718EC1-09CF-445B-AC02-A9934E462152}"/>
              </a:ext>
            </a:extLst>
          </p:cNvPr>
          <p:cNvSpPr>
            <a:spLocks xmlns:a="http://schemas.openxmlformats.org/drawingml/2006/main" noGrp="1"/>
          </p:cNvSpPr>
          <p:nvPr/>
        </p:nvSpPr>
        <p:spPr>
          <a:xfrm xmlns:a="http://schemas.openxmlformats.org/drawingml/2006/main">
            <a:off x="100393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091827"/>
                </a:solidFill>
                <a:latin typeface="Cascadia Mono"/>
                <a:ea typeface="Cascadia Mono"/>
                <a:cs typeface="Cascadia Mono"/>
              </a:defRPr>
            </a:pPr>
            <a:r>
              <a:rPr sz="900" b="1">
                <a:solidFill>
                  <a:srgbClr val="091827"/>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C6926583-4D86-4424-BA1E-3E9234033BFF}"/>
              </a:ext>
            </a:extLst>
          </p:cNvPr>
          <p:cNvSpPr>
            <a:spLocks xmlns:a="http://schemas.openxmlformats.org/drawingml/2006/main" noGrp="1"/>
          </p:cNvSpPr>
          <p:nvPr/>
        </p:nvSpPr>
        <p:spPr>
          <a:xfrm xmlns:a="http://schemas.openxmlformats.org/drawingml/2006/main">
            <a:off x="95440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Dashboard</a:t>
            </a:r>
          </a:p>
        </p:txBody>
      </p:sp>
      <p:cxnSp>
        <p:nvCxnSpPr>
          <p:cNvPr id="56" name=""/>
          <p:cNvCxnSpPr>
            <a:stCxn xmlns:a="http://schemas.openxmlformats.org/drawingml/2006/main" id="20" idx="1"/>
            <a:endCxn xmlns:a="http://schemas.openxmlformats.org/drawingml/2006/main" id="17" idx="3"/>
          </p:cNvCxnSpPr>
          <p:nvPr/>
        </p:nvCxnSpPr>
        <p:spPr>
          <a:xfrm xmlns:a="http://schemas.openxmlformats.org/drawingml/2006/main" flipH="1">
            <a:off x="85915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7" name=""/>
          <p:cNvCxnSpPr>
            <a:stCxn xmlns:a="http://schemas.openxmlformats.org/drawingml/2006/main" id="17" idx="1"/>
            <a:endCxn xmlns:a="http://schemas.openxmlformats.org/drawingml/2006/main" id="14" idx="3"/>
          </p:cNvCxnSpPr>
          <p:nvPr/>
        </p:nvCxnSpPr>
        <p:spPr>
          <a:xfrm xmlns:a="http://schemas.openxmlformats.org/drawingml/2006/main" flipH="1">
            <a:off x="67246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8" name=""/>
          <p:cNvCxnSpPr>
            <a:stCxn xmlns:a="http://schemas.openxmlformats.org/drawingml/2006/main" id="14" idx="1"/>
            <a:endCxn xmlns:a="http://schemas.openxmlformats.org/drawingml/2006/main" id="11" idx="3"/>
          </p:cNvCxnSpPr>
          <p:nvPr/>
        </p:nvCxnSpPr>
        <p:spPr>
          <a:xfrm xmlns:a="http://schemas.openxmlformats.org/drawingml/2006/main" flipH="1">
            <a:off x="48577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9" name=""/>
          <p:cNvCxnSpPr>
            <a:stCxn xmlns:a="http://schemas.openxmlformats.org/drawingml/2006/main" id="11" idx="1"/>
            <a:endCxn xmlns:a="http://schemas.openxmlformats.org/drawingml/2006/main" id="8" idx="3"/>
          </p:cNvCxnSpPr>
          <p:nvPr/>
        </p:nvCxnSpPr>
        <p:spPr>
          <a:xfrm xmlns:a="http://schemas.openxmlformats.org/drawingml/2006/main" flipH="1">
            <a:off x="29908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0" name=""/>
          <p:cNvCxnSpPr>
            <a:stCxn xmlns:a="http://schemas.openxmlformats.org/drawingml/2006/main" id="8" idx="1"/>
            <a:endCxn xmlns:a="http://schemas.openxmlformats.org/drawingml/2006/main" id="5" idx="3"/>
          </p:cNvCxnSpPr>
          <p:nvPr/>
        </p:nvCxnSpPr>
        <p:spPr>
          <a:xfrm xmlns:a="http://schemas.openxmlformats.org/drawingml/2006/main" flipH="1">
            <a:off x="11239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5E98DF99-00DF-4956-8C94-AD6376196797}"/>
              </a:ext>
            </a:extLst>
          </p:cNvPr>
          <p:cNvSpPr>
            <a:spLocks xmlns:a="http://schemas.openxmlformats.org/drawingml/2006/main" noGrp="1"/>
          </p:cNvSpPr>
          <p:nvPr/>
        </p:nvSpPr>
        <p:spPr>
          <a:xfrm xmlns:a="http://schemas.openxmlformats.org/drawingml/2006/main">
            <a:off x="60960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35D4B5"/>
                </a:solidFill>
                <a:latin typeface="Arial"/>
                <a:ea typeface="Arial"/>
                <a:cs typeface="Arial"/>
              </a:defRPr>
            </a:pPr>
            <a:r>
              <a:rPr sz="1650" b="1" lang="he-IL">
                <a:solidFill>
                  <a:srgbClr val="35D4B5"/>
                </a:solidFill>
                <a:latin typeface="Arial"/>
                <a:ea typeface="Arial"/>
                <a:cs typeface="Arial"/>
              </a:rPr>
              <a:t>החלטה ובדיקה</a:t>
            </a:r>
          </a:p>
        </p:txBody>
      </p:sp>
      <p:sp>
        <p:nvSpPr>
          <p:cNvPr id="29" name="">
            <a:extLst xmlns:a="http://schemas.openxmlformats.org/drawingml/2006/main">
              <a:ext uri="{FF2B5EF4-FFF2-40B4-BE49-F238E27FC236}">
                <a16:creationId xmlns:a16="http://schemas.microsoft.com/office/drawing/2014/main" id="{23856590-AD9B-4BE1-A33A-C3FF15802A10}"/>
              </a:ext>
            </a:extLst>
          </p:cNvPr>
          <p:cNvSpPr>
            <a:spLocks xmlns:a="http://schemas.openxmlformats.org/drawingml/2006/main" noGrp="1"/>
          </p:cNvSpPr>
          <p:nvPr/>
        </p:nvSpPr>
        <p:spPr>
          <a:xfrm xmlns:a="http://schemas.openxmlformats.org/drawingml/2006/main">
            <a:off x="485775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5B91FF"/>
                </a:solidFill>
                <a:latin typeface="Arial"/>
                <a:ea typeface="Arial"/>
                <a:cs typeface="Arial"/>
              </a:defRPr>
            </a:pPr>
            <a:r>
              <a:rPr sz="1650" b="1" lang="he-IL">
                <a:solidFill>
                  <a:srgbClr val="5B91FF"/>
                </a:solidFill>
                <a:latin typeface="Arial"/>
                <a:ea typeface="Arial"/>
                <a:cs typeface="Arial"/>
              </a:rPr>
              <a:t>מקור ואישור</a:t>
            </a:r>
          </a:p>
        </p:txBody>
      </p:sp>
      <p:sp>
        <p:nvSpPr>
          <p:cNvPr id="30" name="">
            <a:extLst xmlns:a="http://schemas.openxmlformats.org/drawingml/2006/main">
              <a:ext uri="{FF2B5EF4-FFF2-40B4-BE49-F238E27FC236}">
                <a16:creationId xmlns:a16="http://schemas.microsoft.com/office/drawing/2014/main" id="{83F621F1-C37A-4703-ADD7-EB95DF29D2A5}"/>
              </a:ext>
            </a:extLst>
          </p:cNvPr>
          <p:cNvSpPr>
            <a:spLocks xmlns:a="http://schemas.openxmlformats.org/drawingml/2006/main" noGrp="1"/>
          </p:cNvSpPr>
          <p:nvPr/>
        </p:nvSpPr>
        <p:spPr>
          <a:xfrm xmlns:a="http://schemas.openxmlformats.org/drawingml/2006/main">
            <a:off x="9048750" y="4686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F4B94F"/>
                </a:solidFill>
                <a:latin typeface="Arial"/>
                <a:ea typeface="Arial"/>
                <a:cs typeface="Arial"/>
              </a:defRPr>
            </a:pPr>
            <a:r>
              <a:rPr sz="1650" b="1" lang="he-IL">
                <a:solidFill>
                  <a:srgbClr val="F4B94F"/>
                </a:solidFill>
                <a:latin typeface="Arial"/>
                <a:ea typeface="Arial"/>
                <a:cs typeface="Arial"/>
              </a:rPr>
              <a:t>המוצר והאירוע</a:t>
            </a:r>
          </a:p>
        </p:txBody>
      </p:sp>
      <p:sp>
        <p:nvSpPr>
          <p:cNvPr id="31" name="">
            <a:extLst xmlns:a="http://schemas.openxmlformats.org/drawingml/2006/main">
              <a:ext uri="{FF2B5EF4-FFF2-40B4-BE49-F238E27FC236}">
                <a16:creationId xmlns:a16="http://schemas.microsoft.com/office/drawing/2014/main" id="{71D45812-E941-4B95-9589-2C13C718B2AE}"/>
              </a:ext>
            </a:extLst>
          </p:cNvPr>
          <p:cNvSpPr>
            <a:spLocks xmlns:a="http://schemas.openxmlformats.org/drawingml/2006/main" noGrp="1"/>
          </p:cNvSpPr>
          <p:nvPr/>
        </p:nvSpPr>
        <p:spPr>
          <a:xfrm xmlns:a="http://schemas.openxmlformats.org/drawingml/2006/main">
            <a:off x="3600450" y="5581650"/>
            <a:ext cx="796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הדמו לקריאה בלבד. לא מפעילים Backfill, לא משנים נתונים ולא מציגים סודות.</a:t>
            </a:r>
          </a:p>
        </p:txBody>
      </p:sp>
      <p:sp>
        <p:nvSpPr>
          <p:cNvPr id="32" name="">
            <a:extLst xmlns:a="http://schemas.openxmlformats.org/drawingml/2006/main">
              <a:ext uri="{FF2B5EF4-FFF2-40B4-BE49-F238E27FC236}">
                <a16:creationId xmlns:a16="http://schemas.microsoft.com/office/drawing/2014/main" id="{4CCBBABF-A6DF-4C5A-95EC-01968254C770}"/>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12</a:t>
            </a:r>
          </a:p>
        </p:txBody>
      </p:sp>
      <p:sp>
        <p:nvSpPr>
          <p:cNvPr id="33" name="">
            <a:extLst xmlns:a="http://schemas.openxmlformats.org/drawingml/2006/main">
              <a:ext uri="{FF2B5EF4-FFF2-40B4-BE49-F238E27FC236}">
                <a16:creationId xmlns:a16="http://schemas.microsoft.com/office/drawing/2014/main" id="{C196E2F0-6E81-4EE4-ABC1-508CC161FED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295582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2026-09-16T14:14:14.1240000Z</dcterms:created>
  <dcterms:modified xsi:type="dcterms:W3CDTF">2026-09-16T14:14:14.1250000Z</dcterms:modified>
</coreProperties>
</file>